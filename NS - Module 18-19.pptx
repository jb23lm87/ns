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3.xml" ContentType="application/vnd.openxmlformats-officedocument.presentationml.tags+xml"/>
  <Override PartName="/ppt/notesSlides/notesSlide5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0" r:id="rId3"/>
    <p:sldMasterId id="2147483678" r:id="rId4"/>
  </p:sldMasterIdLst>
  <p:notesMasterIdLst>
    <p:notesMasterId r:id="rId65"/>
  </p:notesMasterIdLst>
  <p:sldIdLst>
    <p:sldId id="256" r:id="rId5"/>
    <p:sldId id="925" r:id="rId6"/>
    <p:sldId id="263" r:id="rId7"/>
    <p:sldId id="264" r:id="rId8"/>
    <p:sldId id="265" r:id="rId9"/>
    <p:sldId id="266" r:id="rId10"/>
    <p:sldId id="267" r:id="rId11"/>
    <p:sldId id="1080" r:id="rId12"/>
    <p:sldId id="268" r:id="rId13"/>
    <p:sldId id="269" r:id="rId14"/>
    <p:sldId id="270" r:id="rId15"/>
    <p:sldId id="272" r:id="rId16"/>
    <p:sldId id="274" r:id="rId17"/>
    <p:sldId id="1081" r:id="rId18"/>
    <p:sldId id="275" r:id="rId19"/>
    <p:sldId id="276" r:id="rId20"/>
    <p:sldId id="277" r:id="rId21"/>
    <p:sldId id="278" r:id="rId22"/>
    <p:sldId id="1082" r:id="rId23"/>
    <p:sldId id="279" r:id="rId24"/>
    <p:sldId id="282" r:id="rId25"/>
    <p:sldId id="283" r:id="rId26"/>
    <p:sldId id="284" r:id="rId27"/>
    <p:sldId id="285" r:id="rId28"/>
    <p:sldId id="286" r:id="rId29"/>
    <p:sldId id="287" r:id="rId30"/>
    <p:sldId id="289" r:id="rId31"/>
    <p:sldId id="290" r:id="rId32"/>
    <p:sldId id="291" r:id="rId33"/>
    <p:sldId id="1130" r:id="rId34"/>
    <p:sldId id="292" r:id="rId35"/>
    <p:sldId id="1086" r:id="rId36"/>
    <p:sldId id="1096" r:id="rId37"/>
    <p:sldId id="1097" r:id="rId38"/>
    <p:sldId id="1098" r:id="rId39"/>
    <p:sldId id="1099" r:id="rId40"/>
    <p:sldId id="1100" r:id="rId41"/>
    <p:sldId id="1102" r:id="rId42"/>
    <p:sldId id="1101" r:id="rId43"/>
    <p:sldId id="1103" r:id="rId44"/>
    <p:sldId id="1104" r:id="rId45"/>
    <p:sldId id="271" r:id="rId46"/>
    <p:sldId id="1105" r:id="rId47"/>
    <p:sldId id="1106" r:id="rId48"/>
    <p:sldId id="1107" r:id="rId49"/>
    <p:sldId id="1108" r:id="rId50"/>
    <p:sldId id="1109" r:id="rId51"/>
    <p:sldId id="1110" r:id="rId52"/>
    <p:sldId id="1111" r:id="rId53"/>
    <p:sldId id="1112" r:id="rId54"/>
    <p:sldId id="281" r:id="rId55"/>
    <p:sldId id="1113" r:id="rId56"/>
    <p:sldId id="1114" r:id="rId57"/>
    <p:sldId id="1115" r:id="rId58"/>
    <p:sldId id="1116" r:id="rId59"/>
    <p:sldId id="1117" r:id="rId60"/>
    <p:sldId id="1118" r:id="rId61"/>
    <p:sldId id="1119" r:id="rId62"/>
    <p:sldId id="1120" r:id="rId63"/>
    <p:sldId id="1129" r:id="rId6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9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E9849E-016D-7743-A1CC-5E975108464E}" v="16" dt="2025-03-18T07:36:26.1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04"/>
    <p:restoredTop sz="96246" autoAdjust="0"/>
  </p:normalViewPr>
  <p:slideViewPr>
    <p:cSldViewPr snapToGrid="0" snapToObjects="1">
      <p:cViewPr varScale="1">
        <p:scale>
          <a:sx n="194" d="100"/>
          <a:sy n="194" d="100"/>
        </p:scale>
        <p:origin x="192" y="256"/>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71"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E6E9849E-016D-7743-A1CC-5E975108464E}"/>
    <pc:docChg chg="undo custSel modSld sldOrd">
      <pc:chgData name="Baráth, Július" userId="aebde9b9-dccc-4475-a9ac-c05e78323d7a" providerId="ADAL" clId="{E6E9849E-016D-7743-A1CC-5E975108464E}" dt="2025-03-18T07:58:00.895" v="180" actId="20578"/>
      <pc:docMkLst>
        <pc:docMk/>
      </pc:docMkLst>
      <pc:sldChg chg="addSp delSp modSp mod">
        <pc:chgData name="Baráth, Július" userId="aebde9b9-dccc-4475-a9ac-c05e78323d7a" providerId="ADAL" clId="{E6E9849E-016D-7743-A1CC-5E975108464E}" dt="2025-03-18T07:16:59.642" v="126"/>
        <pc:sldMkLst>
          <pc:docMk/>
          <pc:sldMk cId="0" sldId="256"/>
        </pc:sldMkLst>
        <pc:spChg chg="add del mod">
          <ac:chgData name="Baráth, Július" userId="aebde9b9-dccc-4475-a9ac-c05e78323d7a" providerId="ADAL" clId="{E6E9849E-016D-7743-A1CC-5E975108464E}" dt="2025-03-18T07:16:59.642" v="126"/>
          <ac:spMkLst>
            <pc:docMk/>
            <pc:sldMk cId="0" sldId="256"/>
            <ac:spMk id="5" creationId="{83E70B92-78D1-FA4E-AC5D-F8725332431A}"/>
          </ac:spMkLst>
        </pc:spChg>
      </pc:sldChg>
      <pc:sldChg chg="modSp mod">
        <pc:chgData name="Baráth, Július" userId="aebde9b9-dccc-4475-a9ac-c05e78323d7a" providerId="ADAL" clId="{E6E9849E-016D-7743-A1CC-5E975108464E}" dt="2025-03-17T10:54:13.704" v="0" actId="115"/>
        <pc:sldMkLst>
          <pc:docMk/>
          <pc:sldMk cId="0" sldId="267"/>
        </pc:sldMkLst>
        <pc:spChg chg="mod">
          <ac:chgData name="Baráth, Július" userId="aebde9b9-dccc-4475-a9ac-c05e78323d7a" providerId="ADAL" clId="{E6E9849E-016D-7743-A1CC-5E975108464E}" dt="2025-03-17T10:54:13.704" v="0" actId="115"/>
          <ac:spMkLst>
            <pc:docMk/>
            <pc:sldMk cId="0" sldId="267"/>
            <ac:spMk id="5" creationId="{00000000-0000-0000-0000-000000000000}"/>
          </ac:spMkLst>
        </pc:spChg>
      </pc:sldChg>
      <pc:sldChg chg="modSp mod">
        <pc:chgData name="Baráth, Július" userId="aebde9b9-dccc-4475-a9ac-c05e78323d7a" providerId="ADAL" clId="{E6E9849E-016D-7743-A1CC-5E975108464E}" dt="2025-03-17T12:08:31.427" v="1" actId="115"/>
        <pc:sldMkLst>
          <pc:docMk/>
          <pc:sldMk cId="0" sldId="275"/>
        </pc:sldMkLst>
        <pc:spChg chg="mod">
          <ac:chgData name="Baráth, Július" userId="aebde9b9-dccc-4475-a9ac-c05e78323d7a" providerId="ADAL" clId="{E6E9849E-016D-7743-A1CC-5E975108464E}" dt="2025-03-17T12:08:31.427" v="1" actId="115"/>
          <ac:spMkLst>
            <pc:docMk/>
            <pc:sldMk cId="0" sldId="275"/>
            <ac:spMk id="5" creationId="{00000000-0000-0000-0000-000000000000}"/>
          </ac:spMkLst>
        </pc:spChg>
      </pc:sldChg>
      <pc:sldChg chg="addSp delSp modSp mod">
        <pc:chgData name="Baráth, Július" userId="aebde9b9-dccc-4475-a9ac-c05e78323d7a" providerId="ADAL" clId="{E6E9849E-016D-7743-A1CC-5E975108464E}" dt="2025-03-17T12:33:46.265" v="16" actId="14100"/>
        <pc:sldMkLst>
          <pc:docMk/>
          <pc:sldMk cId="0" sldId="286"/>
        </pc:sldMkLst>
        <pc:spChg chg="mod">
          <ac:chgData name="Baráth, Július" userId="aebde9b9-dccc-4475-a9ac-c05e78323d7a" providerId="ADAL" clId="{E6E9849E-016D-7743-A1CC-5E975108464E}" dt="2025-03-17T12:33:46.265" v="16" actId="14100"/>
          <ac:spMkLst>
            <pc:docMk/>
            <pc:sldMk cId="0" sldId="286"/>
            <ac:spMk id="5" creationId="{00000000-0000-0000-0000-000000000000}"/>
          </ac:spMkLst>
        </pc:spChg>
        <pc:picChg chg="mod">
          <ac:chgData name="Baráth, Július" userId="aebde9b9-dccc-4475-a9ac-c05e78323d7a" providerId="ADAL" clId="{E6E9849E-016D-7743-A1CC-5E975108464E}" dt="2025-03-17T12:30:26.590" v="11" actId="1076"/>
          <ac:picMkLst>
            <pc:docMk/>
            <pc:sldMk cId="0" sldId="286"/>
            <ac:picMk id="6" creationId="{BB29E85D-F7ED-48D2-BDA0-1722B5950204}"/>
          </ac:picMkLst>
        </pc:picChg>
        <pc:picChg chg="add del mod">
          <ac:chgData name="Baráth, Július" userId="aebde9b9-dccc-4475-a9ac-c05e78323d7a" providerId="ADAL" clId="{E6E9849E-016D-7743-A1CC-5E975108464E}" dt="2025-03-17T12:33:34.129" v="12" actId="478"/>
          <ac:picMkLst>
            <pc:docMk/>
            <pc:sldMk cId="0" sldId="286"/>
            <ac:picMk id="1026" creationId="{824E5930-B145-5EC9-C37D-08E261163EFF}"/>
          </ac:picMkLst>
        </pc:picChg>
        <pc:picChg chg="add mod">
          <ac:chgData name="Baráth, Július" userId="aebde9b9-dccc-4475-a9ac-c05e78323d7a" providerId="ADAL" clId="{E6E9849E-016D-7743-A1CC-5E975108464E}" dt="2025-03-17T12:33:43.874" v="15" actId="1076"/>
          <ac:picMkLst>
            <pc:docMk/>
            <pc:sldMk cId="0" sldId="286"/>
            <ac:picMk id="1028" creationId="{D0756C87-9EAD-3AE6-1E44-C951F5FB92BA}"/>
          </ac:picMkLst>
        </pc:picChg>
      </pc:sldChg>
      <pc:sldChg chg="modSp mod">
        <pc:chgData name="Baráth, Július" userId="aebde9b9-dccc-4475-a9ac-c05e78323d7a" providerId="ADAL" clId="{E6E9849E-016D-7743-A1CC-5E975108464E}" dt="2025-03-17T12:38:26.011" v="17" actId="115"/>
        <pc:sldMkLst>
          <pc:docMk/>
          <pc:sldMk cId="0" sldId="291"/>
        </pc:sldMkLst>
        <pc:spChg chg="mod">
          <ac:chgData name="Baráth, Július" userId="aebde9b9-dccc-4475-a9ac-c05e78323d7a" providerId="ADAL" clId="{E6E9849E-016D-7743-A1CC-5E975108464E}" dt="2025-03-17T12:38:26.011" v="17" actId="115"/>
          <ac:spMkLst>
            <pc:docMk/>
            <pc:sldMk cId="0" sldId="291"/>
            <ac:spMk id="5" creationId="{00000000-0000-0000-0000-000000000000}"/>
          </ac:spMkLst>
        </pc:spChg>
      </pc:sldChg>
      <pc:sldChg chg="addSp modSp mod">
        <pc:chgData name="Baráth, Július" userId="aebde9b9-dccc-4475-a9ac-c05e78323d7a" providerId="ADAL" clId="{E6E9849E-016D-7743-A1CC-5E975108464E}" dt="2025-03-18T07:42:08.600" v="179" actId="1035"/>
        <pc:sldMkLst>
          <pc:docMk/>
          <pc:sldMk cId="1289580207" sldId="1082"/>
        </pc:sldMkLst>
        <pc:spChg chg="add mod">
          <ac:chgData name="Baráth, Július" userId="aebde9b9-dccc-4475-a9ac-c05e78323d7a" providerId="ADAL" clId="{E6E9849E-016D-7743-A1CC-5E975108464E}" dt="2025-03-18T07:35:10.543" v="155" actId="14100"/>
          <ac:spMkLst>
            <pc:docMk/>
            <pc:sldMk cId="1289580207" sldId="1082"/>
            <ac:spMk id="5" creationId="{1FE09CF9-CBE0-4407-ED77-FF2C16ED232F}"/>
          </ac:spMkLst>
        </pc:spChg>
        <pc:spChg chg="add mod">
          <ac:chgData name="Baráth, Július" userId="aebde9b9-dccc-4475-a9ac-c05e78323d7a" providerId="ADAL" clId="{E6E9849E-016D-7743-A1CC-5E975108464E}" dt="2025-03-18T07:40:32.050" v="178" actId="20577"/>
          <ac:spMkLst>
            <pc:docMk/>
            <pc:sldMk cId="1289580207" sldId="1082"/>
            <ac:spMk id="7" creationId="{6B2DFB88-9C57-0619-2E84-1D71C8D024C6}"/>
          </ac:spMkLst>
        </pc:spChg>
        <pc:picChg chg="mod">
          <ac:chgData name="Baráth, Július" userId="aebde9b9-dccc-4475-a9ac-c05e78323d7a" providerId="ADAL" clId="{E6E9849E-016D-7743-A1CC-5E975108464E}" dt="2025-03-18T07:42:08.600" v="179" actId="1035"/>
          <ac:picMkLst>
            <pc:docMk/>
            <pc:sldMk cId="1289580207" sldId="1082"/>
            <ac:picMk id="4" creationId="{CAE26967-93F3-4D10-9EF1-FDB32446C476}"/>
          </ac:picMkLst>
        </pc:picChg>
        <pc:picChg chg="mod">
          <ac:chgData name="Baráth, Július" userId="aebde9b9-dccc-4475-a9ac-c05e78323d7a" providerId="ADAL" clId="{E6E9849E-016D-7743-A1CC-5E975108464E}" dt="2025-03-18T07:35:03.411" v="153" actId="1076"/>
          <ac:picMkLst>
            <pc:docMk/>
            <pc:sldMk cId="1289580207" sldId="1082"/>
            <ac:picMk id="6" creationId="{9B5F0BEB-4790-4725-8C27-43E11F4D2CD6}"/>
          </ac:picMkLst>
        </pc:picChg>
      </pc:sldChg>
      <pc:sldChg chg="ord">
        <pc:chgData name="Baráth, Július" userId="aebde9b9-dccc-4475-a9ac-c05e78323d7a" providerId="ADAL" clId="{E6E9849E-016D-7743-A1CC-5E975108464E}" dt="2025-03-18T07:58:00.895" v="180" actId="20578"/>
        <pc:sldMkLst>
          <pc:docMk/>
          <pc:sldMk cId="4140881685" sldId="1102"/>
        </pc:sldMkLst>
      </pc:sldChg>
      <pc:sldChg chg="addSp modSp mod">
        <pc:chgData name="Baráth, Július" userId="aebde9b9-dccc-4475-a9ac-c05e78323d7a" providerId="ADAL" clId="{E6E9849E-016D-7743-A1CC-5E975108464E}" dt="2025-03-17T12:51:57.331" v="110" actId="404"/>
        <pc:sldMkLst>
          <pc:docMk/>
          <pc:sldMk cId="2620151256" sldId="1105"/>
        </pc:sldMkLst>
        <pc:spChg chg="add mod">
          <ac:chgData name="Baráth, Július" userId="aebde9b9-dccc-4475-a9ac-c05e78323d7a" providerId="ADAL" clId="{E6E9849E-016D-7743-A1CC-5E975108464E}" dt="2025-03-17T12:51:57.331" v="110" actId="404"/>
          <ac:spMkLst>
            <pc:docMk/>
            <pc:sldMk cId="2620151256" sldId="1105"/>
            <ac:spMk id="4" creationId="{D2C4D820-F6D5-E928-D566-F328FC2A08DB}"/>
          </ac:spMkLst>
        </pc:spChg>
      </pc:sldChg>
      <pc:sldChg chg="addSp modSp mod">
        <pc:chgData name="Baráth, Július" userId="aebde9b9-dccc-4475-a9ac-c05e78323d7a" providerId="ADAL" clId="{E6E9849E-016D-7743-A1CC-5E975108464E}" dt="2025-03-17T12:58:58.294" v="123" actId="113"/>
        <pc:sldMkLst>
          <pc:docMk/>
          <pc:sldMk cId="3056982230" sldId="1114"/>
        </pc:sldMkLst>
        <pc:spChg chg="add mod">
          <ac:chgData name="Baráth, Július" userId="aebde9b9-dccc-4475-a9ac-c05e78323d7a" providerId="ADAL" clId="{E6E9849E-016D-7743-A1CC-5E975108464E}" dt="2025-03-17T12:58:58.294" v="123" actId="113"/>
          <ac:spMkLst>
            <pc:docMk/>
            <pc:sldMk cId="3056982230" sldId="1114"/>
            <ac:spMk id="4" creationId="{B850194F-83C8-0D4A-4E10-A1D23ABF74B5}"/>
          </ac:spMkLst>
        </pc:spChg>
        <pc:picChg chg="mod">
          <ac:chgData name="Baráth, Július" userId="aebde9b9-dccc-4475-a9ac-c05e78323d7a" providerId="ADAL" clId="{E6E9849E-016D-7743-A1CC-5E975108464E}" dt="2025-03-17T12:58:45.055" v="119" actId="1076"/>
          <ac:picMkLst>
            <pc:docMk/>
            <pc:sldMk cId="3056982230" sldId="1114"/>
            <ac:picMk id="7" creationId="{329CE5BA-17E0-45B1-B675-F93B593D10E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46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18: VPNs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18 – VPNs</a:t>
            </a:r>
          </a:p>
          <a:p>
            <a:r>
              <a:rPr lang="en-GB" dirty="0"/>
              <a:t>18.0.2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18.1: VPN Overview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18.1: VPN Overview
18.1.1: Virtual Private Networks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18.1: VPN Overview
18.1.2: VPN Benefits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18.2.1: Site-to-Site and Remote-Access VPNs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18.2.1: Site-to-Site and Remote-Access VPNs (Cont.)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4192989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18.2.2: Remote-Access VPNs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18.2.3: SSL VPNs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18.2.4: Site-to-Site IPsec VPNs</a:t>
            </a:r>
          </a:p>
          <a:p>
            <a:r>
              <a:rPr lang="en-US" dirty="0"/>
              <a:t>18.2.5: Check Your Understanding - Compare Remote-Access and Site-to-Site VPNs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 IPsec Overview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 IPsec Overview
18.3.2: IPsec Technologies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18.3: IPsec Overview
18.3.2: IPsec Technologies (Cont.)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56988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18.3: IPsec Overview
18.3.3: IPsec Protocol Encapsulation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18.3: IPsec Overview
18.3.4: Confidentiality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18.3: IPsec Overview
18.3.5: Integrity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18.3: IPsec Overview
18.3.6: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 IPsec Overview
18.3.6: Authentication (Cont.)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601483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18.3: IPsec Overview
18.3.7: Secure Key Exchange with Diffie-Hellman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18.4: IPsec Protocols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18.4: IPsec Protocols
18.4.1: IPsec Protocol Overview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18.4: IPsec Protocols
18.4.2: Authentication Header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18.4: IPsec Protocols
18.4.3: Encapsulation Security Protocol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18.4: IPsec Protocols
18.4.4: ESP Encrypts and Authenticates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18.4: IPsec Protocols
18.4.5: Transport and Tunnel Modes</a:t>
            </a:r>
          </a:p>
          <a:p>
            <a:r>
              <a:rPr lang="en-US"/>
              <a:t>18.4.6: Check Your Understanding - Identify the IPsec Negotiation Steps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18.5: Internet Key Exchange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18.5: Internet Key Exchange
18.5.1: The IKE Protocol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VPNs
18.5: Internet Key Exchange
18.5.2: Phase 1 and 2 Key Negotiation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18.5: Internet Key Exchange
18.5.3: Phase 2: Negotiating SAs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19: Implement Site-to-Site IPsec VPNs with CLI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825790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33</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19 – </a:t>
            </a:r>
            <a:r>
              <a:rPr lang="en-US" dirty="0"/>
              <a:t>Implement Site-to-Site IPsec VPNs with CLI</a:t>
            </a:r>
            <a:endParaRPr lang="en-US" sz="1200" b="0" dirty="0"/>
          </a:p>
          <a:p>
            <a:r>
              <a:rPr lang="en-GB" dirty="0"/>
              <a:t>19.0.2 – What will I learn to do in this module?</a:t>
            </a:r>
          </a:p>
        </p:txBody>
      </p:sp>
    </p:spTree>
    <p:extLst>
      <p:ext uri="{BB962C8B-B14F-4D97-AF65-F5344CB8AC3E}">
        <p14:creationId xmlns:p14="http://schemas.microsoft.com/office/powerpoint/2010/main" val="22016424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1279565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19.1.1: IPsec Negotiation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9787570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19.1.2: Site-to-Site IPsec VPN Topology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30538198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19.1.2: Site-to-Site IPsec VPN Topology (Cont.)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1629239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19.1.4: Existing ACL Configurations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596122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19.1.3: IPsec VPN Configuration Tasks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32055155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19.1.5: Handling Broadcast and Multicast Traffic</a:t>
            </a:r>
          </a:p>
          <a:p>
            <a:r>
              <a:rPr lang="en-US" dirty="0"/>
              <a:t>19.1.6: Check Your Understanding – Identify the IPsec Negotiation Steps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9608665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19.2: ISAKMP Policy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5406531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19.2: ISAKMP Policy
19.2.1: The Default ISAKMP Policies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5497660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19.2: ISAKMP Policy
19.2.1: The Default ISAKMP Policies (Cont.)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1809730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19.2: ISAKMP Policy
19.2.2: Syntax to Configure a New ISAKMP Policy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5075784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19.2: ISAKMP Policy
19.2.3: ISAKMP Policy Configuration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0215805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19.2: ISAKMP Policy
19.2.4: Configuring a Pre-Shared Key</a:t>
            </a:r>
          </a:p>
          <a:p>
            <a:r>
              <a:rPr lang="en-US"/>
              <a:t>19.2.5: Syntax Checker - Configuring a Pre-Shared Key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25031262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19.3: IPsec Policy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7680522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19.3: IPsec Policy
19.3.1: Define Interesting Traffic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24425683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19.3: IPsec Policy
19.3.2: Configure IPsec Transform Set</a:t>
            </a:r>
          </a:p>
          <a:p>
            <a:r>
              <a:rPr lang="en-US"/>
              <a:t>19.3.3: Syntax Checker - Configure IPsec Transform Set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276021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19.4: Crypto Map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821721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19.4: Crypto Map
19.4.1: Syntax to Configure a Crypto Map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41178272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19.4: Crypto Map
19.4.1: Syntax to Configure a Crypto Map (Cont.)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33850005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19.4: Crypto Map
19.4.2: Crypto Map Configuration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36835099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19.4: Crypto Map
19.4.2: Crypto Map Configuration (Cont.)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5088653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19.4: Crypto Map
19.4.3: Apply and Verify the Crypto Map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19.4.4: Syntax Checker - </a:t>
            </a:r>
            <a:r>
              <a:rPr lang="en-US" b="0">
                <a:solidFill>
                  <a:srgbClr val="E06C75"/>
                </a:solidFill>
                <a:effectLst/>
                <a:latin typeface="Consolas" panose="020B0609020204030204" pitchFamily="49" charset="0"/>
              </a:rPr>
              <a:t>Configure, Apply, and Verify the Crypto Map</a:t>
            </a:r>
            <a:r>
              <a:rPr lang="en-US"/>
              <a:t>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23024040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19.5: IPsec VPN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30827559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19.5: IPsec VPN
19.5.1: Send Interesting Traffic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8321059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19.5: IPsec VPN
19.5.2: Verify the ISAKMP and IPsec Tunnels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9554260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19: Implement Site-to-Site IPsec VPNs with CLI
19.5: IPsec VPN
19.5.2: Verify the ISAKMP and IPsec Tunnels (Cont.)</a:t>
            </a:r>
          </a:p>
          <a:p>
            <a:r>
              <a:rPr lang="en-US"/>
              <a:t>19.5.3: Syntax Checker - Verify the ISAKMP and IPsec Tunnels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3238414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283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2021  Cisco and/or its affiliates. All rights reserved.   Cisco Confidential</a:t>
            </a:r>
            <a:endParaRPr lang="en-US" sz="60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2021  Cisco and/or its affiliates. All rights reserved.   Cisco Confidential</a:t>
            </a:r>
            <a:endParaRPr lang="en-US" sz="60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2021  Cisco and/or its affiliates. All rights reserved.   Cisco Confidential</a:t>
            </a:r>
            <a:endParaRPr lang="en-US" sz="60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960499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33924573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409232739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97500802"/>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3141467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4340201"/>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579879870"/>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3769596003"/>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140570746"/>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921897458"/>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92527316"/>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25967245"/>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36633649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43919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8894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36503632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16176538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33437340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13133066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35291871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258943515"/>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89878510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3976661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54256662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05647179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34738187"/>
      </p:ext>
    </p:extLst>
  </p:cSld>
  <p:clrMapOvr>
    <a:masterClrMapping/>
  </p:clrMapOvr>
  <p:transition spd="slow">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2058167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826360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292943929"/>
      </p:ext>
    </p:extLst>
  </p:cSld>
  <p:clrMapOvr>
    <a:masterClrMapping/>
  </p:clrMapOvr>
  <p:transition spd="slow">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329284437"/>
      </p:ext>
    </p:extLst>
  </p:cSld>
  <p:clrMapOvr>
    <a:masterClrMapping/>
  </p:clrMapOvr>
  <p:transition spd="slow">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599077247"/>
      </p:ext>
    </p:extLst>
  </p:cSld>
  <p:clrMapOvr>
    <a:masterClrMapping/>
  </p:clrMapOvr>
  <p:transition spd="slow">
    <p:wip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170210021"/>
      </p:ext>
    </p:extLst>
  </p:cSld>
  <p:clrMapOvr>
    <a:masterClrMapping/>
  </p:clrMapOvr>
  <p:transition spd="slow">
    <p:wip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74585105"/>
      </p:ext>
    </p:extLst>
  </p:cSld>
  <p:clrMapOvr>
    <a:masterClrMapping/>
  </p:clrMapOvr>
  <p:transition spd="slow">
    <p:wip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52469835"/>
      </p:ext>
    </p:extLst>
  </p:cSld>
  <p:clrMapOvr>
    <a:masterClrMapping/>
  </p:clrMapOvr>
  <p:transition spd="slow">
    <p:wip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140003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2.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166711482"/>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102065410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93"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98085146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2"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8.xml"/><Relationship Id="rId1" Type="http://schemas.openxmlformats.org/officeDocument/2006/relationships/tags" Target="../tags/tag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26.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26.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26.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26.xml"/><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26.xml"/><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26.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26.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0.xml"/><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1.xm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2.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4.xml"/><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6.xml"/><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7.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8.xm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7.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18: VPNs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VPNs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the purpose of VPNs.  </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859579161"/>
              </p:ext>
            </p:extLst>
          </p:nvPr>
        </p:nvGraphicFramePr>
        <p:xfrm>
          <a:off x="423333" y="1625600"/>
          <a:ext cx="8263467" cy="1542736"/>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b="1" dirty="0">
                          <a:effectLst/>
                          <a:latin typeface="Arial" panose="020B0604020202020204" pitchFamily="34" charset="0"/>
                          <a:ea typeface="Calibri" panose="020F0502020204030204" pitchFamily="34" charset="0"/>
                          <a:cs typeface="Arial" panose="020B0604020202020204" pitchFamily="34" charset="0"/>
                        </a:rPr>
                        <a:t>VPN Overview</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VPNs and their benefits.</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cs typeface="Arial" panose="020B0604020202020204" pitchFamily="34" charset="0"/>
                        </a:rPr>
                        <a:t>VPN Topologies</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Compare remote-access and site-to-site VPNs.</a:t>
                      </a:r>
                    </a:p>
                  </a:txBody>
                  <a:tcPr marL="60168" marR="60168" marT="0" marB="0"/>
                </a:tc>
                <a:extLst>
                  <a:ext uri="{0D108BD9-81ED-4DB2-BD59-A6C34878D82A}">
                    <a16:rowId xmlns:a16="http://schemas.microsoft.com/office/drawing/2014/main" val="66289294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Introducing IPsec</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the IPsec protocol and its basic functions.</a:t>
                      </a:r>
                    </a:p>
                  </a:txBody>
                  <a:tcPr marL="60168" marR="60168" marT="0" marB="0"/>
                </a:tc>
                <a:extLst>
                  <a:ext uri="{0D108BD9-81ED-4DB2-BD59-A6C34878D82A}">
                    <a16:rowId xmlns:a16="http://schemas.microsoft.com/office/drawing/2014/main" val="724516786"/>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IPsec Protocols</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Compare AH and ESP protocols.</a:t>
                      </a:r>
                    </a:p>
                  </a:txBody>
                  <a:tcPr marL="60168" marR="60168" marT="0" marB="0"/>
                </a:tc>
                <a:extLst>
                  <a:ext uri="{0D108BD9-81ED-4DB2-BD59-A6C34878D82A}">
                    <a16:rowId xmlns:a16="http://schemas.microsoft.com/office/drawing/2014/main" val="298268992"/>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Internet Key Exchange</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the IKE protocol.</a:t>
                      </a:r>
                    </a:p>
                  </a:txBody>
                  <a:tcPr marL="60168" marR="60168" marT="0" marB="0"/>
                </a:tc>
                <a:extLst>
                  <a:ext uri="{0D108BD9-81ED-4DB2-BD59-A6C34878D82A}">
                    <a16:rowId xmlns:a16="http://schemas.microsoft.com/office/drawing/2014/main" val="2019914068"/>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18.1 VPN Overview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Virtual Private Networks</a:t>
            </a:r>
          </a:p>
        </p:txBody>
      </p:sp>
      <p:sp>
        <p:nvSpPr>
          <p:cNvPr id="5" name="Object4"/>
          <p:cNvSpPr/>
          <p:nvPr/>
        </p:nvSpPr>
        <p:spPr>
          <a:xfrm>
            <a:off x="0" y="741045"/>
            <a:ext cx="38100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secure network traffic between sites and users, organizations use virtual private networks (VPNs) to create end-to-end private network connections. A VPN is virtual in that it carries information within a private network, but that information is transported over a public network. A VPN is private in that the traffic is encrypted to keep the data confidential while it is transported across the public network. The figure shows a collection of various types of VPNs managed by an enterprise’s main site. The tunnel enables remote sites and users to access main site’s network resources securely.</a:t>
            </a:r>
            <a:endParaRPr lang="en-US" sz="1400" dirty="0"/>
          </a:p>
        </p:txBody>
      </p:sp>
      <p:pic>
        <p:nvPicPr>
          <p:cNvPr id="4" name="Picture 3">
            <a:extLst>
              <a:ext uri="{FF2B5EF4-FFF2-40B4-BE49-F238E27FC236}">
                <a16:creationId xmlns:a16="http://schemas.microsoft.com/office/drawing/2014/main" id="{B1C75A08-FCD7-468C-8844-42362BE5B632}"/>
              </a:ext>
            </a:extLst>
          </p:cNvPr>
          <p:cNvPicPr>
            <a:picLocks noChangeAspect="1"/>
          </p:cNvPicPr>
          <p:nvPr/>
        </p:nvPicPr>
        <p:blipFill>
          <a:blip r:embed="rId3"/>
          <a:stretch>
            <a:fillRect/>
          </a:stretch>
        </p:blipFill>
        <p:spPr>
          <a:xfrm>
            <a:off x="3875702" y="731520"/>
            <a:ext cx="5039698" cy="347109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VPN Benefits</a:t>
            </a:r>
          </a:p>
        </p:txBody>
      </p:sp>
      <p:sp>
        <p:nvSpPr>
          <p:cNvPr id="7" name="TextBox 6">
            <a:extLst>
              <a:ext uri="{FF2B5EF4-FFF2-40B4-BE49-F238E27FC236}">
                <a16:creationId xmlns:a16="http://schemas.microsoft.com/office/drawing/2014/main" id="{9EA9A48E-4C66-4889-91C8-A6C4BD30765F}"/>
              </a:ext>
            </a:extLst>
          </p:cNvPr>
          <p:cNvSpPr txBox="1"/>
          <p:nvPr/>
        </p:nvSpPr>
        <p:spPr>
          <a:xfrm>
            <a:off x="182880" y="737235"/>
            <a:ext cx="8599170"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Modern VPNs now support encryption features, such as Internet Protocol Security (IPsec) and Secure Sockets Layer (SSL) VPNs to secure network traffic between sites.</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Major benefits of VPNs are shown in the table.</a:t>
            </a:r>
          </a:p>
        </p:txBody>
      </p:sp>
      <p:graphicFrame>
        <p:nvGraphicFramePr>
          <p:cNvPr id="11" name="Table 10"/>
          <p:cNvGraphicFramePr>
            <a:graphicFrameLocks noGrp="1"/>
          </p:cNvGraphicFramePr>
          <p:nvPr>
            <p:extLst>
              <p:ext uri="{D42A27DB-BD31-4B8C-83A1-F6EECF244321}">
                <p14:modId xmlns:p14="http://schemas.microsoft.com/office/powerpoint/2010/main" val="4206202299"/>
              </p:ext>
            </p:extLst>
          </p:nvPr>
        </p:nvGraphicFramePr>
        <p:xfrm>
          <a:off x="1203175" y="1771650"/>
          <a:ext cx="6558579" cy="2392680"/>
        </p:xfrm>
        <a:graphic>
          <a:graphicData uri="http://schemas.openxmlformats.org/drawingml/2006/table">
            <a:tbl>
              <a:tblPr/>
              <a:tblGrid>
                <a:gridCol w="1278533">
                  <a:extLst>
                    <a:ext uri="{9D8B030D-6E8A-4147-A177-3AD203B41FA5}">
                      <a16:colId xmlns:a16="http://schemas.microsoft.com/office/drawing/2014/main" val="20000"/>
                    </a:ext>
                  </a:extLst>
                </a:gridCol>
                <a:gridCol w="5280046">
                  <a:extLst>
                    <a:ext uri="{9D8B030D-6E8A-4147-A177-3AD203B41FA5}">
                      <a16:colId xmlns:a16="http://schemas.microsoft.com/office/drawing/2014/main" val="20001"/>
                    </a:ext>
                  </a:extLst>
                </a:gridCol>
              </a:tblGrid>
              <a:tr h="0">
                <a:tc>
                  <a:txBody>
                    <a:bodyPr/>
                    <a:lstStyle/>
                    <a:p>
                      <a:r>
                        <a:rPr lang="en-US" sz="1200" dirty="0">
                          <a:solidFill>
                            <a:srgbClr val="FFFFFF"/>
                          </a:solidFill>
                        </a:rPr>
                        <a:t>Benefit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Cost Savings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With the advent of cost-effective, high-bandwidth technologies,</a:t>
                      </a:r>
                      <a:r>
                        <a:rPr lang="en-US" sz="1200" dirty="0">
                          <a:solidFill>
                            <a:schemeClr val="tx1"/>
                          </a:solidFill>
                        </a:rPr>
                        <a:t> </a:t>
                      </a:r>
                      <a:r>
                        <a:rPr lang="en-US" sz="1200" dirty="0">
                          <a:solidFill>
                            <a:srgbClr val="58585B"/>
                          </a:solidFill>
                        </a:rPr>
                        <a:t>organizations can use VPNs to reduce their connectivity costs while</a:t>
                      </a:r>
                      <a:r>
                        <a:rPr lang="en-US" sz="1200" dirty="0">
                          <a:solidFill>
                            <a:schemeClr val="tx1"/>
                          </a:solidFill>
                        </a:rPr>
                        <a:t> </a:t>
                      </a:r>
                      <a:r>
                        <a:rPr lang="en-US" sz="1200" dirty="0">
                          <a:solidFill>
                            <a:srgbClr val="58585B"/>
                          </a:solidFill>
                        </a:rPr>
                        <a:t>simultaneously increasing remote connection bandwidth.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Security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VPNs provide the highest level of security available, by using</a:t>
                      </a:r>
                      <a:r>
                        <a:rPr lang="en-US" sz="1200" dirty="0">
                          <a:solidFill>
                            <a:schemeClr val="tx1"/>
                          </a:solidFill>
                        </a:rPr>
                        <a:t> </a:t>
                      </a:r>
                      <a:r>
                        <a:rPr lang="en-US" sz="1200" dirty="0">
                          <a:solidFill>
                            <a:srgbClr val="58585B"/>
                          </a:solidFill>
                        </a:rPr>
                        <a:t>advanced encryption and authentication protocols that protect data</a:t>
                      </a:r>
                      <a:r>
                        <a:rPr lang="en-US" sz="1200" dirty="0">
                          <a:solidFill>
                            <a:schemeClr val="tx1"/>
                          </a:solidFill>
                        </a:rPr>
                        <a:t> </a:t>
                      </a:r>
                      <a:r>
                        <a:rPr lang="en-US" sz="1200" dirty="0">
                          <a:solidFill>
                            <a:srgbClr val="58585B"/>
                          </a:solidFill>
                        </a:rPr>
                        <a:t>from unauthorized access.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Scalability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VPNs allow organizations to use the internet, making it easy to add</a:t>
                      </a:r>
                      <a:r>
                        <a:rPr lang="en-US" sz="1200" dirty="0">
                          <a:solidFill>
                            <a:schemeClr val="tx1"/>
                          </a:solidFill>
                        </a:rPr>
                        <a:t> </a:t>
                      </a:r>
                      <a:r>
                        <a:rPr lang="en-US" sz="1200" dirty="0">
                          <a:solidFill>
                            <a:srgbClr val="58585B"/>
                          </a:solidFill>
                        </a:rPr>
                        <a:t>new users without adding significant infrastructure.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Compatibility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VPNs can be implemented across a wide variety of WAN link options</a:t>
                      </a:r>
                      <a:r>
                        <a:rPr lang="en-US" sz="1200" dirty="0">
                          <a:solidFill>
                            <a:schemeClr val="tx1"/>
                          </a:solidFill>
                        </a:rPr>
                        <a:t> </a:t>
                      </a:r>
                      <a:r>
                        <a:rPr lang="en-US" sz="1200" dirty="0">
                          <a:solidFill>
                            <a:srgbClr val="58585B"/>
                          </a:solidFill>
                        </a:rPr>
                        <a:t>including all the popular broadband technologies. Remote workers can</a:t>
                      </a:r>
                      <a:r>
                        <a:rPr lang="en-US" sz="1200" dirty="0">
                          <a:solidFill>
                            <a:schemeClr val="tx1"/>
                          </a:solidFill>
                        </a:rPr>
                        <a:t> </a:t>
                      </a:r>
                      <a:r>
                        <a:rPr lang="en-US" sz="1200" dirty="0">
                          <a:solidFill>
                            <a:srgbClr val="58585B"/>
                          </a:solidFill>
                        </a:rPr>
                        <a:t>take advantage of these high-speed connections to gain secure access</a:t>
                      </a:r>
                      <a:r>
                        <a:rPr lang="en-US" sz="1200" dirty="0">
                          <a:solidFill>
                            <a:schemeClr val="tx1"/>
                          </a:solidFill>
                        </a:rPr>
                        <a:t> </a:t>
                      </a:r>
                      <a:r>
                        <a:rPr lang="en-US" sz="1200" dirty="0">
                          <a:solidFill>
                            <a:srgbClr val="58585B"/>
                          </a:solidFill>
                        </a:rPr>
                        <a:t>to their corporate networks.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18.2 VPN Topologies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Topologies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Site-to-Site VPNs</a:t>
            </a:r>
          </a:p>
        </p:txBody>
      </p:sp>
      <p:sp>
        <p:nvSpPr>
          <p:cNvPr id="5" name="Object4"/>
          <p:cNvSpPr/>
          <p:nvPr/>
        </p:nvSpPr>
        <p:spPr>
          <a:xfrm>
            <a:off x="0" y="914400"/>
            <a:ext cx="272415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 site-to-site VPN is created when VPN terminating devices, also called VPN gateways, are preconfigured with information to establish a secure tunnel. VPN traffic is only encrypted between these devices</a:t>
            </a:r>
            <a:r>
              <a:rPr lang="en-US" sz="1400" u="sng" dirty="0">
                <a:solidFill>
                  <a:srgbClr val="000000"/>
                </a:solidFill>
                <a:latin typeface="Arial" pitchFamily="34" charset="0"/>
                <a:ea typeface="Arial" pitchFamily="34" charset="-122"/>
                <a:cs typeface="Arial" pitchFamily="34" charset="-120"/>
              </a:rPr>
              <a:t>. Internal hosts have no knowledge that a VPN is being used.</a:t>
            </a:r>
            <a:endParaRPr lang="en-US" sz="1400" u="sng" dirty="0"/>
          </a:p>
        </p:txBody>
      </p:sp>
      <p:pic>
        <p:nvPicPr>
          <p:cNvPr id="4" name="Picture 3">
            <a:extLst>
              <a:ext uri="{FF2B5EF4-FFF2-40B4-BE49-F238E27FC236}">
                <a16:creationId xmlns:a16="http://schemas.microsoft.com/office/drawing/2014/main" id="{02F7B2D2-519E-485B-BCB4-FD67C9BCD2C7}"/>
              </a:ext>
            </a:extLst>
          </p:cNvPr>
          <p:cNvPicPr>
            <a:picLocks noChangeAspect="1"/>
          </p:cNvPicPr>
          <p:nvPr/>
        </p:nvPicPr>
        <p:blipFill>
          <a:blip r:embed="rId3"/>
          <a:stretch>
            <a:fillRect/>
          </a:stretch>
        </p:blipFill>
        <p:spPr>
          <a:xfrm>
            <a:off x="3215146" y="914400"/>
            <a:ext cx="5700254" cy="240812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Topologies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Remote-Access VPNs (Cont.)</a:t>
            </a:r>
          </a:p>
        </p:txBody>
      </p:sp>
      <p:sp>
        <p:nvSpPr>
          <p:cNvPr id="5" name="Object4"/>
          <p:cNvSpPr/>
          <p:nvPr/>
        </p:nvSpPr>
        <p:spPr>
          <a:xfrm>
            <a:off x="0" y="914400"/>
            <a:ext cx="2733675"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A remote-access VPN is dynamically created to establish a secure connection between a client and a VPN terminating device. For example, a remote access SSL VPN is used when you check your banking information online.</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pic>
        <p:nvPicPr>
          <p:cNvPr id="4" name="Picture 3">
            <a:extLst>
              <a:ext uri="{FF2B5EF4-FFF2-40B4-BE49-F238E27FC236}">
                <a16:creationId xmlns:a16="http://schemas.microsoft.com/office/drawing/2014/main" id="{66C3492D-85C0-4B85-839D-8CE281011843}"/>
              </a:ext>
            </a:extLst>
          </p:cNvPr>
          <p:cNvPicPr>
            <a:picLocks noChangeAspect="1"/>
          </p:cNvPicPr>
          <p:nvPr/>
        </p:nvPicPr>
        <p:blipFill>
          <a:blip r:embed="rId3"/>
          <a:stretch>
            <a:fillRect/>
          </a:stretch>
        </p:blipFill>
        <p:spPr>
          <a:xfrm>
            <a:off x="3184663" y="1026693"/>
            <a:ext cx="5730737" cy="234716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a:t>
            </a:fld>
            <a:endParaRPr lang="en-US" dirty="0"/>
          </a:p>
        </p:txBody>
      </p:sp>
    </p:spTree>
    <p:extLst>
      <p:ext uri="{BB962C8B-B14F-4D97-AF65-F5344CB8AC3E}">
        <p14:creationId xmlns:p14="http://schemas.microsoft.com/office/powerpoint/2010/main" val="405834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Topologies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Remote-Access VPNs</a:t>
            </a:r>
          </a:p>
        </p:txBody>
      </p:sp>
      <p:sp>
        <p:nvSpPr>
          <p:cNvPr id="5" name="Object4"/>
          <p:cNvSpPr/>
          <p:nvPr/>
        </p:nvSpPr>
        <p:spPr>
          <a:xfrm>
            <a:off x="0" y="914400"/>
            <a:ext cx="299085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Remote-access VPNs are typically enabled dynamically by the user when required. Remote access VPNs can be created using either IPsec or SSL. A remote user must initiate a remote access VPN connection. The figure displays two ways that a remote user can initiate a remote access VPN connection: clientless VPN and client-based VPN.</a:t>
            </a:r>
            <a:endParaRPr lang="en-US" sz="1600" dirty="0"/>
          </a:p>
        </p:txBody>
      </p:sp>
      <p:pic>
        <p:nvPicPr>
          <p:cNvPr id="4" name="Picture 3">
            <a:extLst>
              <a:ext uri="{FF2B5EF4-FFF2-40B4-BE49-F238E27FC236}">
                <a16:creationId xmlns:a16="http://schemas.microsoft.com/office/drawing/2014/main" id="{CB8552DF-D66E-4411-9A70-C239675CE7BA}"/>
              </a:ext>
            </a:extLst>
          </p:cNvPr>
          <p:cNvPicPr>
            <a:picLocks noChangeAspect="1"/>
          </p:cNvPicPr>
          <p:nvPr/>
        </p:nvPicPr>
        <p:blipFill>
          <a:blip r:embed="rId3"/>
          <a:stretch>
            <a:fillRect/>
          </a:stretch>
        </p:blipFill>
        <p:spPr>
          <a:xfrm>
            <a:off x="3409007" y="852404"/>
            <a:ext cx="5488289" cy="343869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Topologies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SSL VPNs</a:t>
            </a:r>
          </a:p>
        </p:txBody>
      </p:sp>
      <p:graphicFrame>
        <p:nvGraphicFramePr>
          <p:cNvPr id="15" name="Table 14"/>
          <p:cNvGraphicFramePr>
            <a:graphicFrameLocks noGrp="1"/>
          </p:cNvGraphicFramePr>
          <p:nvPr>
            <p:extLst>
              <p:ext uri="{D42A27DB-BD31-4B8C-83A1-F6EECF244321}">
                <p14:modId xmlns:p14="http://schemas.microsoft.com/office/powerpoint/2010/main" val="2532222996"/>
              </p:ext>
            </p:extLst>
          </p:nvPr>
        </p:nvGraphicFramePr>
        <p:xfrm>
          <a:off x="987909" y="2116455"/>
          <a:ext cx="7367197" cy="2468880"/>
        </p:xfrm>
        <a:graphic>
          <a:graphicData uri="http://schemas.openxmlformats.org/drawingml/2006/table">
            <a:tbl>
              <a:tblPr/>
              <a:tblGrid>
                <a:gridCol w="1592780">
                  <a:extLst>
                    <a:ext uri="{9D8B030D-6E8A-4147-A177-3AD203B41FA5}">
                      <a16:colId xmlns:a16="http://schemas.microsoft.com/office/drawing/2014/main" val="20000"/>
                    </a:ext>
                  </a:extLst>
                </a:gridCol>
                <a:gridCol w="2920881">
                  <a:extLst>
                    <a:ext uri="{9D8B030D-6E8A-4147-A177-3AD203B41FA5}">
                      <a16:colId xmlns:a16="http://schemas.microsoft.com/office/drawing/2014/main" val="20001"/>
                    </a:ext>
                  </a:extLst>
                </a:gridCol>
                <a:gridCol w="2853536">
                  <a:extLst>
                    <a:ext uri="{9D8B030D-6E8A-4147-A177-3AD203B41FA5}">
                      <a16:colId xmlns:a16="http://schemas.microsoft.com/office/drawing/2014/main" val="20002"/>
                    </a:ext>
                  </a:extLst>
                </a:gridCol>
              </a:tblGrid>
              <a:tr h="0">
                <a:tc>
                  <a:txBody>
                    <a:bodyPr/>
                    <a:lstStyle/>
                    <a:p>
                      <a:r>
                        <a:rPr lang="en-US" sz="1200" dirty="0">
                          <a:solidFill>
                            <a:srgbClr val="FFFFFF"/>
                          </a:solidFill>
                        </a:rPr>
                        <a:t>Feature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IPsec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SSL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rPr>
                        <a:t>Applications supported</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Extensive</a:t>
                      </a:r>
                      <a:r>
                        <a:rPr lang="en-US" sz="1200" dirty="0">
                          <a:solidFill>
                            <a:srgbClr val="58585B"/>
                          </a:solidFill>
                        </a:rPr>
                        <a:t> - All IP-based applications are supported.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Limited</a:t>
                      </a:r>
                      <a:r>
                        <a:rPr lang="en-US" sz="1200" dirty="0">
                          <a:solidFill>
                            <a:srgbClr val="58585B"/>
                          </a:solidFill>
                        </a:rPr>
                        <a:t> - Only web-based applications and file</a:t>
                      </a:r>
                      <a:r>
                        <a:rPr lang="en-US" sz="1200" dirty="0">
                          <a:solidFill>
                            <a:schemeClr val="tx1"/>
                          </a:solidFill>
                        </a:rPr>
                        <a:t> </a:t>
                      </a:r>
                      <a:r>
                        <a:rPr lang="en-US" sz="1200" dirty="0">
                          <a:solidFill>
                            <a:srgbClr val="58585B"/>
                          </a:solidFill>
                        </a:rPr>
                        <a:t>sharing are supported.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rPr>
                        <a:t>Authentication strength</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rPr>
                        <a:t>Strong</a:t>
                      </a:r>
                      <a:r>
                        <a:rPr lang="en-US" sz="1200" dirty="0">
                          <a:solidFill>
                            <a:srgbClr val="58585B"/>
                          </a:solidFill>
                        </a:rPr>
                        <a:t> - Uses two-way authentication with shared keys</a:t>
                      </a:r>
                      <a:r>
                        <a:rPr lang="en-US" sz="1200" dirty="0">
                          <a:solidFill>
                            <a:schemeClr val="tx1"/>
                          </a:solidFill>
                        </a:rPr>
                        <a:t> </a:t>
                      </a:r>
                      <a:r>
                        <a:rPr lang="en-US" sz="1200" dirty="0">
                          <a:solidFill>
                            <a:srgbClr val="58585B"/>
                          </a:solidFill>
                        </a:rPr>
                        <a:t>or digital certificates.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rPr>
                        <a:t>Moderate</a:t>
                      </a:r>
                      <a:r>
                        <a:rPr lang="en-US" sz="1200" dirty="0">
                          <a:solidFill>
                            <a:srgbClr val="58585B"/>
                          </a:solidFill>
                        </a:rPr>
                        <a:t> - Using one-way or two-way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rPr>
                        <a:t>Encryption strength</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Strong</a:t>
                      </a:r>
                      <a:r>
                        <a:rPr lang="en-US" sz="1200" dirty="0">
                          <a:solidFill>
                            <a:srgbClr val="58585B"/>
                          </a:solidFill>
                        </a:rPr>
                        <a:t> - Uses key lengths from 56 bits to 256 bits.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Moderate to strong </a:t>
                      </a:r>
                      <a:r>
                        <a:rPr lang="en-US" sz="1200" dirty="0">
                          <a:solidFill>
                            <a:srgbClr val="58585B"/>
                          </a:solidFill>
                        </a:rPr>
                        <a:t>- With key lengths from 40 bits to</a:t>
                      </a:r>
                      <a:r>
                        <a:rPr lang="en-US" sz="1200" dirty="0">
                          <a:solidFill>
                            <a:schemeClr val="tx1"/>
                          </a:solidFill>
                        </a:rPr>
                        <a:t> </a:t>
                      </a:r>
                      <a:r>
                        <a:rPr lang="en-US" sz="1200" dirty="0">
                          <a:solidFill>
                            <a:srgbClr val="58585B"/>
                          </a:solidFill>
                        </a:rPr>
                        <a:t>256 bits.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rPr>
                        <a:t>Connection complexity</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rPr>
                        <a:t>Medium</a:t>
                      </a:r>
                      <a:r>
                        <a:rPr lang="en-US" sz="1200" dirty="0">
                          <a:solidFill>
                            <a:srgbClr val="58585B"/>
                          </a:solidFill>
                        </a:rPr>
                        <a:t> - Because it requires a VPN client</a:t>
                      </a:r>
                      <a:r>
                        <a:rPr lang="en-US" sz="1200" dirty="0">
                          <a:solidFill>
                            <a:schemeClr val="tx1"/>
                          </a:solidFill>
                        </a:rPr>
                        <a:t> </a:t>
                      </a:r>
                      <a:r>
                        <a:rPr lang="en-US" sz="1200" dirty="0">
                          <a:solidFill>
                            <a:srgbClr val="58585B"/>
                          </a:solidFill>
                        </a:rPr>
                        <a:t>pre-installed on a host.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rPr>
                        <a:t>Low</a:t>
                      </a:r>
                      <a:r>
                        <a:rPr lang="en-US" sz="1200" dirty="0">
                          <a:solidFill>
                            <a:srgbClr val="58585B"/>
                          </a:solidFill>
                        </a:rPr>
                        <a:t> - It only requires a web browser on a host.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b="1" dirty="0">
                          <a:solidFill>
                            <a:srgbClr val="58585B"/>
                          </a:solidFill>
                        </a:rPr>
                        <a:t>Connection option</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Limited</a:t>
                      </a:r>
                      <a:r>
                        <a:rPr lang="en-US" sz="1200" dirty="0">
                          <a:solidFill>
                            <a:srgbClr val="58585B"/>
                          </a:solidFill>
                        </a:rPr>
                        <a:t> - Only specific devices with specific</a:t>
                      </a:r>
                      <a:r>
                        <a:rPr lang="en-US" sz="1200" dirty="0">
                          <a:solidFill>
                            <a:schemeClr val="tx1"/>
                          </a:solidFill>
                        </a:rPr>
                        <a:t> </a:t>
                      </a:r>
                      <a:r>
                        <a:rPr lang="en-US" sz="1200" dirty="0">
                          <a:solidFill>
                            <a:srgbClr val="58585B"/>
                          </a:solidFill>
                        </a:rPr>
                        <a:t>configurations can connect.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Extensive</a:t>
                      </a:r>
                      <a:r>
                        <a:rPr lang="en-US" sz="1200" dirty="0">
                          <a:solidFill>
                            <a:srgbClr val="58585B"/>
                          </a:solidFill>
                        </a:rPr>
                        <a:t> - Any device with a web browser can</a:t>
                      </a:r>
                      <a:r>
                        <a:rPr lang="en-US" sz="1200" dirty="0">
                          <a:solidFill>
                            <a:schemeClr val="tx1"/>
                          </a:solidFill>
                        </a:rPr>
                        <a:t> </a:t>
                      </a:r>
                      <a:r>
                        <a:rPr lang="en-US" sz="1200" dirty="0">
                          <a:solidFill>
                            <a:srgbClr val="58585B"/>
                          </a:solidFill>
                        </a:rPr>
                        <a:t>connect.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7" name="TextBox 6">
            <a:extLst>
              <a:ext uri="{FF2B5EF4-FFF2-40B4-BE49-F238E27FC236}">
                <a16:creationId xmlns:a16="http://schemas.microsoft.com/office/drawing/2014/main" id="{1B56DA3E-4D31-4968-8989-F620C1270C04}"/>
              </a:ext>
            </a:extLst>
          </p:cNvPr>
          <p:cNvSpPr txBox="1"/>
          <p:nvPr/>
        </p:nvSpPr>
        <p:spPr>
          <a:xfrm>
            <a:off x="91438" y="824983"/>
            <a:ext cx="8961119" cy="1246495"/>
          </a:xfrm>
          <a:prstGeom prst="rect">
            <a:avLst/>
          </a:prstGeom>
          <a:noFill/>
        </p:spPr>
        <p:txBody>
          <a:bodyPr wrap="square">
            <a:spAutoFit/>
          </a:bodyPr>
          <a:lstStyle/>
          <a:p>
            <a:r>
              <a:rPr lang="en-US" sz="1500" dirty="0">
                <a:latin typeface="Arial" panose="020B0604020202020204" pitchFamily="34" charset="0"/>
                <a:cs typeface="Arial" panose="020B0604020202020204" pitchFamily="34" charset="0"/>
              </a:rPr>
              <a:t>SSL uses the public key infrastructure and digital certificates to authenticate peers. Both IPsec and SSL VPN technologies offer access to virtually any network application or resource. However, when security is an issue, IPsec is the superior choice. If support and ease of deployment are the primary issues, consider SSL. The type of VPN method implemented is based on the access requirements of the users and the organization’s IT processes. The table compares IPsec and SSL remote access deployments.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Topologies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Site-to-Site IPsec VPNs</a:t>
            </a:r>
          </a:p>
        </p:txBody>
      </p:sp>
      <p:sp>
        <p:nvSpPr>
          <p:cNvPr id="5" name="Object4"/>
          <p:cNvSpPr/>
          <p:nvPr/>
        </p:nvSpPr>
        <p:spPr>
          <a:xfrm>
            <a:off x="0" y="914400"/>
            <a:ext cx="3000375"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VPN gateway encapsulates and encrypts outbound traffic. It then sends the traffic through a VPN tunnel over the internet to a VPN gateway at the target site. Upon receipt, the receiving VPN gateway strips the headers, decrypts the content, and relays the packet toward the target host inside its private network. Site-to-site VPNs are typically created and secured using IP security (IPsec).</a:t>
            </a:r>
            <a:endParaRPr lang="en-US" sz="1600" dirty="0"/>
          </a:p>
        </p:txBody>
      </p:sp>
      <p:pic>
        <p:nvPicPr>
          <p:cNvPr id="4" name="Picture 3">
            <a:extLst>
              <a:ext uri="{FF2B5EF4-FFF2-40B4-BE49-F238E27FC236}">
                <a16:creationId xmlns:a16="http://schemas.microsoft.com/office/drawing/2014/main" id="{9F230C56-3C8D-4F8D-8879-DA0E659AFF3B}"/>
              </a:ext>
            </a:extLst>
          </p:cNvPr>
          <p:cNvPicPr>
            <a:picLocks noChangeAspect="1"/>
          </p:cNvPicPr>
          <p:nvPr/>
        </p:nvPicPr>
        <p:blipFill>
          <a:blip r:embed="rId3"/>
          <a:stretch>
            <a:fillRect/>
          </a:stretch>
        </p:blipFill>
        <p:spPr>
          <a:xfrm>
            <a:off x="3192284" y="1106710"/>
            <a:ext cx="5723116" cy="218713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18.3 IPsec Overview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IPsec Technologies</a:t>
            </a:r>
          </a:p>
        </p:txBody>
      </p:sp>
      <p:sp>
        <p:nvSpPr>
          <p:cNvPr id="8" name="TextBox 7">
            <a:extLst>
              <a:ext uri="{FF2B5EF4-FFF2-40B4-BE49-F238E27FC236}">
                <a16:creationId xmlns:a16="http://schemas.microsoft.com/office/drawing/2014/main" id="{7E2F874D-6081-4C78-8715-9D37072FCF6D}"/>
              </a:ext>
            </a:extLst>
          </p:cNvPr>
          <p:cNvSpPr txBox="1"/>
          <p:nvPr/>
        </p:nvSpPr>
        <p:spPr>
          <a:xfrm>
            <a:off x="0" y="731520"/>
            <a:ext cx="3752850" cy="375487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Using the IPsec framework, IPsec provides these essential security functions:</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Confidentiality</a:t>
            </a:r>
            <a:r>
              <a:rPr lang="en-US" sz="1400" dirty="0">
                <a:latin typeface="Arial" panose="020B0604020202020204" pitchFamily="34" charset="0"/>
                <a:cs typeface="Arial" panose="020B0604020202020204" pitchFamily="34" charset="0"/>
              </a:rPr>
              <a:t> - IPsec uses encryption algorithms to prevent cybercriminals from reading the packet contents.</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Integrity</a:t>
            </a:r>
            <a:r>
              <a:rPr lang="en-US" sz="1400" dirty="0">
                <a:latin typeface="Arial" panose="020B0604020202020204" pitchFamily="34" charset="0"/>
                <a:cs typeface="Arial" panose="020B0604020202020204" pitchFamily="34" charset="0"/>
              </a:rPr>
              <a:t> - IPsec uses hashing algorithms to ensure that packets have not been altered between source and destination.</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Origin authentication </a:t>
            </a:r>
            <a:r>
              <a:rPr lang="en-US" sz="1400" dirty="0">
                <a:latin typeface="Arial" panose="020B0604020202020204" pitchFamily="34" charset="0"/>
                <a:cs typeface="Arial" panose="020B0604020202020204" pitchFamily="34" charset="0"/>
              </a:rPr>
              <a:t>- IPsec uses the Internet Key Exchange (IKE) protocol to authenticate source and destination. Methods of authentication including using pre-shared keys (passwords), digital certificates, or RSA certificates.</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Diffie-Hellman</a:t>
            </a:r>
            <a:r>
              <a:rPr lang="en-US" sz="1400" dirty="0">
                <a:latin typeface="Arial" panose="020B0604020202020204" pitchFamily="34" charset="0"/>
                <a:cs typeface="Arial" panose="020B0604020202020204" pitchFamily="34" charset="0"/>
              </a:rPr>
              <a:t> - Secure key exchange typically using various groups of the DH algorithm.</a:t>
            </a:r>
          </a:p>
        </p:txBody>
      </p:sp>
      <p:pic>
        <p:nvPicPr>
          <p:cNvPr id="5" name="Picture 4">
            <a:extLst>
              <a:ext uri="{FF2B5EF4-FFF2-40B4-BE49-F238E27FC236}">
                <a16:creationId xmlns:a16="http://schemas.microsoft.com/office/drawing/2014/main" id="{F9E1B7DA-64E8-413B-8637-1797032BD1DE}"/>
              </a:ext>
            </a:extLst>
          </p:cNvPr>
          <p:cNvPicPr>
            <a:picLocks noChangeAspect="1"/>
          </p:cNvPicPr>
          <p:nvPr/>
        </p:nvPicPr>
        <p:blipFill>
          <a:blip r:embed="rId3"/>
          <a:stretch>
            <a:fillRect/>
          </a:stretch>
        </p:blipFill>
        <p:spPr>
          <a:xfrm>
            <a:off x="4021261" y="841712"/>
            <a:ext cx="4473328" cy="344453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IPsec Technologies (Cont.)</a:t>
            </a:r>
          </a:p>
        </p:txBody>
      </p:sp>
      <p:sp>
        <p:nvSpPr>
          <p:cNvPr id="7" name="TextBox 6">
            <a:extLst>
              <a:ext uri="{FF2B5EF4-FFF2-40B4-BE49-F238E27FC236}">
                <a16:creationId xmlns:a16="http://schemas.microsoft.com/office/drawing/2014/main" id="{B0768B87-CED5-49EC-BC24-961D2D85B245}"/>
              </a:ext>
            </a:extLst>
          </p:cNvPr>
          <p:cNvSpPr txBox="1"/>
          <p:nvPr/>
        </p:nvSpPr>
        <p:spPr>
          <a:xfrm>
            <a:off x="0" y="819388"/>
            <a:ext cx="4610100"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IPsec security functions are list in the table.</a:t>
            </a:r>
          </a:p>
        </p:txBody>
      </p:sp>
      <p:graphicFrame>
        <p:nvGraphicFramePr>
          <p:cNvPr id="20" name="Table 19"/>
          <p:cNvGraphicFramePr>
            <a:graphicFrameLocks noGrp="1"/>
          </p:cNvGraphicFramePr>
          <p:nvPr>
            <p:extLst>
              <p:ext uri="{D42A27DB-BD31-4B8C-83A1-F6EECF244321}">
                <p14:modId xmlns:p14="http://schemas.microsoft.com/office/powerpoint/2010/main" val="2524294167"/>
              </p:ext>
            </p:extLst>
          </p:nvPr>
        </p:nvGraphicFramePr>
        <p:xfrm>
          <a:off x="514411" y="1188720"/>
          <a:ext cx="7367195" cy="3383280"/>
        </p:xfrm>
        <a:graphic>
          <a:graphicData uri="http://schemas.openxmlformats.org/drawingml/2006/table">
            <a:tbl>
              <a:tblPr/>
              <a:tblGrid>
                <a:gridCol w="1099441">
                  <a:extLst>
                    <a:ext uri="{9D8B030D-6E8A-4147-A177-3AD203B41FA5}">
                      <a16:colId xmlns:a16="http://schemas.microsoft.com/office/drawing/2014/main" val="20000"/>
                    </a:ext>
                  </a:extLst>
                </a:gridCol>
                <a:gridCol w="6267754">
                  <a:extLst>
                    <a:ext uri="{9D8B030D-6E8A-4147-A177-3AD203B41FA5}">
                      <a16:colId xmlns:a16="http://schemas.microsoft.com/office/drawing/2014/main" val="20001"/>
                    </a:ext>
                  </a:extLst>
                </a:gridCol>
              </a:tblGrid>
              <a:tr h="0">
                <a:tc>
                  <a:txBody>
                    <a:bodyPr/>
                    <a:lstStyle/>
                    <a:p>
                      <a:r>
                        <a:rPr lang="en-US" sz="1200" dirty="0">
                          <a:solidFill>
                            <a:srgbClr val="FFFFFF"/>
                          </a:solidFill>
                        </a:rPr>
                        <a:t>IPsec Function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IPsec Protocol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choices for IPsec Protocol include Authentication Header (AH) </a:t>
                      </a:r>
                      <a:r>
                        <a:rPr lang="sk-SK" sz="1200" dirty="0" err="1">
                          <a:solidFill>
                            <a:srgbClr val="58585B"/>
                          </a:solidFill>
                        </a:rPr>
                        <a:t>protocol</a:t>
                      </a:r>
                      <a:r>
                        <a:rPr lang="en-US" sz="1200" dirty="0">
                          <a:solidFill>
                            <a:srgbClr val="58585B"/>
                          </a:solidFill>
                        </a:rPr>
                        <a:t> 51 or Encapsulation Security Protocol (ESP) </a:t>
                      </a:r>
                      <a:r>
                        <a:rPr lang="sk-SK" sz="1200" dirty="0" err="1">
                          <a:solidFill>
                            <a:srgbClr val="58585B"/>
                          </a:solidFill>
                        </a:rPr>
                        <a:t>protocol</a:t>
                      </a:r>
                      <a:r>
                        <a:rPr lang="en-US" sz="1200" dirty="0">
                          <a:solidFill>
                            <a:srgbClr val="58585B"/>
                          </a:solidFill>
                        </a:rPr>
                        <a:t> 50. AH authenticates the Layer 3 packet. ESP encrypts the Layer 3 packet. Note: ESP+AH is rarely used as this combination will not successfully traverse a NAT device.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Confidentiality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Encryption ensures confidentiality of the Layer 3 packet. Choices include Data Encryption Standard (DES), Triple DES (3DES), Advanced Encryption Standard (AES), or Software-Optimized Encryption Algorithm (SEAL). </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Integrity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Ensures that data arrives unchanged at the destination using a hash algorithm, such as message-digest 5 (MD5) or Secure Hash Algorithm (SHA).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IPsec uses Internet Key Exchange (IKE) port 500/</a:t>
                      </a:r>
                      <a:r>
                        <a:rPr lang="en-US" sz="1200" dirty="0" err="1">
                          <a:solidFill>
                            <a:srgbClr val="58585B"/>
                          </a:solidFill>
                        </a:rPr>
                        <a:t>udp</a:t>
                      </a:r>
                      <a:r>
                        <a:rPr lang="en-US" sz="1200">
                          <a:solidFill>
                            <a:srgbClr val="58585B"/>
                          </a:solidFill>
                        </a:rPr>
                        <a:t> to authenticate users and devices that can carry out communication independently. IKE uses several types of authentication, including username and password, one-time password, biometrics, pre-shared keys (PSKs), and digital certificates using the Rivest, Shamir, and Adleman (RSA) algorithm.</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a:solidFill>
                            <a:srgbClr val="58585B"/>
                          </a:solidFill>
                        </a:rPr>
                        <a:t>Diffie-Hellman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IPsec uses the DH algorithm to provide a public key exchange method for two peers to establish a shared secret key. There are several different groups to choose from including DH14, 15, 16 and DH 19, 20, 21 and 24. DH1, 2 and 5 are no longer recommended.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a:p>
        </p:txBody>
      </p:sp>
    </p:spTree>
    <p:extLst>
      <p:ext uri="{BB962C8B-B14F-4D97-AF65-F5344CB8AC3E}">
        <p14:creationId xmlns:p14="http://schemas.microsoft.com/office/powerpoint/2010/main" val="2990590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IPsec Protocol Encapsulation</a:t>
            </a:r>
          </a:p>
        </p:txBody>
      </p:sp>
      <p:sp>
        <p:nvSpPr>
          <p:cNvPr id="5" name="Object4"/>
          <p:cNvSpPr/>
          <p:nvPr/>
        </p:nvSpPr>
        <p:spPr>
          <a:xfrm>
            <a:off x="0" y="914400"/>
            <a:ext cx="3793067"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Choosing the IPsec protocol encapsulation is the first building block of the framework. IPsec encapsulates packets using Authentication Header (AH) or Encapsulation Security Protocol (ESP). The choice of AH or ESP establishes which other building blocks are available. </a:t>
            </a:r>
            <a:r>
              <a:rPr lang="en-US" sz="1600" dirty="0">
                <a:solidFill>
                  <a:srgbClr val="000000"/>
                </a:solidFill>
                <a:latin typeface="Arial" pitchFamily="34" charset="0"/>
                <a:cs typeface="Arial" pitchFamily="34" charset="-120"/>
              </a:rPr>
              <a:t>AH is appropriate only when confidentiality is not required or permitted. </a:t>
            </a:r>
            <a:r>
              <a:rPr lang="en-US" sz="1600" u="sng" dirty="0">
                <a:solidFill>
                  <a:srgbClr val="000000"/>
                </a:solidFill>
                <a:latin typeface="Arial" pitchFamily="34" charset="0"/>
                <a:cs typeface="Arial" pitchFamily="34" charset="-120"/>
              </a:rPr>
              <a:t>ESP provides both confidentiality and authentication</a:t>
            </a:r>
            <a:r>
              <a:rPr lang="en-US" sz="1600" dirty="0">
                <a:solidFill>
                  <a:srgbClr val="000000"/>
                </a:solidFill>
                <a:latin typeface="Arial" pitchFamily="34" charset="0"/>
                <a:cs typeface="Arial" pitchFamily="34" charset="-120"/>
              </a:rPr>
              <a:t>.</a:t>
            </a:r>
            <a:endParaRPr lang="en-US" sz="1600" dirty="0"/>
          </a:p>
        </p:txBody>
      </p:sp>
      <p:pic>
        <p:nvPicPr>
          <p:cNvPr id="4" name="Picture 3">
            <a:extLst>
              <a:ext uri="{FF2B5EF4-FFF2-40B4-BE49-F238E27FC236}">
                <a16:creationId xmlns:a16="http://schemas.microsoft.com/office/drawing/2014/main" id="{34B504C9-CF01-4DF9-9579-93839F5D4BF8}"/>
              </a:ext>
            </a:extLst>
          </p:cNvPr>
          <p:cNvPicPr>
            <a:picLocks noChangeAspect="1"/>
          </p:cNvPicPr>
          <p:nvPr/>
        </p:nvPicPr>
        <p:blipFill>
          <a:blip r:embed="rId3"/>
          <a:stretch>
            <a:fillRect/>
          </a:stretch>
        </p:blipFill>
        <p:spPr>
          <a:xfrm>
            <a:off x="4305105" y="914400"/>
            <a:ext cx="4496190" cy="342167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Confidentiality</a:t>
            </a:r>
          </a:p>
        </p:txBody>
      </p:sp>
      <p:sp>
        <p:nvSpPr>
          <p:cNvPr id="5" name="Object4"/>
          <p:cNvSpPr/>
          <p:nvPr/>
        </p:nvSpPr>
        <p:spPr>
          <a:xfrm>
            <a:off x="0" y="708659"/>
            <a:ext cx="4185424" cy="3603145"/>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Confidentiality is achieved by encrypting the data. The degree of confidentiality depends on the encryption algorithm and the length of the key used in the encryption algorithm. The shorter the key, the easier it is to break. </a:t>
            </a:r>
          </a:p>
          <a:p>
            <a:pPr marL="285750" indent="-285750">
              <a:lnSpc>
                <a:spcPts val="2000"/>
              </a:lnSpc>
              <a:buFont typeface="Arial" panose="020B0604020202020204" pitchFamily="34" charset="0"/>
              <a:buChar char="•"/>
            </a:pPr>
            <a:r>
              <a:rPr lang="en-US" sz="1600">
                <a:solidFill>
                  <a:srgbClr val="000000"/>
                </a:solidFill>
                <a:latin typeface="Arial" pitchFamily="34" charset="0"/>
                <a:ea typeface="Arial" pitchFamily="34" charset="-122"/>
                <a:cs typeface="Arial" pitchFamily="34" charset="-120"/>
              </a:rPr>
              <a:t>DES uses a 56-bit key and should be avoided.</a:t>
            </a:r>
          </a:p>
          <a:p>
            <a:pPr marL="285750" indent="-285750">
              <a:lnSpc>
                <a:spcPts val="2000"/>
              </a:lnSpc>
              <a:buFont typeface="Arial" panose="020B0604020202020204" pitchFamily="34" charset="0"/>
              <a:buChar char="•"/>
            </a:pPr>
            <a:r>
              <a:rPr lang="en-US" sz="1600">
                <a:solidFill>
                  <a:srgbClr val="000000"/>
                </a:solidFill>
                <a:latin typeface="Arial" pitchFamily="34" charset="0"/>
                <a:cs typeface="Arial" pitchFamily="34" charset="-120"/>
              </a:rPr>
              <a:t>3DES uses three 56-bit encryption keys per 64-bit block.</a:t>
            </a:r>
          </a:p>
          <a:p>
            <a:pPr marL="285750" indent="-285750">
              <a:lnSpc>
                <a:spcPts val="2000"/>
              </a:lnSpc>
              <a:buFont typeface="Arial" panose="020B0604020202020204" pitchFamily="34" charset="0"/>
              <a:buChar char="•"/>
            </a:pPr>
            <a:r>
              <a:rPr lang="en-US" sz="1600">
                <a:solidFill>
                  <a:srgbClr val="000000"/>
                </a:solidFill>
                <a:latin typeface="Arial" pitchFamily="34" charset="0"/>
                <a:cs typeface="Arial" pitchFamily="34" charset="-120"/>
              </a:rPr>
              <a:t>AES offers three different key lengths: 128 bits, 192 bits, and 256 bits.</a:t>
            </a:r>
          </a:p>
          <a:p>
            <a:pPr marL="285750" indent="-285750">
              <a:lnSpc>
                <a:spcPts val="2000"/>
              </a:lnSpc>
              <a:buFont typeface="Arial" panose="020B0604020202020204" pitchFamily="34" charset="0"/>
              <a:buChar char="•"/>
            </a:pPr>
            <a:r>
              <a:rPr lang="en-US" sz="1600">
                <a:solidFill>
                  <a:srgbClr val="000000"/>
                </a:solidFill>
                <a:latin typeface="Arial" pitchFamily="34" charset="0"/>
                <a:cs typeface="Arial" pitchFamily="34" charset="-120"/>
              </a:rPr>
              <a:t>SEAL is a stream cipher, encrypting data continuously. It uses a 160-bit key</a:t>
            </a:r>
            <a:r>
              <a:rPr lang="en-US" sz="1400">
                <a:solidFill>
                  <a:srgbClr val="000000"/>
                </a:solidFill>
                <a:latin typeface="Arial" pitchFamily="34" charset="0"/>
                <a:cs typeface="Arial" pitchFamily="34" charset="-120"/>
              </a:rPr>
              <a:t>.</a:t>
            </a:r>
            <a:endParaRPr lang="en-US" sz="1400"/>
          </a:p>
        </p:txBody>
      </p:sp>
      <p:pic>
        <p:nvPicPr>
          <p:cNvPr id="4" name="Picture 3">
            <a:extLst>
              <a:ext uri="{FF2B5EF4-FFF2-40B4-BE49-F238E27FC236}">
                <a16:creationId xmlns:a16="http://schemas.microsoft.com/office/drawing/2014/main" id="{1329544B-3489-43F4-B399-E563097F1609}"/>
              </a:ext>
            </a:extLst>
          </p:cNvPr>
          <p:cNvPicPr>
            <a:picLocks noChangeAspect="1"/>
          </p:cNvPicPr>
          <p:nvPr/>
        </p:nvPicPr>
        <p:blipFill>
          <a:blip r:embed="rId3"/>
          <a:stretch>
            <a:fillRect/>
          </a:stretch>
        </p:blipFill>
        <p:spPr>
          <a:xfrm>
            <a:off x="4040319" y="731520"/>
            <a:ext cx="4282811" cy="34597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Integrity</a:t>
            </a:r>
          </a:p>
        </p:txBody>
      </p:sp>
      <p:sp>
        <p:nvSpPr>
          <p:cNvPr id="5" name="Object4"/>
          <p:cNvSpPr/>
          <p:nvPr/>
        </p:nvSpPr>
        <p:spPr>
          <a:xfrm>
            <a:off x="0" y="708660"/>
            <a:ext cx="4187952" cy="2571750"/>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Data integrity means that the data that is received is exactly the same data that was sent.</a:t>
            </a:r>
          </a:p>
          <a:p>
            <a:pPr marL="285750" indent="-285750">
              <a:lnSpc>
                <a:spcPts val="2000"/>
              </a:lnSpc>
              <a:buFont typeface="Arial" panose="020B0604020202020204" pitchFamily="34" charset="0"/>
              <a:buChar char="•"/>
            </a:pPr>
            <a:r>
              <a:rPr lang="en-US" sz="1600">
                <a:solidFill>
                  <a:srgbClr val="000000"/>
                </a:solidFill>
                <a:latin typeface="Arial" pitchFamily="34" charset="0"/>
                <a:cs typeface="Arial" pitchFamily="34" charset="-120"/>
              </a:rPr>
              <a:t>Message-Digest 5 (MD5) uses a 128-bit shared-secret key. The variable-length message and 128-bit shared-secret key are combined and run through the HMAC-MD5 hash algorithm producing a 128-bit hash.</a:t>
            </a:r>
          </a:p>
          <a:p>
            <a:pPr marL="285750" indent="-285750">
              <a:lnSpc>
                <a:spcPts val="2000"/>
              </a:lnSpc>
              <a:buFont typeface="Arial" panose="020B0604020202020204" pitchFamily="34" charset="0"/>
              <a:buChar char="•"/>
            </a:pPr>
            <a:r>
              <a:rPr lang="en-US" sz="1600">
                <a:solidFill>
                  <a:srgbClr val="000000"/>
                </a:solidFill>
                <a:latin typeface="Arial" pitchFamily="34" charset="0"/>
                <a:cs typeface="Arial" pitchFamily="34" charset="-120"/>
              </a:rPr>
              <a:t>The Secure Hash Algorithm (SHA) uses a 160-bit secret key. The variable-length message and 160-bit shared-secret key are combined and run through the HMAC-SHA-1 algorithm producing a 160-bit hash.</a:t>
            </a:r>
          </a:p>
          <a:p>
            <a:pPr marL="285750" indent="-285750">
              <a:lnSpc>
                <a:spcPts val="2000"/>
              </a:lnSpc>
              <a:buFont typeface="Arial" panose="020B0604020202020204" pitchFamily="34" charset="0"/>
              <a:buChar char="•"/>
            </a:pPr>
            <a:endParaRPr lang="en-US" sz="1400"/>
          </a:p>
        </p:txBody>
      </p:sp>
      <p:pic>
        <p:nvPicPr>
          <p:cNvPr id="4" name="Picture 3">
            <a:extLst>
              <a:ext uri="{FF2B5EF4-FFF2-40B4-BE49-F238E27FC236}">
                <a16:creationId xmlns:a16="http://schemas.microsoft.com/office/drawing/2014/main" id="{59A3B0AE-2743-4651-A752-82E2541B83BB}"/>
              </a:ext>
            </a:extLst>
          </p:cNvPr>
          <p:cNvPicPr>
            <a:picLocks noChangeAspect="1"/>
          </p:cNvPicPr>
          <p:nvPr/>
        </p:nvPicPr>
        <p:blipFill>
          <a:blip r:embed="rId3"/>
          <a:stretch>
            <a:fillRect/>
          </a:stretch>
        </p:blipFill>
        <p:spPr>
          <a:xfrm>
            <a:off x="4187952" y="818998"/>
            <a:ext cx="4397121" cy="350550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Authentication</a:t>
            </a:r>
          </a:p>
        </p:txBody>
      </p:sp>
      <p:sp>
        <p:nvSpPr>
          <p:cNvPr id="5" name="Object4"/>
          <p:cNvSpPr/>
          <p:nvPr/>
        </p:nvSpPr>
        <p:spPr>
          <a:xfrm>
            <a:off x="0" y="810322"/>
            <a:ext cx="3672468" cy="2675828"/>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When conducting business long distance, the device on the other end of the VPN tunnel must be authenticated before the communication path is considered secure. </a:t>
            </a:r>
          </a:p>
          <a:p>
            <a:pPr marL="285750" indent="-285750">
              <a:lnSpc>
                <a:spcPts val="2000"/>
              </a:lnSpc>
              <a:buFont typeface="Arial" panose="020B0604020202020204" pitchFamily="34" charset="0"/>
              <a:buChar char="•"/>
            </a:pPr>
            <a:r>
              <a:rPr lang="en-US" sz="1600">
                <a:solidFill>
                  <a:srgbClr val="000000"/>
                </a:solidFill>
                <a:latin typeface="Arial" pitchFamily="34" charset="0"/>
                <a:cs typeface="Arial" pitchFamily="34" charset="-120"/>
              </a:rPr>
              <a:t>A pre-shared secret key (PSK) value is entered into each peer manually. The PSK is combined with other information to form the authentication key.</a:t>
            </a:r>
          </a:p>
          <a:p>
            <a:pPr marL="285750" indent="-285750">
              <a:lnSpc>
                <a:spcPts val="2000"/>
              </a:lnSpc>
              <a:buFont typeface="Arial" panose="020B0604020202020204" pitchFamily="34" charset="0"/>
              <a:buChar char="•"/>
            </a:pPr>
            <a:r>
              <a:rPr lang="en-US" sz="1600" err="1">
                <a:solidFill>
                  <a:srgbClr val="000000"/>
                </a:solidFill>
                <a:latin typeface="Arial" pitchFamily="34" charset="0"/>
                <a:cs typeface="Arial" pitchFamily="34" charset="-120"/>
              </a:rPr>
              <a:t>Rivest</a:t>
            </a:r>
            <a:r>
              <a:rPr lang="en-US" sz="1600">
                <a:solidFill>
                  <a:srgbClr val="000000"/>
                </a:solidFill>
                <a:latin typeface="Arial" pitchFamily="34" charset="0"/>
                <a:cs typeface="Arial" pitchFamily="34" charset="-120"/>
              </a:rPr>
              <a:t>, Shamir, and </a:t>
            </a:r>
            <a:r>
              <a:rPr lang="en-US" sz="1600" err="1">
                <a:solidFill>
                  <a:srgbClr val="000000"/>
                </a:solidFill>
                <a:latin typeface="Arial" pitchFamily="34" charset="0"/>
                <a:cs typeface="Arial" pitchFamily="34" charset="-120"/>
              </a:rPr>
              <a:t>Adleman</a:t>
            </a:r>
            <a:r>
              <a:rPr lang="en-US" sz="1600">
                <a:solidFill>
                  <a:srgbClr val="000000"/>
                </a:solidFill>
                <a:latin typeface="Arial" pitchFamily="34" charset="0"/>
                <a:cs typeface="Arial" pitchFamily="34" charset="-120"/>
              </a:rPr>
              <a:t> (RSA) authentication uses digital certificates to authenticate peers.</a:t>
            </a:r>
            <a:endParaRPr lang="en-US" sz="1600"/>
          </a:p>
        </p:txBody>
      </p:sp>
      <p:pic>
        <p:nvPicPr>
          <p:cNvPr id="6" name="Picture 5">
            <a:extLst>
              <a:ext uri="{FF2B5EF4-FFF2-40B4-BE49-F238E27FC236}">
                <a16:creationId xmlns:a16="http://schemas.microsoft.com/office/drawing/2014/main" id="{714B5C85-6CE0-481E-B5CE-9654F35EC787}"/>
              </a:ext>
            </a:extLst>
          </p:cNvPr>
          <p:cNvPicPr>
            <a:picLocks noChangeAspect="1"/>
          </p:cNvPicPr>
          <p:nvPr/>
        </p:nvPicPr>
        <p:blipFill>
          <a:blip r:embed="rId3"/>
          <a:stretch>
            <a:fillRect/>
          </a:stretch>
        </p:blipFill>
        <p:spPr>
          <a:xfrm>
            <a:off x="3962210" y="731520"/>
            <a:ext cx="4381880" cy="346740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Authentication (Cont.)</a:t>
            </a:r>
          </a:p>
        </p:txBody>
      </p:sp>
      <p:pic>
        <p:nvPicPr>
          <p:cNvPr id="4" name="Picture 3">
            <a:extLst>
              <a:ext uri="{FF2B5EF4-FFF2-40B4-BE49-F238E27FC236}">
                <a16:creationId xmlns:a16="http://schemas.microsoft.com/office/drawing/2014/main" id="{CAE26967-93F3-4D10-9EF1-FDB32446C476}"/>
              </a:ext>
            </a:extLst>
          </p:cNvPr>
          <p:cNvPicPr>
            <a:picLocks noChangeAspect="1"/>
          </p:cNvPicPr>
          <p:nvPr/>
        </p:nvPicPr>
        <p:blipFill>
          <a:blip r:embed="rId3"/>
          <a:stretch>
            <a:fillRect/>
          </a:stretch>
        </p:blipFill>
        <p:spPr>
          <a:xfrm>
            <a:off x="151587" y="601149"/>
            <a:ext cx="4494149" cy="2378910"/>
          </a:xfrm>
          <a:prstGeom prst="rect">
            <a:avLst/>
          </a:prstGeom>
        </p:spPr>
      </p:pic>
      <p:pic>
        <p:nvPicPr>
          <p:cNvPr id="6" name="Picture 5">
            <a:extLst>
              <a:ext uri="{FF2B5EF4-FFF2-40B4-BE49-F238E27FC236}">
                <a16:creationId xmlns:a16="http://schemas.microsoft.com/office/drawing/2014/main" id="{9B5F0BEB-4790-4725-8C27-43E11F4D2CD6}"/>
              </a:ext>
            </a:extLst>
          </p:cNvPr>
          <p:cNvPicPr>
            <a:picLocks noChangeAspect="1"/>
          </p:cNvPicPr>
          <p:nvPr/>
        </p:nvPicPr>
        <p:blipFill>
          <a:blip r:embed="rId4"/>
          <a:stretch>
            <a:fillRect/>
          </a:stretch>
        </p:blipFill>
        <p:spPr>
          <a:xfrm>
            <a:off x="4797322" y="70389"/>
            <a:ext cx="4032412" cy="269002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a:p>
        </p:txBody>
      </p:sp>
      <p:sp>
        <p:nvSpPr>
          <p:cNvPr id="5" name="BlokTextu 4">
            <a:extLst>
              <a:ext uri="{FF2B5EF4-FFF2-40B4-BE49-F238E27FC236}">
                <a16:creationId xmlns:a16="http://schemas.microsoft.com/office/drawing/2014/main" id="{1FE09CF9-CBE0-4407-ED77-FF2C16ED232F}"/>
              </a:ext>
            </a:extLst>
          </p:cNvPr>
          <p:cNvSpPr txBox="1"/>
          <p:nvPr/>
        </p:nvSpPr>
        <p:spPr>
          <a:xfrm>
            <a:off x="4649025" y="2793979"/>
            <a:ext cx="4106849" cy="2292935"/>
          </a:xfrm>
          <a:prstGeom prst="rect">
            <a:avLst/>
          </a:prstGeom>
          <a:noFill/>
        </p:spPr>
        <p:txBody>
          <a:bodyPr wrap="square" rtlCol="0">
            <a:spAutoFit/>
          </a:bodyPr>
          <a:lstStyle/>
          <a:p>
            <a:pPr algn="l">
              <a:buNone/>
            </a:pPr>
            <a:r>
              <a:rPr lang="sk-SK" sz="1100" b="0" i="0" dirty="0">
                <a:solidFill>
                  <a:srgbClr val="242424"/>
                </a:solidFill>
                <a:effectLst/>
                <a:latin typeface="Segoe UI" panose="020B0502040204020203" pitchFamily="34" charset="0"/>
              </a:rPr>
              <a:t>RSA autentifikácia pri IPSEC funguje nasledovne:</a:t>
            </a:r>
          </a:p>
          <a:p>
            <a:pPr algn="l">
              <a:buNone/>
            </a:pPr>
            <a:r>
              <a:rPr lang="sk-SK" sz="1100" b="1" i="0" dirty="0">
                <a:solidFill>
                  <a:srgbClr val="242424"/>
                </a:solidFill>
                <a:effectLst/>
                <a:latin typeface="Segoe UI" panose="020B0502040204020203" pitchFamily="34" charset="0"/>
              </a:rPr>
              <a:t>Proces autentifikácie</a:t>
            </a:r>
          </a:p>
          <a:p>
            <a:pPr algn="l">
              <a:buFont typeface="+mj-lt"/>
              <a:buAutoNum type="arabicPeriod"/>
            </a:pPr>
            <a:r>
              <a:rPr lang="sk-SK" sz="1100" b="1" i="0" dirty="0">
                <a:solidFill>
                  <a:srgbClr val="242424"/>
                </a:solidFill>
                <a:effectLst/>
                <a:latin typeface="Segoe UI" panose="020B0502040204020203" pitchFamily="34" charset="0"/>
              </a:rPr>
              <a:t>Vytvorenie digitálnych certifikátov</a:t>
            </a:r>
            <a:r>
              <a:rPr lang="sk-SK" sz="1100" b="0" i="0" dirty="0">
                <a:solidFill>
                  <a:srgbClr val="242424"/>
                </a:solidFill>
                <a:effectLst/>
                <a:latin typeface="Segoe UI" panose="020B0502040204020203" pitchFamily="34" charset="0"/>
              </a:rPr>
              <a:t>: Každé zariadenie (</a:t>
            </a:r>
            <a:r>
              <a:rPr lang="sk-SK" sz="1100" b="0" i="0" dirty="0" err="1">
                <a:solidFill>
                  <a:srgbClr val="242424"/>
                </a:solidFill>
                <a:effectLst/>
                <a:latin typeface="Segoe UI" panose="020B0502040204020203" pitchFamily="34" charset="0"/>
              </a:rPr>
              <a:t>peer</a:t>
            </a:r>
            <a:r>
              <a:rPr lang="sk-SK" sz="1100" b="0" i="0" dirty="0">
                <a:solidFill>
                  <a:srgbClr val="242424"/>
                </a:solidFill>
                <a:effectLst/>
                <a:latin typeface="Segoe UI" panose="020B0502040204020203" pitchFamily="34" charset="0"/>
              </a:rPr>
              <a:t>) dostane digitálny certifikát od certifikačnej autority (CA). Tento certifikát obsahuje verejný kľúč a identitu zariadenia</a:t>
            </a:r>
          </a:p>
          <a:p>
            <a:pPr algn="l">
              <a:buFont typeface="+mj-lt"/>
              <a:buAutoNum type="arabicPeriod"/>
            </a:pPr>
            <a:r>
              <a:rPr lang="sk-SK" sz="1100" b="1" i="0" dirty="0">
                <a:solidFill>
                  <a:srgbClr val="242424"/>
                </a:solidFill>
                <a:effectLst/>
                <a:latin typeface="Segoe UI" panose="020B0502040204020203" pitchFamily="34" charset="0"/>
              </a:rPr>
              <a:t>Výmena certifikátov</a:t>
            </a:r>
            <a:r>
              <a:rPr lang="sk-SK" sz="1100" b="0" i="0" dirty="0">
                <a:solidFill>
                  <a:srgbClr val="242424"/>
                </a:solidFill>
                <a:effectLst/>
                <a:latin typeface="Segoe UI" panose="020B0502040204020203" pitchFamily="34" charset="0"/>
              </a:rPr>
              <a:t>: Počas fázy IKE (Internet </a:t>
            </a:r>
            <a:r>
              <a:rPr lang="sk-SK" sz="1100" b="0" i="0" dirty="0" err="1">
                <a:solidFill>
                  <a:srgbClr val="242424"/>
                </a:solidFill>
                <a:effectLst/>
                <a:latin typeface="Segoe UI" panose="020B0502040204020203" pitchFamily="34" charset="0"/>
              </a:rPr>
              <a:t>Key</a:t>
            </a:r>
            <a:r>
              <a:rPr lang="sk-SK" sz="1100" b="0" i="0" dirty="0">
                <a:solidFill>
                  <a:srgbClr val="242424"/>
                </a:solidFill>
                <a:effectLst/>
                <a:latin typeface="Segoe UI" panose="020B0502040204020203" pitchFamily="34" charset="0"/>
              </a:rPr>
              <a:t> Exchange) sa certifikáty vymieňajú medzi komunikujúcimi stranami</a:t>
            </a:r>
          </a:p>
          <a:p>
            <a:pPr algn="l">
              <a:buFont typeface="+mj-lt"/>
              <a:buAutoNum type="arabicPeriod"/>
            </a:pPr>
            <a:r>
              <a:rPr lang="sk-SK" sz="1100" b="1" i="0" dirty="0">
                <a:solidFill>
                  <a:srgbClr val="242424"/>
                </a:solidFill>
                <a:effectLst/>
                <a:latin typeface="Segoe UI" panose="020B0502040204020203" pitchFamily="34" charset="0"/>
              </a:rPr>
              <a:t>Digitálne podpisy</a:t>
            </a:r>
            <a:r>
              <a:rPr lang="sk-SK" sz="1100" b="0" i="0" dirty="0">
                <a:solidFill>
                  <a:srgbClr val="242424"/>
                </a:solidFill>
                <a:effectLst/>
                <a:latin typeface="Segoe UI" panose="020B0502040204020203" pitchFamily="34" charset="0"/>
              </a:rPr>
              <a:t>: Každé zariadenie digitálne podpíše sadu dát a pošle ju druhej strane. Tento podpis je vytvorený pomocou súkromného kľúča</a:t>
            </a:r>
          </a:p>
          <a:p>
            <a:pPr algn="l">
              <a:buFont typeface="+mj-lt"/>
              <a:buAutoNum type="arabicPeriod"/>
            </a:pPr>
            <a:r>
              <a:rPr lang="sk-SK" sz="1100" b="1" i="0" dirty="0">
                <a:solidFill>
                  <a:srgbClr val="242424"/>
                </a:solidFill>
                <a:effectLst/>
                <a:latin typeface="Segoe UI" panose="020B0502040204020203" pitchFamily="34" charset="0"/>
              </a:rPr>
              <a:t>Overenie podpisu</a:t>
            </a:r>
            <a:r>
              <a:rPr lang="sk-SK" sz="1100" b="0" i="0" dirty="0">
                <a:solidFill>
                  <a:srgbClr val="242424"/>
                </a:solidFill>
                <a:effectLst/>
                <a:latin typeface="Segoe UI" panose="020B0502040204020203" pitchFamily="34" charset="0"/>
              </a:rPr>
              <a:t>: Prijímajúce zariadenie použije verejný kľúč z certifikátu na overenie digitálneho podpisu. Ak podpis sedí, identita je overená</a:t>
            </a:r>
          </a:p>
        </p:txBody>
      </p:sp>
      <p:sp>
        <p:nvSpPr>
          <p:cNvPr id="7" name="BlokTextu 6">
            <a:extLst>
              <a:ext uri="{FF2B5EF4-FFF2-40B4-BE49-F238E27FC236}">
                <a16:creationId xmlns:a16="http://schemas.microsoft.com/office/drawing/2014/main" id="{6B2DFB88-9C57-0619-2E84-1D71C8D024C6}"/>
              </a:ext>
            </a:extLst>
          </p:cNvPr>
          <p:cNvSpPr txBox="1"/>
          <p:nvPr/>
        </p:nvSpPr>
        <p:spPr>
          <a:xfrm>
            <a:off x="297675" y="2891425"/>
            <a:ext cx="4349706" cy="1754326"/>
          </a:xfrm>
          <a:prstGeom prst="rect">
            <a:avLst/>
          </a:prstGeom>
          <a:noFill/>
        </p:spPr>
        <p:txBody>
          <a:bodyPr wrap="square" rtlCol="0">
            <a:spAutoFit/>
          </a:bodyPr>
          <a:lstStyle/>
          <a:p>
            <a:pPr algn="l">
              <a:buNone/>
            </a:pPr>
            <a:r>
              <a:rPr lang="sk-SK" sz="1200" b="0" i="0" dirty="0">
                <a:solidFill>
                  <a:srgbClr val="242424"/>
                </a:solidFill>
                <a:effectLst/>
                <a:latin typeface="Segoe UI" panose="020B0502040204020203" pitchFamily="34" charset="0"/>
              </a:rPr>
              <a:t>PSK autentifikácia pri IPSEC funguje nasledovne:</a:t>
            </a:r>
          </a:p>
          <a:p>
            <a:pPr algn="l">
              <a:buNone/>
            </a:pPr>
            <a:r>
              <a:rPr lang="sk-SK" sz="1200" b="1" i="0" dirty="0">
                <a:solidFill>
                  <a:srgbClr val="242424"/>
                </a:solidFill>
                <a:effectLst/>
                <a:latin typeface="Segoe UI" panose="020B0502040204020203" pitchFamily="34" charset="0"/>
              </a:rPr>
              <a:t>Proces autentifikácie</a:t>
            </a:r>
          </a:p>
          <a:p>
            <a:pPr algn="l">
              <a:buFont typeface="+mj-lt"/>
              <a:buAutoNum type="arabicPeriod"/>
            </a:pPr>
            <a:r>
              <a:rPr lang="sk-SK" sz="1200" b="1" i="0" dirty="0" err="1">
                <a:solidFill>
                  <a:srgbClr val="242424"/>
                </a:solidFill>
                <a:effectLst/>
                <a:latin typeface="Segoe UI" panose="020B0502040204020203" pitchFamily="34" charset="0"/>
              </a:rPr>
              <a:t>Predzdieľaný</a:t>
            </a:r>
            <a:r>
              <a:rPr lang="sk-SK" sz="1200" b="1" i="0" dirty="0">
                <a:solidFill>
                  <a:srgbClr val="242424"/>
                </a:solidFill>
                <a:effectLst/>
                <a:latin typeface="Segoe UI" panose="020B0502040204020203" pitchFamily="34" charset="0"/>
              </a:rPr>
              <a:t> kľúč</a:t>
            </a:r>
            <a:r>
              <a:rPr lang="sk-SK" sz="1200" b="0" i="0" dirty="0">
                <a:solidFill>
                  <a:srgbClr val="242424"/>
                </a:solidFill>
                <a:effectLst/>
                <a:latin typeface="Segoe UI" panose="020B0502040204020203" pitchFamily="34" charset="0"/>
              </a:rPr>
              <a:t>: Pred začiatkom komunikácie sa medzi komunikujúcimi stranami zdieľa tajný kľúč. Tento kľúč musí byť bezpečne distribuovaný mimo samotného komunikačného kanála</a:t>
            </a:r>
          </a:p>
          <a:p>
            <a:pPr algn="l">
              <a:buFont typeface="+mj-lt"/>
              <a:buAutoNum type="arabicPeriod"/>
            </a:pPr>
            <a:r>
              <a:rPr lang="sk-SK" sz="1200" b="1" i="0" dirty="0">
                <a:solidFill>
                  <a:srgbClr val="242424"/>
                </a:solidFill>
                <a:effectLst/>
                <a:latin typeface="Segoe UI" panose="020B0502040204020203" pitchFamily="34" charset="0"/>
              </a:rPr>
              <a:t>IKE fáza</a:t>
            </a:r>
            <a:r>
              <a:rPr lang="sk-SK" sz="1200" b="0" i="0" dirty="0">
                <a:solidFill>
                  <a:srgbClr val="242424"/>
                </a:solidFill>
                <a:effectLst/>
                <a:latin typeface="Segoe UI" panose="020B0502040204020203" pitchFamily="34" charset="0"/>
              </a:rPr>
              <a:t>: Počas fázy IKE (Internet </a:t>
            </a:r>
            <a:r>
              <a:rPr lang="sk-SK" sz="1200" b="0" i="0" dirty="0" err="1">
                <a:solidFill>
                  <a:srgbClr val="242424"/>
                </a:solidFill>
                <a:effectLst/>
                <a:latin typeface="Segoe UI" panose="020B0502040204020203" pitchFamily="34" charset="0"/>
              </a:rPr>
              <a:t>Key</a:t>
            </a:r>
            <a:r>
              <a:rPr lang="sk-SK" sz="1200" b="0" i="0" dirty="0">
                <a:solidFill>
                  <a:srgbClr val="242424"/>
                </a:solidFill>
                <a:effectLst/>
                <a:latin typeface="Segoe UI" panose="020B0502040204020203" pitchFamily="34" charset="0"/>
              </a:rPr>
              <a:t> Exchange) sa komunikujúce strany navzájom autentifikujú pomocou </a:t>
            </a:r>
            <a:r>
              <a:rPr lang="sk-SK" sz="1200" b="0" i="0" dirty="0" err="1">
                <a:solidFill>
                  <a:srgbClr val="242424"/>
                </a:solidFill>
                <a:effectLst/>
                <a:latin typeface="Segoe UI" panose="020B0502040204020203" pitchFamily="34" charset="0"/>
              </a:rPr>
              <a:t>predzdieľaného</a:t>
            </a:r>
            <a:r>
              <a:rPr lang="sk-SK" sz="1200" b="0" i="0" dirty="0">
                <a:solidFill>
                  <a:srgbClr val="242424"/>
                </a:solidFill>
                <a:effectLst/>
                <a:latin typeface="Segoe UI" panose="020B0502040204020203" pitchFamily="34" charset="0"/>
              </a:rPr>
              <a:t> kľúča</a:t>
            </a:r>
          </a:p>
        </p:txBody>
      </p:sp>
    </p:spTree>
    <p:extLst>
      <p:ext uri="{BB962C8B-B14F-4D97-AF65-F5344CB8AC3E}">
        <p14:creationId xmlns:p14="http://schemas.microsoft.com/office/powerpoint/2010/main" val="1289580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Secure Key Exchange with Diffie-Hellman</a:t>
            </a:r>
          </a:p>
        </p:txBody>
      </p:sp>
      <p:sp>
        <p:nvSpPr>
          <p:cNvPr id="5" name="Object4"/>
          <p:cNvSpPr/>
          <p:nvPr/>
        </p:nvSpPr>
        <p:spPr>
          <a:xfrm>
            <a:off x="0" y="731520"/>
            <a:ext cx="3933825"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Encryption algorithms require a symmetric, shared secret key to perform encryption and decryption. How do the encrypting and decrypting devices get the shared secret key? The easiest key exchange method is to use a public key exchange method, such as Diffie-Hellman (DH). DH provides a way for two peers to establish a shared secret key that only they know, even though they are communicating over an insecure channel. Variations of the DH key exchange are specified as DH groups. The DH group you choose must be strong enough, or have enough bits, to protect the IPsec keys during negotiation. </a:t>
            </a:r>
            <a:endParaRPr lang="en-US" sz="1400"/>
          </a:p>
        </p:txBody>
      </p:sp>
      <p:pic>
        <p:nvPicPr>
          <p:cNvPr id="4" name="Picture 3">
            <a:extLst>
              <a:ext uri="{FF2B5EF4-FFF2-40B4-BE49-F238E27FC236}">
                <a16:creationId xmlns:a16="http://schemas.microsoft.com/office/drawing/2014/main" id="{F8C8D792-12F8-43A5-91E0-2EA8BE79C393}"/>
              </a:ext>
            </a:extLst>
          </p:cNvPr>
          <p:cNvPicPr>
            <a:picLocks noChangeAspect="1"/>
          </p:cNvPicPr>
          <p:nvPr/>
        </p:nvPicPr>
        <p:blipFill>
          <a:blip r:embed="rId3"/>
          <a:stretch>
            <a:fillRect/>
          </a:stretch>
        </p:blipFill>
        <p:spPr>
          <a:xfrm>
            <a:off x="4320946" y="830423"/>
            <a:ext cx="4594454" cy="300624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18.4 IPsec Protocols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IPsec Protocol Overview</a:t>
            </a:r>
          </a:p>
        </p:txBody>
      </p:sp>
      <p:sp>
        <p:nvSpPr>
          <p:cNvPr id="5" name="Object4"/>
          <p:cNvSpPr/>
          <p:nvPr/>
        </p:nvSpPr>
        <p:spPr>
          <a:xfrm>
            <a:off x="0" y="731520"/>
            <a:ext cx="3924300"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The two main IPsec protocols are Authentication Header (AH) and Encapsulation Security Protocol (ESP). The IPsec protocol is the first building block of the framework. The choice of AH or ESP establishes which other building blocks are available. AH uses IP protocol 51 and is appropriate only when confidentiality is not required or permitted. It provides data authentication and integrity, but it does not provide data confidentiality (encryption). All text is transported unencrypted. </a:t>
            </a:r>
            <a:r>
              <a:rPr lang="en-US" sz="1400" b="1">
                <a:solidFill>
                  <a:srgbClr val="000000"/>
                </a:solidFill>
                <a:latin typeface="Arial" pitchFamily="34" charset="0"/>
                <a:ea typeface="Arial" pitchFamily="34" charset="-122"/>
                <a:cs typeface="Arial" pitchFamily="34" charset="-120"/>
              </a:rPr>
              <a:t>ESP</a:t>
            </a:r>
            <a:r>
              <a:rPr lang="en-US" sz="1400">
                <a:solidFill>
                  <a:srgbClr val="000000"/>
                </a:solidFill>
                <a:latin typeface="Arial" pitchFamily="34" charset="0"/>
                <a:ea typeface="Arial" pitchFamily="34" charset="-122"/>
                <a:cs typeface="Arial" pitchFamily="34" charset="-120"/>
              </a:rPr>
              <a:t> uses </a:t>
            </a:r>
            <a:r>
              <a:rPr lang="en-US" sz="1400" b="1">
                <a:solidFill>
                  <a:srgbClr val="000000"/>
                </a:solidFill>
                <a:latin typeface="Arial" pitchFamily="34" charset="0"/>
                <a:ea typeface="Arial" pitchFamily="34" charset="-122"/>
                <a:cs typeface="Arial" pitchFamily="34" charset="-120"/>
              </a:rPr>
              <a:t>IP protocol 50 </a:t>
            </a:r>
            <a:r>
              <a:rPr lang="en-US" sz="1400">
                <a:solidFill>
                  <a:srgbClr val="000000"/>
                </a:solidFill>
                <a:latin typeface="Arial" pitchFamily="34" charset="0"/>
                <a:ea typeface="Arial" pitchFamily="34" charset="-122"/>
                <a:cs typeface="Arial" pitchFamily="34" charset="-120"/>
              </a:rPr>
              <a:t>and </a:t>
            </a:r>
            <a:r>
              <a:rPr lang="en-US" sz="1400" b="1">
                <a:solidFill>
                  <a:srgbClr val="000000"/>
                </a:solidFill>
                <a:latin typeface="Arial" pitchFamily="34" charset="0"/>
                <a:ea typeface="Arial" pitchFamily="34" charset="-122"/>
                <a:cs typeface="Arial" pitchFamily="34" charset="-120"/>
              </a:rPr>
              <a:t>provides both confidentiality and authentication. Authentication provides data origin authentication and data integrity</a:t>
            </a:r>
            <a:r>
              <a:rPr lang="en-US" sz="1400">
                <a:solidFill>
                  <a:srgbClr val="000000"/>
                </a:solidFill>
                <a:latin typeface="Arial" pitchFamily="34" charset="0"/>
                <a:ea typeface="Arial" pitchFamily="34" charset="-122"/>
                <a:cs typeface="Arial" pitchFamily="34" charset="-120"/>
              </a:rPr>
              <a:t>. </a:t>
            </a:r>
            <a:endParaRPr lang="en-US" sz="1400"/>
          </a:p>
        </p:txBody>
      </p:sp>
      <p:pic>
        <p:nvPicPr>
          <p:cNvPr id="4" name="Picture 3">
            <a:extLst>
              <a:ext uri="{FF2B5EF4-FFF2-40B4-BE49-F238E27FC236}">
                <a16:creationId xmlns:a16="http://schemas.microsoft.com/office/drawing/2014/main" id="{1A0B6190-DA64-47D0-B5DC-81B85321F09E}"/>
              </a:ext>
            </a:extLst>
          </p:cNvPr>
          <p:cNvPicPr>
            <a:picLocks noChangeAspect="1"/>
          </p:cNvPicPr>
          <p:nvPr/>
        </p:nvPicPr>
        <p:blipFill>
          <a:blip r:embed="rId3"/>
          <a:stretch>
            <a:fillRect/>
          </a:stretch>
        </p:blipFill>
        <p:spPr>
          <a:xfrm>
            <a:off x="4190610" y="664697"/>
            <a:ext cx="4496190" cy="341405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Authentication Header</a:t>
            </a:r>
          </a:p>
        </p:txBody>
      </p:sp>
      <p:sp>
        <p:nvSpPr>
          <p:cNvPr id="5" name="Object4"/>
          <p:cNvSpPr/>
          <p:nvPr/>
        </p:nvSpPr>
        <p:spPr>
          <a:xfrm>
            <a:off x="0" y="760095"/>
            <a:ext cx="8686800" cy="2571750"/>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The AH function is applied to the entire packet, except for any IP header fields that normally change in transit. Fields that normally change during transit are called mutable fields. For example, the Time to Live (TTL) field is considered mutable because routers modify this field. The AH process occurs in this order:</a:t>
            </a:r>
          </a:p>
          <a:p>
            <a:pPr>
              <a:lnSpc>
                <a:spcPts val="2000"/>
              </a:lnSpc>
            </a:pPr>
            <a:endParaRPr lang="en-US" sz="1600">
              <a:solidFill>
                <a:srgbClr val="000000"/>
              </a:solidFill>
              <a:latin typeface="Arial" pitchFamily="34" charset="0"/>
              <a:ea typeface="Arial" pitchFamily="34" charset="-122"/>
              <a:cs typeface="Arial" pitchFamily="34" charset="-120"/>
            </a:endParaRPr>
          </a:p>
          <a:p>
            <a:pPr marL="342900" indent="-342900">
              <a:lnSpc>
                <a:spcPts val="2000"/>
              </a:lnSpc>
              <a:buAutoNum type="arabicPeriod"/>
            </a:pPr>
            <a:r>
              <a:rPr lang="en-US" sz="1600">
                <a:solidFill>
                  <a:srgbClr val="000000"/>
                </a:solidFill>
                <a:latin typeface="Arial" pitchFamily="34" charset="0"/>
                <a:ea typeface="Arial" pitchFamily="34" charset="-122"/>
                <a:cs typeface="Arial" pitchFamily="34" charset="-120"/>
              </a:rPr>
              <a:t>The IP header and data payload are hashed using the shared secret key. </a:t>
            </a:r>
          </a:p>
          <a:p>
            <a:pPr marL="342900" indent="-342900">
              <a:lnSpc>
                <a:spcPts val="2000"/>
              </a:lnSpc>
              <a:buAutoNum type="arabicPeriod"/>
            </a:pPr>
            <a:r>
              <a:rPr lang="en-US" sz="1600">
                <a:solidFill>
                  <a:srgbClr val="000000"/>
                </a:solidFill>
                <a:latin typeface="Arial" pitchFamily="34" charset="0"/>
                <a:ea typeface="Arial" pitchFamily="34" charset="-122"/>
                <a:cs typeface="Arial" pitchFamily="34" charset="-120"/>
              </a:rPr>
              <a:t>The hash builds a new AH header, which is inserted into the original packet.</a:t>
            </a:r>
          </a:p>
          <a:p>
            <a:pPr marL="342900" indent="-342900">
              <a:lnSpc>
                <a:spcPts val="2000"/>
              </a:lnSpc>
              <a:buAutoNum type="arabicPeriod"/>
            </a:pPr>
            <a:r>
              <a:rPr lang="en-US" sz="1600">
                <a:solidFill>
                  <a:srgbClr val="000000"/>
                </a:solidFill>
                <a:latin typeface="Arial" pitchFamily="34" charset="0"/>
                <a:ea typeface="Arial" pitchFamily="34" charset="-122"/>
                <a:cs typeface="Arial" pitchFamily="34" charset="-120"/>
              </a:rPr>
              <a:t>The new packet is transmitted to the IPsec peer router. </a:t>
            </a:r>
          </a:p>
          <a:p>
            <a:pPr marL="342900" indent="-342900">
              <a:lnSpc>
                <a:spcPts val="2000"/>
              </a:lnSpc>
              <a:buAutoNum type="arabicPeriod"/>
            </a:pPr>
            <a:r>
              <a:rPr lang="en-US" sz="1600">
                <a:solidFill>
                  <a:srgbClr val="000000"/>
                </a:solidFill>
                <a:latin typeface="Arial" pitchFamily="34" charset="0"/>
                <a:ea typeface="Arial" pitchFamily="34" charset="-122"/>
                <a:cs typeface="Arial" pitchFamily="34" charset="-120"/>
              </a:rPr>
              <a:t>The peer router hashes the IP header and data payload using the shared secret key, extracts the transmitted hash from the AH header, and compares the two hashes.</a:t>
            </a:r>
          </a:p>
          <a:p>
            <a:pPr marL="342900" indent="-342900">
              <a:lnSpc>
                <a:spcPts val="2000"/>
              </a:lnSpc>
              <a:buAutoNum type="arabicPeriod"/>
            </a:pPr>
            <a:endParaRPr lang="en-US" sz="1600">
              <a:solidFill>
                <a:srgbClr val="000000"/>
              </a:solidFill>
              <a:latin typeface="Arial" pitchFamily="34" charset="0"/>
              <a:ea typeface="Arial" pitchFamily="34" charset="-122"/>
              <a:cs typeface="Arial" pitchFamily="34" charset="-120"/>
            </a:endParaRPr>
          </a:p>
          <a:p>
            <a:pPr>
              <a:lnSpc>
                <a:spcPts val="2000"/>
              </a:lnSpc>
            </a:pPr>
            <a:r>
              <a:rPr lang="en-US" sz="1600">
                <a:solidFill>
                  <a:srgbClr val="000000"/>
                </a:solidFill>
                <a:latin typeface="Arial" pitchFamily="34" charset="0"/>
                <a:ea typeface="Arial" pitchFamily="34" charset="-122"/>
                <a:cs typeface="Arial" pitchFamily="34" charset="-120"/>
              </a:rPr>
              <a:t>The hashes must match exactly. If one bit is changed in the transmitted packet, the hash output on the received packet changes and the AH header will not match. AH supports MD5 and SHA algorithms.</a:t>
            </a:r>
            <a:endParaRPr lang="en-US" sz="160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Encapsulation Security Protocol </a:t>
            </a:r>
          </a:p>
        </p:txBody>
      </p:sp>
      <p:sp>
        <p:nvSpPr>
          <p:cNvPr id="5" name="Object4"/>
          <p:cNvSpPr/>
          <p:nvPr/>
        </p:nvSpPr>
        <p:spPr>
          <a:xfrm>
            <a:off x="0" y="731520"/>
            <a:ext cx="8797636"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If ESP is selected as the IPsec protocol, an encryption algorithm must also be selected. The default algorithm for IPsec is 56-bit DES. ESP can also provide integrity and authentication. First, the payload is encrypted. Next, the encrypted payload is sent through a hash algorithm. The hash provides authentication and data integrity for the data payload.</a:t>
            </a:r>
          </a:p>
          <a:p>
            <a:pPr>
              <a:lnSpc>
                <a:spcPts val="2000"/>
              </a:lnSpc>
            </a:pPr>
            <a:endParaRPr lang="en-US" sz="1400">
              <a:solidFill>
                <a:srgbClr val="000000"/>
              </a:solidFill>
              <a:latin typeface="Arial" pitchFamily="34" charset="0"/>
              <a:ea typeface="Arial" pitchFamily="34" charset="-122"/>
              <a:cs typeface="Arial" pitchFamily="34" charset="-120"/>
            </a:endParaRPr>
          </a:p>
          <a:p>
            <a:pPr>
              <a:lnSpc>
                <a:spcPts val="2000"/>
              </a:lnSpc>
            </a:pPr>
            <a:r>
              <a:rPr lang="en-US" sz="1400">
                <a:solidFill>
                  <a:srgbClr val="000000"/>
                </a:solidFill>
                <a:latin typeface="Arial" pitchFamily="34" charset="0"/>
                <a:ea typeface="Arial" pitchFamily="34" charset="-122"/>
                <a:cs typeface="Arial" pitchFamily="34" charset="-120"/>
              </a:rPr>
              <a:t>Optionally, ESP can also enforce anti-replay protection which verifies that each packet is unique and is not duplicated. This protection ensures that a hacker cannot intercept packets and insert changed packets into the data stream. Anti-replay works by keeping track of packet sequence numbers and using a sliding window on the destination end.</a:t>
            </a:r>
          </a:p>
          <a:p>
            <a:pPr>
              <a:lnSpc>
                <a:spcPts val="2000"/>
              </a:lnSpc>
            </a:pPr>
            <a:endParaRPr lang="en-US" sz="1400">
              <a:solidFill>
                <a:srgbClr val="000000"/>
              </a:solidFill>
              <a:latin typeface="Arial" pitchFamily="34" charset="0"/>
              <a:ea typeface="Arial" pitchFamily="34" charset="-122"/>
              <a:cs typeface="Arial" pitchFamily="34" charset="-120"/>
            </a:endParaRPr>
          </a:p>
          <a:p>
            <a:pPr>
              <a:lnSpc>
                <a:spcPts val="2000"/>
              </a:lnSpc>
            </a:pPr>
            <a:r>
              <a:rPr lang="en-US" sz="1400">
                <a:solidFill>
                  <a:srgbClr val="000000"/>
                </a:solidFill>
                <a:latin typeface="Arial" pitchFamily="34" charset="0"/>
                <a:ea typeface="Arial" pitchFamily="34" charset="-122"/>
                <a:cs typeface="Arial" pitchFamily="34" charset="-120"/>
              </a:rPr>
              <a:t>When a connection is established between a source and destination, their counters are initialized at zero. Each time a packet is sent, a sequence number is appended to the packet by the source. The destination uses the sliding window to determine which sequence numbers are expected. The destination verifies that the sequence number of the packet is not duplicated and is received in the correct order.</a:t>
            </a:r>
          </a:p>
          <a:p>
            <a:pPr>
              <a:lnSpc>
                <a:spcPts val="2000"/>
              </a:lnSpc>
            </a:pPr>
            <a:endParaRPr lang="en-US" sz="1400">
              <a:solidFill>
                <a:srgbClr val="000000"/>
              </a:solidFill>
              <a:latin typeface="Arial" pitchFamily="34" charset="0"/>
              <a:ea typeface="Arial" pitchFamily="34" charset="-122"/>
              <a:cs typeface="Arial" pitchFamily="34" charset="-120"/>
            </a:endParaRPr>
          </a:p>
          <a:p>
            <a:pPr>
              <a:lnSpc>
                <a:spcPts val="2000"/>
              </a:lnSpc>
            </a:pPr>
            <a:endParaRPr lang="en-US" sz="1400">
              <a:solidFill>
                <a:srgbClr val="000000"/>
              </a:solidFill>
              <a:latin typeface="Arial" pitchFamily="34" charset="0"/>
              <a:ea typeface="Arial" pitchFamily="34" charset="-122"/>
              <a:cs typeface="Arial" pitchFamily="34" charset="-12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ESP Encrypts and Authenticates</a:t>
            </a:r>
          </a:p>
        </p:txBody>
      </p:sp>
      <p:sp>
        <p:nvSpPr>
          <p:cNvPr id="5" name="Object4"/>
          <p:cNvSpPr/>
          <p:nvPr/>
        </p:nvSpPr>
        <p:spPr>
          <a:xfrm>
            <a:off x="1" y="741044"/>
            <a:ext cx="4114800" cy="3888105"/>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When both authentication and encryption are selected, encryption is performed first. One reason for this order of processing is that it facilitates rapid detection and rejection of replayed or bogus packets by the receiving device. Prior to decrypting the packet, the receiver can authenticate inbound packets.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IPsec was initially established to provide security for IPv6 packets. Therefore, the IPsec implementations for IPv4 and IPv6 are similar as far as the standards are concerned. In IPv4, AH and ESP are IP protocol headers. IPv6 uses the extension headers with a next-header value of </a:t>
            </a:r>
            <a:r>
              <a:rPr lang="en-US" sz="1400" b="1" dirty="0">
                <a:solidFill>
                  <a:srgbClr val="000000"/>
                </a:solidFill>
                <a:latin typeface="Arial" pitchFamily="34" charset="0"/>
                <a:ea typeface="Arial" pitchFamily="34" charset="-122"/>
                <a:cs typeface="Arial" pitchFamily="34" charset="-120"/>
              </a:rPr>
              <a:t>50 for ESP </a:t>
            </a:r>
            <a:r>
              <a:rPr lang="en-US" sz="1400" dirty="0">
                <a:solidFill>
                  <a:srgbClr val="000000"/>
                </a:solidFill>
                <a:latin typeface="Arial" pitchFamily="34" charset="0"/>
                <a:ea typeface="Arial" pitchFamily="34" charset="-122"/>
                <a:cs typeface="Arial" pitchFamily="34" charset="-120"/>
              </a:rPr>
              <a:t>and </a:t>
            </a:r>
            <a:r>
              <a:rPr lang="en-US" sz="1400" b="1" dirty="0">
                <a:solidFill>
                  <a:srgbClr val="000000"/>
                </a:solidFill>
                <a:latin typeface="Arial" pitchFamily="34" charset="0"/>
                <a:ea typeface="Arial" pitchFamily="34" charset="-122"/>
                <a:cs typeface="Arial" pitchFamily="34" charset="-120"/>
              </a:rPr>
              <a:t>51 for AH</a:t>
            </a:r>
            <a:r>
              <a:rPr lang="en-US" sz="1400" dirty="0">
                <a:solidFill>
                  <a:srgbClr val="000000"/>
                </a:solidFill>
                <a:latin typeface="Arial" pitchFamily="34" charset="0"/>
                <a:ea typeface="Arial" pitchFamily="34" charset="-122"/>
                <a:cs typeface="Arial" pitchFamily="34" charset="-120"/>
              </a:rPr>
              <a:t>.</a:t>
            </a:r>
            <a:endParaRPr lang="en-US" sz="1400" dirty="0"/>
          </a:p>
        </p:txBody>
      </p:sp>
      <p:pic>
        <p:nvPicPr>
          <p:cNvPr id="6" name="Picture 5">
            <a:extLst>
              <a:ext uri="{FF2B5EF4-FFF2-40B4-BE49-F238E27FC236}">
                <a16:creationId xmlns:a16="http://schemas.microsoft.com/office/drawing/2014/main" id="{BB29E85D-F7ED-48D2-BDA0-1722B5950204}"/>
              </a:ext>
            </a:extLst>
          </p:cNvPr>
          <p:cNvPicPr>
            <a:picLocks noChangeAspect="1"/>
          </p:cNvPicPr>
          <p:nvPr/>
        </p:nvPicPr>
        <p:blipFill>
          <a:blip r:embed="rId3"/>
          <a:stretch>
            <a:fillRect/>
          </a:stretch>
        </p:blipFill>
        <p:spPr>
          <a:xfrm>
            <a:off x="4572000" y="68141"/>
            <a:ext cx="4436911" cy="250360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25</a:t>
            </a:fld>
            <a:endParaRPr lang="en-US"/>
          </a:p>
        </p:txBody>
      </p:sp>
      <p:pic>
        <p:nvPicPr>
          <p:cNvPr id="1028" name="Picture 4" descr="security - Is initialization vector part of Output ESP packet in IPsec? -  Stack Overflow">
            <a:extLst>
              <a:ext uri="{FF2B5EF4-FFF2-40B4-BE49-F238E27FC236}">
                <a16:creationId xmlns:a16="http://schemas.microsoft.com/office/drawing/2014/main" id="{D0756C87-9EAD-3AE6-1E44-C951F5FB92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7209" y="2968821"/>
            <a:ext cx="5086791" cy="17746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Transport and Tunnel Modes</a:t>
            </a:r>
          </a:p>
        </p:txBody>
      </p:sp>
      <p:sp>
        <p:nvSpPr>
          <p:cNvPr id="5" name="Object4"/>
          <p:cNvSpPr/>
          <p:nvPr/>
        </p:nvSpPr>
        <p:spPr>
          <a:xfrm>
            <a:off x="1" y="914399"/>
            <a:ext cx="4222376" cy="3872753"/>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Transport Mode </a:t>
            </a:r>
            <a:r>
              <a:rPr lang="en-US" sz="1400">
                <a:solidFill>
                  <a:srgbClr val="000000"/>
                </a:solidFill>
                <a:latin typeface="Arial" pitchFamily="34" charset="0"/>
                <a:ea typeface="Arial" pitchFamily="34" charset="-122"/>
                <a:cs typeface="Arial" pitchFamily="34" charset="-120"/>
              </a:rPr>
              <a:t>- In transport mode, security is provided only for the transport layer of the OSI model and above. Transport mode protects the payload of the packet but leaves the original IP address in plaintext. The original IP address is used to route the packet through the internet. </a:t>
            </a:r>
            <a:r>
              <a:rPr lang="en-US" sz="1400" u="sng">
                <a:solidFill>
                  <a:srgbClr val="000000"/>
                </a:solidFill>
                <a:latin typeface="Arial" pitchFamily="34" charset="0"/>
                <a:ea typeface="Arial" pitchFamily="34" charset="-122"/>
                <a:cs typeface="Arial" pitchFamily="34" charset="-120"/>
              </a:rPr>
              <a:t>ESP transport mode is used between hosts</a:t>
            </a:r>
            <a:r>
              <a:rPr lang="en-US" sz="1400">
                <a:solidFill>
                  <a:srgbClr val="000000"/>
                </a:solidFill>
                <a:latin typeface="Arial" pitchFamily="34" charset="0"/>
                <a:ea typeface="Arial" pitchFamily="34" charset="-122"/>
                <a:cs typeface="Arial" pitchFamily="34" charset="-120"/>
              </a:rPr>
              <a:t>.</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Tunnel Mode </a:t>
            </a:r>
            <a:r>
              <a:rPr lang="en-US" sz="1400">
                <a:solidFill>
                  <a:srgbClr val="000000"/>
                </a:solidFill>
                <a:latin typeface="Arial" pitchFamily="34" charset="0"/>
                <a:ea typeface="Arial" pitchFamily="34" charset="-122"/>
                <a:cs typeface="Arial" pitchFamily="34" charset="-120"/>
              </a:rPr>
              <a:t>- Tunnel mode provides security for the complete original IP packet. The original IP packet is encrypted and then it is encapsulated in another IP packet. This is known as IP-in-IP encryption. The IP address on the outside IP packet is used to route the packet through the internet.</a:t>
            </a:r>
            <a:endParaRPr lang="en-US" sz="1400"/>
          </a:p>
        </p:txBody>
      </p:sp>
      <p:pic>
        <p:nvPicPr>
          <p:cNvPr id="6" name="Picture 5">
            <a:extLst>
              <a:ext uri="{FF2B5EF4-FFF2-40B4-BE49-F238E27FC236}">
                <a16:creationId xmlns:a16="http://schemas.microsoft.com/office/drawing/2014/main" id="{EE7F7F40-2C4E-4500-8F78-A0B26EB738FA}"/>
              </a:ext>
            </a:extLst>
          </p:cNvPr>
          <p:cNvPicPr>
            <a:picLocks noChangeAspect="1"/>
          </p:cNvPicPr>
          <p:nvPr/>
        </p:nvPicPr>
        <p:blipFill>
          <a:blip r:embed="rId3"/>
          <a:stretch>
            <a:fillRect/>
          </a:stretch>
        </p:blipFill>
        <p:spPr>
          <a:xfrm>
            <a:off x="4222377" y="1409372"/>
            <a:ext cx="4796546" cy="232475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18.5 Internet Key Exchange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Internet Key Exchange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The IKE Protocol</a:t>
            </a:r>
          </a:p>
        </p:txBody>
      </p:sp>
      <p:sp>
        <p:nvSpPr>
          <p:cNvPr id="5" name="Object4"/>
          <p:cNvSpPr/>
          <p:nvPr/>
        </p:nvSpPr>
        <p:spPr>
          <a:xfrm>
            <a:off x="0" y="731520"/>
            <a:ext cx="4751295" cy="3815428"/>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IKE enhances IPsec by adding features and simplifies configuration for the IPsec standard. </a:t>
            </a:r>
          </a:p>
          <a:p>
            <a:pPr>
              <a:lnSpc>
                <a:spcPts val="2000"/>
              </a:lnSpc>
            </a:pPr>
            <a:endParaRPr lang="en-US" sz="1600">
              <a:solidFill>
                <a:srgbClr val="000000"/>
              </a:solidFill>
              <a:latin typeface="Arial" pitchFamily="34" charset="0"/>
              <a:ea typeface="Arial" pitchFamily="34" charset="-122"/>
              <a:cs typeface="Arial" pitchFamily="34" charset="-120"/>
            </a:endParaRPr>
          </a:p>
          <a:p>
            <a:pPr>
              <a:lnSpc>
                <a:spcPts val="2000"/>
              </a:lnSpc>
            </a:pPr>
            <a:r>
              <a:rPr lang="en-US" sz="1600">
                <a:solidFill>
                  <a:srgbClr val="000000"/>
                </a:solidFill>
                <a:latin typeface="Arial" pitchFamily="34" charset="0"/>
                <a:ea typeface="Arial" pitchFamily="34" charset="-122"/>
                <a:cs typeface="Arial" pitchFamily="34" charset="-120"/>
              </a:rPr>
              <a:t>IKE is a hybrid protocol that implements key exchange protocols inside the Internet Security Association Key Management Protocol (ISAKMP) framework. </a:t>
            </a:r>
          </a:p>
          <a:p>
            <a:pPr>
              <a:lnSpc>
                <a:spcPts val="2000"/>
              </a:lnSpc>
            </a:pPr>
            <a:endParaRPr lang="en-US" sz="1600">
              <a:solidFill>
                <a:srgbClr val="000000"/>
              </a:solidFill>
              <a:latin typeface="Arial" pitchFamily="34" charset="0"/>
              <a:ea typeface="Arial" pitchFamily="34" charset="-122"/>
              <a:cs typeface="Arial" pitchFamily="34" charset="-120"/>
            </a:endParaRPr>
          </a:p>
          <a:p>
            <a:pPr>
              <a:lnSpc>
                <a:spcPts val="2000"/>
              </a:lnSpc>
            </a:pPr>
            <a:r>
              <a:rPr lang="en-US" sz="1600">
                <a:solidFill>
                  <a:srgbClr val="000000"/>
                </a:solidFill>
                <a:latin typeface="Arial" pitchFamily="34" charset="0"/>
                <a:ea typeface="Arial" pitchFamily="34" charset="-122"/>
                <a:cs typeface="Arial" pitchFamily="34" charset="-120"/>
              </a:rPr>
              <a:t>Instead of transmitting keys directly across a network, IKE calculates shared keys based on the exchange of a series of data packets. </a:t>
            </a:r>
          </a:p>
          <a:p>
            <a:pPr>
              <a:lnSpc>
                <a:spcPts val="2000"/>
              </a:lnSpc>
            </a:pPr>
            <a:endParaRPr lang="en-US" sz="1600">
              <a:solidFill>
                <a:srgbClr val="000000"/>
              </a:solidFill>
              <a:latin typeface="Arial" pitchFamily="34" charset="0"/>
              <a:ea typeface="Arial" pitchFamily="34" charset="-122"/>
              <a:cs typeface="Arial" pitchFamily="34" charset="-120"/>
            </a:endParaRPr>
          </a:p>
          <a:p>
            <a:pPr>
              <a:lnSpc>
                <a:spcPts val="2000"/>
              </a:lnSpc>
            </a:pPr>
            <a:r>
              <a:rPr lang="en-US" sz="1600" b="1">
                <a:solidFill>
                  <a:srgbClr val="000000"/>
                </a:solidFill>
                <a:latin typeface="Arial" pitchFamily="34" charset="0"/>
                <a:ea typeface="Arial" pitchFamily="34" charset="-122"/>
                <a:cs typeface="Arial" pitchFamily="34" charset="-120"/>
              </a:rPr>
              <a:t>UDP port 500 </a:t>
            </a:r>
            <a:r>
              <a:rPr lang="en-US" sz="1600">
                <a:solidFill>
                  <a:srgbClr val="000000"/>
                </a:solidFill>
                <a:latin typeface="Arial" pitchFamily="34" charset="0"/>
                <a:ea typeface="Arial" pitchFamily="34" charset="-122"/>
                <a:cs typeface="Arial" pitchFamily="34" charset="-120"/>
              </a:rPr>
              <a:t>packets must be permitted on any IP interface that is connecting a security gateway peer.</a:t>
            </a:r>
            <a:endParaRPr lang="en-US" sz="1600"/>
          </a:p>
        </p:txBody>
      </p:sp>
      <p:pic>
        <p:nvPicPr>
          <p:cNvPr id="6" name="Picture 5">
            <a:extLst>
              <a:ext uri="{FF2B5EF4-FFF2-40B4-BE49-F238E27FC236}">
                <a16:creationId xmlns:a16="http://schemas.microsoft.com/office/drawing/2014/main" id="{1846DE39-486A-410A-8B5E-37599A1AC4AD}"/>
              </a:ext>
            </a:extLst>
          </p:cNvPr>
          <p:cNvPicPr>
            <a:picLocks noChangeAspect="1"/>
          </p:cNvPicPr>
          <p:nvPr/>
        </p:nvPicPr>
        <p:blipFill>
          <a:blip r:embed="rId3"/>
          <a:stretch>
            <a:fillRect/>
          </a:stretch>
        </p:blipFill>
        <p:spPr>
          <a:xfrm>
            <a:off x="4751294" y="1009151"/>
            <a:ext cx="4164106" cy="298841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10E106-70CA-418E-880C-FF3CF64FE2BA}"/>
              </a:ext>
            </a:extLst>
          </p:cNvPr>
          <p:cNvPicPr>
            <a:picLocks noChangeAspect="1"/>
          </p:cNvPicPr>
          <p:nvPr/>
        </p:nvPicPr>
        <p:blipFill>
          <a:blip r:embed="rId3"/>
          <a:stretch>
            <a:fillRect/>
          </a:stretch>
        </p:blipFill>
        <p:spPr>
          <a:xfrm>
            <a:off x="4383741" y="949173"/>
            <a:ext cx="4649372" cy="3103959"/>
          </a:xfrm>
          <a:prstGeom prst="rect">
            <a:avLst/>
          </a:prstGeom>
        </p:spPr>
      </p:pic>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Internet Key Exchange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Phase 1 and 2 Key Negotiation</a:t>
            </a:r>
          </a:p>
        </p:txBody>
      </p:sp>
      <p:sp>
        <p:nvSpPr>
          <p:cNvPr id="5" name="Object4"/>
          <p:cNvSpPr/>
          <p:nvPr/>
        </p:nvSpPr>
        <p:spPr>
          <a:xfrm>
            <a:off x="0" y="914399"/>
            <a:ext cx="4491318" cy="3639671"/>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IKE uses ISAKMP for phase 1 and phase 2 of key negotiation. Phase 1 negotiates a security association (a key) between two IKE peers. The key negotiated in phase 1 enables IKE peers to communicate securely in phase 2. During phase 2 negotiation, IKE establishes keys (security associations) for other applications, such as IPsec.</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In Phase 1, two IPsec peers perform the initial negotiation of SAs. </a:t>
            </a:r>
            <a:r>
              <a:rPr lang="en-US" sz="1400" u="sng" dirty="0">
                <a:solidFill>
                  <a:srgbClr val="000000"/>
                </a:solidFill>
                <a:latin typeface="Arial" pitchFamily="34" charset="0"/>
                <a:ea typeface="Arial" pitchFamily="34" charset="-122"/>
                <a:cs typeface="Arial" pitchFamily="34" charset="-120"/>
              </a:rPr>
              <a:t>The basic purpose of Phase 1 is to negotiate ISAKMP policy, authenticate the peers, and set up a secure tunnel between the peers. </a:t>
            </a:r>
            <a:r>
              <a:rPr lang="en-US" sz="1400" dirty="0">
                <a:solidFill>
                  <a:srgbClr val="000000"/>
                </a:solidFill>
                <a:latin typeface="Arial" pitchFamily="34" charset="0"/>
                <a:ea typeface="Arial" pitchFamily="34" charset="-122"/>
                <a:cs typeface="Arial" pitchFamily="34" charset="-120"/>
              </a:rPr>
              <a:t>This tunnel will then be used in Phase 2 to negotiate the IPsec policy.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sah 1">
            <a:extLst>
              <a:ext uri="{FF2B5EF4-FFF2-40B4-BE49-F238E27FC236}">
                <a16:creationId xmlns:a16="http://schemas.microsoft.com/office/drawing/2014/main" id="{8A5571EB-1185-2906-9BE0-8F9E84DC82CF}"/>
              </a:ext>
            </a:extLst>
          </p:cNvPr>
          <p:cNvSpPr>
            <a:spLocks noGrp="1"/>
          </p:cNvSpPr>
          <p:nvPr>
            <p:ph idx="1"/>
          </p:nvPr>
        </p:nvSpPr>
        <p:spPr>
          <a:xfrm>
            <a:off x="474663" y="1347788"/>
            <a:ext cx="4159968" cy="3073946"/>
          </a:xfrm>
        </p:spPr>
        <p:txBody>
          <a:bodyPr>
            <a:normAutofit fontScale="70000" lnSpcReduction="20000"/>
          </a:bodyPr>
          <a:lstStyle/>
          <a:p>
            <a:pPr algn="l"/>
            <a:r>
              <a:rPr lang="sk-SK">
                <a:solidFill>
                  <a:schemeClr val="tx1"/>
                </a:solidFill>
              </a:rPr>
              <a:t>ISAKMP </a:t>
            </a:r>
            <a:r>
              <a:rPr lang="sk-SK" err="1">
                <a:solidFill>
                  <a:schemeClr val="tx1"/>
                </a:solidFill>
              </a:rPr>
              <a:t>separates</a:t>
            </a:r>
            <a:r>
              <a:rPr lang="sk-SK">
                <a:solidFill>
                  <a:schemeClr val="tx1"/>
                </a:solidFill>
              </a:rPr>
              <a:t> </a:t>
            </a:r>
            <a:r>
              <a:rPr lang="sk-SK" err="1">
                <a:solidFill>
                  <a:schemeClr val="tx1"/>
                </a:solidFill>
              </a:rPr>
              <a:t>negotiation</a:t>
            </a:r>
            <a:r>
              <a:rPr lang="sk-SK">
                <a:solidFill>
                  <a:schemeClr val="tx1"/>
                </a:solidFill>
              </a:rPr>
              <a:t> </a:t>
            </a:r>
            <a:r>
              <a:rPr lang="sk-SK" err="1">
                <a:solidFill>
                  <a:schemeClr val="tx1"/>
                </a:solidFill>
              </a:rPr>
              <a:t>into</a:t>
            </a:r>
            <a:r>
              <a:rPr lang="sk-SK">
                <a:solidFill>
                  <a:schemeClr val="tx1"/>
                </a:solidFill>
              </a:rPr>
              <a:t> </a:t>
            </a:r>
            <a:r>
              <a:rPr lang="sk-SK" err="1">
                <a:solidFill>
                  <a:schemeClr val="tx1"/>
                </a:solidFill>
              </a:rPr>
              <a:t>two</a:t>
            </a:r>
            <a:r>
              <a:rPr lang="sk-SK">
                <a:solidFill>
                  <a:schemeClr val="tx1"/>
                </a:solidFill>
              </a:rPr>
              <a:t> </a:t>
            </a:r>
            <a:r>
              <a:rPr lang="sk-SK" err="1">
                <a:solidFill>
                  <a:schemeClr val="tx1"/>
                </a:solidFill>
              </a:rPr>
              <a:t>phases</a:t>
            </a:r>
            <a:r>
              <a:rPr lang="sk-SK">
                <a:solidFill>
                  <a:schemeClr val="tx1"/>
                </a:solidFill>
              </a:rPr>
              <a:t>:</a:t>
            </a:r>
          </a:p>
          <a:p>
            <a:pPr algn="l"/>
            <a:endParaRPr lang="sk-SK">
              <a:solidFill>
                <a:schemeClr val="tx1"/>
              </a:solidFill>
            </a:endParaRPr>
          </a:p>
          <a:p>
            <a:pPr algn="l"/>
            <a:r>
              <a:rPr lang="sk-SK" err="1">
                <a:solidFill>
                  <a:schemeClr val="tx1"/>
                </a:solidFill>
              </a:rPr>
              <a:t>Phase</a:t>
            </a:r>
            <a:r>
              <a:rPr lang="sk-SK">
                <a:solidFill>
                  <a:schemeClr val="tx1"/>
                </a:solidFill>
              </a:rPr>
              <a:t> 1: </a:t>
            </a:r>
            <a:r>
              <a:rPr lang="sk-SK" err="1">
                <a:solidFill>
                  <a:schemeClr val="tx1"/>
                </a:solidFill>
              </a:rPr>
              <a:t>The</a:t>
            </a:r>
            <a:r>
              <a:rPr lang="sk-SK">
                <a:solidFill>
                  <a:schemeClr val="tx1"/>
                </a:solidFill>
              </a:rPr>
              <a:t> </a:t>
            </a:r>
            <a:r>
              <a:rPr lang="sk-SK" err="1">
                <a:solidFill>
                  <a:schemeClr val="tx1"/>
                </a:solidFill>
              </a:rPr>
              <a:t>two</a:t>
            </a:r>
            <a:r>
              <a:rPr lang="sk-SK">
                <a:solidFill>
                  <a:schemeClr val="tx1"/>
                </a:solidFill>
              </a:rPr>
              <a:t> ISAKMP </a:t>
            </a:r>
            <a:r>
              <a:rPr lang="sk-SK" err="1">
                <a:solidFill>
                  <a:schemeClr val="tx1"/>
                </a:solidFill>
              </a:rPr>
              <a:t>peers</a:t>
            </a:r>
            <a:r>
              <a:rPr lang="sk-SK">
                <a:solidFill>
                  <a:schemeClr val="tx1"/>
                </a:solidFill>
              </a:rPr>
              <a:t> </a:t>
            </a:r>
            <a:r>
              <a:rPr lang="sk-SK" err="1">
                <a:solidFill>
                  <a:schemeClr val="tx1"/>
                </a:solidFill>
              </a:rPr>
              <a:t>establish</a:t>
            </a:r>
            <a:r>
              <a:rPr lang="sk-SK">
                <a:solidFill>
                  <a:schemeClr val="tx1"/>
                </a:solidFill>
              </a:rPr>
              <a:t> a </a:t>
            </a:r>
            <a:r>
              <a:rPr lang="sk-SK" err="1">
                <a:solidFill>
                  <a:schemeClr val="tx1"/>
                </a:solidFill>
              </a:rPr>
              <a:t>secure</a:t>
            </a:r>
            <a:r>
              <a:rPr lang="sk-SK">
                <a:solidFill>
                  <a:schemeClr val="tx1"/>
                </a:solidFill>
              </a:rPr>
              <a:t> and </a:t>
            </a:r>
            <a:r>
              <a:rPr lang="sk-SK" err="1">
                <a:solidFill>
                  <a:schemeClr val="tx1"/>
                </a:solidFill>
              </a:rPr>
              <a:t>authenticated</a:t>
            </a:r>
            <a:r>
              <a:rPr lang="sk-SK">
                <a:solidFill>
                  <a:schemeClr val="tx1"/>
                </a:solidFill>
              </a:rPr>
              <a:t> </a:t>
            </a:r>
            <a:r>
              <a:rPr lang="sk-SK" err="1">
                <a:solidFill>
                  <a:schemeClr val="tx1"/>
                </a:solidFill>
              </a:rPr>
              <a:t>tunnel</a:t>
            </a:r>
            <a:r>
              <a:rPr lang="sk-SK">
                <a:solidFill>
                  <a:schemeClr val="tx1"/>
                </a:solidFill>
              </a:rPr>
              <a:t>, </a:t>
            </a:r>
            <a:r>
              <a:rPr lang="sk-SK" err="1">
                <a:solidFill>
                  <a:schemeClr val="tx1"/>
                </a:solidFill>
              </a:rPr>
              <a:t>which</a:t>
            </a:r>
            <a:r>
              <a:rPr lang="sk-SK">
                <a:solidFill>
                  <a:schemeClr val="tx1"/>
                </a:solidFill>
              </a:rPr>
              <a:t> </a:t>
            </a:r>
            <a:r>
              <a:rPr lang="sk-SK" err="1">
                <a:solidFill>
                  <a:schemeClr val="tx1"/>
                </a:solidFill>
              </a:rPr>
              <a:t>protects</a:t>
            </a:r>
            <a:r>
              <a:rPr lang="sk-SK">
                <a:solidFill>
                  <a:schemeClr val="tx1"/>
                </a:solidFill>
              </a:rPr>
              <a:t> ISAKMP </a:t>
            </a:r>
            <a:r>
              <a:rPr lang="sk-SK" err="1">
                <a:solidFill>
                  <a:schemeClr val="tx1"/>
                </a:solidFill>
              </a:rPr>
              <a:t>negotiation</a:t>
            </a:r>
            <a:r>
              <a:rPr lang="sk-SK">
                <a:solidFill>
                  <a:schemeClr val="tx1"/>
                </a:solidFill>
              </a:rPr>
              <a:t> </a:t>
            </a:r>
            <a:r>
              <a:rPr lang="sk-SK" err="1">
                <a:solidFill>
                  <a:schemeClr val="tx1"/>
                </a:solidFill>
              </a:rPr>
              <a:t>messages</a:t>
            </a:r>
            <a:r>
              <a:rPr lang="sk-SK">
                <a:solidFill>
                  <a:schemeClr val="tx1"/>
                </a:solidFill>
              </a:rPr>
              <a:t>. </a:t>
            </a:r>
            <a:r>
              <a:rPr lang="sk-SK" err="1">
                <a:solidFill>
                  <a:schemeClr val="tx1"/>
                </a:solidFill>
              </a:rPr>
              <a:t>This</a:t>
            </a:r>
            <a:r>
              <a:rPr lang="sk-SK">
                <a:solidFill>
                  <a:schemeClr val="tx1"/>
                </a:solidFill>
              </a:rPr>
              <a:t> </a:t>
            </a:r>
            <a:r>
              <a:rPr lang="sk-SK" err="1">
                <a:solidFill>
                  <a:schemeClr val="tx1"/>
                </a:solidFill>
              </a:rPr>
              <a:t>tunnel</a:t>
            </a:r>
            <a:r>
              <a:rPr lang="sk-SK">
                <a:solidFill>
                  <a:schemeClr val="tx1"/>
                </a:solidFill>
              </a:rPr>
              <a:t> </a:t>
            </a:r>
            <a:r>
              <a:rPr lang="sk-SK" err="1">
                <a:solidFill>
                  <a:schemeClr val="tx1"/>
                </a:solidFill>
              </a:rPr>
              <a:t>is</a:t>
            </a:r>
            <a:r>
              <a:rPr lang="sk-SK">
                <a:solidFill>
                  <a:schemeClr val="tx1"/>
                </a:solidFill>
              </a:rPr>
              <a:t> </a:t>
            </a:r>
            <a:r>
              <a:rPr lang="sk-SK" err="1">
                <a:solidFill>
                  <a:schemeClr val="tx1"/>
                </a:solidFill>
              </a:rPr>
              <a:t>known</a:t>
            </a:r>
            <a:r>
              <a:rPr lang="sk-SK">
                <a:solidFill>
                  <a:schemeClr val="tx1"/>
                </a:solidFill>
              </a:rPr>
              <a:t> as </a:t>
            </a:r>
            <a:r>
              <a:rPr lang="sk-SK" err="1">
                <a:solidFill>
                  <a:schemeClr val="tx1"/>
                </a:solidFill>
              </a:rPr>
              <a:t>the</a:t>
            </a:r>
            <a:r>
              <a:rPr lang="sk-SK">
                <a:solidFill>
                  <a:schemeClr val="tx1"/>
                </a:solidFill>
              </a:rPr>
              <a:t> ISAKMP SA. </a:t>
            </a:r>
            <a:r>
              <a:rPr lang="sk-SK" err="1">
                <a:solidFill>
                  <a:schemeClr val="tx1"/>
                </a:solidFill>
              </a:rPr>
              <a:t>There</a:t>
            </a:r>
            <a:r>
              <a:rPr lang="sk-SK">
                <a:solidFill>
                  <a:schemeClr val="tx1"/>
                </a:solidFill>
              </a:rPr>
              <a:t> are </a:t>
            </a:r>
            <a:r>
              <a:rPr lang="sk-SK" err="1">
                <a:solidFill>
                  <a:schemeClr val="tx1"/>
                </a:solidFill>
              </a:rPr>
              <a:t>two</a:t>
            </a:r>
            <a:r>
              <a:rPr lang="sk-SK">
                <a:solidFill>
                  <a:schemeClr val="tx1"/>
                </a:solidFill>
              </a:rPr>
              <a:t> </a:t>
            </a:r>
            <a:r>
              <a:rPr lang="sk-SK" err="1">
                <a:solidFill>
                  <a:schemeClr val="tx1"/>
                </a:solidFill>
              </a:rPr>
              <a:t>modes</a:t>
            </a:r>
            <a:r>
              <a:rPr lang="sk-SK">
                <a:solidFill>
                  <a:schemeClr val="tx1"/>
                </a:solidFill>
              </a:rPr>
              <a:t> </a:t>
            </a:r>
            <a:r>
              <a:rPr lang="sk-SK" err="1">
                <a:solidFill>
                  <a:schemeClr val="tx1"/>
                </a:solidFill>
              </a:rPr>
              <a:t>defined</a:t>
            </a:r>
            <a:r>
              <a:rPr lang="sk-SK">
                <a:solidFill>
                  <a:schemeClr val="tx1"/>
                </a:solidFill>
              </a:rPr>
              <a:t> by ISAKMP: </a:t>
            </a:r>
            <a:r>
              <a:rPr lang="sk-SK" err="1">
                <a:solidFill>
                  <a:schemeClr val="tx1"/>
                </a:solidFill>
              </a:rPr>
              <a:t>Main</a:t>
            </a:r>
            <a:r>
              <a:rPr lang="sk-SK">
                <a:solidFill>
                  <a:schemeClr val="tx1"/>
                </a:solidFill>
              </a:rPr>
              <a:t> </a:t>
            </a:r>
            <a:r>
              <a:rPr lang="sk-SK" err="1">
                <a:solidFill>
                  <a:schemeClr val="tx1"/>
                </a:solidFill>
              </a:rPr>
              <a:t>Mode</a:t>
            </a:r>
            <a:r>
              <a:rPr lang="sk-SK">
                <a:solidFill>
                  <a:schemeClr val="tx1"/>
                </a:solidFill>
              </a:rPr>
              <a:t> (MM) and </a:t>
            </a:r>
            <a:r>
              <a:rPr lang="sk-SK" err="1">
                <a:solidFill>
                  <a:schemeClr val="tx1"/>
                </a:solidFill>
              </a:rPr>
              <a:t>Aggressive</a:t>
            </a:r>
            <a:r>
              <a:rPr lang="sk-SK">
                <a:solidFill>
                  <a:schemeClr val="tx1"/>
                </a:solidFill>
              </a:rPr>
              <a:t> </a:t>
            </a:r>
            <a:r>
              <a:rPr lang="sk-SK" err="1">
                <a:solidFill>
                  <a:schemeClr val="tx1"/>
                </a:solidFill>
              </a:rPr>
              <a:t>Mode</a:t>
            </a:r>
            <a:r>
              <a:rPr lang="sk-SK">
                <a:solidFill>
                  <a:schemeClr val="tx1"/>
                </a:solidFill>
              </a:rPr>
              <a:t>.</a:t>
            </a:r>
          </a:p>
          <a:p>
            <a:pPr algn="l"/>
            <a:r>
              <a:rPr lang="sk-SK" err="1">
                <a:solidFill>
                  <a:schemeClr val="tx1"/>
                </a:solidFill>
              </a:rPr>
              <a:t>Phase</a:t>
            </a:r>
            <a:r>
              <a:rPr lang="sk-SK">
                <a:solidFill>
                  <a:schemeClr val="tx1"/>
                </a:solidFill>
              </a:rPr>
              <a:t> 2: </a:t>
            </a:r>
            <a:r>
              <a:rPr lang="sk-SK" err="1">
                <a:solidFill>
                  <a:schemeClr val="tx1"/>
                </a:solidFill>
              </a:rPr>
              <a:t>It</a:t>
            </a:r>
            <a:r>
              <a:rPr lang="sk-SK">
                <a:solidFill>
                  <a:schemeClr val="tx1"/>
                </a:solidFill>
              </a:rPr>
              <a:t> </a:t>
            </a:r>
            <a:r>
              <a:rPr lang="sk-SK" err="1">
                <a:solidFill>
                  <a:schemeClr val="tx1"/>
                </a:solidFill>
              </a:rPr>
              <a:t>negotiates</a:t>
            </a:r>
            <a:r>
              <a:rPr lang="sk-SK">
                <a:solidFill>
                  <a:schemeClr val="tx1"/>
                </a:solidFill>
              </a:rPr>
              <a:t> </a:t>
            </a:r>
            <a:r>
              <a:rPr lang="sk-SK" err="1">
                <a:solidFill>
                  <a:schemeClr val="tx1"/>
                </a:solidFill>
              </a:rPr>
              <a:t>key</a:t>
            </a:r>
            <a:r>
              <a:rPr lang="sk-SK">
                <a:solidFill>
                  <a:schemeClr val="tx1"/>
                </a:solidFill>
              </a:rPr>
              <a:t> </a:t>
            </a:r>
            <a:r>
              <a:rPr lang="sk-SK" err="1">
                <a:solidFill>
                  <a:schemeClr val="tx1"/>
                </a:solidFill>
              </a:rPr>
              <a:t>materials</a:t>
            </a:r>
            <a:r>
              <a:rPr lang="sk-SK">
                <a:solidFill>
                  <a:schemeClr val="tx1"/>
                </a:solidFill>
              </a:rPr>
              <a:t> and </a:t>
            </a:r>
            <a:r>
              <a:rPr lang="sk-SK" err="1">
                <a:solidFill>
                  <a:schemeClr val="tx1"/>
                </a:solidFill>
              </a:rPr>
              <a:t>algorithms</a:t>
            </a:r>
            <a:r>
              <a:rPr lang="sk-SK">
                <a:solidFill>
                  <a:schemeClr val="tx1"/>
                </a:solidFill>
              </a:rPr>
              <a:t> </a:t>
            </a:r>
            <a:r>
              <a:rPr lang="sk-SK" err="1">
                <a:solidFill>
                  <a:schemeClr val="tx1"/>
                </a:solidFill>
              </a:rPr>
              <a:t>for</a:t>
            </a:r>
            <a:r>
              <a:rPr lang="sk-SK">
                <a:solidFill>
                  <a:schemeClr val="tx1"/>
                </a:solidFill>
              </a:rPr>
              <a:t> </a:t>
            </a:r>
            <a:r>
              <a:rPr lang="sk-SK" err="1">
                <a:solidFill>
                  <a:schemeClr val="tx1"/>
                </a:solidFill>
              </a:rPr>
              <a:t>the</a:t>
            </a:r>
            <a:r>
              <a:rPr lang="sk-SK">
                <a:solidFill>
                  <a:schemeClr val="tx1"/>
                </a:solidFill>
              </a:rPr>
              <a:t> </a:t>
            </a:r>
            <a:r>
              <a:rPr lang="sk-SK" err="1">
                <a:solidFill>
                  <a:schemeClr val="tx1"/>
                </a:solidFill>
              </a:rPr>
              <a:t>encryption</a:t>
            </a:r>
            <a:r>
              <a:rPr lang="sk-SK">
                <a:solidFill>
                  <a:schemeClr val="tx1"/>
                </a:solidFill>
              </a:rPr>
              <a:t> (</a:t>
            </a:r>
            <a:r>
              <a:rPr lang="sk-SK" err="1">
                <a:solidFill>
                  <a:schemeClr val="tx1"/>
                </a:solidFill>
              </a:rPr>
              <a:t>SAs</a:t>
            </a:r>
            <a:r>
              <a:rPr lang="sk-SK">
                <a:solidFill>
                  <a:schemeClr val="tx1"/>
                </a:solidFill>
              </a:rPr>
              <a:t>) of </a:t>
            </a:r>
            <a:r>
              <a:rPr lang="sk-SK" err="1">
                <a:solidFill>
                  <a:schemeClr val="tx1"/>
                </a:solidFill>
              </a:rPr>
              <a:t>the</a:t>
            </a:r>
            <a:r>
              <a:rPr lang="sk-SK">
                <a:solidFill>
                  <a:schemeClr val="tx1"/>
                </a:solidFill>
              </a:rPr>
              <a:t> </a:t>
            </a:r>
            <a:r>
              <a:rPr lang="sk-SK" err="1">
                <a:solidFill>
                  <a:schemeClr val="tx1"/>
                </a:solidFill>
              </a:rPr>
              <a:t>data</a:t>
            </a:r>
            <a:r>
              <a:rPr lang="sk-SK">
                <a:solidFill>
                  <a:schemeClr val="tx1"/>
                </a:solidFill>
              </a:rPr>
              <a:t> to </a:t>
            </a:r>
            <a:r>
              <a:rPr lang="sk-SK" err="1">
                <a:solidFill>
                  <a:schemeClr val="tx1"/>
                </a:solidFill>
              </a:rPr>
              <a:t>be</a:t>
            </a:r>
            <a:r>
              <a:rPr lang="sk-SK">
                <a:solidFill>
                  <a:schemeClr val="tx1"/>
                </a:solidFill>
              </a:rPr>
              <a:t> </a:t>
            </a:r>
            <a:r>
              <a:rPr lang="sk-SK" err="1">
                <a:solidFill>
                  <a:schemeClr val="tx1"/>
                </a:solidFill>
              </a:rPr>
              <a:t>transferred</a:t>
            </a:r>
            <a:r>
              <a:rPr lang="sk-SK">
                <a:solidFill>
                  <a:schemeClr val="tx1"/>
                </a:solidFill>
              </a:rPr>
              <a:t> over </a:t>
            </a:r>
            <a:r>
              <a:rPr lang="sk-SK" err="1">
                <a:solidFill>
                  <a:schemeClr val="tx1"/>
                </a:solidFill>
              </a:rPr>
              <a:t>the</a:t>
            </a:r>
            <a:r>
              <a:rPr lang="sk-SK">
                <a:solidFill>
                  <a:schemeClr val="tx1"/>
                </a:solidFill>
              </a:rPr>
              <a:t> </a:t>
            </a:r>
            <a:r>
              <a:rPr lang="sk-SK" err="1">
                <a:solidFill>
                  <a:schemeClr val="tx1"/>
                </a:solidFill>
              </a:rPr>
              <a:t>IPsec</a:t>
            </a:r>
            <a:r>
              <a:rPr lang="sk-SK">
                <a:solidFill>
                  <a:schemeClr val="tx1"/>
                </a:solidFill>
              </a:rPr>
              <a:t> </a:t>
            </a:r>
            <a:r>
              <a:rPr lang="sk-SK" err="1">
                <a:solidFill>
                  <a:schemeClr val="tx1"/>
                </a:solidFill>
              </a:rPr>
              <a:t>tunnel</a:t>
            </a:r>
            <a:r>
              <a:rPr lang="sk-SK">
                <a:solidFill>
                  <a:schemeClr val="tx1"/>
                </a:solidFill>
              </a:rPr>
              <a:t>. </a:t>
            </a:r>
            <a:r>
              <a:rPr lang="sk-SK" err="1">
                <a:solidFill>
                  <a:schemeClr val="tx1"/>
                </a:solidFill>
              </a:rPr>
              <a:t>This</a:t>
            </a:r>
            <a:r>
              <a:rPr lang="sk-SK">
                <a:solidFill>
                  <a:schemeClr val="tx1"/>
                </a:solidFill>
              </a:rPr>
              <a:t> </a:t>
            </a:r>
            <a:r>
              <a:rPr lang="sk-SK" err="1">
                <a:solidFill>
                  <a:schemeClr val="tx1"/>
                </a:solidFill>
              </a:rPr>
              <a:t>phase</a:t>
            </a:r>
            <a:r>
              <a:rPr lang="sk-SK">
                <a:solidFill>
                  <a:schemeClr val="tx1"/>
                </a:solidFill>
              </a:rPr>
              <a:t> </a:t>
            </a:r>
            <a:r>
              <a:rPr lang="sk-SK" err="1">
                <a:solidFill>
                  <a:schemeClr val="tx1"/>
                </a:solidFill>
              </a:rPr>
              <a:t>is</a:t>
            </a:r>
            <a:r>
              <a:rPr lang="sk-SK">
                <a:solidFill>
                  <a:schemeClr val="tx1"/>
                </a:solidFill>
              </a:rPr>
              <a:t> </a:t>
            </a:r>
            <a:r>
              <a:rPr lang="sk-SK" err="1">
                <a:solidFill>
                  <a:schemeClr val="tx1"/>
                </a:solidFill>
              </a:rPr>
              <a:t>called</a:t>
            </a:r>
            <a:r>
              <a:rPr lang="sk-SK">
                <a:solidFill>
                  <a:schemeClr val="tx1"/>
                </a:solidFill>
              </a:rPr>
              <a:t> </a:t>
            </a:r>
            <a:r>
              <a:rPr lang="sk-SK" err="1">
                <a:solidFill>
                  <a:schemeClr val="tx1"/>
                </a:solidFill>
              </a:rPr>
              <a:t>Quick</a:t>
            </a:r>
            <a:r>
              <a:rPr lang="sk-SK">
                <a:solidFill>
                  <a:schemeClr val="tx1"/>
                </a:solidFill>
              </a:rPr>
              <a:t> </a:t>
            </a:r>
            <a:r>
              <a:rPr lang="sk-SK" err="1">
                <a:solidFill>
                  <a:schemeClr val="tx1"/>
                </a:solidFill>
              </a:rPr>
              <a:t>Mode</a:t>
            </a:r>
            <a:r>
              <a:rPr lang="sk-SK">
                <a:solidFill>
                  <a:schemeClr val="tx1"/>
                </a:solidFill>
              </a:rPr>
              <a:t>.</a:t>
            </a:r>
          </a:p>
          <a:p>
            <a:pPr algn="l"/>
            <a:r>
              <a:rPr lang="sk-SK">
                <a:solidFill>
                  <a:schemeClr val="tx1"/>
                </a:solidFill>
              </a:rPr>
              <a:t>In </a:t>
            </a:r>
            <a:r>
              <a:rPr lang="sk-SK" err="1">
                <a:solidFill>
                  <a:schemeClr val="tx1"/>
                </a:solidFill>
              </a:rPr>
              <a:t>order</a:t>
            </a:r>
            <a:r>
              <a:rPr lang="sk-SK">
                <a:solidFill>
                  <a:schemeClr val="tx1"/>
                </a:solidFill>
              </a:rPr>
              <a:t> to </a:t>
            </a:r>
            <a:r>
              <a:rPr lang="sk-SK" err="1">
                <a:solidFill>
                  <a:schemeClr val="tx1"/>
                </a:solidFill>
              </a:rPr>
              <a:t>materialize</a:t>
            </a:r>
            <a:r>
              <a:rPr lang="sk-SK">
                <a:solidFill>
                  <a:schemeClr val="tx1"/>
                </a:solidFill>
              </a:rPr>
              <a:t> </a:t>
            </a:r>
            <a:r>
              <a:rPr lang="sk-SK" err="1">
                <a:solidFill>
                  <a:schemeClr val="tx1"/>
                </a:solidFill>
              </a:rPr>
              <a:t>all</a:t>
            </a:r>
            <a:r>
              <a:rPr lang="sk-SK">
                <a:solidFill>
                  <a:schemeClr val="tx1"/>
                </a:solidFill>
              </a:rPr>
              <a:t> </a:t>
            </a:r>
            <a:r>
              <a:rPr lang="sk-SK" err="1">
                <a:solidFill>
                  <a:schemeClr val="tx1"/>
                </a:solidFill>
              </a:rPr>
              <a:t>the</a:t>
            </a:r>
            <a:r>
              <a:rPr lang="sk-SK">
                <a:solidFill>
                  <a:schemeClr val="tx1"/>
                </a:solidFill>
              </a:rPr>
              <a:t> </a:t>
            </a:r>
            <a:r>
              <a:rPr lang="sk-SK" err="1">
                <a:solidFill>
                  <a:schemeClr val="tx1"/>
                </a:solidFill>
              </a:rPr>
              <a:t>abstract</a:t>
            </a:r>
            <a:r>
              <a:rPr lang="sk-SK">
                <a:solidFill>
                  <a:schemeClr val="tx1"/>
                </a:solidFill>
              </a:rPr>
              <a:t> </a:t>
            </a:r>
            <a:r>
              <a:rPr lang="sk-SK" err="1">
                <a:solidFill>
                  <a:schemeClr val="tx1"/>
                </a:solidFill>
              </a:rPr>
              <a:t>concepts</a:t>
            </a:r>
            <a:r>
              <a:rPr lang="sk-SK">
                <a:solidFill>
                  <a:schemeClr val="tx1"/>
                </a:solidFill>
              </a:rPr>
              <a:t>, </a:t>
            </a:r>
            <a:r>
              <a:rPr lang="sk-SK" err="1">
                <a:solidFill>
                  <a:schemeClr val="tx1"/>
                </a:solidFill>
              </a:rPr>
              <a:t>the</a:t>
            </a:r>
            <a:r>
              <a:rPr lang="sk-SK">
                <a:solidFill>
                  <a:schemeClr val="tx1"/>
                </a:solidFill>
              </a:rPr>
              <a:t> </a:t>
            </a:r>
            <a:r>
              <a:rPr lang="sk-SK" err="1">
                <a:solidFill>
                  <a:schemeClr val="tx1"/>
                </a:solidFill>
              </a:rPr>
              <a:t>Phase</a:t>
            </a:r>
            <a:r>
              <a:rPr lang="sk-SK">
                <a:solidFill>
                  <a:schemeClr val="tx1"/>
                </a:solidFill>
              </a:rPr>
              <a:t> 1 </a:t>
            </a:r>
            <a:r>
              <a:rPr lang="sk-SK" err="1">
                <a:solidFill>
                  <a:schemeClr val="tx1"/>
                </a:solidFill>
              </a:rPr>
              <a:t>tunnel</a:t>
            </a:r>
            <a:r>
              <a:rPr lang="sk-SK">
                <a:solidFill>
                  <a:schemeClr val="tx1"/>
                </a:solidFill>
              </a:rPr>
              <a:t> </a:t>
            </a:r>
            <a:r>
              <a:rPr lang="sk-SK" err="1">
                <a:solidFill>
                  <a:schemeClr val="tx1"/>
                </a:solidFill>
              </a:rPr>
              <a:t>is</a:t>
            </a:r>
            <a:r>
              <a:rPr lang="sk-SK">
                <a:solidFill>
                  <a:schemeClr val="tx1"/>
                </a:solidFill>
              </a:rPr>
              <a:t> </a:t>
            </a:r>
            <a:r>
              <a:rPr lang="sk-SK" err="1">
                <a:solidFill>
                  <a:schemeClr val="tx1"/>
                </a:solidFill>
              </a:rPr>
              <a:t>the</a:t>
            </a:r>
            <a:r>
              <a:rPr lang="sk-SK">
                <a:solidFill>
                  <a:schemeClr val="tx1"/>
                </a:solidFill>
              </a:rPr>
              <a:t> </a:t>
            </a:r>
            <a:r>
              <a:rPr lang="sk-SK" err="1">
                <a:solidFill>
                  <a:schemeClr val="tx1"/>
                </a:solidFill>
              </a:rPr>
              <a:t>Parent</a:t>
            </a:r>
            <a:r>
              <a:rPr lang="sk-SK">
                <a:solidFill>
                  <a:schemeClr val="tx1"/>
                </a:solidFill>
              </a:rPr>
              <a:t> </a:t>
            </a:r>
            <a:r>
              <a:rPr lang="sk-SK" err="1">
                <a:solidFill>
                  <a:schemeClr val="tx1"/>
                </a:solidFill>
              </a:rPr>
              <a:t>tunnel</a:t>
            </a:r>
            <a:r>
              <a:rPr lang="sk-SK">
                <a:solidFill>
                  <a:schemeClr val="tx1"/>
                </a:solidFill>
              </a:rPr>
              <a:t> and </a:t>
            </a:r>
            <a:r>
              <a:rPr lang="sk-SK" err="1">
                <a:solidFill>
                  <a:schemeClr val="tx1"/>
                </a:solidFill>
              </a:rPr>
              <a:t>phase</a:t>
            </a:r>
            <a:r>
              <a:rPr lang="sk-SK">
                <a:solidFill>
                  <a:schemeClr val="tx1"/>
                </a:solidFill>
              </a:rPr>
              <a:t> 2 </a:t>
            </a:r>
            <a:r>
              <a:rPr lang="sk-SK" err="1">
                <a:solidFill>
                  <a:schemeClr val="tx1"/>
                </a:solidFill>
              </a:rPr>
              <a:t>is</a:t>
            </a:r>
            <a:r>
              <a:rPr lang="sk-SK">
                <a:solidFill>
                  <a:schemeClr val="tx1"/>
                </a:solidFill>
              </a:rPr>
              <a:t> a </a:t>
            </a:r>
            <a:r>
              <a:rPr lang="sk-SK" err="1">
                <a:solidFill>
                  <a:schemeClr val="tx1"/>
                </a:solidFill>
              </a:rPr>
              <a:t>sub</a:t>
            </a:r>
            <a:r>
              <a:rPr lang="sk-SK">
                <a:solidFill>
                  <a:schemeClr val="tx1"/>
                </a:solidFill>
              </a:rPr>
              <a:t> </a:t>
            </a:r>
            <a:r>
              <a:rPr lang="sk-SK" err="1">
                <a:solidFill>
                  <a:schemeClr val="tx1"/>
                </a:solidFill>
              </a:rPr>
              <a:t>tunnel</a:t>
            </a:r>
            <a:r>
              <a:rPr lang="sk-SK">
                <a:solidFill>
                  <a:schemeClr val="tx1"/>
                </a:solidFill>
              </a:rPr>
              <a:t>, </a:t>
            </a:r>
            <a:r>
              <a:rPr lang="sk-SK" err="1">
                <a:solidFill>
                  <a:schemeClr val="tx1"/>
                </a:solidFill>
              </a:rPr>
              <a:t>this</a:t>
            </a:r>
            <a:r>
              <a:rPr lang="sk-SK">
                <a:solidFill>
                  <a:schemeClr val="tx1"/>
                </a:solidFill>
              </a:rPr>
              <a:t> image </a:t>
            </a:r>
            <a:r>
              <a:rPr lang="sk-SK" err="1">
                <a:solidFill>
                  <a:schemeClr val="tx1"/>
                </a:solidFill>
              </a:rPr>
              <a:t>illustrates</a:t>
            </a:r>
            <a:r>
              <a:rPr lang="sk-SK">
                <a:solidFill>
                  <a:schemeClr val="tx1"/>
                </a:solidFill>
              </a:rPr>
              <a:t> </a:t>
            </a:r>
            <a:r>
              <a:rPr lang="sk-SK" err="1">
                <a:solidFill>
                  <a:schemeClr val="tx1"/>
                </a:solidFill>
              </a:rPr>
              <a:t>the</a:t>
            </a:r>
            <a:r>
              <a:rPr lang="sk-SK">
                <a:solidFill>
                  <a:schemeClr val="tx1"/>
                </a:solidFill>
              </a:rPr>
              <a:t> </a:t>
            </a:r>
            <a:r>
              <a:rPr lang="sk-SK" err="1">
                <a:solidFill>
                  <a:schemeClr val="tx1"/>
                </a:solidFill>
              </a:rPr>
              <a:t>two</a:t>
            </a:r>
            <a:r>
              <a:rPr lang="sk-SK">
                <a:solidFill>
                  <a:schemeClr val="tx1"/>
                </a:solidFill>
              </a:rPr>
              <a:t> </a:t>
            </a:r>
            <a:r>
              <a:rPr lang="sk-SK" err="1">
                <a:solidFill>
                  <a:schemeClr val="tx1"/>
                </a:solidFill>
              </a:rPr>
              <a:t>phases</a:t>
            </a:r>
            <a:r>
              <a:rPr lang="sk-SK">
                <a:solidFill>
                  <a:schemeClr val="tx1"/>
                </a:solidFill>
              </a:rPr>
              <a:t> as </a:t>
            </a:r>
            <a:r>
              <a:rPr lang="sk-SK" err="1">
                <a:solidFill>
                  <a:schemeClr val="tx1"/>
                </a:solidFill>
              </a:rPr>
              <a:t>tunnels</a:t>
            </a:r>
            <a:r>
              <a:rPr lang="sk-SK">
                <a:solidFill>
                  <a:schemeClr val="tx1"/>
                </a:solidFill>
              </a:rPr>
              <a:t>.</a:t>
            </a:r>
          </a:p>
        </p:txBody>
      </p:sp>
      <p:sp>
        <p:nvSpPr>
          <p:cNvPr id="3" name="Nadpis 2">
            <a:extLst>
              <a:ext uri="{FF2B5EF4-FFF2-40B4-BE49-F238E27FC236}">
                <a16:creationId xmlns:a16="http://schemas.microsoft.com/office/drawing/2014/main" id="{29761E58-9336-69C8-2E73-11B2A05A503D}"/>
              </a:ext>
            </a:extLst>
          </p:cNvPr>
          <p:cNvSpPr>
            <a:spLocks noGrp="1"/>
          </p:cNvSpPr>
          <p:nvPr>
            <p:ph type="title"/>
          </p:nvPr>
        </p:nvSpPr>
        <p:spPr/>
        <p:txBody>
          <a:bodyPr/>
          <a:lstStyle/>
          <a:p>
            <a:r>
              <a:rPr lang="sk-SK"/>
              <a:t>IKE </a:t>
            </a:r>
            <a:r>
              <a:rPr lang="sk-SK" err="1"/>
              <a:t>Phases</a:t>
            </a:r>
            <a:endParaRPr lang="sk-SK"/>
          </a:p>
        </p:txBody>
      </p:sp>
      <p:pic>
        <p:nvPicPr>
          <p:cNvPr id="1026" name="Picture 2" descr="ISAKMP-IPSEC-TUNNEL">
            <a:extLst>
              <a:ext uri="{FF2B5EF4-FFF2-40B4-BE49-F238E27FC236}">
                <a16:creationId xmlns:a16="http://schemas.microsoft.com/office/drawing/2014/main" id="{25711A3A-3EFF-4F07-22BF-71E730291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271392"/>
            <a:ext cx="4527731" cy="2578634"/>
          </a:xfrm>
          <a:prstGeom prst="rect">
            <a:avLst/>
          </a:prstGeom>
          <a:noFill/>
          <a:extLst>
            <a:ext uri="{909E8E84-426E-40DD-AFC4-6F175D3DCCD1}">
              <a14:hiddenFill xmlns:a14="http://schemas.microsoft.com/office/drawing/2010/main">
                <a:solidFill>
                  <a:srgbClr val="FFFFFF"/>
                </a:solidFill>
              </a14:hiddenFill>
            </a:ext>
          </a:extLst>
        </p:spPr>
      </p:pic>
      <p:sp>
        <p:nvSpPr>
          <p:cNvPr id="7" name="BlokTextu 6">
            <a:extLst>
              <a:ext uri="{FF2B5EF4-FFF2-40B4-BE49-F238E27FC236}">
                <a16:creationId xmlns:a16="http://schemas.microsoft.com/office/drawing/2014/main" id="{96C8C1B9-A379-572A-20C0-FE175B970254}"/>
              </a:ext>
            </a:extLst>
          </p:cNvPr>
          <p:cNvSpPr txBox="1"/>
          <p:nvPr/>
        </p:nvSpPr>
        <p:spPr>
          <a:xfrm>
            <a:off x="1155188" y="4371300"/>
            <a:ext cx="6474279" cy="430887"/>
          </a:xfrm>
          <a:prstGeom prst="rect">
            <a:avLst/>
          </a:prstGeom>
          <a:noFill/>
        </p:spPr>
        <p:txBody>
          <a:bodyPr wrap="square">
            <a:spAutoFit/>
          </a:bodyPr>
          <a:lstStyle/>
          <a:p>
            <a:r>
              <a:rPr lang="sk-SK" sz="1100" dirty="0" err="1"/>
              <a:t>https</a:t>
            </a:r>
            <a:r>
              <a:rPr lang="sk-SK" sz="1100" dirty="0"/>
              <a:t>://</a:t>
            </a:r>
            <a:r>
              <a:rPr lang="sk-SK" sz="1100" dirty="0" err="1"/>
              <a:t>www.cisco.com</a:t>
            </a:r>
            <a:r>
              <a:rPr lang="sk-SK" sz="1100" dirty="0"/>
              <a:t>/c/</a:t>
            </a:r>
            <a:r>
              <a:rPr lang="sk-SK" sz="1100" dirty="0" err="1"/>
              <a:t>en</a:t>
            </a:r>
            <a:r>
              <a:rPr lang="sk-SK" sz="1100" dirty="0"/>
              <a:t>/</a:t>
            </a:r>
            <a:r>
              <a:rPr lang="sk-SK" sz="1100" dirty="0" err="1"/>
              <a:t>us</a:t>
            </a:r>
            <a:r>
              <a:rPr lang="sk-SK" sz="1100" dirty="0"/>
              <a:t>/</a:t>
            </a:r>
            <a:r>
              <a:rPr lang="sk-SK" sz="1100" dirty="0" err="1"/>
              <a:t>support</a:t>
            </a:r>
            <a:r>
              <a:rPr lang="sk-SK" sz="1100" dirty="0"/>
              <a:t>/</a:t>
            </a:r>
            <a:r>
              <a:rPr lang="sk-SK" sz="1100" dirty="0" err="1"/>
              <a:t>docs</a:t>
            </a:r>
            <a:r>
              <a:rPr lang="sk-SK" sz="1100" dirty="0"/>
              <a:t>/</a:t>
            </a:r>
            <a:r>
              <a:rPr lang="sk-SK" sz="1100" dirty="0" err="1"/>
              <a:t>security-vpn</a:t>
            </a:r>
            <a:r>
              <a:rPr lang="sk-SK" sz="1100" dirty="0"/>
              <a:t>/</a:t>
            </a:r>
            <a:r>
              <a:rPr lang="sk-SK" sz="1100" dirty="0" err="1"/>
              <a:t>ipsec-negotiation-ike-protocols</a:t>
            </a:r>
            <a:r>
              <a:rPr lang="sk-SK" sz="1100" dirty="0"/>
              <a:t>/217432-understand-ipsec-ikev1-protocol.html#anc9</a:t>
            </a:r>
          </a:p>
        </p:txBody>
      </p:sp>
    </p:spTree>
    <p:extLst>
      <p:ext uri="{BB962C8B-B14F-4D97-AF65-F5344CB8AC3E}">
        <p14:creationId xmlns:p14="http://schemas.microsoft.com/office/powerpoint/2010/main" val="1036488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Internet Key Exchange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Phase 2: Negotiating SAs</a:t>
            </a:r>
          </a:p>
        </p:txBody>
      </p:sp>
      <p:sp>
        <p:nvSpPr>
          <p:cNvPr id="5" name="Object4"/>
          <p:cNvSpPr/>
          <p:nvPr/>
        </p:nvSpPr>
        <p:spPr>
          <a:xfrm>
            <a:off x="0" y="708660"/>
            <a:ext cx="86868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IKE Phase 2 is called quick mode and can only occur after IKE has established a secure tunnel in Phase 1. Quick mode negotiates the IKE Phase 2 SAs. In this phase, the SAs that IPsec uses are unidirectional; therefore, a separate key exchange is required for each data flow.</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pic>
        <p:nvPicPr>
          <p:cNvPr id="6" name="Picture 5">
            <a:extLst>
              <a:ext uri="{FF2B5EF4-FFF2-40B4-BE49-F238E27FC236}">
                <a16:creationId xmlns:a16="http://schemas.microsoft.com/office/drawing/2014/main" id="{48412F7F-E7B6-4C22-8A22-14885DE7487D}"/>
              </a:ext>
            </a:extLst>
          </p:cNvPr>
          <p:cNvPicPr>
            <a:picLocks noChangeAspect="1"/>
          </p:cNvPicPr>
          <p:nvPr/>
        </p:nvPicPr>
        <p:blipFill>
          <a:blip r:embed="rId3"/>
          <a:stretch>
            <a:fillRect/>
          </a:stretch>
        </p:blipFill>
        <p:spPr>
          <a:xfrm>
            <a:off x="671595" y="1994535"/>
            <a:ext cx="7639443" cy="235597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19: Implement Site-to-Site IPsec VPNs with CLI</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extLst>
      <p:ext uri="{BB962C8B-B14F-4D97-AF65-F5344CB8AC3E}">
        <p14:creationId xmlns:p14="http://schemas.microsoft.com/office/powerpoint/2010/main" val="1514589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Implement Site-to-Site IPsec VPNs with CLI</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Configure a site-to-site IPsec VPN, with pre-shared key authentication, using CLI.  </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493798525"/>
              </p:ext>
            </p:extLst>
          </p:nvPr>
        </p:nvGraphicFramePr>
        <p:xfrm>
          <a:off x="423333" y="1625600"/>
          <a:ext cx="8263467" cy="1542736"/>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b="1" dirty="0">
                          <a:effectLst/>
                          <a:latin typeface="Arial" panose="020B0604020202020204" pitchFamily="34" charset="0"/>
                          <a:ea typeface="Calibri" panose="020F0502020204030204" pitchFamily="34" charset="0"/>
                          <a:cs typeface="Arial" panose="020B0604020202020204" pitchFamily="34" charset="0"/>
                        </a:rPr>
                        <a:t>Configure a Site-to-Site IPsec VPN</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IPsec negotiation and the five steps of IPsec configuration.</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ISAKMP Policy</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Use the correct commands to configure an ISAKMP policy.</a:t>
                      </a:r>
                    </a:p>
                  </a:txBody>
                  <a:tcPr marL="60168" marR="60168" marT="0" marB="0"/>
                </a:tc>
                <a:extLst>
                  <a:ext uri="{0D108BD9-81ED-4DB2-BD59-A6C34878D82A}">
                    <a16:rowId xmlns:a16="http://schemas.microsoft.com/office/drawing/2014/main" val="66289294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IPsec Policy</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Use the correct commands to configure the IPsec policy.</a:t>
                      </a:r>
                    </a:p>
                  </a:txBody>
                  <a:tcPr marL="60168" marR="60168" marT="0" marB="0"/>
                </a:tc>
                <a:extLst>
                  <a:ext uri="{0D108BD9-81ED-4DB2-BD59-A6C34878D82A}">
                    <a16:rowId xmlns:a16="http://schemas.microsoft.com/office/drawing/2014/main" val="724516786"/>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Crypto Map</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Use the correct command to configure and apply a Crypto map.</a:t>
                      </a:r>
                    </a:p>
                  </a:txBody>
                  <a:tcPr marL="60168" marR="60168" marT="0" marB="0"/>
                </a:tc>
                <a:extLst>
                  <a:ext uri="{0D108BD9-81ED-4DB2-BD59-A6C34878D82A}">
                    <a16:rowId xmlns:a16="http://schemas.microsoft.com/office/drawing/2014/main" val="298268992"/>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IPsec VPN</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Configure the IPsec VPN.</a:t>
                      </a:r>
                    </a:p>
                  </a:txBody>
                  <a:tcPr marL="60168" marR="60168" marT="0" marB="0"/>
                </a:tc>
                <a:extLst>
                  <a:ext uri="{0D108BD9-81ED-4DB2-BD59-A6C34878D82A}">
                    <a16:rowId xmlns:a16="http://schemas.microsoft.com/office/drawing/2014/main" val="2019914068"/>
                  </a:ext>
                </a:extLst>
              </a:tr>
            </a:tbl>
          </a:graphicData>
        </a:graphic>
      </p:graphicFrame>
    </p:spTree>
    <p:custDataLst>
      <p:tags r:id="rId1"/>
    </p:custDataLst>
    <p:extLst>
      <p:ext uri="{BB962C8B-B14F-4D97-AF65-F5344CB8AC3E}">
        <p14:creationId xmlns:p14="http://schemas.microsoft.com/office/powerpoint/2010/main" val="3928140493"/>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19.1 Configure a Site-to-Site IPsec VPN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dirty="0"/>
          </a:p>
        </p:txBody>
      </p:sp>
    </p:spTree>
    <p:extLst>
      <p:ext uri="{BB962C8B-B14F-4D97-AF65-F5344CB8AC3E}">
        <p14:creationId xmlns:p14="http://schemas.microsoft.com/office/powerpoint/2010/main" val="1262037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IPsec Negotiation</a:t>
            </a:r>
          </a:p>
        </p:txBody>
      </p:sp>
      <p:sp>
        <p:nvSpPr>
          <p:cNvPr id="5" name="Object4"/>
          <p:cNvSpPr/>
          <p:nvPr/>
        </p:nvSpPr>
        <p:spPr>
          <a:xfrm>
            <a:off x="0" y="914400"/>
            <a:ext cx="88138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IPsec negotiation to establish a VPN involves five steps, which include IKE Phase 1 and Phase 2:</a:t>
            </a:r>
          </a:p>
          <a:p>
            <a:pPr marL="342900" indent="-342900">
              <a:lnSpc>
                <a:spcPts val="2000"/>
              </a:lnSpc>
              <a:buAutoNum type="arabicPeriod"/>
            </a:pPr>
            <a:r>
              <a:rPr lang="en-US" sz="1600" dirty="0">
                <a:solidFill>
                  <a:srgbClr val="000000"/>
                </a:solidFill>
                <a:latin typeface="Arial" panose="020B0604020202020204" pitchFamily="34" charset="0"/>
                <a:cs typeface="Arial" panose="020B0604020202020204" pitchFamily="34" charset="0"/>
              </a:rPr>
              <a:t>An ISAKMP tunnel is initiated when host A sends “interesting” traffic to host B. Traffic is considered interesting when it travels between the peers and meets the criteria that are defined in an ACL.</a:t>
            </a:r>
          </a:p>
          <a:p>
            <a:pPr marL="342900" indent="-342900">
              <a:lnSpc>
                <a:spcPts val="2000"/>
              </a:lnSpc>
              <a:buAutoNum type="arabicPeriod"/>
            </a:pPr>
            <a:r>
              <a:rPr lang="en-US" sz="1600" dirty="0">
                <a:latin typeface="Arial" panose="020B0604020202020204" pitchFamily="34" charset="0"/>
                <a:cs typeface="Arial" panose="020B0604020202020204" pitchFamily="34" charset="0"/>
              </a:rPr>
              <a:t>IKE Phase 1 begins. The peers negotiate the ISAKMP SA policy. When the peers agree on the policy and are authenticated, a secure tunnel is created.</a:t>
            </a:r>
          </a:p>
          <a:p>
            <a:pPr marL="342900" indent="-342900">
              <a:lnSpc>
                <a:spcPts val="2000"/>
              </a:lnSpc>
              <a:buAutoNum type="arabicPeriod"/>
            </a:pPr>
            <a:r>
              <a:rPr lang="en-US" sz="1600" dirty="0">
                <a:latin typeface="Arial" panose="020B0604020202020204" pitchFamily="34" charset="0"/>
                <a:cs typeface="Arial" panose="020B0604020202020204" pitchFamily="34" charset="0"/>
              </a:rPr>
              <a:t>IKE Phase 2 begins. The IPsec peers use the authenticated secure tunnel to negotiate the IPsec SA policy. The negotiation of the shared policy determines how the IPsec tunnel is established.</a:t>
            </a:r>
          </a:p>
          <a:p>
            <a:pPr marL="342900" indent="-342900">
              <a:lnSpc>
                <a:spcPts val="2000"/>
              </a:lnSpc>
              <a:buAutoNum type="arabicPeriod"/>
            </a:pPr>
            <a:r>
              <a:rPr lang="en-US" sz="1600" dirty="0">
                <a:latin typeface="Arial" panose="020B0604020202020204" pitchFamily="34" charset="0"/>
                <a:cs typeface="Arial" panose="020B0604020202020204" pitchFamily="34" charset="0"/>
              </a:rPr>
              <a:t>The IPsec tunnel is created, and data is transferred between the IPsec peers based on the IPsec SAs.</a:t>
            </a:r>
          </a:p>
          <a:p>
            <a:pPr marL="342900" indent="-342900">
              <a:lnSpc>
                <a:spcPts val="2000"/>
              </a:lnSpc>
              <a:buAutoNum type="arabicPeriod"/>
            </a:pPr>
            <a:r>
              <a:rPr lang="en-US" sz="1600" dirty="0">
                <a:latin typeface="Arial" panose="020B0604020202020204" pitchFamily="34" charset="0"/>
                <a:cs typeface="Arial" panose="020B0604020202020204" pitchFamily="34" charset="0"/>
              </a:rPr>
              <a:t>The IPsec tunnel terminates when the IPsec SAs are manually deleted, or when their lifetime expires.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extLst>
      <p:ext uri="{BB962C8B-B14F-4D97-AF65-F5344CB8AC3E}">
        <p14:creationId xmlns:p14="http://schemas.microsoft.com/office/powerpoint/2010/main" val="77266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Site-to-Site IPsec VPN Topology</a:t>
            </a:r>
          </a:p>
        </p:txBody>
      </p:sp>
      <p:sp>
        <p:nvSpPr>
          <p:cNvPr id="5" name="Object4"/>
          <p:cNvSpPr/>
          <p:nvPr/>
        </p:nvSpPr>
        <p:spPr>
          <a:xfrm>
            <a:off x="0" y="731520"/>
            <a:ext cx="8492067"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Implementing a site-to-site VPN requires configuring settings for both IKE Phase 1 and Phase 2. In the phase 1 configuration, the two sites are configured with the necessary ISAKMP security associations to ensure that an ISAKMP tunnel can be created. In the phase 2 configuration, the two sites are configured with the IPsec security associations to ensure that an IPsec tunnel is created within the ISAKMP tunnel. Both tunnels will be created only when interesting traffic is detected.</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The topology in the figure for XYZCORP will be used in this section to demonstrate a site-to-site IPsec VPN implementation. </a:t>
            </a:r>
            <a:endParaRPr lang="en-US" sz="1600" dirty="0"/>
          </a:p>
        </p:txBody>
      </p:sp>
      <p:pic>
        <p:nvPicPr>
          <p:cNvPr id="4" name="Picture 3">
            <a:extLst>
              <a:ext uri="{FF2B5EF4-FFF2-40B4-BE49-F238E27FC236}">
                <a16:creationId xmlns:a16="http://schemas.microsoft.com/office/drawing/2014/main" id="{3A0E6473-8BE4-4EA2-9439-BBAFFF877B98}"/>
              </a:ext>
            </a:extLst>
          </p:cNvPr>
          <p:cNvPicPr>
            <a:picLocks noChangeAspect="1"/>
          </p:cNvPicPr>
          <p:nvPr/>
        </p:nvPicPr>
        <p:blipFill>
          <a:blip r:embed="rId3"/>
          <a:stretch>
            <a:fillRect/>
          </a:stretch>
        </p:blipFill>
        <p:spPr>
          <a:xfrm>
            <a:off x="1311512" y="3169920"/>
            <a:ext cx="5821896" cy="11226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Tree>
    <p:extLst>
      <p:ext uri="{BB962C8B-B14F-4D97-AF65-F5344CB8AC3E}">
        <p14:creationId xmlns:p14="http://schemas.microsoft.com/office/powerpoint/2010/main" val="38397977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Site-to-Site IPsec VPN Topology (Cont.)</a:t>
            </a:r>
          </a:p>
        </p:txBody>
      </p:sp>
      <p:sp>
        <p:nvSpPr>
          <p:cNvPr id="8" name="TextBox 7">
            <a:extLst>
              <a:ext uri="{FF2B5EF4-FFF2-40B4-BE49-F238E27FC236}">
                <a16:creationId xmlns:a16="http://schemas.microsoft.com/office/drawing/2014/main" id="{8FE700B0-7EBB-4F97-9015-FBC8DA035E38}"/>
              </a:ext>
            </a:extLst>
          </p:cNvPr>
          <p:cNvSpPr txBox="1"/>
          <p:nvPr/>
        </p:nvSpPr>
        <p:spPr>
          <a:xfrm>
            <a:off x="0" y="750481"/>
            <a:ext cx="8791575"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Both routers are configured with IP addressing and static routing. An extended ping on R1 verifies that routing between the LANs is operational.</a:t>
            </a:r>
          </a:p>
        </p:txBody>
      </p:sp>
      <p:pic>
        <p:nvPicPr>
          <p:cNvPr id="5" name="Picture 4">
            <a:extLst>
              <a:ext uri="{FF2B5EF4-FFF2-40B4-BE49-F238E27FC236}">
                <a16:creationId xmlns:a16="http://schemas.microsoft.com/office/drawing/2014/main" id="{2BD47AD2-B82F-4E37-8100-7BE0ABF86530}"/>
              </a:ext>
            </a:extLst>
          </p:cNvPr>
          <p:cNvPicPr>
            <a:picLocks noChangeAspect="1"/>
          </p:cNvPicPr>
          <p:nvPr/>
        </p:nvPicPr>
        <p:blipFill>
          <a:blip r:embed="rId3"/>
          <a:stretch>
            <a:fillRect/>
          </a:stretch>
        </p:blipFill>
        <p:spPr>
          <a:xfrm>
            <a:off x="780102" y="1304242"/>
            <a:ext cx="3270887" cy="3439208"/>
          </a:xfrm>
          <a:prstGeom prst="rect">
            <a:avLst/>
          </a:prstGeom>
        </p:spPr>
      </p:pic>
      <p:pic>
        <p:nvPicPr>
          <p:cNvPr id="10" name="Picture 9">
            <a:extLst>
              <a:ext uri="{FF2B5EF4-FFF2-40B4-BE49-F238E27FC236}">
                <a16:creationId xmlns:a16="http://schemas.microsoft.com/office/drawing/2014/main" id="{46158F67-07D2-44FE-A46B-E4F373895EFF}"/>
              </a:ext>
            </a:extLst>
          </p:cNvPr>
          <p:cNvPicPr>
            <a:picLocks noChangeAspect="1"/>
          </p:cNvPicPr>
          <p:nvPr/>
        </p:nvPicPr>
        <p:blipFill>
          <a:blip r:embed="rId4"/>
          <a:stretch>
            <a:fillRect/>
          </a:stretch>
        </p:blipFill>
        <p:spPr>
          <a:xfrm>
            <a:off x="4564048" y="2390421"/>
            <a:ext cx="4227527" cy="103702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spTree>
    <p:extLst>
      <p:ext uri="{BB962C8B-B14F-4D97-AF65-F5344CB8AC3E}">
        <p14:creationId xmlns:p14="http://schemas.microsoft.com/office/powerpoint/2010/main" val="1781958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Existing ACL Configurations</a:t>
            </a:r>
          </a:p>
        </p:txBody>
      </p:sp>
      <p:sp>
        <p:nvSpPr>
          <p:cNvPr id="5" name="Object4"/>
          <p:cNvSpPr/>
          <p:nvPr/>
        </p:nvSpPr>
        <p:spPr>
          <a:xfrm>
            <a:off x="-1" y="699135"/>
            <a:ext cx="9058275" cy="1282065"/>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Prior to implementing a site-to-site IPsec VPN, ensure that the existing ACLs do not block traffic necessary for IPsec negotiations. The ACL command syntax to permit ISAKMP, ESP, and AH traffic is shown here. </a:t>
            </a:r>
            <a:endParaRPr lang="en-US" sz="1600" dirty="0"/>
          </a:p>
        </p:txBody>
      </p:sp>
      <p:pic>
        <p:nvPicPr>
          <p:cNvPr id="9" name="Picture 8">
            <a:extLst>
              <a:ext uri="{FF2B5EF4-FFF2-40B4-BE49-F238E27FC236}">
                <a16:creationId xmlns:a16="http://schemas.microsoft.com/office/drawing/2014/main" id="{F0B1A936-92ED-46C6-A9D8-0C3C903CCD1D}"/>
              </a:ext>
            </a:extLst>
          </p:cNvPr>
          <p:cNvPicPr>
            <a:picLocks noChangeAspect="1"/>
          </p:cNvPicPr>
          <p:nvPr/>
        </p:nvPicPr>
        <p:blipFill>
          <a:blip r:embed="rId3"/>
          <a:stretch>
            <a:fillRect/>
          </a:stretch>
        </p:blipFill>
        <p:spPr>
          <a:xfrm>
            <a:off x="1324566" y="1525055"/>
            <a:ext cx="6686894" cy="793791"/>
          </a:xfrm>
          <a:prstGeom prst="rect">
            <a:avLst/>
          </a:prstGeom>
        </p:spPr>
      </p:pic>
      <p:pic>
        <p:nvPicPr>
          <p:cNvPr id="11" name="Picture 10">
            <a:extLst>
              <a:ext uri="{FF2B5EF4-FFF2-40B4-BE49-F238E27FC236}">
                <a16:creationId xmlns:a16="http://schemas.microsoft.com/office/drawing/2014/main" id="{A992655C-9058-452E-A540-57BA02C41B4E}"/>
              </a:ext>
            </a:extLst>
          </p:cNvPr>
          <p:cNvPicPr>
            <a:picLocks noChangeAspect="1"/>
          </p:cNvPicPr>
          <p:nvPr/>
        </p:nvPicPr>
        <p:blipFill>
          <a:blip r:embed="rId4"/>
          <a:stretch>
            <a:fillRect/>
          </a:stretch>
        </p:blipFill>
        <p:spPr>
          <a:xfrm>
            <a:off x="1288813" y="2633382"/>
            <a:ext cx="6763098" cy="193049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dirty="0"/>
          </a:p>
        </p:txBody>
      </p:sp>
    </p:spTree>
    <p:extLst>
      <p:ext uri="{BB962C8B-B14F-4D97-AF65-F5344CB8AC3E}">
        <p14:creationId xmlns:p14="http://schemas.microsoft.com/office/powerpoint/2010/main" val="41408816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434340"/>
          </a:xfrm>
          <a:prstGeom prst="rect">
            <a:avLst/>
          </a:prstGeom>
          <a:noFill/>
          <a:ln/>
        </p:spPr>
        <p:txBody>
          <a:bodyPr wrap="square" rtlCol="0"/>
          <a:lstStyle/>
          <a:p>
            <a:pPr marL="0" indent="0">
              <a:buNone/>
            </a:pPr>
            <a:r>
              <a:rPr lang="en-US" dirty="0"/>
              <a:t>IPsec VPN Configuration Tasks</a:t>
            </a:r>
          </a:p>
        </p:txBody>
      </p:sp>
      <p:sp>
        <p:nvSpPr>
          <p:cNvPr id="5" name="Object4"/>
          <p:cNvSpPr/>
          <p:nvPr/>
        </p:nvSpPr>
        <p:spPr>
          <a:xfrm>
            <a:off x="385483" y="708660"/>
            <a:ext cx="3747247" cy="4149090"/>
          </a:xfrm>
          <a:prstGeom prst="rect">
            <a:avLst/>
          </a:prstGeom>
          <a:noFill/>
          <a:ln/>
        </p:spPr>
        <p:txBody>
          <a:bodyPr wrap="square" rtlCol="0" anchor="t"/>
          <a:lstStyle/>
          <a:p>
            <a:pPr>
              <a:lnSpc>
                <a:spcPts val="2000"/>
              </a:lnSpc>
            </a:pPr>
            <a:r>
              <a:rPr lang="en-US" sz="1600" b="1" dirty="0">
                <a:solidFill>
                  <a:srgbClr val="000000"/>
                </a:solidFill>
                <a:latin typeface="Arial" pitchFamily="34" charset="0"/>
                <a:ea typeface="Arial" pitchFamily="34" charset="-122"/>
                <a:cs typeface="Arial" pitchFamily="34" charset="-120"/>
              </a:rPr>
              <a:t>Security Policy Requirements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All XYZCORP VPNs should be implemented using the following security policy:</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Encrypt traffic with AES 256 and SHA.</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Authenticate with PSK.</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Exchange keys with DH group 14.</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ISAKMP tunnel lifetime is 1 hour.</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IPsec tunnel uses ESP with a 15-minute lifetime.</a:t>
            </a:r>
          </a:p>
        </p:txBody>
      </p:sp>
      <p:sp>
        <p:nvSpPr>
          <p:cNvPr id="8" name="Object4">
            <a:extLst>
              <a:ext uri="{FF2B5EF4-FFF2-40B4-BE49-F238E27FC236}">
                <a16:creationId xmlns:a16="http://schemas.microsoft.com/office/drawing/2014/main" id="{8B641A6B-E4C4-4834-B12C-7950D6025B8E}"/>
              </a:ext>
            </a:extLst>
          </p:cNvPr>
          <p:cNvSpPr/>
          <p:nvPr/>
        </p:nvSpPr>
        <p:spPr>
          <a:xfrm>
            <a:off x="4329954" y="708660"/>
            <a:ext cx="4500282" cy="4149090"/>
          </a:xfrm>
          <a:prstGeom prst="rect">
            <a:avLst/>
          </a:prstGeom>
          <a:noFill/>
          <a:ln/>
        </p:spPr>
        <p:txBody>
          <a:bodyPr wrap="square" rtlCol="0" anchor="t"/>
          <a:lstStyle/>
          <a:p>
            <a:pPr>
              <a:lnSpc>
                <a:spcPts val="2000"/>
              </a:lnSpc>
            </a:pPr>
            <a:r>
              <a:rPr lang="en-US" sz="1600" b="1" dirty="0">
                <a:solidFill>
                  <a:srgbClr val="000000"/>
                </a:solidFill>
                <a:latin typeface="Arial" pitchFamily="34" charset="0"/>
                <a:ea typeface="Arial" pitchFamily="34" charset="-122"/>
                <a:cs typeface="Arial" pitchFamily="34" charset="-120"/>
              </a:rPr>
              <a:t>Configuration Tasks: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The configuration tasks required to meet this policy are:</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Task 1: Configure the ISAKMP Policy for IKE Phase 1</a:t>
            </a:r>
          </a:p>
          <a:p>
            <a:pPr>
              <a:lnSpc>
                <a:spcPts val="2000"/>
              </a:lnSpc>
            </a:pPr>
            <a:r>
              <a:rPr lang="en-US" sz="1600" dirty="0">
                <a:solidFill>
                  <a:srgbClr val="000000"/>
                </a:solidFill>
                <a:latin typeface="Arial" pitchFamily="34" charset="0"/>
                <a:ea typeface="Arial" pitchFamily="34" charset="-122"/>
                <a:cs typeface="Arial" pitchFamily="34" charset="-120"/>
              </a:rPr>
              <a:t>Task 2: Configure the IPsec Policy for IPsec Phase 2</a:t>
            </a:r>
          </a:p>
          <a:p>
            <a:pPr>
              <a:lnSpc>
                <a:spcPts val="2000"/>
              </a:lnSpc>
            </a:pPr>
            <a:r>
              <a:rPr lang="en-US" sz="1600" dirty="0">
                <a:solidFill>
                  <a:srgbClr val="000000"/>
                </a:solidFill>
                <a:latin typeface="Arial" pitchFamily="34" charset="0"/>
                <a:ea typeface="Arial" pitchFamily="34" charset="-122"/>
                <a:cs typeface="Arial" pitchFamily="34" charset="-120"/>
              </a:rPr>
              <a:t>Task 3: Configure a Crypto Map for the IPsec Policy</a:t>
            </a:r>
          </a:p>
          <a:p>
            <a:pPr>
              <a:lnSpc>
                <a:spcPts val="2000"/>
              </a:lnSpc>
            </a:pPr>
            <a:r>
              <a:rPr lang="en-US" sz="1600" dirty="0">
                <a:solidFill>
                  <a:srgbClr val="000000"/>
                </a:solidFill>
                <a:latin typeface="Arial" pitchFamily="34" charset="0"/>
                <a:ea typeface="Arial" pitchFamily="34" charset="-122"/>
                <a:cs typeface="Arial" pitchFamily="34" charset="-120"/>
              </a:rPr>
              <a:t>Task 4: Apply the IPsec Policy</a:t>
            </a:r>
          </a:p>
          <a:p>
            <a:pPr>
              <a:lnSpc>
                <a:spcPts val="2000"/>
              </a:lnSpc>
            </a:pPr>
            <a:r>
              <a:rPr lang="en-US" sz="1600" dirty="0">
                <a:solidFill>
                  <a:srgbClr val="000000"/>
                </a:solidFill>
                <a:latin typeface="Arial" pitchFamily="34" charset="0"/>
                <a:ea typeface="Arial" pitchFamily="34" charset="-122"/>
                <a:cs typeface="Arial" pitchFamily="34" charset="-120"/>
              </a:rPr>
              <a:t>Task 5: Verify that the IPsec Tunnel is Operational</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dirty="0"/>
          </a:p>
        </p:txBody>
      </p:sp>
    </p:spTree>
    <p:extLst>
      <p:ext uri="{BB962C8B-B14F-4D97-AF65-F5344CB8AC3E}">
        <p14:creationId xmlns:p14="http://schemas.microsoft.com/office/powerpoint/2010/main" val="20959329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Handling Broadcast and Multicast Traffic</a:t>
            </a:r>
          </a:p>
        </p:txBody>
      </p:sp>
      <p:sp>
        <p:nvSpPr>
          <p:cNvPr id="5" name="Object4"/>
          <p:cNvSpPr/>
          <p:nvPr/>
        </p:nvSpPr>
        <p:spPr>
          <a:xfrm>
            <a:off x="-1" y="914400"/>
            <a:ext cx="3567953"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XYZCORP topology uses static routing, so there is no multicast or broadcast traffic that needs to be routed through the tunnel. But what if XYZCORP decided to implement EIGRP or OSPF? To enable routing protocol traffic, the peers in a site-to-site IPsec VPN implementation would need to be configured with a Generic Routing Encapsulation (GRE) tunnel for the multicast traffic. </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pic>
        <p:nvPicPr>
          <p:cNvPr id="6" name="Picture 5">
            <a:extLst>
              <a:ext uri="{FF2B5EF4-FFF2-40B4-BE49-F238E27FC236}">
                <a16:creationId xmlns:a16="http://schemas.microsoft.com/office/drawing/2014/main" id="{9F78C059-4F77-4FD6-BE0F-A2C258B819CA}"/>
              </a:ext>
            </a:extLst>
          </p:cNvPr>
          <p:cNvPicPr>
            <a:picLocks noChangeAspect="1"/>
          </p:cNvPicPr>
          <p:nvPr/>
        </p:nvPicPr>
        <p:blipFill>
          <a:blip r:embed="rId3"/>
          <a:stretch>
            <a:fillRect/>
          </a:stretch>
        </p:blipFill>
        <p:spPr>
          <a:xfrm>
            <a:off x="3756212" y="875611"/>
            <a:ext cx="4930588" cy="367732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40</a:t>
            </a:fld>
            <a:endParaRPr lang="en-US" dirty="0"/>
          </a:p>
        </p:txBody>
      </p:sp>
    </p:spTree>
    <p:extLst>
      <p:ext uri="{BB962C8B-B14F-4D97-AF65-F5344CB8AC3E}">
        <p14:creationId xmlns:p14="http://schemas.microsoft.com/office/powerpoint/2010/main" val="27658968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19.2 ISAKMP Policy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41</a:t>
            </a:fld>
            <a:endParaRPr lang="en-US" dirty="0"/>
          </a:p>
        </p:txBody>
      </p:sp>
    </p:spTree>
    <p:extLst>
      <p:ext uri="{BB962C8B-B14F-4D97-AF65-F5344CB8AC3E}">
        <p14:creationId xmlns:p14="http://schemas.microsoft.com/office/powerpoint/2010/main" val="6504314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ISAKMP Policy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Default ISAKMP Policies</a:t>
            </a:r>
          </a:p>
        </p:txBody>
      </p:sp>
      <p:sp>
        <p:nvSpPr>
          <p:cNvPr id="5" name="Object4"/>
          <p:cNvSpPr/>
          <p:nvPr/>
        </p:nvSpPr>
        <p:spPr>
          <a:xfrm>
            <a:off x="-1" y="708660"/>
            <a:ext cx="8905875" cy="211074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Cisco IOS comes with default ISAKMP policies already in place. To view the default policies, enter the </a:t>
            </a:r>
            <a:r>
              <a:rPr lang="en-US" sz="1600" b="1" dirty="0">
                <a:solidFill>
                  <a:srgbClr val="000000"/>
                </a:solidFill>
                <a:latin typeface="Arial" pitchFamily="34" charset="0"/>
                <a:ea typeface="Arial" pitchFamily="34" charset="-122"/>
                <a:cs typeface="Arial" pitchFamily="34" charset="-120"/>
              </a:rPr>
              <a:t>show crypto </a:t>
            </a:r>
            <a:r>
              <a:rPr lang="en-US" sz="1600" b="1" dirty="0" err="1">
                <a:solidFill>
                  <a:srgbClr val="000000"/>
                </a:solidFill>
                <a:latin typeface="Arial" pitchFamily="34" charset="0"/>
                <a:ea typeface="Arial" pitchFamily="34" charset="-122"/>
                <a:cs typeface="Arial" pitchFamily="34" charset="-120"/>
              </a:rPr>
              <a:t>isakmp</a:t>
            </a:r>
            <a:r>
              <a:rPr lang="en-US" sz="1600" b="1" dirty="0">
                <a:solidFill>
                  <a:srgbClr val="000000"/>
                </a:solidFill>
                <a:latin typeface="Arial" pitchFamily="34" charset="0"/>
                <a:ea typeface="Arial" pitchFamily="34" charset="-122"/>
                <a:cs typeface="Arial" pitchFamily="34" charset="-120"/>
              </a:rPr>
              <a:t> default policy</a:t>
            </a:r>
            <a:r>
              <a:rPr lang="en-US" sz="1600" dirty="0">
                <a:solidFill>
                  <a:srgbClr val="000000"/>
                </a:solidFill>
                <a:latin typeface="Arial" pitchFamily="34" charset="0"/>
                <a:ea typeface="Arial" pitchFamily="34" charset="-122"/>
                <a:cs typeface="Arial" pitchFamily="34" charset="-120"/>
              </a:rPr>
              <a:t> command.</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R1 has seven default ISAKMP policies ranging from the most secure (policy 65507) to the least secure (policy 65514). If no other policy has been defined by the administrator, R1 will attempt to use the most secure default policy. If R2 has a matching policy, then R1 and R2 can successfully negotiate the IKE Phase 1 ISAKMP tunnel without any configuration by the administrator. </a:t>
            </a:r>
            <a:endParaRPr lang="en-US" sz="1600" dirty="0"/>
          </a:p>
        </p:txBody>
      </p:sp>
      <p:pic>
        <p:nvPicPr>
          <p:cNvPr id="4" name="Picture 3">
            <a:extLst>
              <a:ext uri="{FF2B5EF4-FFF2-40B4-BE49-F238E27FC236}">
                <a16:creationId xmlns:a16="http://schemas.microsoft.com/office/drawing/2014/main" id="{027C4255-4BE3-49E7-9A54-A437D22ADFB2}"/>
              </a:ext>
            </a:extLst>
          </p:cNvPr>
          <p:cNvPicPr>
            <a:picLocks noChangeAspect="1"/>
          </p:cNvPicPr>
          <p:nvPr/>
        </p:nvPicPr>
        <p:blipFill>
          <a:blip r:embed="rId3"/>
          <a:stretch>
            <a:fillRect/>
          </a:stretch>
        </p:blipFill>
        <p:spPr>
          <a:xfrm>
            <a:off x="957140" y="2819400"/>
            <a:ext cx="6991592" cy="138117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42</a:t>
            </a:fld>
            <a:endParaRPr lang="en-US"/>
          </a:p>
        </p:txBody>
      </p:sp>
    </p:spTree>
    <p:extLst>
      <p:ext uri="{BB962C8B-B14F-4D97-AF65-F5344CB8AC3E}">
        <p14:creationId xmlns:p14="http://schemas.microsoft.com/office/powerpoint/2010/main" val="2861466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ISAKMP Policy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The Default ISAKMP Policies (Cont.)</a:t>
            </a:r>
          </a:p>
        </p:txBody>
      </p:sp>
      <p:sp>
        <p:nvSpPr>
          <p:cNvPr id="8" name="TextBox 7">
            <a:extLst>
              <a:ext uri="{FF2B5EF4-FFF2-40B4-BE49-F238E27FC236}">
                <a16:creationId xmlns:a16="http://schemas.microsoft.com/office/drawing/2014/main" id="{BD94F64D-451D-42F5-9979-FC1813BE7604}"/>
              </a:ext>
            </a:extLst>
          </p:cNvPr>
          <p:cNvSpPr txBox="1"/>
          <p:nvPr/>
        </p:nvSpPr>
        <p:spPr>
          <a:xfrm>
            <a:off x="0" y="755630"/>
            <a:ext cx="9020175" cy="523220"/>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In this example, none of the default policies match the security policy for XYZCORP. A new ISAKMP policy will have to be configured.</a:t>
            </a:r>
          </a:p>
        </p:txBody>
      </p:sp>
      <p:pic>
        <p:nvPicPr>
          <p:cNvPr id="7" name="Picture 6">
            <a:extLst>
              <a:ext uri="{FF2B5EF4-FFF2-40B4-BE49-F238E27FC236}">
                <a16:creationId xmlns:a16="http://schemas.microsoft.com/office/drawing/2014/main" id="{B4B54CC7-1CAD-45CB-B7DE-7A5742073F83}"/>
              </a:ext>
            </a:extLst>
          </p:cNvPr>
          <p:cNvPicPr>
            <a:picLocks noChangeAspect="1"/>
          </p:cNvPicPr>
          <p:nvPr/>
        </p:nvPicPr>
        <p:blipFill>
          <a:blip r:embed="rId3"/>
          <a:stretch>
            <a:fillRect/>
          </a:stretch>
        </p:blipFill>
        <p:spPr>
          <a:xfrm>
            <a:off x="374090" y="1278850"/>
            <a:ext cx="3920006" cy="3760238"/>
          </a:xfrm>
          <a:prstGeom prst="rect">
            <a:avLst/>
          </a:prstGeom>
        </p:spPr>
      </p:pic>
      <p:pic>
        <p:nvPicPr>
          <p:cNvPr id="9" name="Picture 8">
            <a:extLst>
              <a:ext uri="{FF2B5EF4-FFF2-40B4-BE49-F238E27FC236}">
                <a16:creationId xmlns:a16="http://schemas.microsoft.com/office/drawing/2014/main" id="{9013D688-EA11-4934-979C-85883A7000CA}"/>
              </a:ext>
            </a:extLst>
          </p:cNvPr>
          <p:cNvPicPr>
            <a:picLocks noChangeAspect="1"/>
          </p:cNvPicPr>
          <p:nvPr/>
        </p:nvPicPr>
        <p:blipFill>
          <a:blip r:embed="rId4"/>
          <a:stretch>
            <a:fillRect/>
          </a:stretch>
        </p:blipFill>
        <p:spPr>
          <a:xfrm>
            <a:off x="4601161" y="1278850"/>
            <a:ext cx="4038950" cy="274343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43</a:t>
            </a:fld>
            <a:endParaRPr lang="en-US"/>
          </a:p>
        </p:txBody>
      </p:sp>
      <p:sp>
        <p:nvSpPr>
          <p:cNvPr id="4" name="BlokTextu 3">
            <a:extLst>
              <a:ext uri="{FF2B5EF4-FFF2-40B4-BE49-F238E27FC236}">
                <a16:creationId xmlns:a16="http://schemas.microsoft.com/office/drawing/2014/main" id="{D2C4D820-F6D5-E928-D566-F328FC2A08DB}"/>
              </a:ext>
            </a:extLst>
          </p:cNvPr>
          <p:cNvSpPr txBox="1"/>
          <p:nvPr/>
        </p:nvSpPr>
        <p:spPr>
          <a:xfrm>
            <a:off x="4849906" y="4143285"/>
            <a:ext cx="1945533" cy="1107996"/>
          </a:xfrm>
          <a:prstGeom prst="rect">
            <a:avLst/>
          </a:prstGeom>
          <a:noFill/>
        </p:spPr>
        <p:txBody>
          <a:bodyPr wrap="none" rtlCol="0">
            <a:spAutoFit/>
          </a:bodyPr>
          <a:lstStyle/>
          <a:p>
            <a:r>
              <a:rPr lang="sk-SK" sz="1600" dirty="0"/>
              <a:t>AES </a:t>
            </a:r>
            <a:r>
              <a:rPr lang="sk-SK" sz="1600" dirty="0" err="1"/>
              <a:t>vs</a:t>
            </a:r>
            <a:r>
              <a:rPr lang="sk-SK" sz="1600" dirty="0"/>
              <a:t> 3DES</a:t>
            </a:r>
          </a:p>
          <a:p>
            <a:r>
              <a:rPr lang="sk-SK" sz="1600" dirty="0"/>
              <a:t>SHA </a:t>
            </a:r>
            <a:r>
              <a:rPr lang="sk-SK" sz="1600" dirty="0" err="1"/>
              <a:t>vs</a:t>
            </a:r>
            <a:r>
              <a:rPr lang="sk-SK" sz="1600" dirty="0"/>
              <a:t> MD5</a:t>
            </a:r>
          </a:p>
          <a:p>
            <a:r>
              <a:rPr lang="sk-SK" sz="1600" dirty="0"/>
              <a:t>RSA </a:t>
            </a:r>
            <a:r>
              <a:rPr lang="sk-SK" sz="1600" dirty="0" err="1"/>
              <a:t>sig</a:t>
            </a:r>
            <a:r>
              <a:rPr lang="sk-SK" sz="1600" dirty="0"/>
              <a:t> </a:t>
            </a:r>
            <a:r>
              <a:rPr lang="sk-SK" sz="1600" dirty="0" err="1"/>
              <a:t>vs</a:t>
            </a:r>
            <a:r>
              <a:rPr lang="sk-SK" sz="1600" dirty="0"/>
              <a:t> Pre-</a:t>
            </a:r>
            <a:r>
              <a:rPr lang="sk-SK" sz="1600" dirty="0" err="1"/>
              <a:t>shared</a:t>
            </a:r>
            <a:endParaRPr lang="sk-SK" sz="1600" dirty="0"/>
          </a:p>
          <a:p>
            <a:r>
              <a:rPr lang="sk-SK" sz="1600" dirty="0" err="1"/>
              <a:t>Dh</a:t>
            </a:r>
            <a:r>
              <a:rPr lang="sk-SK" sz="1600" dirty="0"/>
              <a:t> 5 </a:t>
            </a:r>
            <a:r>
              <a:rPr lang="sk-SK" sz="1600" dirty="0" err="1"/>
              <a:t>vs</a:t>
            </a:r>
            <a:r>
              <a:rPr lang="sk-SK" sz="1600" dirty="0"/>
              <a:t> DH 2</a:t>
            </a:r>
          </a:p>
        </p:txBody>
      </p:sp>
    </p:spTree>
    <p:extLst>
      <p:ext uri="{BB962C8B-B14F-4D97-AF65-F5344CB8AC3E}">
        <p14:creationId xmlns:p14="http://schemas.microsoft.com/office/powerpoint/2010/main" val="26201512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ISAKMP Policy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Syntax to Configure a New ISAKMP Policy</a:t>
            </a:r>
          </a:p>
        </p:txBody>
      </p:sp>
      <p:sp>
        <p:nvSpPr>
          <p:cNvPr id="5" name="Object4"/>
          <p:cNvSpPr/>
          <p:nvPr/>
        </p:nvSpPr>
        <p:spPr>
          <a:xfrm>
            <a:off x="0" y="708660"/>
            <a:ext cx="4133850"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To configure a new ISAKMP policy, use the </a:t>
            </a:r>
            <a:r>
              <a:rPr lang="en-US" sz="1400" b="1">
                <a:solidFill>
                  <a:srgbClr val="000000"/>
                </a:solidFill>
                <a:latin typeface="Arial" pitchFamily="34" charset="0"/>
                <a:ea typeface="Arial" pitchFamily="34" charset="-122"/>
                <a:cs typeface="Arial" pitchFamily="34" charset="-120"/>
              </a:rPr>
              <a:t>crypto isakmp policy </a:t>
            </a:r>
            <a:r>
              <a:rPr lang="en-US" sz="1400">
                <a:solidFill>
                  <a:srgbClr val="000000"/>
                </a:solidFill>
                <a:latin typeface="Arial" pitchFamily="34" charset="0"/>
                <a:ea typeface="Arial" pitchFamily="34" charset="-122"/>
                <a:cs typeface="Arial" pitchFamily="34" charset="-120"/>
              </a:rPr>
              <a:t>command. The only argument for the command is to set a priority for the policy (from 1 to 10000). Peers will attempt to negotiate using the policy with the lowest number (highest priority). </a:t>
            </a:r>
          </a:p>
          <a:p>
            <a:pPr>
              <a:lnSpc>
                <a:spcPts val="2000"/>
              </a:lnSpc>
            </a:pPr>
            <a:r>
              <a:rPr lang="en-US" sz="1400">
                <a:solidFill>
                  <a:srgbClr val="000000"/>
                </a:solidFill>
                <a:latin typeface="Arial" pitchFamily="34" charset="0"/>
                <a:ea typeface="Arial" pitchFamily="34" charset="-122"/>
                <a:cs typeface="Arial" pitchFamily="34" charset="-120"/>
              </a:rPr>
              <a:t>When in ISAKMP policy configuration mode, the SAs for the IKE Phase 1 tunnel can be configured. Use the mnemonic </a:t>
            </a:r>
            <a:r>
              <a:rPr lang="en-US" sz="1400" b="1">
                <a:solidFill>
                  <a:srgbClr val="000000"/>
                </a:solidFill>
                <a:latin typeface="Arial" pitchFamily="34" charset="0"/>
                <a:ea typeface="Arial" pitchFamily="34" charset="-122"/>
                <a:cs typeface="Arial" pitchFamily="34" charset="-120"/>
              </a:rPr>
              <a:t>HAGLE</a:t>
            </a:r>
            <a:r>
              <a:rPr lang="en-US" sz="1400">
                <a:solidFill>
                  <a:srgbClr val="000000"/>
                </a:solidFill>
                <a:latin typeface="Arial" pitchFamily="34" charset="0"/>
                <a:ea typeface="Arial" pitchFamily="34" charset="-122"/>
                <a:cs typeface="Arial" pitchFamily="34" charset="-120"/>
              </a:rPr>
              <a:t> to remember the five SAs to configure:</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H</a:t>
            </a:r>
            <a:r>
              <a:rPr lang="en-US" sz="1400">
                <a:solidFill>
                  <a:srgbClr val="000000"/>
                </a:solidFill>
                <a:latin typeface="Arial" pitchFamily="34" charset="0"/>
                <a:ea typeface="Arial" pitchFamily="34" charset="-122"/>
                <a:cs typeface="Arial" pitchFamily="34" charset="-120"/>
              </a:rPr>
              <a:t>ash</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A</a:t>
            </a:r>
            <a:r>
              <a:rPr lang="en-US" sz="1400">
                <a:solidFill>
                  <a:srgbClr val="000000"/>
                </a:solidFill>
                <a:latin typeface="Arial" pitchFamily="34" charset="0"/>
                <a:ea typeface="Arial" pitchFamily="34" charset="-122"/>
                <a:cs typeface="Arial" pitchFamily="34" charset="-120"/>
              </a:rPr>
              <a:t>uthentication</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G</a:t>
            </a:r>
            <a:r>
              <a:rPr lang="en-US" sz="1400">
                <a:solidFill>
                  <a:srgbClr val="000000"/>
                </a:solidFill>
                <a:latin typeface="Arial" pitchFamily="34" charset="0"/>
                <a:ea typeface="Arial" pitchFamily="34" charset="-122"/>
                <a:cs typeface="Arial" pitchFamily="34" charset="-120"/>
              </a:rPr>
              <a:t>roup</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L</a:t>
            </a:r>
            <a:r>
              <a:rPr lang="en-US" sz="1400">
                <a:solidFill>
                  <a:srgbClr val="000000"/>
                </a:solidFill>
                <a:latin typeface="Arial" pitchFamily="34" charset="0"/>
                <a:ea typeface="Arial" pitchFamily="34" charset="-122"/>
                <a:cs typeface="Arial" pitchFamily="34" charset="-120"/>
              </a:rPr>
              <a:t>ifetime</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E</a:t>
            </a:r>
            <a:r>
              <a:rPr lang="en-US" sz="1400">
                <a:solidFill>
                  <a:srgbClr val="000000"/>
                </a:solidFill>
                <a:latin typeface="Arial" pitchFamily="34" charset="0"/>
                <a:ea typeface="Arial" pitchFamily="34" charset="-122"/>
                <a:cs typeface="Arial" pitchFamily="34" charset="-120"/>
              </a:rPr>
              <a:t>ncryption</a:t>
            </a:r>
            <a:endParaRPr lang="en-US" sz="1400"/>
          </a:p>
        </p:txBody>
      </p:sp>
      <p:pic>
        <p:nvPicPr>
          <p:cNvPr id="4" name="Picture 3">
            <a:extLst>
              <a:ext uri="{FF2B5EF4-FFF2-40B4-BE49-F238E27FC236}">
                <a16:creationId xmlns:a16="http://schemas.microsoft.com/office/drawing/2014/main" id="{DA2F3744-303D-484C-8F5F-EC29DAA269D8}"/>
              </a:ext>
            </a:extLst>
          </p:cNvPr>
          <p:cNvPicPr>
            <a:picLocks noChangeAspect="1"/>
          </p:cNvPicPr>
          <p:nvPr/>
        </p:nvPicPr>
        <p:blipFill>
          <a:blip r:embed="rId3"/>
          <a:stretch>
            <a:fillRect/>
          </a:stretch>
        </p:blipFill>
        <p:spPr>
          <a:xfrm>
            <a:off x="4505325" y="1019070"/>
            <a:ext cx="4410075" cy="261976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44</a:t>
            </a:fld>
            <a:endParaRPr lang="en-US"/>
          </a:p>
        </p:txBody>
      </p:sp>
    </p:spTree>
    <p:extLst>
      <p:ext uri="{BB962C8B-B14F-4D97-AF65-F5344CB8AC3E}">
        <p14:creationId xmlns:p14="http://schemas.microsoft.com/office/powerpoint/2010/main" val="14679455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ISAKMP Policy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ISAKMP Policy Configuration</a:t>
            </a:r>
          </a:p>
        </p:txBody>
      </p:sp>
      <p:sp>
        <p:nvSpPr>
          <p:cNvPr id="8" name="TextBox 7">
            <a:extLst>
              <a:ext uri="{FF2B5EF4-FFF2-40B4-BE49-F238E27FC236}">
                <a16:creationId xmlns:a16="http://schemas.microsoft.com/office/drawing/2014/main" id="{55D82136-9081-4862-9C42-F14FA300A4D3}"/>
              </a:ext>
            </a:extLst>
          </p:cNvPr>
          <p:cNvSpPr txBox="1"/>
          <p:nvPr/>
        </p:nvSpPr>
        <p:spPr>
          <a:xfrm>
            <a:off x="181537" y="2189268"/>
            <a:ext cx="3528972" cy="1815882"/>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To meet the security policy requirements for XYZCORP, configure the ISAKMP policy with the following SAs:</a:t>
            </a:r>
          </a:p>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Hash is SHA</a:t>
            </a:r>
          </a:p>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Authentication is pre-shared key</a:t>
            </a:r>
          </a:p>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Group is 14</a:t>
            </a:r>
          </a:p>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Lifetime is 3600 seconds</a:t>
            </a:r>
          </a:p>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Encryption is AES</a:t>
            </a:r>
          </a:p>
        </p:txBody>
      </p:sp>
      <p:pic>
        <p:nvPicPr>
          <p:cNvPr id="4" name="Picture 3">
            <a:extLst>
              <a:ext uri="{FF2B5EF4-FFF2-40B4-BE49-F238E27FC236}">
                <a16:creationId xmlns:a16="http://schemas.microsoft.com/office/drawing/2014/main" id="{6FE84ACC-73C1-497C-AC0F-BD11B302A7F9}"/>
              </a:ext>
            </a:extLst>
          </p:cNvPr>
          <p:cNvPicPr>
            <a:picLocks noChangeAspect="1"/>
          </p:cNvPicPr>
          <p:nvPr/>
        </p:nvPicPr>
        <p:blipFill>
          <a:blip r:embed="rId3"/>
          <a:stretch>
            <a:fillRect/>
          </a:stretch>
        </p:blipFill>
        <p:spPr>
          <a:xfrm>
            <a:off x="1487115" y="756238"/>
            <a:ext cx="5585944" cy="1074513"/>
          </a:xfrm>
          <a:prstGeom prst="rect">
            <a:avLst/>
          </a:prstGeom>
        </p:spPr>
      </p:pic>
      <p:pic>
        <p:nvPicPr>
          <p:cNvPr id="6" name="Picture 5">
            <a:extLst>
              <a:ext uri="{FF2B5EF4-FFF2-40B4-BE49-F238E27FC236}">
                <a16:creationId xmlns:a16="http://schemas.microsoft.com/office/drawing/2014/main" id="{AE167C74-F968-4993-8926-3443C60A7286}"/>
              </a:ext>
            </a:extLst>
          </p:cNvPr>
          <p:cNvPicPr>
            <a:picLocks noChangeAspect="1"/>
          </p:cNvPicPr>
          <p:nvPr/>
        </p:nvPicPr>
        <p:blipFill>
          <a:blip r:embed="rId4"/>
          <a:stretch>
            <a:fillRect/>
          </a:stretch>
        </p:blipFill>
        <p:spPr>
          <a:xfrm>
            <a:off x="3710509" y="2182918"/>
            <a:ext cx="4976291" cy="244623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45</a:t>
            </a:fld>
            <a:endParaRPr lang="en-US"/>
          </a:p>
        </p:txBody>
      </p:sp>
    </p:spTree>
    <p:extLst>
      <p:ext uri="{BB962C8B-B14F-4D97-AF65-F5344CB8AC3E}">
        <p14:creationId xmlns:p14="http://schemas.microsoft.com/office/powerpoint/2010/main" val="2588344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ISAKMP Policy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Configuring a Pre-Shared Key</a:t>
            </a:r>
          </a:p>
        </p:txBody>
      </p:sp>
      <p:sp>
        <p:nvSpPr>
          <p:cNvPr id="7" name="TextBox 6">
            <a:extLst>
              <a:ext uri="{FF2B5EF4-FFF2-40B4-BE49-F238E27FC236}">
                <a16:creationId xmlns:a16="http://schemas.microsoft.com/office/drawing/2014/main" id="{5E4EE5B9-0355-4B1B-8AE5-92CD66FB7DE8}"/>
              </a:ext>
            </a:extLst>
          </p:cNvPr>
          <p:cNvSpPr txBox="1"/>
          <p:nvPr/>
        </p:nvSpPr>
        <p:spPr>
          <a:xfrm>
            <a:off x="109820" y="761484"/>
            <a:ext cx="8339624" cy="338554"/>
          </a:xfrm>
          <a:prstGeom prst="rect">
            <a:avLst/>
          </a:prstGeom>
          <a:noFill/>
        </p:spPr>
        <p:txBody>
          <a:bodyPr wrap="square">
            <a:spAutoFit/>
          </a:bodyPr>
          <a:lstStyle/>
          <a:p>
            <a:r>
              <a:rPr lang="en-US" sz="1600">
                <a:latin typeface="Arial" panose="020B0604020202020204" pitchFamily="34" charset="0"/>
                <a:cs typeface="Arial" panose="020B0604020202020204" pitchFamily="34" charset="0"/>
              </a:rPr>
              <a:t>The pre-shared key command syntax is as follows:</a:t>
            </a:r>
          </a:p>
        </p:txBody>
      </p:sp>
      <p:pic>
        <p:nvPicPr>
          <p:cNvPr id="8" name="Picture 7">
            <a:extLst>
              <a:ext uri="{FF2B5EF4-FFF2-40B4-BE49-F238E27FC236}">
                <a16:creationId xmlns:a16="http://schemas.microsoft.com/office/drawing/2014/main" id="{50C0F4B2-0D35-4A25-8798-0340762F1D53}"/>
              </a:ext>
            </a:extLst>
          </p:cNvPr>
          <p:cNvPicPr>
            <a:picLocks noChangeAspect="1"/>
          </p:cNvPicPr>
          <p:nvPr/>
        </p:nvPicPr>
        <p:blipFill>
          <a:blip r:embed="rId3"/>
          <a:stretch>
            <a:fillRect/>
          </a:stretch>
        </p:blipFill>
        <p:spPr>
          <a:xfrm>
            <a:off x="1448967" y="1269463"/>
            <a:ext cx="5493032" cy="406421"/>
          </a:xfrm>
          <a:prstGeom prst="rect">
            <a:avLst/>
          </a:prstGeom>
        </p:spPr>
      </p:pic>
      <p:sp>
        <p:nvSpPr>
          <p:cNvPr id="10" name="TextBox 9">
            <a:extLst>
              <a:ext uri="{FF2B5EF4-FFF2-40B4-BE49-F238E27FC236}">
                <a16:creationId xmlns:a16="http://schemas.microsoft.com/office/drawing/2014/main" id="{6CD252EA-30EA-44C1-96DB-0E7FC67BA1CB}"/>
              </a:ext>
            </a:extLst>
          </p:cNvPr>
          <p:cNvSpPr txBox="1"/>
          <p:nvPr/>
        </p:nvSpPr>
        <p:spPr>
          <a:xfrm>
            <a:off x="109820" y="2077334"/>
            <a:ext cx="8339624" cy="338554"/>
          </a:xfrm>
          <a:prstGeom prst="rect">
            <a:avLst/>
          </a:prstGeom>
          <a:noFill/>
        </p:spPr>
        <p:txBody>
          <a:bodyPr wrap="square">
            <a:spAutoFit/>
          </a:bodyPr>
          <a:lstStyle/>
          <a:p>
            <a:r>
              <a:rPr lang="en-US" sz="1600">
                <a:latin typeface="Arial" panose="020B0604020202020204" pitchFamily="34" charset="0"/>
                <a:cs typeface="Arial" panose="020B0604020202020204" pitchFamily="34" charset="0"/>
              </a:rPr>
              <a:t>XYZCORP uses the key phrase </a:t>
            </a:r>
            <a:r>
              <a:rPr lang="en-US" sz="1600" b="1">
                <a:latin typeface="Arial" panose="020B0604020202020204" pitchFamily="34" charset="0"/>
                <a:cs typeface="Arial" panose="020B0604020202020204" pitchFamily="34" charset="0"/>
              </a:rPr>
              <a:t>cisco12345</a:t>
            </a:r>
            <a:r>
              <a:rPr lang="en-US" sz="1600">
                <a:latin typeface="Arial" panose="020B0604020202020204" pitchFamily="34" charset="0"/>
                <a:cs typeface="Arial" panose="020B0604020202020204" pitchFamily="34" charset="0"/>
              </a:rPr>
              <a:t> and the IP address of the peer</a:t>
            </a:r>
            <a:r>
              <a:rPr lang="en-US" sz="1400">
                <a:latin typeface="Arial" panose="020B0604020202020204" pitchFamily="34" charset="0"/>
                <a:cs typeface="Arial" panose="020B0604020202020204" pitchFamily="34" charset="0"/>
              </a:rPr>
              <a:t>:</a:t>
            </a:r>
          </a:p>
        </p:txBody>
      </p:sp>
      <p:pic>
        <p:nvPicPr>
          <p:cNvPr id="11" name="Picture 10">
            <a:extLst>
              <a:ext uri="{FF2B5EF4-FFF2-40B4-BE49-F238E27FC236}">
                <a16:creationId xmlns:a16="http://schemas.microsoft.com/office/drawing/2014/main" id="{F0D16CC7-5DF3-4311-883A-2089F6A2F916}"/>
              </a:ext>
            </a:extLst>
          </p:cNvPr>
          <p:cNvPicPr>
            <a:picLocks noChangeAspect="1"/>
          </p:cNvPicPr>
          <p:nvPr/>
        </p:nvPicPr>
        <p:blipFill>
          <a:blip r:embed="rId4"/>
          <a:stretch>
            <a:fillRect/>
          </a:stretch>
        </p:blipFill>
        <p:spPr>
          <a:xfrm>
            <a:off x="1448967" y="2758390"/>
            <a:ext cx="5486682" cy="149867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46</a:t>
            </a:fld>
            <a:endParaRPr lang="en-US"/>
          </a:p>
        </p:txBody>
      </p:sp>
    </p:spTree>
    <p:extLst>
      <p:ext uri="{BB962C8B-B14F-4D97-AF65-F5344CB8AC3E}">
        <p14:creationId xmlns:p14="http://schemas.microsoft.com/office/powerpoint/2010/main" val="18907632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19.3 IPsec Policy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47</a:t>
            </a:fld>
            <a:endParaRPr lang="en-US"/>
          </a:p>
        </p:txBody>
      </p:sp>
    </p:spTree>
    <p:extLst>
      <p:ext uri="{BB962C8B-B14F-4D97-AF65-F5344CB8AC3E}">
        <p14:creationId xmlns:p14="http://schemas.microsoft.com/office/powerpoint/2010/main" val="115384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Policy</a:t>
            </a:r>
          </a:p>
        </p:txBody>
      </p:sp>
      <p:sp>
        <p:nvSpPr>
          <p:cNvPr id="3" name="Object2"/>
          <p:cNvSpPr>
            <a:spLocks noGrp="1"/>
          </p:cNvSpPr>
          <p:nvPr>
            <p:ph type="body" idx="100" hasCustomPrompt="1"/>
          </p:nvPr>
        </p:nvSpPr>
        <p:spPr>
          <a:xfrm>
            <a:off x="0" y="274320"/>
            <a:ext cx="9144000" cy="440055"/>
          </a:xfrm>
          <a:prstGeom prst="rect">
            <a:avLst/>
          </a:prstGeom>
          <a:noFill/>
          <a:ln/>
        </p:spPr>
        <p:txBody>
          <a:bodyPr wrap="square" rtlCol="0"/>
          <a:lstStyle/>
          <a:p>
            <a:pPr marL="0" indent="0">
              <a:buNone/>
            </a:pPr>
            <a:r>
              <a:rPr lang="en-US"/>
              <a:t>Define Interesting Traffic</a:t>
            </a:r>
          </a:p>
        </p:txBody>
      </p:sp>
      <p:sp>
        <p:nvSpPr>
          <p:cNvPr id="5" name="Object4"/>
          <p:cNvSpPr/>
          <p:nvPr/>
        </p:nvSpPr>
        <p:spPr>
          <a:xfrm>
            <a:off x="19750" y="978274"/>
            <a:ext cx="3495675" cy="1590675"/>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Although the ISAKMP policy for the IKE Phase 1 tunnel is configured, the tunnel does not yet exist. This is verified with the </a:t>
            </a:r>
            <a:r>
              <a:rPr lang="en-US" sz="1400" b="1">
                <a:solidFill>
                  <a:srgbClr val="000000"/>
                </a:solidFill>
                <a:latin typeface="Arial" pitchFamily="34" charset="0"/>
                <a:ea typeface="Arial" pitchFamily="34" charset="-122"/>
                <a:cs typeface="Arial" pitchFamily="34" charset="-120"/>
              </a:rPr>
              <a:t>show crypto isakmp sa </a:t>
            </a:r>
            <a:r>
              <a:rPr lang="en-US" sz="1400">
                <a:solidFill>
                  <a:srgbClr val="000000"/>
                </a:solidFill>
                <a:latin typeface="Arial" pitchFamily="34" charset="0"/>
                <a:ea typeface="Arial" pitchFamily="34" charset="-122"/>
                <a:cs typeface="Arial" pitchFamily="34" charset="-120"/>
              </a:rPr>
              <a:t>command. </a:t>
            </a:r>
          </a:p>
        </p:txBody>
      </p:sp>
      <p:sp>
        <p:nvSpPr>
          <p:cNvPr id="11" name="Object4">
            <a:extLst>
              <a:ext uri="{FF2B5EF4-FFF2-40B4-BE49-F238E27FC236}">
                <a16:creationId xmlns:a16="http://schemas.microsoft.com/office/drawing/2014/main" id="{6EB05201-90BB-4BDC-8C74-82FFB6F2FC73}"/>
              </a:ext>
            </a:extLst>
          </p:cNvPr>
          <p:cNvSpPr/>
          <p:nvPr/>
        </p:nvSpPr>
        <p:spPr>
          <a:xfrm>
            <a:off x="19750" y="2025015"/>
            <a:ext cx="8162205" cy="1590675"/>
          </a:xfrm>
          <a:prstGeom prst="rect">
            <a:avLst/>
          </a:prstGeom>
          <a:noFill/>
          <a:ln/>
        </p:spPr>
        <p:txBody>
          <a:bodyPr wrap="square" rtlCol="0" anchor="t"/>
          <a:lstStyle/>
          <a:p>
            <a:pPr>
              <a:lnSpc>
                <a:spcPts val="2000"/>
              </a:lnSpc>
            </a:pPr>
            <a:endParaRPr lang="en-US" sz="1400">
              <a:solidFill>
                <a:srgbClr val="000000"/>
              </a:solidFill>
              <a:latin typeface="Arial" pitchFamily="34" charset="0"/>
              <a:ea typeface="Arial" pitchFamily="34" charset="-122"/>
              <a:cs typeface="Arial" pitchFamily="34" charset="-120"/>
            </a:endParaRPr>
          </a:p>
          <a:p>
            <a:pPr>
              <a:lnSpc>
                <a:spcPts val="2000"/>
              </a:lnSpc>
            </a:pPr>
            <a:r>
              <a:rPr lang="en-US" sz="1400">
                <a:solidFill>
                  <a:srgbClr val="000000"/>
                </a:solidFill>
                <a:latin typeface="Arial" pitchFamily="34" charset="0"/>
                <a:ea typeface="Arial" pitchFamily="34" charset="-122"/>
                <a:cs typeface="Arial" pitchFamily="34" charset="-120"/>
              </a:rPr>
              <a:t>To define interesting traffic, configure each router with an ACL to permit traffic from the local LAN to the remote LAN. The ACL will be used in the crypto map configuration to specify what traffic will trigger the start of IKE Phase 1.</a:t>
            </a:r>
            <a:endParaRPr lang="en-US" sz="1400"/>
          </a:p>
        </p:txBody>
      </p:sp>
      <p:pic>
        <p:nvPicPr>
          <p:cNvPr id="7" name="Picture 6">
            <a:extLst>
              <a:ext uri="{FF2B5EF4-FFF2-40B4-BE49-F238E27FC236}">
                <a16:creationId xmlns:a16="http://schemas.microsoft.com/office/drawing/2014/main" id="{D9EE9216-7B98-4E16-9BB1-FD42631D95A7}"/>
              </a:ext>
            </a:extLst>
          </p:cNvPr>
          <p:cNvPicPr>
            <a:picLocks noChangeAspect="1"/>
          </p:cNvPicPr>
          <p:nvPr/>
        </p:nvPicPr>
        <p:blipFill>
          <a:blip r:embed="rId3"/>
          <a:stretch>
            <a:fillRect/>
          </a:stretch>
        </p:blipFill>
        <p:spPr>
          <a:xfrm>
            <a:off x="3804274" y="806284"/>
            <a:ext cx="4762745" cy="1390721"/>
          </a:xfrm>
          <a:prstGeom prst="rect">
            <a:avLst/>
          </a:prstGeom>
        </p:spPr>
      </p:pic>
      <p:pic>
        <p:nvPicPr>
          <p:cNvPr id="9" name="Picture 8">
            <a:extLst>
              <a:ext uri="{FF2B5EF4-FFF2-40B4-BE49-F238E27FC236}">
                <a16:creationId xmlns:a16="http://schemas.microsoft.com/office/drawing/2014/main" id="{5CADAA5D-0E28-433E-819B-7A9517465FD7}"/>
              </a:ext>
            </a:extLst>
          </p:cNvPr>
          <p:cNvPicPr>
            <a:picLocks noChangeAspect="1"/>
          </p:cNvPicPr>
          <p:nvPr/>
        </p:nvPicPr>
        <p:blipFill>
          <a:blip r:embed="rId4"/>
          <a:stretch>
            <a:fillRect/>
          </a:stretch>
        </p:blipFill>
        <p:spPr>
          <a:xfrm>
            <a:off x="1320633" y="3302037"/>
            <a:ext cx="6502734" cy="146057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48</a:t>
            </a:fld>
            <a:endParaRPr lang="en-US"/>
          </a:p>
        </p:txBody>
      </p:sp>
    </p:spTree>
    <p:extLst>
      <p:ext uri="{BB962C8B-B14F-4D97-AF65-F5344CB8AC3E}">
        <p14:creationId xmlns:p14="http://schemas.microsoft.com/office/powerpoint/2010/main" val="19155452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Policy</a:t>
            </a:r>
          </a:p>
        </p:txBody>
      </p:sp>
      <p:sp>
        <p:nvSpPr>
          <p:cNvPr id="3" name="Object2"/>
          <p:cNvSpPr>
            <a:spLocks noGrp="1"/>
          </p:cNvSpPr>
          <p:nvPr>
            <p:ph type="body" idx="100" hasCustomPrompt="1"/>
          </p:nvPr>
        </p:nvSpPr>
        <p:spPr>
          <a:xfrm>
            <a:off x="0" y="274320"/>
            <a:ext cx="9144000" cy="392430"/>
          </a:xfrm>
          <a:prstGeom prst="rect">
            <a:avLst/>
          </a:prstGeom>
          <a:noFill/>
          <a:ln/>
        </p:spPr>
        <p:txBody>
          <a:bodyPr wrap="square" rtlCol="0"/>
          <a:lstStyle/>
          <a:p>
            <a:pPr marL="0" indent="0">
              <a:buNone/>
            </a:pPr>
            <a:r>
              <a:rPr lang="en-US"/>
              <a:t>Configure IPsec Transform Set</a:t>
            </a:r>
          </a:p>
        </p:txBody>
      </p:sp>
      <p:sp>
        <p:nvSpPr>
          <p:cNvPr id="5" name="Object4"/>
          <p:cNvSpPr/>
          <p:nvPr/>
        </p:nvSpPr>
        <p:spPr>
          <a:xfrm>
            <a:off x="0" y="666750"/>
            <a:ext cx="4993341"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The next step is to configure the transform set, a set of encryption and hashing algorithms that will be used to transform the data sent through the IPsec tunnel. </a:t>
            </a:r>
          </a:p>
          <a:p>
            <a:pPr>
              <a:lnSpc>
                <a:spcPts val="2000"/>
              </a:lnSpc>
            </a:pPr>
            <a:endParaRPr lang="en-US" sz="1400">
              <a:solidFill>
                <a:srgbClr val="000000"/>
              </a:solidFill>
              <a:latin typeface="Arial" pitchFamily="34" charset="0"/>
              <a:ea typeface="Arial" pitchFamily="34" charset="-122"/>
              <a:cs typeface="Arial" pitchFamily="34" charset="-120"/>
            </a:endParaRPr>
          </a:p>
          <a:p>
            <a:pPr>
              <a:lnSpc>
                <a:spcPts val="2000"/>
              </a:lnSpc>
            </a:pPr>
            <a:r>
              <a:rPr lang="en-US" sz="1400">
                <a:solidFill>
                  <a:srgbClr val="000000"/>
                </a:solidFill>
                <a:latin typeface="Arial" pitchFamily="34" charset="0"/>
                <a:ea typeface="Arial" pitchFamily="34" charset="-122"/>
                <a:cs typeface="Arial" pitchFamily="34" charset="-120"/>
              </a:rPr>
              <a:t>Configure a transform set using the </a:t>
            </a:r>
            <a:r>
              <a:rPr lang="en-US" sz="1400" b="1">
                <a:solidFill>
                  <a:srgbClr val="000000"/>
                </a:solidFill>
                <a:latin typeface="Arial" pitchFamily="34" charset="0"/>
                <a:ea typeface="Arial" pitchFamily="34" charset="-122"/>
                <a:cs typeface="Arial" pitchFamily="34" charset="-120"/>
              </a:rPr>
              <a:t>crypto ipsec transform-set </a:t>
            </a:r>
            <a:r>
              <a:rPr lang="en-US" sz="1400">
                <a:solidFill>
                  <a:srgbClr val="000000"/>
                </a:solidFill>
                <a:latin typeface="Arial" pitchFamily="34" charset="0"/>
                <a:ea typeface="Arial" pitchFamily="34" charset="-122"/>
                <a:cs typeface="Arial" pitchFamily="34" charset="-120"/>
              </a:rPr>
              <a:t>command. First, specify a name for the transform set (R1-R2, in the example). The encryption and hashing algorithm can then be configured in either order.</a:t>
            </a:r>
            <a:endParaRPr lang="en-US" sz="1400"/>
          </a:p>
        </p:txBody>
      </p:sp>
      <p:pic>
        <p:nvPicPr>
          <p:cNvPr id="7" name="Picture 6">
            <a:extLst>
              <a:ext uri="{FF2B5EF4-FFF2-40B4-BE49-F238E27FC236}">
                <a16:creationId xmlns:a16="http://schemas.microsoft.com/office/drawing/2014/main" id="{1DFF6C19-E303-4EB5-A576-8E15E2F62060}"/>
              </a:ext>
            </a:extLst>
          </p:cNvPr>
          <p:cNvPicPr>
            <a:picLocks noChangeAspect="1"/>
          </p:cNvPicPr>
          <p:nvPr/>
        </p:nvPicPr>
        <p:blipFill>
          <a:blip r:embed="rId3"/>
          <a:stretch>
            <a:fillRect/>
          </a:stretch>
        </p:blipFill>
        <p:spPr>
          <a:xfrm>
            <a:off x="5168021" y="470535"/>
            <a:ext cx="3639015" cy="2708010"/>
          </a:xfrm>
          <a:prstGeom prst="rect">
            <a:avLst/>
          </a:prstGeom>
        </p:spPr>
      </p:pic>
      <p:pic>
        <p:nvPicPr>
          <p:cNvPr id="9" name="Picture 8">
            <a:extLst>
              <a:ext uri="{FF2B5EF4-FFF2-40B4-BE49-F238E27FC236}">
                <a16:creationId xmlns:a16="http://schemas.microsoft.com/office/drawing/2014/main" id="{96387570-41B3-4B55-A821-85A9CDBE0BE0}"/>
              </a:ext>
            </a:extLst>
          </p:cNvPr>
          <p:cNvPicPr>
            <a:picLocks noChangeAspect="1"/>
          </p:cNvPicPr>
          <p:nvPr/>
        </p:nvPicPr>
        <p:blipFill>
          <a:blip r:embed="rId4"/>
          <a:stretch>
            <a:fillRect/>
          </a:stretch>
        </p:blipFill>
        <p:spPr>
          <a:xfrm>
            <a:off x="1118946" y="3417146"/>
            <a:ext cx="5740695" cy="110495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49</a:t>
            </a:fld>
            <a:endParaRPr lang="en-US"/>
          </a:p>
        </p:txBody>
      </p:sp>
    </p:spTree>
    <p:extLst>
      <p:ext uri="{BB962C8B-B14F-4D97-AF65-F5344CB8AC3E}">
        <p14:creationId xmlns:p14="http://schemas.microsoft.com/office/powerpoint/2010/main" val="34149541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19.4 Crypto Map</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50</a:t>
            </a:fld>
            <a:endParaRPr lang="en-US"/>
          </a:p>
        </p:txBody>
      </p:sp>
    </p:spTree>
    <p:extLst>
      <p:ext uri="{BB962C8B-B14F-4D97-AF65-F5344CB8AC3E}">
        <p14:creationId xmlns:p14="http://schemas.microsoft.com/office/powerpoint/2010/main" val="6906701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Crypto Map</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Syntax to Configure a Crypto Map</a:t>
            </a:r>
          </a:p>
        </p:txBody>
      </p:sp>
      <p:graphicFrame>
        <p:nvGraphicFramePr>
          <p:cNvPr id="27" name="Table 26"/>
          <p:cNvGraphicFramePr>
            <a:graphicFrameLocks noGrp="1"/>
          </p:cNvGraphicFramePr>
          <p:nvPr>
            <p:extLst>
              <p:ext uri="{D42A27DB-BD31-4B8C-83A1-F6EECF244321}">
                <p14:modId xmlns:p14="http://schemas.microsoft.com/office/powerpoint/2010/main" val="3055602268"/>
              </p:ext>
            </p:extLst>
          </p:nvPr>
        </p:nvGraphicFramePr>
        <p:xfrm>
          <a:off x="1448215" y="2594610"/>
          <a:ext cx="5898777" cy="2026920"/>
        </p:xfrm>
        <a:graphic>
          <a:graphicData uri="http://schemas.openxmlformats.org/drawingml/2006/table">
            <a:tbl>
              <a:tblPr/>
              <a:tblGrid>
                <a:gridCol w="1272989">
                  <a:extLst>
                    <a:ext uri="{9D8B030D-6E8A-4147-A177-3AD203B41FA5}">
                      <a16:colId xmlns:a16="http://schemas.microsoft.com/office/drawing/2014/main" val="20000"/>
                    </a:ext>
                  </a:extLst>
                </a:gridCol>
                <a:gridCol w="4625788">
                  <a:extLst>
                    <a:ext uri="{9D8B030D-6E8A-4147-A177-3AD203B41FA5}">
                      <a16:colId xmlns:a16="http://schemas.microsoft.com/office/drawing/2014/main" val="20001"/>
                    </a:ext>
                  </a:extLst>
                </a:gridCol>
              </a:tblGrid>
              <a:tr h="0">
                <a:tc>
                  <a:txBody>
                    <a:bodyPr/>
                    <a:lstStyle/>
                    <a:p>
                      <a:r>
                        <a:rPr lang="en-US" sz="1200">
                          <a:solidFill>
                            <a:srgbClr val="FFFFFF"/>
                          </a:solidFill>
                        </a:rPr>
                        <a:t>Parameter</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Description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i="1">
                          <a:solidFill>
                            <a:srgbClr val="58585B"/>
                          </a:solidFill>
                          <a:latin typeface="Courier New" panose="02070309020205020404" pitchFamily="49" charset="0"/>
                          <a:cs typeface="Courier New" panose="02070309020205020404" pitchFamily="49" charset="0"/>
                        </a:rPr>
                        <a:t>map-name</a:t>
                      </a:r>
                      <a:endParaRPr lang="en-US" sz="1200" i="1">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Identifies the crypto map set.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i="1">
                          <a:solidFill>
                            <a:srgbClr val="58585B"/>
                          </a:solidFill>
                          <a:latin typeface="Courier New" panose="02070309020205020404" pitchFamily="49" charset="0"/>
                          <a:cs typeface="Courier New" panose="02070309020205020404" pitchFamily="49" charset="0"/>
                        </a:rPr>
                        <a:t>seq-num</a:t>
                      </a:r>
                      <a:endParaRPr lang="en-US" sz="1200" i="1">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Sequence number you assign to the crypto map entry. Use the </a:t>
                      </a:r>
                      <a:r>
                        <a:rPr lang="en-US" sz="1200" b="1">
                          <a:solidFill>
                            <a:srgbClr val="58585B"/>
                          </a:solidFill>
                        </a:rPr>
                        <a:t>crypto</a:t>
                      </a:r>
                      <a:r>
                        <a:rPr lang="en-US" sz="1200">
                          <a:solidFill>
                            <a:srgbClr val="58585B"/>
                          </a:solidFill>
                        </a:rPr>
                        <a:t> </a:t>
                      </a:r>
                      <a:r>
                        <a:rPr lang="en-US" sz="1200" b="1">
                          <a:solidFill>
                            <a:srgbClr val="58585B"/>
                          </a:solidFill>
                        </a:rPr>
                        <a:t>map</a:t>
                      </a:r>
                      <a:r>
                        <a:rPr lang="en-US" sz="1200">
                          <a:solidFill>
                            <a:srgbClr val="58585B"/>
                          </a:solidFill>
                        </a:rPr>
                        <a:t> </a:t>
                      </a:r>
                      <a:r>
                        <a:rPr lang="en-US" sz="1200" i="1">
                          <a:solidFill>
                            <a:srgbClr val="58585B"/>
                          </a:solidFill>
                        </a:rPr>
                        <a:t>map-name</a:t>
                      </a:r>
                      <a:r>
                        <a:rPr lang="en-US" sz="1200">
                          <a:solidFill>
                            <a:srgbClr val="58585B"/>
                          </a:solidFill>
                        </a:rPr>
                        <a:t> </a:t>
                      </a:r>
                      <a:r>
                        <a:rPr lang="en-US" sz="1200" i="1">
                          <a:solidFill>
                            <a:srgbClr val="58585B"/>
                          </a:solidFill>
                        </a:rPr>
                        <a:t>seq-num</a:t>
                      </a:r>
                      <a:r>
                        <a:rPr lang="en-US" sz="1200">
                          <a:solidFill>
                            <a:srgbClr val="58585B"/>
                          </a:solidFill>
                        </a:rPr>
                        <a:t> command without any keyword to modify the existing crypto map entry or profile.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a:solidFill>
                            <a:srgbClr val="58585B"/>
                          </a:solidFill>
                          <a:latin typeface="Courier New" panose="02070309020205020404" pitchFamily="49" charset="0"/>
                          <a:cs typeface="Courier New" panose="02070309020205020404" pitchFamily="49" charset="0"/>
                        </a:rPr>
                        <a:t>ipsec-isakmp</a:t>
                      </a:r>
                      <a:endParaRPr lang="en-US" sz="1200" b="1">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Indicates that IKE will be used to establish the IPsec for protecting the traffic specified by this crypto map entry.</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a:solidFill>
                            <a:srgbClr val="58585B"/>
                          </a:solidFill>
                          <a:latin typeface="Courier New" panose="02070309020205020404" pitchFamily="49" charset="0"/>
                          <a:cs typeface="Courier New" panose="02070309020205020404" pitchFamily="49" charset="0"/>
                        </a:rPr>
                        <a:t>ipsec-manual</a:t>
                      </a:r>
                      <a:endParaRPr lang="en-US" sz="1200" b="1">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Indicates that IKE will not be used to establish the IPsec SAs for protecting the traffic specified by this crypto map entry.</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bl>
          </a:graphicData>
        </a:graphic>
      </p:graphicFrame>
      <p:pic>
        <p:nvPicPr>
          <p:cNvPr id="6" name="Picture 5">
            <a:extLst>
              <a:ext uri="{FF2B5EF4-FFF2-40B4-BE49-F238E27FC236}">
                <a16:creationId xmlns:a16="http://schemas.microsoft.com/office/drawing/2014/main" id="{99041BFF-AE2E-4917-B15C-59E20D8D1C05}"/>
              </a:ext>
            </a:extLst>
          </p:cNvPr>
          <p:cNvPicPr>
            <a:picLocks noChangeAspect="1"/>
          </p:cNvPicPr>
          <p:nvPr/>
        </p:nvPicPr>
        <p:blipFill>
          <a:blip r:embed="rId3"/>
          <a:stretch>
            <a:fillRect/>
          </a:stretch>
        </p:blipFill>
        <p:spPr>
          <a:xfrm>
            <a:off x="1317694" y="1955725"/>
            <a:ext cx="6159817" cy="292115"/>
          </a:xfrm>
          <a:prstGeom prst="rect">
            <a:avLst/>
          </a:prstGeom>
        </p:spPr>
      </p:pic>
      <p:sp>
        <p:nvSpPr>
          <p:cNvPr id="7" name="TextBox 6">
            <a:extLst>
              <a:ext uri="{FF2B5EF4-FFF2-40B4-BE49-F238E27FC236}">
                <a16:creationId xmlns:a16="http://schemas.microsoft.com/office/drawing/2014/main" id="{B4916C14-6094-40CA-A65D-5FA1B56C61ED}"/>
              </a:ext>
            </a:extLst>
          </p:cNvPr>
          <p:cNvSpPr txBox="1"/>
          <p:nvPr/>
        </p:nvSpPr>
        <p:spPr>
          <a:xfrm>
            <a:off x="0" y="731520"/>
            <a:ext cx="8795385" cy="1169551"/>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Now that the interesting traffic is defined, and an IPsec transform set is configured, it is time to bind those configurations with the rest of the IPsec policy in a crypto map. The available configurations for a crypto map entry when you are in crypto map configuration mode are shown below. Although the </a:t>
            </a:r>
            <a:r>
              <a:rPr lang="en-US" sz="1400" b="1">
                <a:latin typeface="Arial" panose="020B0604020202020204" pitchFamily="34" charset="0"/>
                <a:cs typeface="Arial" panose="020B0604020202020204" pitchFamily="34" charset="0"/>
              </a:rPr>
              <a:t>ipsec-manual </a:t>
            </a:r>
            <a:r>
              <a:rPr lang="en-US" sz="1400">
                <a:latin typeface="Arial" panose="020B0604020202020204" pitchFamily="34" charset="0"/>
                <a:cs typeface="Arial" panose="020B0604020202020204" pitchFamily="34" charset="0"/>
              </a:rPr>
              <a:t>option is shown, its use is beyond the scope of this course.</a:t>
            </a:r>
          </a:p>
          <a:p>
            <a:endParaRPr lang="en-US" sz="140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51</a:t>
            </a:fld>
            <a:endParaRPr lang="en-US"/>
          </a:p>
        </p:txBody>
      </p:sp>
    </p:spTree>
    <p:extLst>
      <p:ext uri="{BB962C8B-B14F-4D97-AF65-F5344CB8AC3E}">
        <p14:creationId xmlns:p14="http://schemas.microsoft.com/office/powerpoint/2010/main" val="31419651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Crypto Map</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Syntax to Configure a Crypto Map (Cont.)</a:t>
            </a:r>
          </a:p>
        </p:txBody>
      </p:sp>
      <p:sp>
        <p:nvSpPr>
          <p:cNvPr id="7" name="TextBox 6">
            <a:extLst>
              <a:ext uri="{FF2B5EF4-FFF2-40B4-BE49-F238E27FC236}">
                <a16:creationId xmlns:a16="http://schemas.microsoft.com/office/drawing/2014/main" id="{B4916C14-6094-40CA-A65D-5FA1B56C61ED}"/>
              </a:ext>
            </a:extLst>
          </p:cNvPr>
          <p:cNvSpPr txBox="1"/>
          <p:nvPr/>
        </p:nvSpPr>
        <p:spPr>
          <a:xfrm>
            <a:off x="0" y="731520"/>
            <a:ext cx="8795385" cy="584775"/>
          </a:xfrm>
          <a:prstGeom prst="rect">
            <a:avLst/>
          </a:prstGeom>
          <a:noFill/>
        </p:spPr>
        <p:txBody>
          <a:bodyPr wrap="square">
            <a:spAutoFit/>
          </a:bodyPr>
          <a:lstStyle/>
          <a:p>
            <a:r>
              <a:rPr lang="en-US" sz="1600">
                <a:latin typeface="Arial" panose="020B0604020202020204" pitchFamily="34" charset="0"/>
                <a:cs typeface="Arial" panose="020B0604020202020204" pitchFamily="34" charset="0"/>
              </a:rPr>
              <a:t>The available configurations for a crypto map entry when you are in crypto map configuration mode are shown below. The map name is </a:t>
            </a:r>
            <a:r>
              <a:rPr lang="en-US" sz="1600" b="1">
                <a:latin typeface="Arial" panose="020B0604020202020204" pitchFamily="34" charset="0"/>
                <a:cs typeface="Arial" panose="020B0604020202020204" pitchFamily="34" charset="0"/>
              </a:rPr>
              <a:t>R1-R2_MAP</a:t>
            </a:r>
            <a:r>
              <a:rPr lang="en-US" sz="1600">
                <a:latin typeface="Arial" panose="020B0604020202020204" pitchFamily="34" charset="0"/>
                <a:cs typeface="Arial" panose="020B0604020202020204" pitchFamily="34" charset="0"/>
              </a:rPr>
              <a:t>, and the sequence number is </a:t>
            </a:r>
            <a:r>
              <a:rPr lang="en-US" sz="1600" b="1">
                <a:latin typeface="Arial" panose="020B0604020202020204" pitchFamily="34" charset="0"/>
                <a:cs typeface="Arial" panose="020B0604020202020204" pitchFamily="34" charset="0"/>
              </a:rPr>
              <a:t>10</a:t>
            </a:r>
            <a:r>
              <a:rPr lang="en-US" sz="1600">
                <a:latin typeface="Arial" panose="020B0604020202020204" pitchFamily="34" charset="0"/>
                <a:cs typeface="Arial" panose="020B0604020202020204" pitchFamily="34" charset="0"/>
              </a:rPr>
              <a:t>.</a:t>
            </a:r>
          </a:p>
        </p:txBody>
      </p:sp>
      <p:pic>
        <p:nvPicPr>
          <p:cNvPr id="6" name="Picture 5">
            <a:extLst>
              <a:ext uri="{FF2B5EF4-FFF2-40B4-BE49-F238E27FC236}">
                <a16:creationId xmlns:a16="http://schemas.microsoft.com/office/drawing/2014/main" id="{47F5ECE3-6129-4010-9F99-5FBDD2AB80FE}"/>
              </a:ext>
            </a:extLst>
          </p:cNvPr>
          <p:cNvPicPr>
            <a:picLocks noChangeAspect="1"/>
          </p:cNvPicPr>
          <p:nvPr/>
        </p:nvPicPr>
        <p:blipFill>
          <a:blip r:embed="rId3"/>
          <a:stretch>
            <a:fillRect/>
          </a:stretch>
        </p:blipFill>
        <p:spPr>
          <a:xfrm>
            <a:off x="1775007" y="1544095"/>
            <a:ext cx="5245370" cy="293385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52</a:t>
            </a:fld>
            <a:endParaRPr lang="en-US"/>
          </a:p>
        </p:txBody>
      </p:sp>
    </p:spTree>
    <p:extLst>
      <p:ext uri="{BB962C8B-B14F-4D97-AF65-F5344CB8AC3E}">
        <p14:creationId xmlns:p14="http://schemas.microsoft.com/office/powerpoint/2010/main" val="11501378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Crypto Map</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Crypto Map Configuration</a:t>
            </a:r>
          </a:p>
        </p:txBody>
      </p:sp>
      <p:sp>
        <p:nvSpPr>
          <p:cNvPr id="5" name="Object4"/>
          <p:cNvSpPr/>
          <p:nvPr/>
        </p:nvSpPr>
        <p:spPr>
          <a:xfrm>
            <a:off x="0" y="914400"/>
            <a:ext cx="3433482" cy="3540228"/>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To finish the configuration to meet the IPsec security policy for XYZCORP, complete the following:</a:t>
            </a:r>
          </a:p>
          <a:p>
            <a:pPr>
              <a:lnSpc>
                <a:spcPts val="2000"/>
              </a:lnSpc>
            </a:pPr>
            <a:endParaRPr lang="en-US" sz="1600">
              <a:solidFill>
                <a:srgbClr val="000000"/>
              </a:solidFill>
              <a:latin typeface="Arial" pitchFamily="34" charset="0"/>
              <a:ea typeface="Arial" pitchFamily="34" charset="-122"/>
              <a:cs typeface="Arial" pitchFamily="34" charset="-120"/>
            </a:endParaRPr>
          </a:p>
          <a:p>
            <a:pPr>
              <a:lnSpc>
                <a:spcPts val="2000"/>
              </a:lnSpc>
            </a:pPr>
            <a:r>
              <a:rPr lang="en-US" sz="1600" b="1">
                <a:solidFill>
                  <a:srgbClr val="000000"/>
                </a:solidFill>
                <a:latin typeface="Arial" pitchFamily="34" charset="0"/>
                <a:ea typeface="Arial" pitchFamily="34" charset="-122"/>
                <a:cs typeface="Arial" pitchFamily="34" charset="-120"/>
              </a:rPr>
              <a:t>Step 1. </a:t>
            </a:r>
            <a:r>
              <a:rPr lang="en-US" sz="1600">
                <a:solidFill>
                  <a:srgbClr val="000000"/>
                </a:solidFill>
                <a:latin typeface="Arial" pitchFamily="34" charset="0"/>
                <a:ea typeface="Arial" pitchFamily="34" charset="-122"/>
                <a:cs typeface="Arial" pitchFamily="34" charset="-120"/>
              </a:rPr>
              <a:t>Bind the ACL and the transform set to the map.</a:t>
            </a:r>
          </a:p>
          <a:p>
            <a:pPr>
              <a:lnSpc>
                <a:spcPts val="2000"/>
              </a:lnSpc>
            </a:pPr>
            <a:r>
              <a:rPr lang="en-US" sz="1600" b="1">
                <a:solidFill>
                  <a:srgbClr val="000000"/>
                </a:solidFill>
                <a:latin typeface="Arial" pitchFamily="34" charset="0"/>
                <a:ea typeface="Arial" pitchFamily="34" charset="-122"/>
                <a:cs typeface="Arial" pitchFamily="34" charset="-120"/>
              </a:rPr>
              <a:t>Step 2.</a:t>
            </a:r>
            <a:r>
              <a:rPr lang="en-US" sz="1600">
                <a:solidFill>
                  <a:srgbClr val="000000"/>
                </a:solidFill>
                <a:latin typeface="Arial" pitchFamily="34" charset="0"/>
                <a:ea typeface="Arial" pitchFamily="34" charset="-122"/>
                <a:cs typeface="Arial" pitchFamily="34" charset="-120"/>
              </a:rPr>
              <a:t> Specify the peer’s IP address.</a:t>
            </a:r>
          </a:p>
          <a:p>
            <a:pPr>
              <a:lnSpc>
                <a:spcPts val="2000"/>
              </a:lnSpc>
            </a:pPr>
            <a:r>
              <a:rPr lang="en-US" sz="1600" b="1">
                <a:solidFill>
                  <a:srgbClr val="000000"/>
                </a:solidFill>
                <a:latin typeface="Arial" pitchFamily="34" charset="0"/>
                <a:ea typeface="Arial" pitchFamily="34" charset="-122"/>
                <a:cs typeface="Arial" pitchFamily="34" charset="-120"/>
              </a:rPr>
              <a:t>Step 3.</a:t>
            </a:r>
            <a:r>
              <a:rPr lang="en-US" sz="1600">
                <a:solidFill>
                  <a:srgbClr val="000000"/>
                </a:solidFill>
                <a:latin typeface="Arial" pitchFamily="34" charset="0"/>
                <a:ea typeface="Arial" pitchFamily="34" charset="-122"/>
                <a:cs typeface="Arial" pitchFamily="34" charset="-120"/>
              </a:rPr>
              <a:t> Configure the DH group.</a:t>
            </a:r>
          </a:p>
          <a:p>
            <a:pPr>
              <a:lnSpc>
                <a:spcPts val="2000"/>
              </a:lnSpc>
            </a:pPr>
            <a:r>
              <a:rPr lang="en-US" sz="1600" b="1">
                <a:solidFill>
                  <a:srgbClr val="000000"/>
                </a:solidFill>
                <a:latin typeface="Arial" pitchFamily="34" charset="0"/>
                <a:ea typeface="Arial" pitchFamily="34" charset="-122"/>
                <a:cs typeface="Arial" pitchFamily="34" charset="-120"/>
              </a:rPr>
              <a:t>Step 4.</a:t>
            </a:r>
            <a:r>
              <a:rPr lang="en-US" sz="1600">
                <a:solidFill>
                  <a:srgbClr val="000000"/>
                </a:solidFill>
                <a:latin typeface="Arial" pitchFamily="34" charset="0"/>
                <a:ea typeface="Arial" pitchFamily="34" charset="-122"/>
                <a:cs typeface="Arial" pitchFamily="34" charset="-120"/>
              </a:rPr>
              <a:t> Configure the IPsec tunnel lifetime.</a:t>
            </a:r>
            <a:endParaRPr lang="en-US" sz="1600"/>
          </a:p>
        </p:txBody>
      </p:sp>
      <p:pic>
        <p:nvPicPr>
          <p:cNvPr id="7" name="Picture 6">
            <a:extLst>
              <a:ext uri="{FF2B5EF4-FFF2-40B4-BE49-F238E27FC236}">
                <a16:creationId xmlns:a16="http://schemas.microsoft.com/office/drawing/2014/main" id="{329CE5BA-17E0-45B1-B675-F93B593D10EE}"/>
              </a:ext>
            </a:extLst>
          </p:cNvPr>
          <p:cNvPicPr>
            <a:picLocks noChangeAspect="1"/>
          </p:cNvPicPr>
          <p:nvPr/>
        </p:nvPicPr>
        <p:blipFill>
          <a:blip r:embed="rId3"/>
          <a:stretch>
            <a:fillRect/>
          </a:stretch>
        </p:blipFill>
        <p:spPr>
          <a:xfrm>
            <a:off x="3868269" y="131862"/>
            <a:ext cx="5047131" cy="372310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53</a:t>
            </a:fld>
            <a:endParaRPr lang="en-US"/>
          </a:p>
        </p:txBody>
      </p:sp>
      <p:sp>
        <p:nvSpPr>
          <p:cNvPr id="4" name="BlokTextu 3">
            <a:extLst>
              <a:ext uri="{FF2B5EF4-FFF2-40B4-BE49-F238E27FC236}">
                <a16:creationId xmlns:a16="http://schemas.microsoft.com/office/drawing/2014/main" id="{B850194F-83C8-0D4A-4E10-A1D23ABF74B5}"/>
              </a:ext>
            </a:extLst>
          </p:cNvPr>
          <p:cNvSpPr txBox="1"/>
          <p:nvPr/>
        </p:nvSpPr>
        <p:spPr>
          <a:xfrm>
            <a:off x="0" y="3890486"/>
            <a:ext cx="7413674" cy="738664"/>
          </a:xfrm>
          <a:prstGeom prst="rect">
            <a:avLst/>
          </a:prstGeom>
          <a:noFill/>
        </p:spPr>
        <p:txBody>
          <a:bodyPr wrap="square" rtlCol="0">
            <a:spAutoFit/>
          </a:bodyPr>
          <a:lstStyle/>
          <a:p>
            <a:r>
              <a:rPr lang="sk-SK" sz="1400" b="1" dirty="0"/>
              <a:t>set </a:t>
            </a:r>
            <a:r>
              <a:rPr lang="sk-SK" sz="1400" b="1" dirty="0" err="1"/>
              <a:t>security</a:t>
            </a:r>
            <a:r>
              <a:rPr lang="sk-SK" sz="1400" b="1" dirty="0"/>
              <a:t>-association </a:t>
            </a:r>
            <a:r>
              <a:rPr lang="sk-SK" sz="1400" b="1" dirty="0" err="1"/>
              <a:t>lifetime</a:t>
            </a:r>
            <a:r>
              <a:rPr lang="sk-SK" sz="1400" b="1" dirty="0"/>
              <a:t> </a:t>
            </a:r>
            <a:r>
              <a:rPr lang="sk-SK" sz="1400" b="1" dirty="0" err="1"/>
              <a:t>seconds</a:t>
            </a:r>
            <a:r>
              <a:rPr lang="sk-SK" sz="1400" b="1" dirty="0"/>
              <a:t> 900 </a:t>
            </a:r>
            <a:r>
              <a:rPr lang="sk-SK" sz="1400" dirty="0"/>
              <a:t>definuje dobu životnosti bezpečnostnej asociácie (</a:t>
            </a:r>
            <a:r>
              <a:rPr lang="sk-SK" sz="1400" dirty="0" err="1"/>
              <a:t>Security</a:t>
            </a:r>
            <a:r>
              <a:rPr lang="sk-SK" sz="1400" dirty="0"/>
              <a:t> Association, SA) v </a:t>
            </a:r>
            <a:r>
              <a:rPr lang="sk-SK" sz="1400" dirty="0" err="1"/>
              <a:t>IPsec</a:t>
            </a:r>
            <a:r>
              <a:rPr lang="sk-SK" sz="1400" dirty="0"/>
              <a:t> na 900 sekúnd (15 minút). Po uplynutí tejto doby sa bezpečnostná asociácia stane neplatnou a musí byť obnovená alebo </a:t>
            </a:r>
            <a:r>
              <a:rPr lang="sk-SK" sz="1400" dirty="0" err="1"/>
              <a:t>renegociovaná</a:t>
            </a:r>
            <a:r>
              <a:rPr lang="sk-SK" sz="1400" dirty="0"/>
              <a:t>.</a:t>
            </a:r>
          </a:p>
        </p:txBody>
      </p:sp>
    </p:spTree>
    <p:extLst>
      <p:ext uri="{BB962C8B-B14F-4D97-AF65-F5344CB8AC3E}">
        <p14:creationId xmlns:p14="http://schemas.microsoft.com/office/powerpoint/2010/main" val="30569822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Crypto Map</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Crypto Map Configuration (Cont.)</a:t>
            </a:r>
          </a:p>
        </p:txBody>
      </p:sp>
      <p:sp>
        <p:nvSpPr>
          <p:cNvPr id="5" name="Object4"/>
          <p:cNvSpPr/>
          <p:nvPr/>
        </p:nvSpPr>
        <p:spPr>
          <a:xfrm>
            <a:off x="-1" y="914400"/>
            <a:ext cx="8830235" cy="2571750"/>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Use the </a:t>
            </a:r>
            <a:r>
              <a:rPr lang="en-US" sz="1600" b="1">
                <a:solidFill>
                  <a:srgbClr val="000000"/>
                </a:solidFill>
                <a:latin typeface="Arial" pitchFamily="34" charset="0"/>
                <a:ea typeface="Arial" pitchFamily="34" charset="-122"/>
                <a:cs typeface="Arial" pitchFamily="34" charset="-120"/>
              </a:rPr>
              <a:t>show crypto map </a:t>
            </a:r>
            <a:r>
              <a:rPr lang="en-US" sz="1600">
                <a:solidFill>
                  <a:srgbClr val="000000"/>
                </a:solidFill>
                <a:latin typeface="Arial" pitchFamily="34" charset="0"/>
                <a:ea typeface="Arial" pitchFamily="34" charset="-122"/>
                <a:cs typeface="Arial" pitchFamily="34" charset="-120"/>
              </a:rPr>
              <a:t>command to verify the crypto map configuration, as shown in here. All the required SAs should be in place.</a:t>
            </a:r>
            <a:endParaRPr lang="en-US" sz="1600"/>
          </a:p>
        </p:txBody>
      </p:sp>
      <p:pic>
        <p:nvPicPr>
          <p:cNvPr id="7" name="Picture 6">
            <a:extLst>
              <a:ext uri="{FF2B5EF4-FFF2-40B4-BE49-F238E27FC236}">
                <a16:creationId xmlns:a16="http://schemas.microsoft.com/office/drawing/2014/main" id="{9B26F7C4-F3F6-48C6-AE4C-1DA47793488A}"/>
              </a:ext>
            </a:extLst>
          </p:cNvPr>
          <p:cNvPicPr>
            <a:picLocks noChangeAspect="1"/>
          </p:cNvPicPr>
          <p:nvPr/>
        </p:nvPicPr>
        <p:blipFill>
          <a:blip r:embed="rId3"/>
          <a:stretch>
            <a:fillRect/>
          </a:stretch>
        </p:blipFill>
        <p:spPr>
          <a:xfrm>
            <a:off x="1527018" y="1530191"/>
            <a:ext cx="6089963" cy="309895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54</a:t>
            </a:fld>
            <a:endParaRPr lang="en-US"/>
          </a:p>
        </p:txBody>
      </p:sp>
    </p:spTree>
    <p:extLst>
      <p:ext uri="{BB962C8B-B14F-4D97-AF65-F5344CB8AC3E}">
        <p14:creationId xmlns:p14="http://schemas.microsoft.com/office/powerpoint/2010/main" val="16904095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Crypto Map</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Apply and Verify the Crypto Map</a:t>
            </a:r>
          </a:p>
        </p:txBody>
      </p:sp>
      <p:sp>
        <p:nvSpPr>
          <p:cNvPr id="5" name="Object4"/>
          <p:cNvSpPr/>
          <p:nvPr/>
        </p:nvSpPr>
        <p:spPr>
          <a:xfrm>
            <a:off x="0" y="914400"/>
            <a:ext cx="3073706" cy="2571750"/>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To apply the crypto map, Use the </a:t>
            </a:r>
            <a:r>
              <a:rPr lang="en-US" sz="1600" b="1">
                <a:solidFill>
                  <a:srgbClr val="000000"/>
                </a:solidFill>
                <a:latin typeface="Arial" pitchFamily="34" charset="0"/>
                <a:ea typeface="Arial" pitchFamily="34" charset="-122"/>
                <a:cs typeface="Arial" pitchFamily="34" charset="-120"/>
              </a:rPr>
              <a:t>crypto map </a:t>
            </a:r>
            <a:r>
              <a:rPr lang="en-US" sz="1600" i="1">
                <a:solidFill>
                  <a:srgbClr val="000000"/>
                </a:solidFill>
                <a:latin typeface="Arial" pitchFamily="34" charset="0"/>
                <a:ea typeface="Arial" pitchFamily="34" charset="-122"/>
                <a:cs typeface="Arial" pitchFamily="34" charset="-120"/>
              </a:rPr>
              <a:t>map-name</a:t>
            </a:r>
            <a:r>
              <a:rPr lang="en-US" sz="1600">
                <a:solidFill>
                  <a:srgbClr val="000000"/>
                </a:solidFill>
                <a:latin typeface="Arial" pitchFamily="34" charset="0"/>
                <a:ea typeface="Arial" pitchFamily="34" charset="-122"/>
                <a:cs typeface="Arial" pitchFamily="34" charset="-120"/>
              </a:rPr>
              <a:t> interface configuration command to apply the crypto map.</a:t>
            </a:r>
          </a:p>
          <a:p>
            <a:pPr>
              <a:lnSpc>
                <a:spcPts val="2000"/>
              </a:lnSpc>
            </a:pPr>
            <a:endParaRPr lang="en-US" sz="1600">
              <a:solidFill>
                <a:srgbClr val="000000"/>
              </a:solidFill>
              <a:latin typeface="Arial" pitchFamily="34" charset="0"/>
              <a:cs typeface="Arial" pitchFamily="34" charset="-120"/>
            </a:endParaRPr>
          </a:p>
          <a:p>
            <a:pPr>
              <a:lnSpc>
                <a:spcPts val="2000"/>
              </a:lnSpc>
            </a:pPr>
            <a:r>
              <a:rPr lang="en-US" sz="1600">
                <a:solidFill>
                  <a:srgbClr val="000000"/>
                </a:solidFill>
                <a:latin typeface="Arial" pitchFamily="34" charset="0"/>
                <a:cs typeface="Arial" pitchFamily="34" charset="-120"/>
              </a:rPr>
              <a:t>Use the </a:t>
            </a:r>
            <a:r>
              <a:rPr lang="en-US" sz="1600" b="1">
                <a:solidFill>
                  <a:srgbClr val="000000"/>
                </a:solidFill>
                <a:latin typeface="Arial" pitchFamily="34" charset="0"/>
                <a:cs typeface="Arial" pitchFamily="34" charset="-120"/>
              </a:rPr>
              <a:t>show crypto map </a:t>
            </a:r>
            <a:r>
              <a:rPr lang="en-US" sz="1600">
                <a:solidFill>
                  <a:srgbClr val="000000"/>
                </a:solidFill>
                <a:latin typeface="Arial" pitchFamily="34" charset="0"/>
                <a:cs typeface="Arial" pitchFamily="34" charset="-120"/>
              </a:rPr>
              <a:t>to verify the crypto map is not applied to the interface.</a:t>
            </a:r>
            <a:endParaRPr lang="en-US" sz="1600"/>
          </a:p>
        </p:txBody>
      </p:sp>
      <p:pic>
        <p:nvPicPr>
          <p:cNvPr id="7" name="Picture 6">
            <a:extLst>
              <a:ext uri="{FF2B5EF4-FFF2-40B4-BE49-F238E27FC236}">
                <a16:creationId xmlns:a16="http://schemas.microsoft.com/office/drawing/2014/main" id="{80DD6805-ED01-455A-A9F5-76D673529FC2}"/>
              </a:ext>
            </a:extLst>
          </p:cNvPr>
          <p:cNvPicPr>
            <a:picLocks noChangeAspect="1"/>
          </p:cNvPicPr>
          <p:nvPr/>
        </p:nvPicPr>
        <p:blipFill>
          <a:blip r:embed="rId3"/>
          <a:stretch>
            <a:fillRect/>
          </a:stretch>
        </p:blipFill>
        <p:spPr>
          <a:xfrm>
            <a:off x="3301000" y="914400"/>
            <a:ext cx="5385800" cy="318944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55</a:t>
            </a:fld>
            <a:endParaRPr lang="en-US"/>
          </a:p>
        </p:txBody>
      </p:sp>
    </p:spTree>
    <p:extLst>
      <p:ext uri="{BB962C8B-B14F-4D97-AF65-F5344CB8AC3E}">
        <p14:creationId xmlns:p14="http://schemas.microsoft.com/office/powerpoint/2010/main" val="10310891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19.5 IPsec VPN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56</a:t>
            </a:fld>
            <a:endParaRPr lang="en-US"/>
          </a:p>
        </p:txBody>
      </p:sp>
    </p:spTree>
    <p:extLst>
      <p:ext uri="{BB962C8B-B14F-4D97-AF65-F5344CB8AC3E}">
        <p14:creationId xmlns:p14="http://schemas.microsoft.com/office/powerpoint/2010/main" val="30059064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Send Interesting Traffic</a:t>
            </a:r>
          </a:p>
        </p:txBody>
      </p:sp>
      <p:sp>
        <p:nvSpPr>
          <p:cNvPr id="5" name="Object4"/>
          <p:cNvSpPr/>
          <p:nvPr/>
        </p:nvSpPr>
        <p:spPr>
          <a:xfrm>
            <a:off x="0" y="937214"/>
            <a:ext cx="8686800" cy="2571750"/>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Traffic from the LAN interface on R1 destined for the LAN interface on R2 is considered interesting traffic because it matches the ACLs configured on both routers. An extended ping from R1 will effectively test the VPN configuration. </a:t>
            </a:r>
            <a:endParaRPr lang="en-US" sz="1600"/>
          </a:p>
        </p:txBody>
      </p:sp>
      <p:pic>
        <p:nvPicPr>
          <p:cNvPr id="7" name="Picture 6">
            <a:extLst>
              <a:ext uri="{FF2B5EF4-FFF2-40B4-BE49-F238E27FC236}">
                <a16:creationId xmlns:a16="http://schemas.microsoft.com/office/drawing/2014/main" id="{3BE31805-88D9-4ABD-95FB-66BB30621EE7}"/>
              </a:ext>
            </a:extLst>
          </p:cNvPr>
          <p:cNvPicPr>
            <a:picLocks noChangeAspect="1"/>
          </p:cNvPicPr>
          <p:nvPr/>
        </p:nvPicPr>
        <p:blipFill>
          <a:blip r:embed="rId3"/>
          <a:stretch>
            <a:fillRect/>
          </a:stretch>
        </p:blipFill>
        <p:spPr>
          <a:xfrm>
            <a:off x="782860" y="2188407"/>
            <a:ext cx="7154786" cy="163629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57</a:t>
            </a:fld>
            <a:endParaRPr lang="en-US"/>
          </a:p>
        </p:txBody>
      </p:sp>
    </p:spTree>
    <p:extLst>
      <p:ext uri="{BB962C8B-B14F-4D97-AF65-F5344CB8AC3E}">
        <p14:creationId xmlns:p14="http://schemas.microsoft.com/office/powerpoint/2010/main" val="12463337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Verify the ISAKMP and IPsec Tunnels</a:t>
            </a:r>
          </a:p>
        </p:txBody>
      </p:sp>
      <p:sp>
        <p:nvSpPr>
          <p:cNvPr id="5" name="Object4"/>
          <p:cNvSpPr/>
          <p:nvPr/>
        </p:nvSpPr>
        <p:spPr>
          <a:xfrm>
            <a:off x="0" y="731520"/>
            <a:ext cx="8686800" cy="2571750"/>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To verify that tunnels have been established, use the </a:t>
            </a:r>
            <a:r>
              <a:rPr lang="en-US" sz="1600" b="1">
                <a:solidFill>
                  <a:srgbClr val="000000"/>
                </a:solidFill>
                <a:latin typeface="Arial" pitchFamily="34" charset="0"/>
                <a:ea typeface="Arial" pitchFamily="34" charset="-122"/>
                <a:cs typeface="Arial" pitchFamily="34" charset="-120"/>
              </a:rPr>
              <a:t>show crypto isakmp sa </a:t>
            </a:r>
            <a:r>
              <a:rPr lang="en-US" sz="1600">
                <a:solidFill>
                  <a:srgbClr val="000000"/>
                </a:solidFill>
                <a:latin typeface="Arial" pitchFamily="34" charset="0"/>
                <a:ea typeface="Arial" pitchFamily="34" charset="-122"/>
                <a:cs typeface="Arial" pitchFamily="34" charset="-120"/>
              </a:rPr>
              <a:t>and </a:t>
            </a:r>
            <a:r>
              <a:rPr lang="en-US" sz="1600" b="1">
                <a:solidFill>
                  <a:srgbClr val="000000"/>
                </a:solidFill>
                <a:latin typeface="Arial" pitchFamily="34" charset="0"/>
                <a:ea typeface="Arial" pitchFamily="34" charset="-122"/>
                <a:cs typeface="Arial" pitchFamily="34" charset="-120"/>
              </a:rPr>
              <a:t>show crypto ipsec sa </a:t>
            </a:r>
            <a:r>
              <a:rPr lang="en-US" sz="1600">
                <a:solidFill>
                  <a:srgbClr val="000000"/>
                </a:solidFill>
                <a:latin typeface="Arial" pitchFamily="34" charset="0"/>
                <a:ea typeface="Arial" pitchFamily="34" charset="-122"/>
                <a:cs typeface="Arial" pitchFamily="34" charset="-120"/>
              </a:rPr>
              <a:t>(next slide)</a:t>
            </a:r>
            <a:r>
              <a:rPr lang="en-US" sz="1600" b="1">
                <a:solidFill>
                  <a:srgbClr val="000000"/>
                </a:solidFill>
                <a:latin typeface="Arial" pitchFamily="34" charset="0"/>
                <a:ea typeface="Arial" pitchFamily="34" charset="-122"/>
                <a:cs typeface="Arial" pitchFamily="34" charset="-120"/>
              </a:rPr>
              <a:t> </a:t>
            </a:r>
            <a:r>
              <a:rPr lang="en-US" sz="1600">
                <a:solidFill>
                  <a:srgbClr val="000000"/>
                </a:solidFill>
                <a:latin typeface="Arial" pitchFamily="34" charset="0"/>
                <a:ea typeface="Arial" pitchFamily="34" charset="-122"/>
                <a:cs typeface="Arial" pitchFamily="34" charset="-120"/>
              </a:rPr>
              <a:t>commands.</a:t>
            </a:r>
            <a:endParaRPr lang="en-US" sz="1600"/>
          </a:p>
        </p:txBody>
      </p:sp>
      <p:pic>
        <p:nvPicPr>
          <p:cNvPr id="7" name="Picture 6">
            <a:extLst>
              <a:ext uri="{FF2B5EF4-FFF2-40B4-BE49-F238E27FC236}">
                <a16:creationId xmlns:a16="http://schemas.microsoft.com/office/drawing/2014/main" id="{44CC6B49-8F82-474B-AC0E-78C286682002}"/>
              </a:ext>
            </a:extLst>
          </p:cNvPr>
          <p:cNvPicPr>
            <a:picLocks noChangeAspect="1"/>
          </p:cNvPicPr>
          <p:nvPr/>
        </p:nvPicPr>
        <p:blipFill>
          <a:blip r:embed="rId3"/>
          <a:stretch>
            <a:fillRect/>
          </a:stretch>
        </p:blipFill>
        <p:spPr>
          <a:xfrm>
            <a:off x="1545687" y="1553210"/>
            <a:ext cx="5743195" cy="20370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58</a:t>
            </a:fld>
            <a:endParaRPr lang="en-US"/>
          </a:p>
        </p:txBody>
      </p:sp>
    </p:spTree>
    <p:extLst>
      <p:ext uri="{BB962C8B-B14F-4D97-AF65-F5344CB8AC3E}">
        <p14:creationId xmlns:p14="http://schemas.microsoft.com/office/powerpoint/2010/main" val="38719730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IPsec VPN</a:t>
            </a:r>
          </a:p>
        </p:txBody>
      </p:sp>
      <p:sp>
        <p:nvSpPr>
          <p:cNvPr id="3" name="Object2"/>
          <p:cNvSpPr>
            <a:spLocks noGrp="1"/>
          </p:cNvSpPr>
          <p:nvPr>
            <p:ph type="body" idx="100" hasCustomPrompt="1"/>
          </p:nvPr>
        </p:nvSpPr>
        <p:spPr>
          <a:xfrm>
            <a:off x="0" y="274320"/>
            <a:ext cx="4384713" cy="914400"/>
          </a:xfrm>
          <a:prstGeom prst="rect">
            <a:avLst/>
          </a:prstGeom>
          <a:noFill/>
          <a:ln/>
        </p:spPr>
        <p:txBody>
          <a:bodyPr wrap="square" rtlCol="0"/>
          <a:lstStyle/>
          <a:p>
            <a:pPr marL="0" indent="0">
              <a:buNone/>
            </a:pPr>
            <a:r>
              <a:rPr lang="en-US"/>
              <a:t>Verify the ISAKMP and IPsec Tunnels (Cont.)</a:t>
            </a:r>
          </a:p>
        </p:txBody>
      </p:sp>
      <p:sp>
        <p:nvSpPr>
          <p:cNvPr id="5" name="Object4"/>
          <p:cNvSpPr/>
          <p:nvPr/>
        </p:nvSpPr>
        <p:spPr>
          <a:xfrm>
            <a:off x="409575" y="1211718"/>
            <a:ext cx="3628107" cy="601980"/>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The output for the ISAKMP tunnel is shown below. Notice that the tunnel is active between the two peers, 172.30.2.1 and 172.30.2.2.</a:t>
            </a:r>
            <a:endParaRPr lang="en-US" sz="1600"/>
          </a:p>
        </p:txBody>
      </p:sp>
      <p:pic>
        <p:nvPicPr>
          <p:cNvPr id="8" name="Picture 7">
            <a:extLst>
              <a:ext uri="{FF2B5EF4-FFF2-40B4-BE49-F238E27FC236}">
                <a16:creationId xmlns:a16="http://schemas.microsoft.com/office/drawing/2014/main" id="{7F8B0389-6D11-4F3C-A108-3C1AC199267D}"/>
              </a:ext>
            </a:extLst>
          </p:cNvPr>
          <p:cNvPicPr>
            <a:picLocks noChangeAspect="1"/>
          </p:cNvPicPr>
          <p:nvPr/>
        </p:nvPicPr>
        <p:blipFill>
          <a:blip r:embed="rId3"/>
          <a:stretch>
            <a:fillRect/>
          </a:stretch>
        </p:blipFill>
        <p:spPr>
          <a:xfrm>
            <a:off x="4572000" y="199175"/>
            <a:ext cx="3883446" cy="478820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59</a:t>
            </a:fld>
            <a:endParaRPr lang="en-US"/>
          </a:p>
        </p:txBody>
      </p:sp>
    </p:spTree>
    <p:extLst>
      <p:ext uri="{BB962C8B-B14F-4D97-AF65-F5344CB8AC3E}">
        <p14:creationId xmlns:p14="http://schemas.microsoft.com/office/powerpoint/2010/main" val="30065986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771620233"/>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3097</TotalTime>
  <Words>5798</Words>
  <Application>Microsoft Macintosh PowerPoint</Application>
  <PresentationFormat>Prezentácia na obrazovke (16:9)</PresentationFormat>
  <Paragraphs>520</Paragraphs>
  <Slides>60</Slides>
  <Notes>59</Notes>
  <HiddenSlides>0</HiddenSlides>
  <MMClips>0</MMClips>
  <ScaleCrop>false</ScaleCrop>
  <HeadingPairs>
    <vt:vector size="6" baseType="variant">
      <vt:variant>
        <vt:lpstr>Použité písma</vt:lpstr>
      </vt:variant>
      <vt:variant>
        <vt:i4>7</vt:i4>
      </vt:variant>
      <vt:variant>
        <vt:lpstr>Motív</vt:lpstr>
      </vt:variant>
      <vt:variant>
        <vt:i4>4</vt:i4>
      </vt:variant>
      <vt:variant>
        <vt:lpstr>Nadpisy snímok</vt:lpstr>
      </vt:variant>
      <vt:variant>
        <vt:i4>60</vt:i4>
      </vt:variant>
    </vt:vector>
  </HeadingPairs>
  <TitlesOfParts>
    <vt:vector size="71" baseType="lpstr">
      <vt:lpstr>Arial</vt:lpstr>
      <vt:lpstr>Calibri</vt:lpstr>
      <vt:lpstr>CiscoSans ExtraLight</vt:lpstr>
      <vt:lpstr>Consolas</vt:lpstr>
      <vt:lpstr>Courier New</vt:lpstr>
      <vt:lpstr>Segoe UI</vt:lpstr>
      <vt:lpstr>Wingdings</vt:lpstr>
      <vt:lpstr>Office Theme</vt:lpstr>
      <vt:lpstr>Default Theme</vt:lpstr>
      <vt:lpstr>1_Office Theme</vt:lpstr>
      <vt:lpstr>1_Default Theme</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IKE Phases</vt:lpstr>
      <vt:lpstr>Prezentácia programu PowerPoint</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Július Baráth</cp:lastModifiedBy>
  <cp:revision>44</cp:revision>
  <dcterms:created xsi:type="dcterms:W3CDTF">2020-12-08T18:27:13Z</dcterms:created>
  <dcterms:modified xsi:type="dcterms:W3CDTF">2025-03-18T07:58:11Z</dcterms:modified>
</cp:coreProperties>
</file>
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2.xml" ContentType="application/vnd.openxmlformats-officedocument.presentationml.tags+xml"/>
  <Override PartName="/ppt/notesSlides/notesSlide6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69"/>
  </p:notesMasterIdLst>
  <p:sldIdLst>
    <p:sldId id="256" r:id="rId3"/>
    <p:sldId id="925" r:id="rId4"/>
    <p:sldId id="263" r:id="rId5"/>
    <p:sldId id="264" r:id="rId6"/>
    <p:sldId id="265" r:id="rId7"/>
    <p:sldId id="1074" r:id="rId8"/>
    <p:sldId id="267" r:id="rId9"/>
    <p:sldId id="268" r:id="rId10"/>
    <p:sldId id="269" r:id="rId11"/>
    <p:sldId id="1075" r:id="rId12"/>
    <p:sldId id="270" r:id="rId13"/>
    <p:sldId id="1076" r:id="rId14"/>
    <p:sldId id="271" r:id="rId15"/>
    <p:sldId id="272" r:id="rId16"/>
    <p:sldId id="273" r:id="rId17"/>
    <p:sldId id="274" r:id="rId18"/>
    <p:sldId id="275" r:id="rId19"/>
    <p:sldId id="276" r:id="rId20"/>
    <p:sldId id="277" r:id="rId21"/>
    <p:sldId id="278" r:id="rId22"/>
    <p:sldId id="279" r:id="rId23"/>
    <p:sldId id="1077" r:id="rId24"/>
    <p:sldId id="280" r:id="rId25"/>
    <p:sldId id="281" r:id="rId26"/>
    <p:sldId id="283" r:id="rId27"/>
    <p:sldId id="285" r:id="rId28"/>
    <p:sldId id="286" r:id="rId29"/>
    <p:sldId id="287" r:id="rId30"/>
    <p:sldId id="288" r:id="rId31"/>
    <p:sldId id="290" r:id="rId32"/>
    <p:sldId id="291" r:id="rId33"/>
    <p:sldId id="292" r:id="rId34"/>
    <p:sldId id="416" r:id="rId35"/>
    <p:sldId id="294" r:id="rId36"/>
    <p:sldId id="295" r:id="rId37"/>
    <p:sldId id="296" r:id="rId38"/>
    <p:sldId id="297" r:id="rId39"/>
    <p:sldId id="298" r:id="rId40"/>
    <p:sldId id="300" r:id="rId41"/>
    <p:sldId id="301" r:id="rId42"/>
    <p:sldId id="303" r:id="rId43"/>
    <p:sldId id="304" r:id="rId44"/>
    <p:sldId id="305" r:id="rId45"/>
    <p:sldId id="1078" r:id="rId46"/>
    <p:sldId id="1087" r:id="rId47"/>
    <p:sldId id="307" r:id="rId48"/>
    <p:sldId id="308" r:id="rId49"/>
    <p:sldId id="309" r:id="rId50"/>
    <p:sldId id="310" r:id="rId51"/>
    <p:sldId id="312" r:id="rId52"/>
    <p:sldId id="313" r:id="rId53"/>
    <p:sldId id="314" r:id="rId54"/>
    <p:sldId id="315" r:id="rId55"/>
    <p:sldId id="316" r:id="rId56"/>
    <p:sldId id="1088" r:id="rId57"/>
    <p:sldId id="317" r:id="rId58"/>
    <p:sldId id="318" r:id="rId59"/>
    <p:sldId id="319" r:id="rId60"/>
    <p:sldId id="324" r:id="rId61"/>
    <p:sldId id="325" r:id="rId62"/>
    <p:sldId id="326" r:id="rId63"/>
    <p:sldId id="327" r:id="rId64"/>
    <p:sldId id="328" r:id="rId65"/>
    <p:sldId id="330" r:id="rId66"/>
    <p:sldId id="331" r:id="rId67"/>
    <p:sldId id="1080" r:id="rId6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BD0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31F46F-3064-954B-8B06-2304E9EBA637}" v="6" dt="2025-03-10T12:46:13.8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105" autoAdjust="0"/>
    <p:restoredTop sz="96327" autoAdjust="0"/>
  </p:normalViewPr>
  <p:slideViewPr>
    <p:cSldViewPr snapToGrid="0" snapToObjects="1">
      <p:cViewPr varScale="1">
        <p:scale>
          <a:sx n="230" d="100"/>
          <a:sy n="230" d="100"/>
        </p:scale>
        <p:origin x="1912" y="176"/>
      </p:cViewPr>
      <p:guideLst/>
    </p:cSldViewPr>
  </p:slideViewPr>
  <p:notesTextViewPr>
    <p:cViewPr>
      <p:scale>
        <a:sx n="1" d="1"/>
        <a:sy n="1" d="1"/>
      </p:scale>
      <p:origin x="0" y="0"/>
    </p:cViewPr>
  </p:notesTextViewPr>
  <p:sorterViewPr>
    <p:cViewPr>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ráth, Július" userId="aebde9b9-dccc-4475-a9ac-c05e78323d7a" providerId="ADAL" clId="{EE731D29-1FCF-B442-B2A3-C46C48582B6F}"/>
    <pc:docChg chg="custSel addSld modSld">
      <pc:chgData name="Baráth, Július" userId="aebde9b9-dccc-4475-a9ac-c05e78323d7a" providerId="ADAL" clId="{EE731D29-1FCF-B442-B2A3-C46C48582B6F}" dt="2023-03-06T09:29:00.732" v="24" actId="115"/>
      <pc:docMkLst>
        <pc:docMk/>
      </pc:docMkLst>
      <pc:sldChg chg="delSp mod">
        <pc:chgData name="Baráth, Július" userId="aebde9b9-dccc-4475-a9ac-c05e78323d7a" providerId="ADAL" clId="{EE731D29-1FCF-B442-B2A3-C46C48582B6F}" dt="2023-03-06T08:25:49.801" v="0" actId="478"/>
        <pc:sldMkLst>
          <pc:docMk/>
          <pc:sldMk cId="0" sldId="256"/>
        </pc:sldMkLst>
      </pc:sldChg>
      <pc:sldChg chg="modSp mod">
        <pc:chgData name="Baráth, Július" userId="aebde9b9-dccc-4475-a9ac-c05e78323d7a" providerId="ADAL" clId="{EE731D29-1FCF-B442-B2A3-C46C48582B6F}" dt="2023-03-06T08:45:15.704" v="3" actId="1035"/>
        <pc:sldMkLst>
          <pc:docMk/>
          <pc:sldMk cId="0" sldId="274"/>
        </pc:sldMkLst>
      </pc:sldChg>
      <pc:sldChg chg="modSp mod">
        <pc:chgData name="Baráth, Július" userId="aebde9b9-dccc-4475-a9ac-c05e78323d7a" providerId="ADAL" clId="{EE731D29-1FCF-B442-B2A3-C46C48582B6F}" dt="2023-03-06T08:57:07.735" v="4" actId="1076"/>
        <pc:sldMkLst>
          <pc:docMk/>
          <pc:sldMk cId="0" sldId="280"/>
        </pc:sldMkLst>
      </pc:sldChg>
      <pc:sldChg chg="modSp mod">
        <pc:chgData name="Baráth, Július" userId="aebde9b9-dccc-4475-a9ac-c05e78323d7a" providerId="ADAL" clId="{EE731D29-1FCF-B442-B2A3-C46C48582B6F}" dt="2023-03-06T08:58:14.541" v="5" actId="1076"/>
        <pc:sldMkLst>
          <pc:docMk/>
          <pc:sldMk cId="0" sldId="283"/>
        </pc:sldMkLst>
      </pc:sldChg>
      <pc:sldChg chg="modSp mod">
        <pc:chgData name="Baráth, Július" userId="aebde9b9-dccc-4475-a9ac-c05e78323d7a" providerId="ADAL" clId="{EE731D29-1FCF-B442-B2A3-C46C48582B6F}" dt="2023-03-06T09:06:03.108" v="10" actId="20577"/>
        <pc:sldMkLst>
          <pc:docMk/>
          <pc:sldMk cId="0" sldId="287"/>
        </pc:sldMkLst>
      </pc:sldChg>
      <pc:sldChg chg="addSp modSp mod">
        <pc:chgData name="Baráth, Július" userId="aebde9b9-dccc-4475-a9ac-c05e78323d7a" providerId="ADAL" clId="{EE731D29-1FCF-B442-B2A3-C46C48582B6F}" dt="2023-03-06T09:10:30.420" v="21" actId="1076"/>
        <pc:sldMkLst>
          <pc:docMk/>
          <pc:sldMk cId="0" sldId="290"/>
        </pc:sldMkLst>
      </pc:sldChg>
      <pc:sldChg chg="modSp mod">
        <pc:chgData name="Baráth, Július" userId="aebde9b9-dccc-4475-a9ac-c05e78323d7a" providerId="ADAL" clId="{EE731D29-1FCF-B442-B2A3-C46C48582B6F}" dt="2023-03-06T09:29:00.732" v="24" actId="115"/>
        <pc:sldMkLst>
          <pc:docMk/>
          <pc:sldMk cId="0" sldId="309"/>
        </pc:sldMkLst>
      </pc:sldChg>
      <pc:sldChg chg="add">
        <pc:chgData name="Baráth, Július" userId="aebde9b9-dccc-4475-a9ac-c05e78323d7a" providerId="ADAL" clId="{EE731D29-1FCF-B442-B2A3-C46C48582B6F}" dt="2023-03-06T09:12:59.263" v="22"/>
        <pc:sldMkLst>
          <pc:docMk/>
          <pc:sldMk cId="143918717" sldId="416"/>
        </pc:sldMkLst>
      </pc:sldChg>
    </pc:docChg>
  </pc:docChgLst>
  <pc:docChgLst>
    <pc:chgData name="Baráth, Július" userId="aebde9b9-dccc-4475-a9ac-c05e78323d7a" providerId="ADAL" clId="{C400B185-85A2-8448-A52C-1862FEF414B1}"/>
    <pc:docChg chg="delSld">
      <pc:chgData name="Baráth, Július" userId="aebde9b9-dccc-4475-a9ac-c05e78323d7a" providerId="ADAL" clId="{C400B185-85A2-8448-A52C-1862FEF414B1}" dt="2023-02-07T07:05:02.864" v="20" actId="2696"/>
      <pc:docMkLst>
        <pc:docMk/>
      </pc:docMkLst>
      <pc:sldChg chg="del">
        <pc:chgData name="Baráth, Július" userId="aebde9b9-dccc-4475-a9ac-c05e78323d7a" providerId="ADAL" clId="{C400B185-85A2-8448-A52C-1862FEF414B1}" dt="2023-02-07T07:03:43.027" v="1" actId="2696"/>
        <pc:sldMkLst>
          <pc:docMk/>
          <pc:sldMk cId="0" sldId="262"/>
        </pc:sldMkLst>
      </pc:sldChg>
      <pc:sldChg chg="del">
        <pc:chgData name="Baráth, Július" userId="aebde9b9-dccc-4475-a9ac-c05e78323d7a" providerId="ADAL" clId="{C400B185-85A2-8448-A52C-1862FEF414B1}" dt="2023-02-07T07:04:07.089" v="12" actId="2696"/>
        <pc:sldMkLst>
          <pc:docMk/>
          <pc:sldMk cId="0" sldId="284"/>
        </pc:sldMkLst>
      </pc:sldChg>
      <pc:sldChg chg="del">
        <pc:chgData name="Baráth, Július" userId="aebde9b9-dccc-4475-a9ac-c05e78323d7a" providerId="ADAL" clId="{C400B185-85A2-8448-A52C-1862FEF414B1}" dt="2023-02-07T07:04:15.345" v="13" actId="2696"/>
        <pc:sldMkLst>
          <pc:docMk/>
          <pc:sldMk cId="0" sldId="293"/>
        </pc:sldMkLst>
      </pc:sldChg>
      <pc:sldChg chg="del">
        <pc:chgData name="Baráth, Július" userId="aebde9b9-dccc-4475-a9ac-c05e78323d7a" providerId="ADAL" clId="{C400B185-85A2-8448-A52C-1862FEF414B1}" dt="2023-02-07T07:04:26.214" v="14" actId="2696"/>
        <pc:sldMkLst>
          <pc:docMk/>
          <pc:sldMk cId="0" sldId="302"/>
        </pc:sldMkLst>
      </pc:sldChg>
      <pc:sldChg chg="del">
        <pc:chgData name="Baráth, Július" userId="aebde9b9-dccc-4475-a9ac-c05e78323d7a" providerId="ADAL" clId="{C400B185-85A2-8448-A52C-1862FEF414B1}" dt="2023-02-07T07:04:39.798" v="15" actId="2696"/>
        <pc:sldMkLst>
          <pc:docMk/>
          <pc:sldMk cId="0" sldId="321"/>
        </pc:sldMkLst>
      </pc:sldChg>
      <pc:sldChg chg="del">
        <pc:chgData name="Baráth, Július" userId="aebde9b9-dccc-4475-a9ac-c05e78323d7a" providerId="ADAL" clId="{C400B185-85A2-8448-A52C-1862FEF414B1}" dt="2023-02-07T07:04:40.361" v="16" actId="2696"/>
        <pc:sldMkLst>
          <pc:docMk/>
          <pc:sldMk cId="0" sldId="322"/>
        </pc:sldMkLst>
      </pc:sldChg>
      <pc:sldChg chg="del">
        <pc:chgData name="Baráth, Július" userId="aebde9b9-dccc-4475-a9ac-c05e78323d7a" providerId="ADAL" clId="{C400B185-85A2-8448-A52C-1862FEF414B1}" dt="2023-02-07T07:04:47.969" v="17" actId="2696"/>
        <pc:sldMkLst>
          <pc:docMk/>
          <pc:sldMk cId="0" sldId="333"/>
        </pc:sldMkLst>
      </pc:sldChg>
      <pc:sldChg chg="del">
        <pc:chgData name="Baráth, Július" userId="aebde9b9-dccc-4475-a9ac-c05e78323d7a" providerId="ADAL" clId="{C400B185-85A2-8448-A52C-1862FEF414B1}" dt="2023-02-07T07:04:49.746" v="18" actId="2696"/>
        <pc:sldMkLst>
          <pc:docMk/>
          <pc:sldMk cId="0" sldId="334"/>
        </pc:sldMkLst>
      </pc:sldChg>
      <pc:sldChg chg="del">
        <pc:chgData name="Baráth, Július" userId="aebde9b9-dccc-4475-a9ac-c05e78323d7a" providerId="ADAL" clId="{C400B185-85A2-8448-A52C-1862FEF414B1}" dt="2023-02-07T07:04:50.777" v="19" actId="2696"/>
        <pc:sldMkLst>
          <pc:docMk/>
          <pc:sldMk cId="0" sldId="335"/>
        </pc:sldMkLst>
      </pc:sldChg>
      <pc:sldChg chg="del">
        <pc:chgData name="Baráth, Július" userId="aebde9b9-dccc-4475-a9ac-c05e78323d7a" providerId="ADAL" clId="{C400B185-85A2-8448-A52C-1862FEF414B1}" dt="2023-02-07T07:05:02.864" v="20" actId="2696"/>
        <pc:sldMkLst>
          <pc:docMk/>
          <pc:sldMk cId="0" sldId="336"/>
        </pc:sldMkLst>
      </pc:sldChg>
      <pc:sldChg chg="del">
        <pc:chgData name="Baráth, Július" userId="aebde9b9-dccc-4475-a9ac-c05e78323d7a" providerId="ADAL" clId="{C400B185-85A2-8448-A52C-1862FEF414B1}" dt="2023-02-07T07:05:02.864" v="20" actId="2696"/>
        <pc:sldMkLst>
          <pc:docMk/>
          <pc:sldMk cId="0" sldId="337"/>
        </pc:sldMkLst>
      </pc:sldChg>
      <pc:sldChg chg="del">
        <pc:chgData name="Baráth, Július" userId="aebde9b9-dccc-4475-a9ac-c05e78323d7a" providerId="ADAL" clId="{C400B185-85A2-8448-A52C-1862FEF414B1}" dt="2023-02-07T07:03:43.020" v="0" actId="2696"/>
        <pc:sldMkLst>
          <pc:docMk/>
          <pc:sldMk cId="0" sldId="339"/>
        </pc:sldMkLst>
      </pc:sldChg>
      <pc:sldChg chg="del">
        <pc:chgData name="Baráth, Július" userId="aebde9b9-dccc-4475-a9ac-c05e78323d7a" providerId="ADAL" clId="{C400B185-85A2-8448-A52C-1862FEF414B1}" dt="2023-02-07T07:03:43.054" v="7" actId="2696"/>
        <pc:sldMkLst>
          <pc:docMk/>
          <pc:sldMk cId="1533357529" sldId="880"/>
        </pc:sldMkLst>
      </pc:sldChg>
      <pc:sldChg chg="del">
        <pc:chgData name="Baráth, Július" userId="aebde9b9-dccc-4475-a9ac-c05e78323d7a" providerId="ADAL" clId="{C400B185-85A2-8448-A52C-1862FEF414B1}" dt="2023-02-07T07:03:43.033" v="2" actId="2696"/>
        <pc:sldMkLst>
          <pc:docMk/>
          <pc:sldMk cId="122153960" sldId="1070"/>
        </pc:sldMkLst>
      </pc:sldChg>
      <pc:sldChg chg="del">
        <pc:chgData name="Baráth, Július" userId="aebde9b9-dccc-4475-a9ac-c05e78323d7a" providerId="ADAL" clId="{C400B185-85A2-8448-A52C-1862FEF414B1}" dt="2023-02-07T07:03:43.057" v="8" actId="2696"/>
        <pc:sldMkLst>
          <pc:docMk/>
          <pc:sldMk cId="1736058053" sldId="1071"/>
        </pc:sldMkLst>
      </pc:sldChg>
      <pc:sldChg chg="del">
        <pc:chgData name="Baráth, Július" userId="aebde9b9-dccc-4475-a9ac-c05e78323d7a" providerId="ADAL" clId="{C400B185-85A2-8448-A52C-1862FEF414B1}" dt="2023-02-07T07:03:43.041" v="3" actId="2696"/>
        <pc:sldMkLst>
          <pc:docMk/>
          <pc:sldMk cId="0" sldId="1072"/>
        </pc:sldMkLst>
      </pc:sldChg>
      <pc:sldChg chg="del">
        <pc:chgData name="Baráth, Július" userId="aebde9b9-dccc-4475-a9ac-c05e78323d7a" providerId="ADAL" clId="{C400B185-85A2-8448-A52C-1862FEF414B1}" dt="2023-02-07T07:03:43.063" v="11" actId="2696"/>
        <pc:sldMkLst>
          <pc:docMk/>
          <pc:sldMk cId="1138333762" sldId="1073"/>
        </pc:sldMkLst>
      </pc:sldChg>
      <pc:sldChg chg="del">
        <pc:chgData name="Baráth, Július" userId="aebde9b9-dccc-4475-a9ac-c05e78323d7a" providerId="ADAL" clId="{C400B185-85A2-8448-A52C-1862FEF414B1}" dt="2023-02-07T07:05:02.864" v="20" actId="2696"/>
        <pc:sldMkLst>
          <pc:docMk/>
          <pc:sldMk cId="3645693150" sldId="1079"/>
        </pc:sldMkLst>
      </pc:sldChg>
      <pc:sldChg chg="del">
        <pc:chgData name="Baráth, Július" userId="aebde9b9-dccc-4475-a9ac-c05e78323d7a" providerId="ADAL" clId="{C400B185-85A2-8448-A52C-1862FEF414B1}" dt="2023-02-07T07:03:43.061" v="10" actId="2696"/>
        <pc:sldMkLst>
          <pc:docMk/>
          <pc:sldMk cId="2463859137" sldId="1081"/>
        </pc:sldMkLst>
      </pc:sldChg>
      <pc:sldChg chg="del">
        <pc:chgData name="Baráth, Július" userId="aebde9b9-dccc-4475-a9ac-c05e78323d7a" providerId="ADAL" clId="{C400B185-85A2-8448-A52C-1862FEF414B1}" dt="2023-02-07T07:03:43.059" v="9" actId="2696"/>
        <pc:sldMkLst>
          <pc:docMk/>
          <pc:sldMk cId="800963693" sldId="1082"/>
        </pc:sldMkLst>
      </pc:sldChg>
      <pc:sldChg chg="del">
        <pc:chgData name="Baráth, Július" userId="aebde9b9-dccc-4475-a9ac-c05e78323d7a" providerId="ADAL" clId="{C400B185-85A2-8448-A52C-1862FEF414B1}" dt="2023-02-07T07:03:43.043" v="4" actId="2696"/>
        <pc:sldMkLst>
          <pc:docMk/>
          <pc:sldMk cId="3472431403" sldId="1083"/>
        </pc:sldMkLst>
      </pc:sldChg>
      <pc:sldChg chg="del">
        <pc:chgData name="Baráth, Július" userId="aebde9b9-dccc-4475-a9ac-c05e78323d7a" providerId="ADAL" clId="{C400B185-85A2-8448-A52C-1862FEF414B1}" dt="2023-02-07T07:03:43.051" v="6" actId="2696"/>
        <pc:sldMkLst>
          <pc:docMk/>
          <pc:sldMk cId="631110396" sldId="1084"/>
        </pc:sldMkLst>
      </pc:sldChg>
      <pc:sldChg chg="del">
        <pc:chgData name="Baráth, Július" userId="aebde9b9-dccc-4475-a9ac-c05e78323d7a" providerId="ADAL" clId="{C400B185-85A2-8448-A52C-1862FEF414B1}" dt="2023-02-07T07:05:02.864" v="20" actId="2696"/>
        <pc:sldMkLst>
          <pc:docMk/>
          <pc:sldMk cId="276052132" sldId="1085"/>
        </pc:sldMkLst>
      </pc:sldChg>
      <pc:sldChg chg="del">
        <pc:chgData name="Baráth, Július" userId="aebde9b9-dccc-4475-a9ac-c05e78323d7a" providerId="ADAL" clId="{C400B185-85A2-8448-A52C-1862FEF414B1}" dt="2023-02-07T07:05:02.864" v="20" actId="2696"/>
        <pc:sldMkLst>
          <pc:docMk/>
          <pc:sldMk cId="2561953224" sldId="1086"/>
        </pc:sldMkLst>
      </pc:sldChg>
      <pc:sldChg chg="del">
        <pc:chgData name="Baráth, Július" userId="aebde9b9-dccc-4475-a9ac-c05e78323d7a" providerId="ADAL" clId="{C400B185-85A2-8448-A52C-1862FEF414B1}" dt="2023-02-07T07:05:02.864" v="20" actId="2696"/>
        <pc:sldMkLst>
          <pc:docMk/>
          <pc:sldMk cId="3487638520" sldId="1089"/>
        </pc:sldMkLst>
      </pc:sldChg>
      <pc:sldChg chg="del">
        <pc:chgData name="Baráth, Július" userId="aebde9b9-dccc-4475-a9ac-c05e78323d7a" providerId="ADAL" clId="{C400B185-85A2-8448-A52C-1862FEF414B1}" dt="2023-02-07T07:03:43.048" v="5" actId="2696"/>
        <pc:sldMkLst>
          <pc:docMk/>
          <pc:sldMk cId="3926708085" sldId="1090"/>
        </pc:sldMkLst>
      </pc:sldChg>
    </pc:docChg>
  </pc:docChgLst>
  <pc:docChgLst>
    <pc:chgData name="Baráth, Július" userId="aebde9b9-dccc-4475-a9ac-c05e78323d7a" providerId="ADAL" clId="{7431F46F-3064-954B-8B06-2304E9EBA637}"/>
    <pc:docChg chg="undo custSel modSld">
      <pc:chgData name="Baráth, Július" userId="aebde9b9-dccc-4475-a9ac-c05e78323d7a" providerId="ADAL" clId="{7431F46F-3064-954B-8B06-2304E9EBA637}" dt="2025-03-10T13:00:54.059" v="197" actId="20577"/>
      <pc:docMkLst>
        <pc:docMk/>
      </pc:docMkLst>
      <pc:sldChg chg="addSp delSp modSp mod">
        <pc:chgData name="Baráth, Július" userId="aebde9b9-dccc-4475-a9ac-c05e78323d7a" providerId="ADAL" clId="{7431F46F-3064-954B-8B06-2304E9EBA637}" dt="2025-03-10T12:04:16.346" v="45" actId="20577"/>
        <pc:sldMkLst>
          <pc:docMk/>
          <pc:sldMk cId="0" sldId="290"/>
        </pc:sldMkLst>
        <pc:spChg chg="mod">
          <ac:chgData name="Baráth, Július" userId="aebde9b9-dccc-4475-a9ac-c05e78323d7a" providerId="ADAL" clId="{7431F46F-3064-954B-8B06-2304E9EBA637}" dt="2025-03-10T12:03:41.527" v="41" actId="404"/>
          <ac:spMkLst>
            <pc:docMk/>
            <pc:sldMk cId="0" sldId="290"/>
            <ac:spMk id="5" creationId="{00000000-0000-0000-0000-000000000000}"/>
          </ac:spMkLst>
        </pc:spChg>
        <pc:spChg chg="add mod">
          <ac:chgData name="Baráth, Július" userId="aebde9b9-dccc-4475-a9ac-c05e78323d7a" providerId="ADAL" clId="{7431F46F-3064-954B-8B06-2304E9EBA637}" dt="2025-03-10T12:04:16.346" v="45" actId="20577"/>
          <ac:spMkLst>
            <pc:docMk/>
            <pc:sldMk cId="0" sldId="290"/>
            <ac:spMk id="8" creationId="{F791A303-468C-ABF9-EA0C-8D1633D13119}"/>
          </ac:spMkLst>
        </pc:spChg>
        <pc:picChg chg="del">
          <ac:chgData name="Baráth, Július" userId="aebde9b9-dccc-4475-a9ac-c05e78323d7a" providerId="ADAL" clId="{7431F46F-3064-954B-8B06-2304E9EBA637}" dt="2025-03-10T12:03:22.167" v="36" actId="478"/>
          <ac:picMkLst>
            <pc:docMk/>
            <pc:sldMk cId="0" sldId="290"/>
            <ac:picMk id="6" creationId="{C4048CDB-C8A7-4CBD-84DD-8B5A3E463334}"/>
          </ac:picMkLst>
        </pc:picChg>
      </pc:sldChg>
      <pc:sldChg chg="addSp modSp mod">
        <pc:chgData name="Baráth, Július" userId="aebde9b9-dccc-4475-a9ac-c05e78323d7a" providerId="ADAL" clId="{7431F46F-3064-954B-8B06-2304E9EBA637}" dt="2025-03-10T12:37:37.673" v="169" actId="20577"/>
        <pc:sldMkLst>
          <pc:docMk/>
          <pc:sldMk cId="0" sldId="305"/>
        </pc:sldMkLst>
        <pc:spChg chg="add mod">
          <ac:chgData name="Baráth, Július" userId="aebde9b9-dccc-4475-a9ac-c05e78323d7a" providerId="ADAL" clId="{7431F46F-3064-954B-8B06-2304E9EBA637}" dt="2025-03-10T12:37:37.673" v="169" actId="20577"/>
          <ac:spMkLst>
            <pc:docMk/>
            <pc:sldMk cId="0" sldId="305"/>
            <ac:spMk id="4" creationId="{0806B029-BDBB-FFF2-7FB5-0E0200428D4C}"/>
          </ac:spMkLst>
        </pc:spChg>
        <pc:picChg chg="mod">
          <ac:chgData name="Baráth, Július" userId="aebde9b9-dccc-4475-a9ac-c05e78323d7a" providerId="ADAL" clId="{7431F46F-3064-954B-8B06-2304E9EBA637}" dt="2025-03-10T12:36:36.592" v="149" actId="1076"/>
          <ac:picMkLst>
            <pc:docMk/>
            <pc:sldMk cId="0" sldId="305"/>
            <ac:picMk id="8" creationId="{0B81FDCF-8CC8-4D78-8B87-DA1EBD63794B}"/>
          </ac:picMkLst>
        </pc:picChg>
      </pc:sldChg>
      <pc:sldChg chg="addSp modSp mod">
        <pc:chgData name="Baráth, Július" userId="aebde9b9-dccc-4475-a9ac-c05e78323d7a" providerId="ADAL" clId="{7431F46F-3064-954B-8B06-2304E9EBA637}" dt="2025-03-10T13:00:54.059" v="197" actId="20577"/>
        <pc:sldMkLst>
          <pc:docMk/>
          <pc:sldMk cId="0" sldId="314"/>
        </pc:sldMkLst>
        <pc:spChg chg="add mod">
          <ac:chgData name="Baráth, Július" userId="aebde9b9-dccc-4475-a9ac-c05e78323d7a" providerId="ADAL" clId="{7431F46F-3064-954B-8B06-2304E9EBA637}" dt="2025-03-10T13:00:54.059" v="197" actId="20577"/>
          <ac:spMkLst>
            <pc:docMk/>
            <pc:sldMk cId="0" sldId="314"/>
            <ac:spMk id="5" creationId="{D1B548FA-7F59-3ED0-AED1-23CC7ED5F042}"/>
          </ac:spMkLst>
        </pc:spChg>
        <pc:picChg chg="mod">
          <ac:chgData name="Baráth, Július" userId="aebde9b9-dccc-4475-a9ac-c05e78323d7a" providerId="ADAL" clId="{7431F46F-3064-954B-8B06-2304E9EBA637}" dt="2025-03-10T13:00:25.847" v="192" actId="1076"/>
          <ac:picMkLst>
            <pc:docMk/>
            <pc:sldMk cId="0" sldId="314"/>
            <ac:picMk id="6" creationId="{DB8B3885-2BBE-4AA1-9896-DA2FB66BDBDC}"/>
          </ac:picMkLst>
        </pc:picChg>
      </pc:sldChg>
      <pc:sldChg chg="delSp modSp mod">
        <pc:chgData name="Baráth, Július" userId="aebde9b9-dccc-4475-a9ac-c05e78323d7a" providerId="ADAL" clId="{7431F46F-3064-954B-8B06-2304E9EBA637}" dt="2025-03-10T12:47:05.201" v="188" actId="14100"/>
        <pc:sldMkLst>
          <pc:docMk/>
          <pc:sldMk cId="0" sldId="316"/>
        </pc:sldMkLst>
        <pc:spChg chg="mod">
          <ac:chgData name="Baráth, Július" userId="aebde9b9-dccc-4475-a9ac-c05e78323d7a" providerId="ADAL" clId="{7431F46F-3064-954B-8B06-2304E9EBA637}" dt="2025-03-10T12:47:05.201" v="188" actId="14100"/>
          <ac:spMkLst>
            <pc:docMk/>
            <pc:sldMk cId="0" sldId="316"/>
            <ac:spMk id="6" creationId="{CDFC603C-54C4-102F-01B1-BDF06771B8E2}"/>
          </ac:spMkLst>
        </pc:spChg>
        <pc:spChg chg="mod">
          <ac:chgData name="Baráth, Július" userId="aebde9b9-dccc-4475-a9ac-c05e78323d7a" providerId="ADAL" clId="{7431F46F-3064-954B-8B06-2304E9EBA637}" dt="2025-03-10T12:46:53.354" v="186" actId="14100"/>
          <ac:spMkLst>
            <pc:docMk/>
            <pc:sldMk cId="0" sldId="316"/>
            <ac:spMk id="8" creationId="{A9F563E7-2268-43C7-B02A-272329B175E9}"/>
          </ac:spMkLst>
        </pc:spChg>
        <pc:picChg chg="del">
          <ac:chgData name="Baráth, Július" userId="aebde9b9-dccc-4475-a9ac-c05e78323d7a" providerId="ADAL" clId="{7431F46F-3064-954B-8B06-2304E9EBA637}" dt="2025-03-10T12:46:08.243" v="177" actId="21"/>
          <ac:picMkLst>
            <pc:docMk/>
            <pc:sldMk cId="0" sldId="316"/>
            <ac:picMk id="4" creationId="{AA674466-B019-4DB0-A85E-78ACA396C8D5}"/>
          </ac:picMkLst>
        </pc:picChg>
      </pc:sldChg>
      <pc:sldChg chg="modSp mod">
        <pc:chgData name="Baráth, Július" userId="aebde9b9-dccc-4475-a9ac-c05e78323d7a" providerId="ADAL" clId="{7431F46F-3064-954B-8B06-2304E9EBA637}" dt="2025-03-10T12:47:52.631" v="190" actId="113"/>
        <pc:sldMkLst>
          <pc:docMk/>
          <pc:sldMk cId="0" sldId="317"/>
        </pc:sldMkLst>
        <pc:spChg chg="mod">
          <ac:chgData name="Baráth, Július" userId="aebde9b9-dccc-4475-a9ac-c05e78323d7a" providerId="ADAL" clId="{7431F46F-3064-954B-8B06-2304E9EBA637}" dt="2025-03-10T12:47:52.631" v="190" actId="113"/>
          <ac:spMkLst>
            <pc:docMk/>
            <pc:sldMk cId="0" sldId="317"/>
            <ac:spMk id="5" creationId="{00000000-0000-0000-0000-000000000000}"/>
          </ac:spMkLst>
        </pc:spChg>
      </pc:sldChg>
      <pc:sldChg chg="addSp delSp modSp mod">
        <pc:chgData name="Baráth, Július" userId="aebde9b9-dccc-4475-a9ac-c05e78323d7a" providerId="ADAL" clId="{7431F46F-3064-954B-8B06-2304E9EBA637}" dt="2025-03-10T12:02:47.279" v="35" actId="1076"/>
        <pc:sldMkLst>
          <pc:docMk/>
          <pc:sldMk cId="143918717" sldId="416"/>
        </pc:sldMkLst>
        <pc:spChg chg="add del mod">
          <ac:chgData name="Baráth, Július" userId="aebde9b9-dccc-4475-a9ac-c05e78323d7a" providerId="ADAL" clId="{7431F46F-3064-954B-8B06-2304E9EBA637}" dt="2025-03-10T12:02:45.636" v="34" actId="21"/>
          <ac:spMkLst>
            <pc:docMk/>
            <pc:sldMk cId="143918717" sldId="416"/>
            <ac:spMk id="2" creationId="{86948DD8-DC84-08EA-057A-7FAB19B38E2F}"/>
          </ac:spMkLst>
        </pc:spChg>
        <pc:picChg chg="mod">
          <ac:chgData name="Baráth, Július" userId="aebde9b9-dccc-4475-a9ac-c05e78323d7a" providerId="ADAL" clId="{7431F46F-3064-954B-8B06-2304E9EBA637}" dt="2025-03-10T12:02:47.279" v="35" actId="1076"/>
          <ac:picMkLst>
            <pc:docMk/>
            <pc:sldMk cId="143918717" sldId="416"/>
            <ac:picMk id="27650" creationId="{00000000-0000-0000-0000-000000000000}"/>
          </ac:picMkLst>
        </pc:picChg>
      </pc:sldChg>
      <pc:sldChg chg="addSp modSp mod">
        <pc:chgData name="Baráth, Július" userId="aebde9b9-dccc-4475-a9ac-c05e78323d7a" providerId="ADAL" clId="{7431F46F-3064-954B-8B06-2304E9EBA637}" dt="2025-03-10T12:46:43.194" v="185" actId="14100"/>
        <pc:sldMkLst>
          <pc:docMk/>
          <pc:sldMk cId="1714696640" sldId="1088"/>
        </pc:sldMkLst>
        <pc:spChg chg="mod">
          <ac:chgData name="Baráth, Július" userId="aebde9b9-dccc-4475-a9ac-c05e78323d7a" providerId="ADAL" clId="{7431F46F-3064-954B-8B06-2304E9EBA637}" dt="2025-03-10T12:46:37.753" v="184" actId="14100"/>
          <ac:spMkLst>
            <pc:docMk/>
            <pc:sldMk cId="1714696640" sldId="1088"/>
            <ac:spMk id="5" creationId="{00000000-0000-0000-0000-000000000000}"/>
          </ac:spMkLst>
        </pc:spChg>
        <pc:picChg chg="add mod">
          <ac:chgData name="Baráth, Július" userId="aebde9b9-dccc-4475-a9ac-c05e78323d7a" providerId="ADAL" clId="{7431F46F-3064-954B-8B06-2304E9EBA637}" dt="2025-03-10T12:46:43.194" v="185" actId="14100"/>
          <ac:picMkLst>
            <pc:docMk/>
            <pc:sldMk cId="1714696640" sldId="1088"/>
            <ac:picMk id="4" creationId="{02930074-CFDC-7FA3-8996-57C2280FFFE6}"/>
          </ac:picMkLst>
        </pc:picChg>
      </pc:sldChg>
    </pc:docChg>
  </pc:docChgLst>
  <pc:docChgLst>
    <pc:chgData name="Baráth, Július" userId="aebde9b9-dccc-4475-a9ac-c05e78323d7a" providerId="ADAL" clId="{589FFD09-88DB-374A-8899-3E9D5666FF71}"/>
    <pc:docChg chg="undo custSel modSld">
      <pc:chgData name="Baráth, Július" userId="aebde9b9-dccc-4475-a9ac-c05e78323d7a" providerId="ADAL" clId="{589FFD09-88DB-374A-8899-3E9D5666FF71}" dt="2024-03-11T10:03:56.442" v="130" actId="115"/>
      <pc:docMkLst>
        <pc:docMk/>
      </pc:docMkLst>
      <pc:sldChg chg="mod modShow">
        <pc:chgData name="Baráth, Július" userId="aebde9b9-dccc-4475-a9ac-c05e78323d7a" providerId="ADAL" clId="{589FFD09-88DB-374A-8899-3E9D5666FF71}" dt="2024-03-11T08:57:47.731" v="0" actId="729"/>
        <pc:sldMkLst>
          <pc:docMk/>
          <pc:sldMk cId="0" sldId="268"/>
        </pc:sldMkLst>
      </pc:sldChg>
      <pc:sldChg chg="mod modShow">
        <pc:chgData name="Baráth, Július" userId="aebde9b9-dccc-4475-a9ac-c05e78323d7a" providerId="ADAL" clId="{589FFD09-88DB-374A-8899-3E9D5666FF71}" dt="2024-03-11T08:57:59.183" v="2" actId="729"/>
        <pc:sldMkLst>
          <pc:docMk/>
          <pc:sldMk cId="0" sldId="270"/>
        </pc:sldMkLst>
      </pc:sldChg>
      <pc:sldChg chg="modSp mod">
        <pc:chgData name="Baráth, Július" userId="aebde9b9-dccc-4475-a9ac-c05e78323d7a" providerId="ADAL" clId="{589FFD09-88DB-374A-8899-3E9D5666FF71}" dt="2024-03-11T08:59:01.976" v="5" actId="113"/>
        <pc:sldMkLst>
          <pc:docMk/>
          <pc:sldMk cId="0" sldId="275"/>
        </pc:sldMkLst>
      </pc:sldChg>
      <pc:sldChg chg="modSp mod">
        <pc:chgData name="Baráth, Július" userId="aebde9b9-dccc-4475-a9ac-c05e78323d7a" providerId="ADAL" clId="{589FFD09-88DB-374A-8899-3E9D5666FF71}" dt="2024-03-11T09:02:43.124" v="6" actId="1076"/>
        <pc:sldMkLst>
          <pc:docMk/>
          <pc:sldMk cId="0" sldId="283"/>
        </pc:sldMkLst>
      </pc:sldChg>
      <pc:sldChg chg="modSp mod">
        <pc:chgData name="Baráth, Július" userId="aebde9b9-dccc-4475-a9ac-c05e78323d7a" providerId="ADAL" clId="{589FFD09-88DB-374A-8899-3E9D5666FF71}" dt="2024-03-11T09:08:04.923" v="8" actId="14100"/>
        <pc:sldMkLst>
          <pc:docMk/>
          <pc:sldMk cId="0" sldId="286"/>
        </pc:sldMkLst>
      </pc:sldChg>
      <pc:sldChg chg="modSp mod">
        <pc:chgData name="Baráth, Július" userId="aebde9b9-dccc-4475-a9ac-c05e78323d7a" providerId="ADAL" clId="{589FFD09-88DB-374A-8899-3E9D5666FF71}" dt="2024-03-11T09:13:10.408" v="13" actId="113"/>
        <pc:sldMkLst>
          <pc:docMk/>
          <pc:sldMk cId="0" sldId="290"/>
        </pc:sldMkLst>
      </pc:sldChg>
      <pc:sldChg chg="addSp modSp mod">
        <pc:chgData name="Baráth, Július" userId="aebde9b9-dccc-4475-a9ac-c05e78323d7a" providerId="ADAL" clId="{589FFD09-88DB-374A-8899-3E9D5666FF71}" dt="2024-03-11T09:20:11.750" v="40" actId="1076"/>
        <pc:sldMkLst>
          <pc:docMk/>
          <pc:sldMk cId="0" sldId="295"/>
        </pc:sldMkLst>
      </pc:sldChg>
      <pc:sldChg chg="modSp mod">
        <pc:chgData name="Baráth, Július" userId="aebde9b9-dccc-4475-a9ac-c05e78323d7a" providerId="ADAL" clId="{589FFD09-88DB-374A-8899-3E9D5666FF71}" dt="2024-03-11T09:17:21.505" v="17" actId="113"/>
        <pc:sldMkLst>
          <pc:docMk/>
          <pc:sldMk cId="0" sldId="296"/>
        </pc:sldMkLst>
      </pc:sldChg>
      <pc:sldChg chg="modSp mod">
        <pc:chgData name="Baráth, Július" userId="aebde9b9-dccc-4475-a9ac-c05e78323d7a" providerId="ADAL" clId="{589FFD09-88DB-374A-8899-3E9D5666FF71}" dt="2024-03-11T09:21:17.117" v="41" actId="113"/>
        <pc:sldMkLst>
          <pc:docMk/>
          <pc:sldMk cId="0" sldId="301"/>
        </pc:sldMkLst>
      </pc:sldChg>
      <pc:sldChg chg="modSp mod">
        <pc:chgData name="Baráth, Július" userId="aebde9b9-dccc-4475-a9ac-c05e78323d7a" providerId="ADAL" clId="{589FFD09-88DB-374A-8899-3E9D5666FF71}" dt="2024-03-11T09:28:40.812" v="46" actId="115"/>
        <pc:sldMkLst>
          <pc:docMk/>
          <pc:sldMk cId="0" sldId="303"/>
        </pc:sldMkLst>
      </pc:sldChg>
      <pc:sldChg chg="modSp mod">
        <pc:chgData name="Baráth, Július" userId="aebde9b9-dccc-4475-a9ac-c05e78323d7a" providerId="ADAL" clId="{589FFD09-88DB-374A-8899-3E9D5666FF71}" dt="2024-03-11T09:25:19.825" v="44" actId="115"/>
        <pc:sldMkLst>
          <pc:docMk/>
          <pc:sldMk cId="0" sldId="305"/>
        </pc:sldMkLst>
      </pc:sldChg>
      <pc:sldChg chg="addSp modSp mod">
        <pc:chgData name="Baráth, Július" userId="aebde9b9-dccc-4475-a9ac-c05e78323d7a" providerId="ADAL" clId="{589FFD09-88DB-374A-8899-3E9D5666FF71}" dt="2024-03-11T09:35:53.102" v="86" actId="20577"/>
        <pc:sldMkLst>
          <pc:docMk/>
          <pc:sldMk cId="0" sldId="316"/>
        </pc:sldMkLst>
      </pc:sldChg>
      <pc:sldChg chg="modSp mod">
        <pc:chgData name="Baráth, Július" userId="aebde9b9-dccc-4475-a9ac-c05e78323d7a" providerId="ADAL" clId="{589FFD09-88DB-374A-8899-3E9D5666FF71}" dt="2024-03-11T09:37:42.612" v="89" actId="14100"/>
        <pc:sldMkLst>
          <pc:docMk/>
          <pc:sldMk cId="0" sldId="325"/>
        </pc:sldMkLst>
      </pc:sldChg>
      <pc:sldChg chg="modSp mod">
        <pc:chgData name="Baráth, Július" userId="aebde9b9-dccc-4475-a9ac-c05e78323d7a" providerId="ADAL" clId="{589FFD09-88DB-374A-8899-3E9D5666FF71}" dt="2024-03-11T09:59:53.919" v="127"/>
        <pc:sldMkLst>
          <pc:docMk/>
          <pc:sldMk cId="0" sldId="326"/>
        </pc:sldMkLst>
      </pc:sldChg>
      <pc:sldChg chg="modSp mod">
        <pc:chgData name="Baráth, Július" userId="aebde9b9-dccc-4475-a9ac-c05e78323d7a" providerId="ADAL" clId="{589FFD09-88DB-374A-8899-3E9D5666FF71}" dt="2024-03-11T09:59:05.042" v="90" actId="115"/>
        <pc:sldMkLst>
          <pc:docMk/>
          <pc:sldMk cId="0" sldId="328"/>
        </pc:sldMkLst>
      </pc:sldChg>
      <pc:sldChg chg="modSp mod">
        <pc:chgData name="Baráth, Július" userId="aebde9b9-dccc-4475-a9ac-c05e78323d7a" providerId="ADAL" clId="{589FFD09-88DB-374A-8899-3E9D5666FF71}" dt="2024-03-11T10:01:10.358" v="129" actId="113"/>
        <pc:sldMkLst>
          <pc:docMk/>
          <pc:sldMk cId="0" sldId="330"/>
        </pc:sldMkLst>
      </pc:sldChg>
      <pc:sldChg chg="modSp mod">
        <pc:chgData name="Baráth, Július" userId="aebde9b9-dccc-4475-a9ac-c05e78323d7a" providerId="ADAL" clId="{589FFD09-88DB-374A-8899-3E9D5666FF71}" dt="2024-03-11T10:03:56.442" v="130" actId="115"/>
        <pc:sldMkLst>
          <pc:docMk/>
          <pc:sldMk cId="0" sldId="331"/>
        </pc:sldMkLst>
      </pc:sldChg>
      <pc:sldChg chg="mod modShow">
        <pc:chgData name="Baráth, Július" userId="aebde9b9-dccc-4475-a9ac-c05e78323d7a" providerId="ADAL" clId="{589FFD09-88DB-374A-8899-3E9D5666FF71}" dt="2024-03-11T08:57:54.017" v="1" actId="729"/>
        <pc:sldMkLst>
          <pc:docMk/>
          <pc:sldMk cId="2590865026" sldId="1075"/>
        </pc:sldMkLst>
      </pc:sldChg>
      <pc:sldChg chg="mod modShow">
        <pc:chgData name="Baráth, Július" userId="aebde9b9-dccc-4475-a9ac-c05e78323d7a" providerId="ADAL" clId="{589FFD09-88DB-374A-8899-3E9D5666FF71}" dt="2024-03-11T08:58:05.553" v="3" actId="729"/>
        <pc:sldMkLst>
          <pc:docMk/>
          <pc:sldMk cId="1213277229" sldId="10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81192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14: Layer 2 Security Considerations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2</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GB" dirty="0"/>
          </a:p>
        </p:txBody>
      </p:sp>
    </p:spTree>
    <p:extLst>
      <p:ext uri="{BB962C8B-B14F-4D97-AF65-F5344CB8AC3E}">
        <p14:creationId xmlns:p14="http://schemas.microsoft.com/office/powerpoint/2010/main" val="15879240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14.1: Layer 2 Security Threats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14.1: Layer 2 Security Threats
14.1.1: Describe Layer 2 Vulnerabilities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14.1: Layer 2 Security Threats
14.1.2: Switch Attack Categories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14.1: Layer 2 Security Threats
14.1.2: Switch Attack Categories</a:t>
            </a:r>
          </a:p>
          <a:p>
            <a:r>
              <a:rPr lang="en-US" dirty="0"/>
              <a:t>14.1.3: Check Your Understanding - Identify Layer 2 Threats and Mitigation Measures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0545105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14.2.1: Switch Fundamentals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14.2.2: Switch Learning and Forwarding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14.2.2: Switch Learning and Forwarding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492870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14.2.3: Filtering Frames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14.2.3: Filtering Frames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7803987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14.2.4: MAC Address Table Flooding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14.2: MAC Table Attacks
14.2.5: MAC Address Table Attack Mitigation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14.3.1: Secure Unused Ports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14.3.2: Mitigate MAC Address Table Attacks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14.3.3: Enable Port Security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14.3.4: Limit and Learn MAC Addresses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14.3.5: Port Security Aging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14.3.6: Port Security Violation Modes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14.3.6: Port Security Violation Modes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019660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14.3.7: Ports in error-disabled State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14.3.8: Verify Port Security</a:t>
            </a:r>
          </a:p>
          <a:p>
            <a:r>
              <a:rPr lang="en-US" dirty="0"/>
              <a:t>14.3.9: Syntax Checker - Implement Port Security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14.3: Mitigate MAC Table Attacks
14.3.10: SNMP MAC Address Notification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14.4.1: VLAN Hopping Attacks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14.4.2: VLAN Double-Tagging Attack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14.4.3: Mitigating VLAN Hopping Attacks</a:t>
            </a:r>
          </a:p>
          <a:p>
            <a:r>
              <a:rPr lang="en-US" dirty="0"/>
              <a:t>14.4.4: Syntax Checker - Mitigate VLAN Hopping Attacks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14.4.5: Private VLANs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14.4.6: PVLAN Edge Feature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14.4: Mitigate VLAN Attacks
14.4.7: Configure PVLAN Edge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6.2.4.5 Verifying Protected</a:t>
            </a:r>
            <a:r>
              <a:rPr lang="en-US" baseline="0" dirty="0"/>
              <a:t> Ports</a:t>
            </a:r>
            <a:endParaRPr lang="en-US" dirty="0"/>
          </a:p>
        </p:txBody>
      </p:sp>
      <p:sp>
        <p:nvSpPr>
          <p:cNvPr id="4" name="Slide Number Placeholder 3"/>
          <p:cNvSpPr>
            <a:spLocks noGrp="1"/>
          </p:cNvSpPr>
          <p:nvPr>
            <p:ph type="sldNum" sz="quarter" idx="10"/>
          </p:nvPr>
        </p:nvSpPr>
        <p:spPr/>
        <p:txBody>
          <a:bodyPr/>
          <a:lstStyle/>
          <a:p>
            <a:fld id="{AC72CD79-D36A-4E01-AE1C-064887FE954D}" type="slidenum">
              <a:rPr lang="en-US" smtClean="0"/>
              <a:t>33</a:t>
            </a:fld>
            <a:endParaRPr lang="en-US"/>
          </a:p>
        </p:txBody>
      </p:sp>
    </p:spTree>
    <p:extLst>
      <p:ext uri="{BB962C8B-B14F-4D97-AF65-F5344CB8AC3E}">
        <p14:creationId xmlns:p14="http://schemas.microsoft.com/office/powerpoint/2010/main" val="3734145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14.5: Mitigate DHCP Attacks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14.5: Mitigate DHCP Attacks
14.5.1: DHCP Attacks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14.5: Mitigate DHCP Attacks
14.5.2: DHCP Attacks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14.5: Mitigate DHCP Attacks
14.5.3: Steps to Implement DHCP Snooping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14.5: Mitigate DHCP Attacks
14.5.4: DHCP Snooping Configuration Example</a:t>
            </a:r>
          </a:p>
          <a:p>
            <a:r>
              <a:rPr lang="en-US" dirty="0"/>
              <a:t>14.5.5: Syntax Checker - Mitigate DHCP Attacks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14.6.1: ARP Attacks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14.6.3: Dynamic ARP Inspection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14.6.4: DAI Implementation Guidelines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14.6.5: DAI Configuration Example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14.6.5: DAI Configuration Example</a:t>
            </a:r>
          </a:p>
          <a:p>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99313026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14.6: Mitigate ARP Attacks
14.6.5: DAI Configuration Example</a:t>
            </a:r>
          </a:p>
          <a:p>
            <a:r>
              <a:rPr lang="en-US" dirty="0"/>
              <a:t>14.6.6: Syntax Checker - Mitigate ARP Attacks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39631526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14.7: Mitigate Address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14.7: Mitigate Address Spoofing Attacks
14.7.1: Address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14.7: Mitigate Address Spoofing Attacks
14.7.2: Mitigating Address Spoofing Attacks
</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14.7: Mitigate Address Spoofing Attacks
14.7.3: Configure IP Source Guard</a:t>
            </a:r>
          </a:p>
          <a:p>
            <a:r>
              <a:rPr lang="en-US" dirty="0"/>
              <a:t>14.7.4: Syntax Checker - Configure IP Source Guard
</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14.8.1: Spanning Tree Protocol
</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14.8.2: STP Recalculation
</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14.8.3: Layer 2 Loops
</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14.8.4: STP Port Roles
</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14.8.4: STP Port Roles
</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1660763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14.8.5: STP Root Bridge
</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14.8.6: STP Path Cost
</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14.8: Spanning Tree Protocol
14.8.7: Select the Root </a:t>
            </a:r>
            <a:r>
              <a:rPr lang="en-US" dirty="0" err="1"/>
              <a:t>Bridg</a:t>
            </a:r>
            <a:endParaRPr lang="en-US" dirty="0"/>
          </a:p>
          <a:p>
            <a:r>
              <a:rPr lang="en-US" dirty="0"/>
              <a:t>14.8.8: Syntax Checker - Configure and Verify the Root Bridge
</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14.9.1: STP Attack
</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14.9.2: Mitigating STP Attacks
</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14.9.3: Configure PortFast
</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14.9.4: Configure BPDU Guard</a:t>
            </a:r>
          </a:p>
          <a:p>
            <a:r>
              <a:rPr lang="en-US" dirty="0"/>
              <a:t>14.9.5: Syntax Checker -Mitigate STP Attacks
</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14.9.6: Configure Root Guard
</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Layer 2 Security Considerations
14.9: Mitigate STP Attacks
14.9.7: Configure Loop Guard</a:t>
            </a:r>
          </a:p>
          <a:p>
            <a:r>
              <a:rPr lang="en-US" dirty="0"/>
              <a:t>14.9.8: Syntax Checker -Configuring Loop Guard
</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109914834"/>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Bulle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9703" y="324161"/>
            <a:ext cx="8588861" cy="628650"/>
          </a:xfrm>
        </p:spPr>
        <p:txBody>
          <a:bodyPr/>
          <a:lstStyle>
            <a:lvl1pPr>
              <a:defRPr/>
            </a:lvl1pPr>
          </a:lstStyle>
          <a:p>
            <a:r>
              <a:rPr lang="en-US" dirty="0"/>
              <a:t>Slide Title Goes Here</a:t>
            </a:r>
          </a:p>
        </p:txBody>
      </p:sp>
      <p:sp>
        <p:nvSpPr>
          <p:cNvPr id="4" name="Text Placeholder 3"/>
          <p:cNvSpPr>
            <a:spLocks noGrp="1"/>
          </p:cNvSpPr>
          <p:nvPr>
            <p:ph type="body" sz="quarter" idx="10" hasCustomPrompt="1"/>
          </p:nvPr>
        </p:nvSpPr>
        <p:spPr>
          <a:xfrm>
            <a:off x="228600" y="1008126"/>
            <a:ext cx="8577072" cy="3723894"/>
          </a:xfrm>
        </p:spPr>
        <p:txBody>
          <a:bodyPr vert="horz" lIns="91440" tIns="45720" rIns="91440" bIns="45720" rtlCol="0">
            <a:noAutofit/>
          </a:bodyPr>
          <a:lstStyle>
            <a:lvl1pPr>
              <a:defRPr lang="en-US" dirty="0" smtClean="0"/>
            </a:lvl1pPr>
            <a:lvl2pPr>
              <a:defRPr lang="en-US" dirty="0" smtClean="0"/>
            </a:lvl2pPr>
            <a:lvl3pPr>
              <a:defRPr lang="en-US" dirty="0" smtClean="0"/>
            </a:lvl3pPr>
            <a:lvl4pPr>
              <a:defRPr lang="en-US" dirty="0" smtClean="0"/>
            </a:lvl4pPr>
            <a:lvl5pPr>
              <a:defRPr lang="en-US" dirty="0"/>
            </a:lvl5pPr>
          </a:lstStyle>
          <a:p>
            <a:pPr lvl="0"/>
            <a:r>
              <a:rPr lang="en-US" dirty="0"/>
              <a:t>Body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2632620"/>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2526160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2441911075"/>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663530539"/>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605826944"/>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2676435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188464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146099075"/>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088917687"/>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2512992508"/>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74546654"/>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84607336"/>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96062037"/>
      </p:ext>
    </p:extLst>
  </p:cSld>
  <p:clrMapOvr>
    <a:masterClrMapping/>
  </p:clrMapOvr>
  <p:transition spd="slow">
    <p:wip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131611892"/>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180054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theme" Target="../theme/theme2.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 id="2147483671"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13155140"/>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1.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6.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7.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9.xml"/><Relationship Id="rId1" Type="http://schemas.openxmlformats.org/officeDocument/2006/relationships/slideLayout" Target="../slideLayouts/slideLayout6.xml"/><Relationship Id="rId5" Type="http://schemas.openxmlformats.org/officeDocument/2006/relationships/image" Target="../media/image35.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7.xml"/><Relationship Id="rId1" Type="http://schemas.openxmlformats.org/officeDocument/2006/relationships/tags" Target="../tags/tag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14: Layer 2 Security Considerations</a:t>
            </a:r>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Layer 2 Security Considerations</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Implement security measures to mitigate Layer 2 attacks.</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616572280"/>
              </p:ext>
            </p:extLst>
          </p:nvPr>
        </p:nvGraphicFramePr>
        <p:xfrm>
          <a:off x="423333" y="1631731"/>
          <a:ext cx="8263467" cy="2485558"/>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17985">
                <a:tc>
                  <a:txBody>
                    <a:bodyPr/>
                    <a:lstStyle/>
                    <a:p>
                      <a:pPr marL="0" marR="0">
                        <a:lnSpc>
                          <a:spcPct val="107000"/>
                        </a:lnSpc>
                        <a:spcBef>
                          <a:spcPts val="0"/>
                        </a:spcBef>
                        <a:spcAft>
                          <a:spcPts val="0"/>
                        </a:spcAft>
                      </a:pPr>
                      <a:r>
                        <a:rPr lang="en-US" sz="1200" dirty="0">
                          <a:effectLst/>
                          <a:latin typeface="Calibri" panose="020F0502020204030204" pitchFamily="34" charset="0"/>
                          <a:cs typeface="Calibri" panose="020F0502020204030204" pitchFamily="34" charset="0"/>
                        </a:rPr>
                        <a:t>Topic Title</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60168" marR="60168" marT="0" marB="0"/>
                </a:tc>
                <a:tc>
                  <a:txBody>
                    <a:bodyPr/>
                    <a:lstStyle/>
                    <a:p>
                      <a:pPr marL="0" marR="0">
                        <a:lnSpc>
                          <a:spcPct val="107000"/>
                        </a:lnSpc>
                        <a:spcBef>
                          <a:spcPts val="0"/>
                        </a:spcBef>
                        <a:spcAft>
                          <a:spcPts val="0"/>
                        </a:spcAft>
                      </a:pPr>
                      <a:r>
                        <a:rPr lang="en-US" sz="1200" dirty="0">
                          <a:effectLst/>
                          <a:latin typeface="Calibri" panose="020F0502020204030204" pitchFamily="34" charset="0"/>
                          <a:cs typeface="Calibri" panose="020F0502020204030204" pitchFamily="34" charset="0"/>
                        </a:rPr>
                        <a:t>Topic Objective</a:t>
                      </a:r>
                      <a:endParaRPr lang="en-US" sz="1200" dirty="0">
                        <a:effectLst/>
                        <a:latin typeface="Calibri" panose="020F0502020204030204" pitchFamily="34" charset="0"/>
                        <a:ea typeface="Calibri" panose="020F0502020204030204" pitchFamily="34" charset="0"/>
                        <a:cs typeface="Calibri" panose="020F0502020204030204" pitchFamily="34" charset="0"/>
                      </a:endParaRPr>
                    </a:p>
                  </a:txBody>
                  <a:tcPr marL="60168" marR="60168" marT="0" marB="0"/>
                </a:tc>
                <a:extLst>
                  <a:ext uri="{0D108BD9-81ED-4DB2-BD59-A6C34878D82A}">
                    <a16:rowId xmlns:a16="http://schemas.microsoft.com/office/drawing/2014/main" val="364302898"/>
                  </a:ext>
                </a:extLst>
              </a:tr>
              <a:tr h="263724">
                <a:tc>
                  <a:txBody>
                    <a:bodyPr/>
                    <a:lstStyle/>
                    <a:p>
                      <a:pPr rtl="0" fontAlgn="b"/>
                      <a:r>
                        <a:rPr lang="en-US" sz="1200" dirty="0">
                          <a:effectLst/>
                          <a:latin typeface="Calibri" panose="020F0502020204030204" pitchFamily="34" charset="0"/>
                          <a:cs typeface="Calibri" panose="020F0502020204030204" pitchFamily="34" charset="0"/>
                        </a:rPr>
                        <a:t>Layer 2 Security Threats</a:t>
                      </a:r>
                    </a:p>
                  </a:txBody>
                  <a:tcPr marL="19050" marR="19050" marT="12700" marB="12700" anchor="b"/>
                </a:tc>
                <a:tc>
                  <a:txBody>
                    <a:bodyPr/>
                    <a:lstStyle/>
                    <a:p>
                      <a:pPr rtl="0" fontAlgn="b"/>
                      <a:r>
                        <a:rPr lang="en-US" sz="1200" dirty="0">
                          <a:effectLst/>
                          <a:latin typeface="Calibri" panose="020F0502020204030204" pitchFamily="34" charset="0"/>
                          <a:cs typeface="Calibri" panose="020F0502020204030204" pitchFamily="34" charset="0"/>
                        </a:rPr>
                        <a:t>Describe Layer 2 vulnerabilities.</a:t>
                      </a:r>
                    </a:p>
                  </a:txBody>
                  <a:tcPr marL="19050" marR="19050" marT="12700" marB="12700" anchor="b"/>
                </a:tc>
                <a:extLst>
                  <a:ext uri="{0D108BD9-81ED-4DB2-BD59-A6C34878D82A}">
                    <a16:rowId xmlns:a16="http://schemas.microsoft.com/office/drawing/2014/main" val="3530891527"/>
                  </a:ext>
                </a:extLst>
              </a:tr>
              <a:tr h="263724">
                <a:tc>
                  <a:txBody>
                    <a:bodyPr/>
                    <a:lstStyle/>
                    <a:p>
                      <a:pPr rtl="0" fontAlgn="b"/>
                      <a:r>
                        <a:rPr lang="en-US" sz="1200">
                          <a:effectLst/>
                          <a:latin typeface="Calibri" panose="020F0502020204030204" pitchFamily="34" charset="0"/>
                          <a:cs typeface="Calibri" panose="020F0502020204030204" pitchFamily="34" charset="0"/>
                        </a:rPr>
                        <a:t>MAC Table Attacks</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Describe MAC address spoofing attacks.</a:t>
                      </a:r>
                    </a:p>
                  </a:txBody>
                  <a:tcPr marL="19050" marR="19050" marT="12700" marB="12700" anchor="b"/>
                </a:tc>
                <a:extLst>
                  <a:ext uri="{0D108BD9-81ED-4DB2-BD59-A6C34878D82A}">
                    <a16:rowId xmlns:a16="http://schemas.microsoft.com/office/drawing/2014/main" val="662892947"/>
                  </a:ext>
                </a:extLst>
              </a:tr>
              <a:tr h="240659">
                <a:tc>
                  <a:txBody>
                    <a:bodyPr/>
                    <a:lstStyle/>
                    <a:p>
                      <a:pPr rtl="0" fontAlgn="b"/>
                      <a:r>
                        <a:rPr lang="en-US" sz="1200">
                          <a:effectLst/>
                          <a:latin typeface="Calibri" panose="020F0502020204030204" pitchFamily="34" charset="0"/>
                          <a:cs typeface="Calibri" panose="020F0502020204030204" pitchFamily="34" charset="0"/>
                        </a:rPr>
                        <a:t>Mitigate MAC Table Attacks</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Configure port security.</a:t>
                      </a:r>
                    </a:p>
                  </a:txBody>
                  <a:tcPr marL="19050" marR="19050" marT="12700" marB="12700" anchor="b"/>
                </a:tc>
                <a:extLst>
                  <a:ext uri="{0D108BD9-81ED-4DB2-BD59-A6C34878D82A}">
                    <a16:rowId xmlns:a16="http://schemas.microsoft.com/office/drawing/2014/main" val="1283686363"/>
                  </a:ext>
                </a:extLst>
              </a:tr>
              <a:tr h="249911">
                <a:tc>
                  <a:txBody>
                    <a:bodyPr/>
                    <a:lstStyle/>
                    <a:p>
                      <a:pPr rtl="0" fontAlgn="b"/>
                      <a:r>
                        <a:rPr lang="en-US" sz="1200">
                          <a:effectLst/>
                          <a:latin typeface="Calibri" panose="020F0502020204030204" pitchFamily="34" charset="0"/>
                          <a:cs typeface="Calibri" panose="020F0502020204030204" pitchFamily="34" charset="0"/>
                        </a:rPr>
                        <a:t>Mitigate VLAN Attacks</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Explain how to mitigate VLAN attacks.</a:t>
                      </a:r>
                    </a:p>
                  </a:txBody>
                  <a:tcPr marL="19050" marR="19050" marT="12700" marB="12700" anchor="b"/>
                </a:tc>
                <a:extLst>
                  <a:ext uri="{0D108BD9-81ED-4DB2-BD59-A6C34878D82A}">
                    <a16:rowId xmlns:a16="http://schemas.microsoft.com/office/drawing/2014/main" val="2466644772"/>
                  </a:ext>
                </a:extLst>
              </a:tr>
              <a:tr h="249911">
                <a:tc>
                  <a:txBody>
                    <a:bodyPr/>
                    <a:lstStyle/>
                    <a:p>
                      <a:pPr rtl="0" fontAlgn="b"/>
                      <a:r>
                        <a:rPr lang="en-US" sz="1200">
                          <a:effectLst/>
                          <a:latin typeface="Calibri" panose="020F0502020204030204" pitchFamily="34" charset="0"/>
                          <a:cs typeface="Calibri" panose="020F0502020204030204" pitchFamily="34" charset="0"/>
                        </a:rPr>
                        <a:t>Mitigate DHCP Attacks</a:t>
                      </a:r>
                    </a:p>
                  </a:txBody>
                  <a:tcPr marL="19050" marR="19050" marT="12700" marB="12700" anchor="b"/>
                </a:tc>
                <a:tc>
                  <a:txBody>
                    <a:bodyPr/>
                    <a:lstStyle/>
                    <a:p>
                      <a:pPr rtl="0" fontAlgn="b"/>
                      <a:r>
                        <a:rPr lang="en-US" sz="1200" dirty="0">
                          <a:effectLst/>
                          <a:latin typeface="Calibri" panose="020F0502020204030204" pitchFamily="34" charset="0"/>
                          <a:cs typeface="Calibri" panose="020F0502020204030204" pitchFamily="34" charset="0"/>
                        </a:rPr>
                        <a:t>Use the correct commands to implement DHCP Snooping for attack mitigation.</a:t>
                      </a:r>
                    </a:p>
                  </a:txBody>
                  <a:tcPr marL="19050" marR="19050" marT="12700" marB="12700" anchor="b"/>
                </a:tc>
                <a:extLst>
                  <a:ext uri="{0D108BD9-81ED-4DB2-BD59-A6C34878D82A}">
                    <a16:rowId xmlns:a16="http://schemas.microsoft.com/office/drawing/2014/main" val="1938826855"/>
                  </a:ext>
                </a:extLst>
              </a:tr>
              <a:tr h="249911">
                <a:tc>
                  <a:txBody>
                    <a:bodyPr/>
                    <a:lstStyle/>
                    <a:p>
                      <a:pPr rtl="0" fontAlgn="b"/>
                      <a:r>
                        <a:rPr lang="en-US" sz="1200">
                          <a:effectLst/>
                          <a:latin typeface="Calibri" panose="020F0502020204030204" pitchFamily="34" charset="0"/>
                          <a:cs typeface="Calibri" panose="020F0502020204030204" pitchFamily="34" charset="0"/>
                        </a:rPr>
                        <a:t>Mitigate ARP Attacks</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Use the correct commands to mitigate ARP attacks.</a:t>
                      </a:r>
                    </a:p>
                  </a:txBody>
                  <a:tcPr marL="19050" marR="19050" marT="12700" marB="12700" anchor="b"/>
                </a:tc>
                <a:extLst>
                  <a:ext uri="{0D108BD9-81ED-4DB2-BD59-A6C34878D82A}">
                    <a16:rowId xmlns:a16="http://schemas.microsoft.com/office/drawing/2014/main" val="801777281"/>
                  </a:ext>
                </a:extLst>
              </a:tr>
              <a:tr h="249911">
                <a:tc>
                  <a:txBody>
                    <a:bodyPr/>
                    <a:lstStyle/>
                    <a:p>
                      <a:pPr rtl="0" fontAlgn="b"/>
                      <a:r>
                        <a:rPr lang="en-US" sz="1200">
                          <a:effectLst/>
                          <a:latin typeface="Calibri" panose="020F0502020204030204" pitchFamily="34" charset="0"/>
                          <a:cs typeface="Calibri" panose="020F0502020204030204" pitchFamily="34" charset="0"/>
                        </a:rPr>
                        <a:t>Mitigate Address Spoofing Attacks</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Use the correct commands to mitigate address spoofing attacks.</a:t>
                      </a:r>
                    </a:p>
                  </a:txBody>
                  <a:tcPr marL="19050" marR="19050" marT="12700" marB="12700" anchor="b"/>
                </a:tc>
                <a:extLst>
                  <a:ext uri="{0D108BD9-81ED-4DB2-BD59-A6C34878D82A}">
                    <a16:rowId xmlns:a16="http://schemas.microsoft.com/office/drawing/2014/main" val="3425946478"/>
                  </a:ext>
                </a:extLst>
              </a:tr>
              <a:tr h="249911">
                <a:tc>
                  <a:txBody>
                    <a:bodyPr/>
                    <a:lstStyle/>
                    <a:p>
                      <a:pPr rtl="0" fontAlgn="b"/>
                      <a:r>
                        <a:rPr lang="en-US" sz="1200">
                          <a:effectLst/>
                          <a:latin typeface="Calibri" panose="020F0502020204030204" pitchFamily="34" charset="0"/>
                          <a:cs typeface="Calibri" panose="020F0502020204030204" pitchFamily="34" charset="0"/>
                        </a:rPr>
                        <a:t>Spanning Tree Protocol</a:t>
                      </a:r>
                    </a:p>
                  </a:txBody>
                  <a:tcPr marL="19050" marR="19050" marT="12700" marB="12700" anchor="b"/>
                </a:tc>
                <a:tc>
                  <a:txBody>
                    <a:bodyPr/>
                    <a:lstStyle/>
                    <a:p>
                      <a:pPr rtl="0" fontAlgn="b"/>
                      <a:r>
                        <a:rPr lang="en-US" sz="1200">
                          <a:effectLst/>
                          <a:latin typeface="Calibri" panose="020F0502020204030204" pitchFamily="34" charset="0"/>
                          <a:cs typeface="Calibri" panose="020F0502020204030204" pitchFamily="34" charset="0"/>
                        </a:rPr>
                        <a:t>Explain the operation of Spanning Tree Protocol.</a:t>
                      </a:r>
                    </a:p>
                  </a:txBody>
                  <a:tcPr marL="19050" marR="19050" marT="12700" marB="12700" anchor="b"/>
                </a:tc>
                <a:extLst>
                  <a:ext uri="{0D108BD9-81ED-4DB2-BD59-A6C34878D82A}">
                    <a16:rowId xmlns:a16="http://schemas.microsoft.com/office/drawing/2014/main" val="91580218"/>
                  </a:ext>
                </a:extLst>
              </a:tr>
              <a:tr h="249911">
                <a:tc>
                  <a:txBody>
                    <a:bodyPr/>
                    <a:lstStyle/>
                    <a:p>
                      <a:pPr rtl="0" fontAlgn="b"/>
                      <a:r>
                        <a:rPr lang="en-US" sz="1200">
                          <a:effectLst/>
                          <a:latin typeface="Calibri" panose="020F0502020204030204" pitchFamily="34" charset="0"/>
                          <a:cs typeface="Calibri" panose="020F0502020204030204" pitchFamily="34" charset="0"/>
                        </a:rPr>
                        <a:t>Mitigate STP Attacks</a:t>
                      </a:r>
                    </a:p>
                  </a:txBody>
                  <a:tcPr marL="19050" marR="19050" marT="12700" marB="12700" anchor="b"/>
                </a:tc>
                <a:tc>
                  <a:txBody>
                    <a:bodyPr/>
                    <a:lstStyle/>
                    <a:p>
                      <a:pPr rtl="0" fontAlgn="b"/>
                      <a:r>
                        <a:rPr lang="en-US" sz="1200" dirty="0">
                          <a:effectLst/>
                          <a:latin typeface="Calibri" panose="020F0502020204030204" pitchFamily="34" charset="0"/>
                          <a:cs typeface="Calibri" panose="020F0502020204030204" pitchFamily="34" charset="0"/>
                        </a:rPr>
                        <a:t>Configure security measures to mitigate STP attacks.</a:t>
                      </a:r>
                    </a:p>
                  </a:txBody>
                  <a:tcPr marL="19050" marR="19050" marT="12700" marB="12700" anchor="b"/>
                </a:tc>
                <a:extLst>
                  <a:ext uri="{0D108BD9-81ED-4DB2-BD59-A6C34878D82A}">
                    <a16:rowId xmlns:a16="http://schemas.microsoft.com/office/drawing/2014/main" val="2241895828"/>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14.1 Layer 2 Security Threats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Layer 2 Security Threats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Describe Layer 2 Vulnerabilities</a:t>
            </a:r>
          </a:p>
        </p:txBody>
      </p:sp>
      <p:sp>
        <p:nvSpPr>
          <p:cNvPr id="5" name="Object4"/>
          <p:cNvSpPr/>
          <p:nvPr/>
        </p:nvSpPr>
        <p:spPr>
          <a:xfrm>
            <a:off x="0" y="914400"/>
            <a:ext cx="448374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OSI reference model is divided into seven layers which work independently of each other.  Each layer performs a specific function and has core elements that can be exploited.</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Network administrators routinely implement security solutions to protect the elements in Layer 3 up through Layer 7 using VPNs, firewalls, and IPS devices. However, as shown in the figure, if Layer 2 is compromised, then all layers above it are also affected. </a:t>
            </a:r>
          </a:p>
        </p:txBody>
      </p:sp>
      <p:pic>
        <p:nvPicPr>
          <p:cNvPr id="6" name="Picture 5">
            <a:extLst>
              <a:ext uri="{FF2B5EF4-FFF2-40B4-BE49-F238E27FC236}">
                <a16:creationId xmlns:a16="http://schemas.microsoft.com/office/drawing/2014/main" id="{FE29271D-8DF5-4FEC-9A2A-7FD80BDB82D4}"/>
              </a:ext>
            </a:extLst>
          </p:cNvPr>
          <p:cNvPicPr>
            <a:picLocks noChangeAspect="1"/>
          </p:cNvPicPr>
          <p:nvPr/>
        </p:nvPicPr>
        <p:blipFill>
          <a:blip r:embed="rId3"/>
          <a:stretch>
            <a:fillRect/>
          </a:stretch>
        </p:blipFill>
        <p:spPr>
          <a:xfrm>
            <a:off x="4483747" y="914400"/>
            <a:ext cx="4431653" cy="30510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Layer 2 Security Threats</a:t>
            </a:r>
          </a:p>
        </p:txBody>
      </p:sp>
      <p:sp>
        <p:nvSpPr>
          <p:cNvPr id="3" name="Object2"/>
          <p:cNvSpPr>
            <a:spLocks noGrp="1"/>
          </p:cNvSpPr>
          <p:nvPr>
            <p:ph type="body" idx="100" hasCustomPrompt="1"/>
          </p:nvPr>
        </p:nvSpPr>
        <p:spPr>
          <a:xfrm>
            <a:off x="0" y="250098"/>
            <a:ext cx="9144000" cy="914400"/>
          </a:xfrm>
          <a:prstGeom prst="rect">
            <a:avLst/>
          </a:prstGeom>
          <a:noFill/>
          <a:ln/>
        </p:spPr>
        <p:txBody>
          <a:bodyPr wrap="square" rtlCol="0"/>
          <a:lstStyle/>
          <a:p>
            <a:pPr marL="0" indent="0">
              <a:buNone/>
            </a:pPr>
            <a:r>
              <a:rPr lang="en-US" dirty="0"/>
              <a:t>Switch Attack Categories</a:t>
            </a:r>
          </a:p>
        </p:txBody>
      </p:sp>
      <p:sp>
        <p:nvSpPr>
          <p:cNvPr id="4" name="TextBox 3">
            <a:extLst>
              <a:ext uri="{FF2B5EF4-FFF2-40B4-BE49-F238E27FC236}">
                <a16:creationId xmlns:a16="http://schemas.microsoft.com/office/drawing/2014/main" id="{684844A8-5068-4F13-98D6-F966D79EC910}"/>
              </a:ext>
            </a:extLst>
          </p:cNvPr>
          <p:cNvSpPr txBox="1"/>
          <p:nvPr/>
        </p:nvSpPr>
        <p:spPr>
          <a:xfrm>
            <a:off x="91441" y="1029457"/>
            <a:ext cx="9052560" cy="646331"/>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Layer 2 is considered to be the weakest link in the network system. Attacks against the Layer 2 LAN  infrastructure are highlighted in the table.</a:t>
            </a:r>
          </a:p>
        </p:txBody>
      </p:sp>
      <p:graphicFrame>
        <p:nvGraphicFramePr>
          <p:cNvPr id="11" name="Table 10"/>
          <p:cNvGraphicFramePr>
            <a:graphicFrameLocks noGrp="1"/>
          </p:cNvGraphicFramePr>
          <p:nvPr>
            <p:extLst>
              <p:ext uri="{D42A27DB-BD31-4B8C-83A1-F6EECF244321}">
                <p14:modId xmlns:p14="http://schemas.microsoft.com/office/powerpoint/2010/main" val="4105370946"/>
              </p:ext>
            </p:extLst>
          </p:nvPr>
        </p:nvGraphicFramePr>
        <p:xfrm>
          <a:off x="767081" y="1893478"/>
          <a:ext cx="7701280" cy="2240280"/>
        </p:xfrm>
        <a:graphic>
          <a:graphicData uri="http://schemas.openxmlformats.org/drawingml/2006/table">
            <a:tbl>
              <a:tblPr/>
              <a:tblGrid>
                <a:gridCol w="1955881">
                  <a:extLst>
                    <a:ext uri="{9D8B030D-6E8A-4147-A177-3AD203B41FA5}">
                      <a16:colId xmlns:a16="http://schemas.microsoft.com/office/drawing/2014/main" val="20000"/>
                    </a:ext>
                  </a:extLst>
                </a:gridCol>
                <a:gridCol w="5745399">
                  <a:extLst>
                    <a:ext uri="{9D8B030D-6E8A-4147-A177-3AD203B41FA5}">
                      <a16:colId xmlns:a16="http://schemas.microsoft.com/office/drawing/2014/main" val="20001"/>
                    </a:ext>
                  </a:extLst>
                </a:gridCol>
              </a:tblGrid>
              <a:tr h="0">
                <a:tc>
                  <a:txBody>
                    <a:bodyPr/>
                    <a:lstStyle/>
                    <a:p>
                      <a:r>
                        <a:rPr lang="en-US" sz="1400" dirty="0">
                          <a:solidFill>
                            <a:srgbClr val="FFFFFF"/>
                          </a:solidFill>
                          <a:latin typeface="Arial" panose="020B0604020202020204" pitchFamily="34" charset="0"/>
                          <a:cs typeface="Arial" panose="020B0604020202020204" pitchFamily="34" charset="0"/>
                        </a:rPr>
                        <a:t>Type</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400" dirty="0">
                          <a:solidFill>
                            <a:srgbClr val="FFFFFF"/>
                          </a:solidFill>
                          <a:latin typeface="Arial" panose="020B0604020202020204" pitchFamily="34" charset="0"/>
                          <a:cs typeface="Arial" panose="020B0604020202020204" pitchFamily="34" charset="0"/>
                        </a:rPr>
                        <a:t>Description</a:t>
                      </a:r>
                      <a:endParaRPr lang="en-US" sz="1400" dirty="0">
                        <a:latin typeface="Arial" panose="020B0604020202020204" pitchFamily="34" charset="0"/>
                        <a:cs typeface="Arial" panose="020B060402020202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MAC Table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MAC table overflow (also called MAC Address Flooding)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VLAN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VLAN hopping and VLAN double-tagging attacks. It also includes attacks between devices on a common VLAN.</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DHCP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DHCP starvation and DHCP spoofing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ARP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ARP spoofing and ARP poisoning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Address Spoofing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MAC Address and IP address spoofing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400" dirty="0">
                          <a:solidFill>
                            <a:srgbClr val="58585B"/>
                          </a:solidFill>
                          <a:latin typeface="Calibri" panose="020F0502020204030204" pitchFamily="34" charset="0"/>
                          <a:cs typeface="Calibri" panose="020F0502020204030204" pitchFamily="34" charset="0"/>
                        </a:rPr>
                        <a:t>STP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400" dirty="0">
                          <a:solidFill>
                            <a:srgbClr val="58585B"/>
                          </a:solidFill>
                          <a:latin typeface="Calibri" panose="020F0502020204030204" pitchFamily="34" charset="0"/>
                          <a:cs typeface="Calibri" panose="020F0502020204030204" pitchFamily="34" charset="0"/>
                        </a:rPr>
                        <a:t>Includes Spanning Tree Protocol manipulation attacks.</a:t>
                      </a:r>
                      <a:endParaRPr lang="en-US" sz="1400" dirty="0">
                        <a:latin typeface="Calibri" panose="020F0502020204030204" pitchFamily="34" charset="0"/>
                        <a:cs typeface="Calibri" panose="020F0502020204030204" pitchFamily="34"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Layer 2 Security Threats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Switch Attack Categories (Cont.)</a:t>
            </a:r>
          </a:p>
        </p:txBody>
      </p:sp>
      <p:sp>
        <p:nvSpPr>
          <p:cNvPr id="9" name="TextBox 8">
            <a:extLst>
              <a:ext uri="{FF2B5EF4-FFF2-40B4-BE49-F238E27FC236}">
                <a16:creationId xmlns:a16="http://schemas.microsoft.com/office/drawing/2014/main" id="{E8B4F75E-00B6-4EF6-873F-8E9E4D7AB1C2}"/>
              </a:ext>
            </a:extLst>
          </p:cNvPr>
          <p:cNvSpPr txBox="1"/>
          <p:nvPr/>
        </p:nvSpPr>
        <p:spPr>
          <a:xfrm>
            <a:off x="0" y="663979"/>
            <a:ext cx="6739916" cy="2231380"/>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The figure provides an overview of Cisco solutions that help mitigate Layer 2 attacks.</a:t>
            </a:r>
          </a:p>
          <a:p>
            <a:endParaRPr lang="en-US" sz="1600" dirty="0">
              <a:effectLst/>
              <a:latin typeface="Arial" panose="020B0604020202020204" pitchFamily="34" charset="0"/>
              <a:cs typeface="Arial" panose="020B0604020202020204" pitchFamily="34" charset="0"/>
            </a:endParaRPr>
          </a:p>
          <a:p>
            <a:r>
              <a:rPr lang="en-US" sz="1500" dirty="0">
                <a:effectLst/>
                <a:latin typeface="Arial" panose="020B0604020202020204" pitchFamily="34" charset="0"/>
                <a:cs typeface="Arial" panose="020B0604020202020204" pitchFamily="34" charset="0"/>
              </a:rPr>
              <a:t>The following strategies are recommended:</a:t>
            </a:r>
          </a:p>
          <a:p>
            <a:pPr>
              <a:buFont typeface="Arial" panose="020B0604020202020204" pitchFamily="34" charset="0"/>
              <a:buChar char="•"/>
            </a:pPr>
            <a:r>
              <a:rPr lang="en-US" sz="1500" dirty="0">
                <a:effectLst/>
                <a:latin typeface="Arial" panose="020B0604020202020204" pitchFamily="34" charset="0"/>
                <a:cs typeface="Arial" panose="020B0604020202020204" pitchFamily="34" charset="0"/>
              </a:rPr>
              <a:t>Always use secure variants of these protocols such as SSH, SCP, and SSL.</a:t>
            </a:r>
          </a:p>
          <a:p>
            <a:pPr>
              <a:buFont typeface="Arial" panose="020B0604020202020204" pitchFamily="34" charset="0"/>
              <a:buChar char="•"/>
            </a:pPr>
            <a:r>
              <a:rPr lang="en-US" sz="1500" dirty="0">
                <a:effectLst/>
                <a:latin typeface="Arial" panose="020B0604020202020204" pitchFamily="34" charset="0"/>
                <a:cs typeface="Arial" panose="020B0604020202020204" pitchFamily="34" charset="0"/>
              </a:rPr>
              <a:t>Consider using out-of-band (OOB) management.</a:t>
            </a:r>
          </a:p>
          <a:p>
            <a:pPr>
              <a:buFont typeface="Arial" panose="020B0604020202020204" pitchFamily="34" charset="0"/>
              <a:buChar char="•"/>
            </a:pPr>
            <a:r>
              <a:rPr lang="en-US" sz="1500" dirty="0">
                <a:effectLst/>
                <a:latin typeface="Arial" panose="020B0604020202020204" pitchFamily="34" charset="0"/>
                <a:cs typeface="Arial" panose="020B0604020202020204" pitchFamily="34" charset="0"/>
              </a:rPr>
              <a:t>Use a dedicated management VLAN where nothing but management traffic resides.</a:t>
            </a:r>
          </a:p>
          <a:p>
            <a:pPr>
              <a:buFont typeface="Arial" panose="020B0604020202020204" pitchFamily="34" charset="0"/>
              <a:buChar char="•"/>
            </a:pPr>
            <a:r>
              <a:rPr lang="en-US" sz="1500" dirty="0">
                <a:effectLst/>
                <a:latin typeface="Arial" panose="020B0604020202020204" pitchFamily="34" charset="0"/>
                <a:cs typeface="Arial" panose="020B0604020202020204" pitchFamily="34" charset="0"/>
              </a:rPr>
              <a:t>Use ACLs to filter unwanted access.</a:t>
            </a:r>
          </a:p>
        </p:txBody>
      </p:sp>
      <p:pic>
        <p:nvPicPr>
          <p:cNvPr id="4" name="Picture 3">
            <a:extLst>
              <a:ext uri="{FF2B5EF4-FFF2-40B4-BE49-F238E27FC236}">
                <a16:creationId xmlns:a16="http://schemas.microsoft.com/office/drawing/2014/main" id="{178F1DC3-FCA5-419B-8C9A-923E3E3519DE}"/>
              </a:ext>
            </a:extLst>
          </p:cNvPr>
          <p:cNvPicPr>
            <a:picLocks noChangeAspect="1"/>
          </p:cNvPicPr>
          <p:nvPr/>
        </p:nvPicPr>
        <p:blipFill>
          <a:blip r:embed="rId3"/>
          <a:stretch>
            <a:fillRect/>
          </a:stretch>
        </p:blipFill>
        <p:spPr>
          <a:xfrm>
            <a:off x="6588523" y="455842"/>
            <a:ext cx="2395001" cy="2132462"/>
          </a:xfrm>
          <a:prstGeom prst="rect">
            <a:avLst/>
          </a:prstGeom>
        </p:spPr>
      </p:pic>
      <p:graphicFrame>
        <p:nvGraphicFramePr>
          <p:cNvPr id="21" name="Table 20"/>
          <p:cNvGraphicFramePr>
            <a:graphicFrameLocks noGrp="1"/>
          </p:cNvGraphicFramePr>
          <p:nvPr>
            <p:extLst>
              <p:ext uri="{D42A27DB-BD31-4B8C-83A1-F6EECF244321}">
                <p14:modId xmlns:p14="http://schemas.microsoft.com/office/powerpoint/2010/main" val="663201349"/>
              </p:ext>
            </p:extLst>
          </p:nvPr>
        </p:nvGraphicFramePr>
        <p:xfrm>
          <a:off x="447040" y="2884170"/>
          <a:ext cx="8087360" cy="1744979"/>
        </p:xfrm>
        <a:graphic>
          <a:graphicData uri="http://schemas.openxmlformats.org/drawingml/2006/table">
            <a:tbl>
              <a:tblPr/>
              <a:tblGrid>
                <a:gridCol w="2173134">
                  <a:extLst>
                    <a:ext uri="{9D8B030D-6E8A-4147-A177-3AD203B41FA5}">
                      <a16:colId xmlns:a16="http://schemas.microsoft.com/office/drawing/2014/main" val="20000"/>
                    </a:ext>
                  </a:extLst>
                </a:gridCol>
                <a:gridCol w="5914226">
                  <a:extLst>
                    <a:ext uri="{9D8B030D-6E8A-4147-A177-3AD203B41FA5}">
                      <a16:colId xmlns:a16="http://schemas.microsoft.com/office/drawing/2014/main" val="20001"/>
                    </a:ext>
                  </a:extLst>
                </a:gridCol>
              </a:tblGrid>
              <a:tr h="305821">
                <a:tc>
                  <a:txBody>
                    <a:bodyPr/>
                    <a:lstStyle/>
                    <a:p>
                      <a:r>
                        <a:rPr lang="en-US" sz="1200" dirty="0">
                          <a:solidFill>
                            <a:srgbClr val="FFFFFF"/>
                          </a:solidFill>
                        </a:rPr>
                        <a:t>Topic Title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Topic Objective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521695">
                <a:tc>
                  <a:txBody>
                    <a:bodyPr/>
                    <a:lstStyle/>
                    <a:p>
                      <a:r>
                        <a:rPr lang="en-US" sz="1200" dirty="0">
                          <a:solidFill>
                            <a:srgbClr val="58585B"/>
                          </a:solidFill>
                        </a:rPr>
                        <a:t>Port Security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Port security prevents many types of attacks including MAC table overflow attacks and DHCP starvation attacks.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305821">
                <a:tc>
                  <a:txBody>
                    <a:bodyPr/>
                    <a:lstStyle/>
                    <a:p>
                      <a:r>
                        <a:rPr lang="en-US" sz="1200" dirty="0">
                          <a:solidFill>
                            <a:srgbClr val="58585B"/>
                          </a:solidFill>
                        </a:rPr>
                        <a:t>DHCP Snooping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DHCP Snooping prevents DHCP starvation and DHCP spoofing attacks by rogue DHCP servers.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305821">
                <a:tc>
                  <a:txBody>
                    <a:bodyPr/>
                    <a:lstStyle/>
                    <a:p>
                      <a:r>
                        <a:rPr lang="en-US" sz="1200" dirty="0">
                          <a:solidFill>
                            <a:srgbClr val="58585B"/>
                          </a:solidFill>
                        </a:rPr>
                        <a:t>Dynamic ARP Inspection (DAI)</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DAI prevents ARP spoofing and ARP poisoning attacks.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305821">
                <a:tc>
                  <a:txBody>
                    <a:bodyPr/>
                    <a:lstStyle/>
                    <a:p>
                      <a:r>
                        <a:rPr lang="en-US" sz="1200" dirty="0">
                          <a:solidFill>
                            <a:srgbClr val="58585B"/>
                          </a:solidFill>
                        </a:rPr>
                        <a:t>IP Source Guard (IPSG)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IP Source Guard prevents MAC and IP address spoofing attacks.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a:t>
            </a:fld>
            <a:endParaRPr lang="en-US"/>
          </a:p>
        </p:txBody>
      </p:sp>
    </p:spTree>
    <p:extLst>
      <p:ext uri="{BB962C8B-B14F-4D97-AF65-F5344CB8AC3E}">
        <p14:creationId xmlns:p14="http://schemas.microsoft.com/office/powerpoint/2010/main" val="26018887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14.2 MAC Table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Switch Fundamentals</a:t>
            </a:r>
          </a:p>
        </p:txBody>
      </p:sp>
      <p:sp>
        <p:nvSpPr>
          <p:cNvPr id="5" name="Object4"/>
          <p:cNvSpPr/>
          <p:nvPr/>
        </p:nvSpPr>
        <p:spPr>
          <a:xfrm>
            <a:off x="0" y="914400"/>
            <a:ext cx="447740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 Layer 2 Ethernet switch uses Layer 2 MAC addresses to make forwarding decisions. It is completely unaware of the data (protocol) being carried in the data portion of the frame, such as an IPv4 packet, an ARP message, or an IPv6 ND packet. The switch makes its forwarding decisions based solely on the Layer 2 Ethernet MAC addresses.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 table shows the MAC Address Table which has not yet learned the MAC addresses for the four attached PCs.</a:t>
            </a:r>
          </a:p>
        </p:txBody>
      </p:sp>
      <p:pic>
        <p:nvPicPr>
          <p:cNvPr id="4" name="Picture 3">
            <a:extLst>
              <a:ext uri="{FF2B5EF4-FFF2-40B4-BE49-F238E27FC236}">
                <a16:creationId xmlns:a16="http://schemas.microsoft.com/office/drawing/2014/main" id="{023EF0AA-0AE6-4745-B5CD-144A133454A4}"/>
              </a:ext>
            </a:extLst>
          </p:cNvPr>
          <p:cNvPicPr>
            <a:picLocks noChangeAspect="1"/>
          </p:cNvPicPr>
          <p:nvPr/>
        </p:nvPicPr>
        <p:blipFill>
          <a:blip r:embed="rId3"/>
          <a:stretch>
            <a:fillRect/>
          </a:stretch>
        </p:blipFill>
        <p:spPr>
          <a:xfrm>
            <a:off x="4486932" y="813015"/>
            <a:ext cx="4666593" cy="304884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Switch Learning and Forwarding</a:t>
            </a:r>
          </a:p>
        </p:txBody>
      </p:sp>
      <p:sp>
        <p:nvSpPr>
          <p:cNvPr id="5" name="Object4"/>
          <p:cNvSpPr/>
          <p:nvPr/>
        </p:nvSpPr>
        <p:spPr>
          <a:xfrm>
            <a:off x="-1" y="701903"/>
            <a:ext cx="888386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switch dynamically builds the MAC address table by examining the source MAC address of the frames that are received on a port. The switch forwards frames by searching for a match between the destination MAC address in the frame and an entry in the MAC address table.</a:t>
            </a:r>
          </a:p>
          <a:p>
            <a:pPr>
              <a:lnSpc>
                <a:spcPts val="2000"/>
              </a:lnSpc>
            </a:pPr>
            <a:endParaRPr lang="en-US" sz="1400" dirty="0"/>
          </a:p>
          <a:p>
            <a:pPr>
              <a:lnSpc>
                <a:spcPts val="2000"/>
              </a:lnSpc>
            </a:pPr>
            <a:endParaRPr lang="en-US" sz="1400" dirty="0"/>
          </a:p>
        </p:txBody>
      </p:sp>
      <p:sp>
        <p:nvSpPr>
          <p:cNvPr id="8" name="TextBox 7">
            <a:extLst>
              <a:ext uri="{FF2B5EF4-FFF2-40B4-BE49-F238E27FC236}">
                <a16:creationId xmlns:a16="http://schemas.microsoft.com/office/drawing/2014/main" id="{5EA7C444-0397-4C0B-AB75-0D8DE8AB9D81}"/>
              </a:ext>
            </a:extLst>
          </p:cNvPr>
          <p:cNvSpPr txBox="1"/>
          <p:nvPr/>
        </p:nvSpPr>
        <p:spPr>
          <a:xfrm>
            <a:off x="-2" y="1604129"/>
            <a:ext cx="4859708" cy="3046988"/>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Every frame that enters a switch is checked for new information to learn. The switch does this by examining the source MAC address of the frame and the port number where the frame entered the switch.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If the source MAC address does not exist, it is added to the table along with the incoming port number. If the source MAC address does exist, the switch updates the refresh timer for that entry in the table. By default, most Ethernet switches keep an entry in the table for 5 minutes.</a:t>
            </a:r>
          </a:p>
        </p:txBody>
      </p:sp>
      <p:pic>
        <p:nvPicPr>
          <p:cNvPr id="7" name="Picture 6">
            <a:extLst>
              <a:ext uri="{FF2B5EF4-FFF2-40B4-BE49-F238E27FC236}">
                <a16:creationId xmlns:a16="http://schemas.microsoft.com/office/drawing/2014/main" id="{A76262C0-3277-488B-B0AD-049DAC2B79B5}"/>
              </a:ext>
            </a:extLst>
          </p:cNvPr>
          <p:cNvPicPr>
            <a:picLocks noChangeAspect="1"/>
          </p:cNvPicPr>
          <p:nvPr/>
        </p:nvPicPr>
        <p:blipFill>
          <a:blip r:embed="rId3"/>
          <a:stretch>
            <a:fillRect/>
          </a:stretch>
        </p:blipFill>
        <p:spPr>
          <a:xfrm>
            <a:off x="5119838" y="1463040"/>
            <a:ext cx="3566962" cy="25717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Switch Learning and Forwarding (Cont.)</a:t>
            </a:r>
          </a:p>
        </p:txBody>
      </p:sp>
      <p:sp>
        <p:nvSpPr>
          <p:cNvPr id="9" name="TextBox 8">
            <a:extLst>
              <a:ext uri="{FF2B5EF4-FFF2-40B4-BE49-F238E27FC236}">
                <a16:creationId xmlns:a16="http://schemas.microsoft.com/office/drawing/2014/main" id="{F841D3DD-01E8-440B-AEB1-653B28D0E286}"/>
              </a:ext>
            </a:extLst>
          </p:cNvPr>
          <p:cNvSpPr txBox="1"/>
          <p:nvPr/>
        </p:nvSpPr>
        <p:spPr>
          <a:xfrm>
            <a:off x="110358" y="844151"/>
            <a:ext cx="4824249" cy="329320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If the destination MAC address is a unicast address, the switch will look for a match between the destination MAC address of the frame and an entry in its MAC address table. If the destination MAC address is in the table, it will forward the frame out the specified port. If the destination MAC address is not in the table, the switch will forward the frame out all ports except the incoming port. This is called an unknown unicast.</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As shown in the figure, the switch does not have the destination MAC address in its table for PC-D, so it sends the frame out all ports except port 1.</a:t>
            </a:r>
          </a:p>
        </p:txBody>
      </p:sp>
      <p:pic>
        <p:nvPicPr>
          <p:cNvPr id="7" name="Picture 6">
            <a:extLst>
              <a:ext uri="{FF2B5EF4-FFF2-40B4-BE49-F238E27FC236}">
                <a16:creationId xmlns:a16="http://schemas.microsoft.com/office/drawing/2014/main" id="{BDB8AD9B-54F8-4524-8EB1-8C22310C81A1}"/>
              </a:ext>
            </a:extLst>
          </p:cNvPr>
          <p:cNvPicPr>
            <a:picLocks noChangeAspect="1"/>
          </p:cNvPicPr>
          <p:nvPr/>
        </p:nvPicPr>
        <p:blipFill>
          <a:blip r:embed="rId3"/>
          <a:stretch>
            <a:fillRect/>
          </a:stretch>
        </p:blipFill>
        <p:spPr>
          <a:xfrm>
            <a:off x="4760627" y="1070652"/>
            <a:ext cx="3295089" cy="232106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10</a:t>
            </a:fld>
            <a:endParaRPr lang="en-US"/>
          </a:p>
        </p:txBody>
      </p:sp>
    </p:spTree>
    <p:extLst>
      <p:ext uri="{BB962C8B-B14F-4D97-AF65-F5344CB8AC3E}">
        <p14:creationId xmlns:p14="http://schemas.microsoft.com/office/powerpoint/2010/main" val="2590865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Filtering Frames</a:t>
            </a:r>
          </a:p>
        </p:txBody>
      </p:sp>
      <p:sp>
        <p:nvSpPr>
          <p:cNvPr id="5" name="Object4"/>
          <p:cNvSpPr/>
          <p:nvPr/>
        </p:nvSpPr>
        <p:spPr>
          <a:xfrm>
            <a:off x="0" y="692081"/>
            <a:ext cx="9088821" cy="82769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As a switch receives frames from different devices, it populates its MAC address table by examining the source MAC address of every frame. When the MAC address table of the switch contains the destination MAC address, it filters the frame and forwards out a single port.</a:t>
            </a:r>
          </a:p>
          <a:p>
            <a:pPr>
              <a:lnSpc>
                <a:spcPts val="2000"/>
              </a:lnSpc>
            </a:pPr>
            <a:endParaRPr lang="en-US" sz="1400" dirty="0"/>
          </a:p>
          <a:p>
            <a:pPr>
              <a:lnSpc>
                <a:spcPts val="2000"/>
              </a:lnSpc>
            </a:pPr>
            <a:endParaRPr lang="en-US" sz="1400" dirty="0"/>
          </a:p>
        </p:txBody>
      </p:sp>
      <p:sp>
        <p:nvSpPr>
          <p:cNvPr id="7" name="TextBox 6">
            <a:extLst>
              <a:ext uri="{FF2B5EF4-FFF2-40B4-BE49-F238E27FC236}">
                <a16:creationId xmlns:a16="http://schemas.microsoft.com/office/drawing/2014/main" id="{B0EE72B8-12F6-4CBE-B9D6-2857F7F342D9}"/>
              </a:ext>
            </a:extLst>
          </p:cNvPr>
          <p:cNvSpPr txBox="1"/>
          <p:nvPr/>
        </p:nvSpPr>
        <p:spPr>
          <a:xfrm>
            <a:off x="-1" y="1606481"/>
            <a:ext cx="9143999"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In the figure, PC-D is replying back to PC-A. The switch sees the MAC address of PC-D in the incoming frame on port 4. The switch then puts the MAC address of PC-D into the MAC Address Table associated with port 4.</a:t>
            </a:r>
          </a:p>
        </p:txBody>
      </p:sp>
      <p:pic>
        <p:nvPicPr>
          <p:cNvPr id="6" name="Picture 5">
            <a:extLst>
              <a:ext uri="{FF2B5EF4-FFF2-40B4-BE49-F238E27FC236}">
                <a16:creationId xmlns:a16="http://schemas.microsoft.com/office/drawing/2014/main" id="{B7125BF8-3ADC-4858-A204-A5D0F5CE27A9}"/>
              </a:ext>
            </a:extLst>
          </p:cNvPr>
          <p:cNvPicPr>
            <a:picLocks noChangeAspect="1"/>
          </p:cNvPicPr>
          <p:nvPr/>
        </p:nvPicPr>
        <p:blipFill>
          <a:blip r:embed="rId3"/>
          <a:stretch>
            <a:fillRect/>
          </a:stretch>
        </p:blipFill>
        <p:spPr>
          <a:xfrm>
            <a:off x="3112497" y="2216411"/>
            <a:ext cx="4038519" cy="271567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Filtering Frames (Cont.)</a:t>
            </a:r>
          </a:p>
        </p:txBody>
      </p:sp>
      <p:sp>
        <p:nvSpPr>
          <p:cNvPr id="7" name="TextBox 6">
            <a:extLst>
              <a:ext uri="{FF2B5EF4-FFF2-40B4-BE49-F238E27FC236}">
                <a16:creationId xmlns:a16="http://schemas.microsoft.com/office/drawing/2014/main" id="{B0EE72B8-12F6-4CBE-B9D6-2857F7F342D9}"/>
              </a:ext>
            </a:extLst>
          </p:cNvPr>
          <p:cNvSpPr txBox="1"/>
          <p:nvPr/>
        </p:nvSpPr>
        <p:spPr>
          <a:xfrm>
            <a:off x="134007" y="747188"/>
            <a:ext cx="3846786" cy="1323439"/>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Next, because the switch has destination MAC address for PC-A in the MAC Address Table, it will send the frame only out port 1, as shown in the figure.</a:t>
            </a:r>
          </a:p>
        </p:txBody>
      </p:sp>
      <p:pic>
        <p:nvPicPr>
          <p:cNvPr id="4" name="Picture 3">
            <a:extLst>
              <a:ext uri="{FF2B5EF4-FFF2-40B4-BE49-F238E27FC236}">
                <a16:creationId xmlns:a16="http://schemas.microsoft.com/office/drawing/2014/main" id="{C9D70E69-B188-4D44-85DE-5B58CC7FF321}"/>
              </a:ext>
            </a:extLst>
          </p:cNvPr>
          <p:cNvPicPr>
            <a:picLocks noChangeAspect="1"/>
          </p:cNvPicPr>
          <p:nvPr/>
        </p:nvPicPr>
        <p:blipFill>
          <a:blip r:embed="rId3"/>
          <a:stretch>
            <a:fillRect/>
          </a:stretch>
        </p:blipFill>
        <p:spPr>
          <a:xfrm>
            <a:off x="134007" y="2120462"/>
            <a:ext cx="3620309" cy="2516594"/>
          </a:xfrm>
          <a:prstGeom prst="rect">
            <a:avLst/>
          </a:prstGeom>
        </p:spPr>
      </p:pic>
      <p:sp>
        <p:nvSpPr>
          <p:cNvPr id="10" name="TextBox 9">
            <a:extLst>
              <a:ext uri="{FF2B5EF4-FFF2-40B4-BE49-F238E27FC236}">
                <a16:creationId xmlns:a16="http://schemas.microsoft.com/office/drawing/2014/main" id="{B9FD151B-298D-4680-9F07-DA31DE407C43}"/>
              </a:ext>
            </a:extLst>
          </p:cNvPr>
          <p:cNvSpPr txBox="1"/>
          <p:nvPr/>
        </p:nvSpPr>
        <p:spPr>
          <a:xfrm>
            <a:off x="4398579" y="406653"/>
            <a:ext cx="4611414" cy="1815882"/>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PC-A sends another frame to PC-D as shown in the figure. The MAC address table already contains the MAC address for PC-A; therefore, the five-minute refresh timer for that entry is reset. Next, because the switch table contains the destination MAC address for PC-D, it sends the frame only out port 4.</a:t>
            </a:r>
          </a:p>
        </p:txBody>
      </p:sp>
      <p:pic>
        <p:nvPicPr>
          <p:cNvPr id="9" name="Picture 8">
            <a:extLst>
              <a:ext uri="{FF2B5EF4-FFF2-40B4-BE49-F238E27FC236}">
                <a16:creationId xmlns:a16="http://schemas.microsoft.com/office/drawing/2014/main" id="{B893B2EF-7872-469C-B0EB-ECE53ECCA6F5}"/>
              </a:ext>
            </a:extLst>
          </p:cNvPr>
          <p:cNvPicPr>
            <a:picLocks noChangeAspect="1"/>
          </p:cNvPicPr>
          <p:nvPr/>
        </p:nvPicPr>
        <p:blipFill>
          <a:blip r:embed="rId4"/>
          <a:stretch>
            <a:fillRect/>
          </a:stretch>
        </p:blipFill>
        <p:spPr>
          <a:xfrm>
            <a:off x="4711099" y="2222534"/>
            <a:ext cx="3481210" cy="240661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12</a:t>
            </a:fld>
            <a:endParaRPr lang="en-US"/>
          </a:p>
        </p:txBody>
      </p:sp>
    </p:spTree>
    <p:extLst>
      <p:ext uri="{BB962C8B-B14F-4D97-AF65-F5344CB8AC3E}">
        <p14:creationId xmlns:p14="http://schemas.microsoft.com/office/powerpoint/2010/main" val="1213277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MAC Address Table Flooding</a:t>
            </a:r>
          </a:p>
        </p:txBody>
      </p:sp>
      <p:sp>
        <p:nvSpPr>
          <p:cNvPr id="5" name="Object4"/>
          <p:cNvSpPr/>
          <p:nvPr/>
        </p:nvSpPr>
        <p:spPr>
          <a:xfrm>
            <a:off x="-1" y="914400"/>
            <a:ext cx="8946931" cy="788276"/>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All MAC tables have a fixed size and consequently, a switch can run out of resources in which to store MAC addresses. MAC address flooding attacks take advantage of this limitation by bombarding the switch with fake source MAC addresses until the switch MAC address table is full.</a:t>
            </a:r>
          </a:p>
        </p:txBody>
      </p:sp>
      <p:pic>
        <p:nvPicPr>
          <p:cNvPr id="4" name="Picture 3">
            <a:extLst>
              <a:ext uri="{FF2B5EF4-FFF2-40B4-BE49-F238E27FC236}">
                <a16:creationId xmlns:a16="http://schemas.microsoft.com/office/drawing/2014/main" id="{7CDCC7B8-120B-4F4D-88F3-B078DDCCD358}"/>
              </a:ext>
            </a:extLst>
          </p:cNvPr>
          <p:cNvPicPr>
            <a:picLocks noChangeAspect="1"/>
          </p:cNvPicPr>
          <p:nvPr/>
        </p:nvPicPr>
        <p:blipFill>
          <a:blip r:embed="rId3"/>
          <a:stretch>
            <a:fillRect/>
          </a:stretch>
        </p:blipFill>
        <p:spPr>
          <a:xfrm>
            <a:off x="1072055" y="1828800"/>
            <a:ext cx="5825358" cy="271073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MAC Address Table Attack Mitigation</a:t>
            </a:r>
          </a:p>
        </p:txBody>
      </p:sp>
      <p:sp>
        <p:nvSpPr>
          <p:cNvPr id="5" name="Object4"/>
          <p:cNvSpPr/>
          <p:nvPr/>
        </p:nvSpPr>
        <p:spPr>
          <a:xfrm>
            <a:off x="0" y="914400"/>
            <a:ext cx="8931166"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What makes tools such as </a:t>
            </a:r>
            <a:r>
              <a:rPr lang="en-US" b="1" dirty="0" err="1">
                <a:latin typeface="Arial" panose="020B0604020202020204" pitchFamily="34" charset="0"/>
                <a:cs typeface="Arial" panose="020B0604020202020204" pitchFamily="34" charset="0"/>
              </a:rPr>
              <a:t>macof</a:t>
            </a:r>
            <a:r>
              <a:rPr lang="en-US" dirty="0">
                <a:latin typeface="Arial" panose="020B0604020202020204" pitchFamily="34" charset="0"/>
                <a:cs typeface="Arial" panose="020B0604020202020204" pitchFamily="34" charset="0"/>
              </a:rPr>
              <a:t> so dangerous is that an attacker can create a MAC table overflow attack very quickly. These attack tools are dangerous because they not only affect the local switch, but because they can also affect other connected Layer 2 switches.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To mitigate MAC address table overflow attacks, network administrators must implement port security. Port security will only allow a specified number of source MAC addresses to be learned on the port.</a:t>
            </a:r>
          </a:p>
          <a:p>
            <a:pPr>
              <a:lnSpc>
                <a:spcPts val="2000"/>
              </a:lnSpc>
            </a:pPr>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14.3 Mitigate MAC Table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Secure Unused Ports</a:t>
            </a:r>
          </a:p>
        </p:txBody>
      </p:sp>
      <p:sp>
        <p:nvSpPr>
          <p:cNvPr id="5" name="Object4"/>
          <p:cNvSpPr/>
          <p:nvPr/>
        </p:nvSpPr>
        <p:spPr>
          <a:xfrm>
            <a:off x="-1" y="914400"/>
            <a:ext cx="8868103"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All switch ports (interfaces) should be secured before the switch is deployed for production use. How a port is secured depends on its function.</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 simple method that many administrators use to help secure the network from unauthorized access is to disable all unused ports on a switch. </a:t>
            </a:r>
          </a:p>
        </p:txBody>
      </p:sp>
      <p:pic>
        <p:nvPicPr>
          <p:cNvPr id="6" name="Picture 5">
            <a:extLst>
              <a:ext uri="{FF2B5EF4-FFF2-40B4-BE49-F238E27FC236}">
                <a16:creationId xmlns:a16="http://schemas.microsoft.com/office/drawing/2014/main" id="{FF2431BA-FC3D-4852-962A-799F7617DCFF}"/>
              </a:ext>
            </a:extLst>
          </p:cNvPr>
          <p:cNvPicPr>
            <a:picLocks noChangeAspect="1"/>
          </p:cNvPicPr>
          <p:nvPr/>
        </p:nvPicPr>
        <p:blipFill>
          <a:blip r:embed="rId3"/>
          <a:stretch>
            <a:fillRect/>
          </a:stretch>
        </p:blipFill>
        <p:spPr>
          <a:xfrm>
            <a:off x="988998" y="2838432"/>
            <a:ext cx="6890104" cy="121291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Mitigate MAC Address Table Attacks</a:t>
            </a:r>
          </a:p>
        </p:txBody>
      </p:sp>
      <p:sp>
        <p:nvSpPr>
          <p:cNvPr id="5" name="Object4"/>
          <p:cNvSpPr/>
          <p:nvPr/>
        </p:nvSpPr>
        <p:spPr>
          <a:xfrm>
            <a:off x="-1" y="914400"/>
            <a:ext cx="4871545" cy="2571750"/>
          </a:xfrm>
          <a:prstGeom prst="rect">
            <a:avLst/>
          </a:prstGeom>
          <a:noFill/>
          <a:ln/>
        </p:spPr>
        <p:txBody>
          <a:bodyPr wrap="square" rtlCol="0" anchor="t"/>
          <a:lstStyle/>
          <a:p>
            <a:r>
              <a:rPr lang="en-US" sz="1600" b="1" dirty="0">
                <a:effectLst/>
                <a:latin typeface="Arial" panose="020B0604020202020204" pitchFamily="34" charset="0"/>
                <a:cs typeface="Arial" panose="020B0604020202020204" pitchFamily="34" charset="0"/>
              </a:rPr>
              <a:t>Port security limits the number of valid MAC addresses allowed on a port.</a:t>
            </a:r>
            <a:r>
              <a:rPr lang="en-US" sz="1600" dirty="0">
                <a:effectLst/>
                <a:latin typeface="Arial" panose="020B0604020202020204" pitchFamily="34" charset="0"/>
                <a:cs typeface="Arial" panose="020B0604020202020204" pitchFamily="34" charset="0"/>
              </a:rPr>
              <a:t> It allows an administrator to manually configure MAC addresses for a port or to permit the switch to dynamically learn a limited number of MAC addresses. When a port that is configured with port security receives a frame, the source MAC address of the frame is compared to the list of secure source MAC addresses that were manually configured or dynamically learned on the port.</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By limiting the number of permitted MAC addresses on a port to one, port security can be used to control unauthorized access to the network, as shown in the figure.</a:t>
            </a:r>
          </a:p>
        </p:txBody>
      </p:sp>
      <p:pic>
        <p:nvPicPr>
          <p:cNvPr id="4" name="Picture 3">
            <a:extLst>
              <a:ext uri="{FF2B5EF4-FFF2-40B4-BE49-F238E27FC236}">
                <a16:creationId xmlns:a16="http://schemas.microsoft.com/office/drawing/2014/main" id="{21E6D664-B527-476E-8F67-35E709C0C019}"/>
              </a:ext>
            </a:extLst>
          </p:cNvPr>
          <p:cNvPicPr>
            <a:picLocks noChangeAspect="1"/>
          </p:cNvPicPr>
          <p:nvPr/>
        </p:nvPicPr>
        <p:blipFill>
          <a:blip r:embed="rId3"/>
          <a:stretch>
            <a:fillRect/>
          </a:stretch>
        </p:blipFill>
        <p:spPr>
          <a:xfrm>
            <a:off x="5063156" y="842549"/>
            <a:ext cx="3679719" cy="298977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Enable Port Security</a:t>
            </a:r>
          </a:p>
        </p:txBody>
      </p:sp>
      <p:sp>
        <p:nvSpPr>
          <p:cNvPr id="5" name="Object4"/>
          <p:cNvSpPr/>
          <p:nvPr/>
        </p:nvSpPr>
        <p:spPr>
          <a:xfrm>
            <a:off x="0" y="725438"/>
            <a:ext cx="4572001"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switchport port-security </a:t>
            </a:r>
            <a:r>
              <a:rPr lang="en-US" sz="1600" dirty="0">
                <a:latin typeface="Arial" panose="020B0604020202020204" pitchFamily="34" charset="0"/>
                <a:cs typeface="Arial" panose="020B0604020202020204" pitchFamily="34" charset="0"/>
              </a:rPr>
              <a:t>interface configuration command  for port security can only be configured on manually configured access ports or manually configured trunk ports. By default, Layer 2 switch ports are set to dynamic auto (</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on).</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show port-security interface</a:t>
            </a:r>
            <a:r>
              <a:rPr lang="en-US" sz="1600" dirty="0">
                <a:latin typeface="Arial" panose="020B0604020202020204" pitchFamily="34" charset="0"/>
                <a:cs typeface="Arial" panose="020B0604020202020204" pitchFamily="34" charset="0"/>
              </a:rPr>
              <a:t> command to display the current port security settings for </a:t>
            </a:r>
            <a:r>
              <a:rPr lang="en-US" sz="1600" dirty="0" err="1">
                <a:latin typeface="Arial" panose="020B0604020202020204" pitchFamily="34" charset="0"/>
                <a:cs typeface="Arial" panose="020B0604020202020204" pitchFamily="34" charset="0"/>
              </a:rPr>
              <a:t>FastEthernet</a:t>
            </a:r>
            <a:r>
              <a:rPr lang="en-US" sz="1600" dirty="0">
                <a:latin typeface="Arial" panose="020B0604020202020204" pitchFamily="34" charset="0"/>
                <a:cs typeface="Arial" panose="020B0604020202020204" pitchFamily="34" charset="0"/>
              </a:rPr>
              <a:t> 0/1, as shown in the example. Notice that port security is enabled, and the port status is Secure-down, which means there are no devices attached and no violation has occurred. Also, the violation mode is Shutdown, and the maximum number of MAC addresses allowed is 1. </a:t>
            </a:r>
          </a:p>
        </p:txBody>
      </p:sp>
      <p:pic>
        <p:nvPicPr>
          <p:cNvPr id="7" name="Picture 6">
            <a:extLst>
              <a:ext uri="{FF2B5EF4-FFF2-40B4-BE49-F238E27FC236}">
                <a16:creationId xmlns:a16="http://schemas.microsoft.com/office/drawing/2014/main" id="{EBF00C18-D4E9-4E48-AF4C-013DE68C1363}"/>
              </a:ext>
            </a:extLst>
          </p:cNvPr>
          <p:cNvPicPr>
            <a:picLocks noChangeAspect="1"/>
          </p:cNvPicPr>
          <p:nvPr/>
        </p:nvPicPr>
        <p:blipFill>
          <a:blip r:embed="rId3"/>
          <a:stretch>
            <a:fillRect/>
          </a:stretch>
        </p:blipFill>
        <p:spPr>
          <a:xfrm>
            <a:off x="4751460" y="131660"/>
            <a:ext cx="4110215" cy="1368027"/>
          </a:xfrm>
          <a:prstGeom prst="rect">
            <a:avLst/>
          </a:prstGeom>
        </p:spPr>
      </p:pic>
      <p:pic>
        <p:nvPicPr>
          <p:cNvPr id="6" name="Picture 5">
            <a:extLst>
              <a:ext uri="{FF2B5EF4-FFF2-40B4-BE49-F238E27FC236}">
                <a16:creationId xmlns:a16="http://schemas.microsoft.com/office/drawing/2014/main" id="{ED4CA824-BA8D-4BDE-98FB-70DC3518AD44}"/>
              </a:ext>
            </a:extLst>
          </p:cNvPr>
          <p:cNvPicPr>
            <a:picLocks noChangeAspect="1"/>
          </p:cNvPicPr>
          <p:nvPr/>
        </p:nvPicPr>
        <p:blipFill>
          <a:blip r:embed="rId4"/>
          <a:stretch>
            <a:fillRect/>
          </a:stretch>
        </p:blipFill>
        <p:spPr>
          <a:xfrm>
            <a:off x="4741300" y="1706026"/>
            <a:ext cx="4110215" cy="292312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Limit and Learn MAC Addresses</a:t>
            </a:r>
          </a:p>
        </p:txBody>
      </p:sp>
      <p:sp>
        <p:nvSpPr>
          <p:cNvPr id="6" name="Rectangle 2">
            <a:extLst>
              <a:ext uri="{FF2B5EF4-FFF2-40B4-BE49-F238E27FC236}">
                <a16:creationId xmlns:a16="http://schemas.microsoft.com/office/drawing/2014/main" id="{0BE1DEE0-5FB0-4990-B0F8-E3D86CA09694}"/>
              </a:ext>
            </a:extLst>
          </p:cNvPr>
          <p:cNvSpPr>
            <a:spLocks noChangeArrowheads="1"/>
          </p:cNvSpPr>
          <p:nvPr/>
        </p:nvSpPr>
        <p:spPr bwMode="auto">
          <a:xfrm>
            <a:off x="0" y="721830"/>
            <a:ext cx="9144000" cy="1138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To set the maximum number of MAC addresses allowed on a port, use the </a:t>
            </a:r>
            <a:r>
              <a:rPr lang="en-US" altLang="en-US" sz="1600" b="1" dirty="0">
                <a:latin typeface="Arial" panose="020B0604020202020204" pitchFamily="34" charset="0"/>
                <a:cs typeface="Arial" panose="020B0604020202020204" pitchFamily="34" charset="0"/>
              </a:rPr>
              <a:t>switchport port-security maximum </a:t>
            </a:r>
            <a:r>
              <a:rPr lang="en-US" altLang="en-US" sz="1600" i="1" dirty="0">
                <a:latin typeface="Arial" panose="020B0604020202020204" pitchFamily="34" charset="0"/>
                <a:cs typeface="Arial" panose="020B0604020202020204" pitchFamily="34" charset="0"/>
              </a:rPr>
              <a:t>value</a:t>
            </a:r>
            <a:r>
              <a:rPr lang="en-US" altLang="en-US" sz="1600" dirty="0">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command</a:t>
            </a:r>
            <a:r>
              <a:rPr lang="en-US" altLang="en-US" sz="1600" dirty="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sp>
        <p:nvSpPr>
          <p:cNvPr id="7" name="Rectangle 3">
            <a:extLst>
              <a:ext uri="{FF2B5EF4-FFF2-40B4-BE49-F238E27FC236}">
                <a16:creationId xmlns:a16="http://schemas.microsoft.com/office/drawing/2014/main" id="{7FE0432F-86EA-43D4-8023-ED83160E3053}"/>
              </a:ext>
            </a:extLst>
          </p:cNvPr>
          <p:cNvSpPr>
            <a:spLocks noChangeArrowheads="1"/>
          </p:cNvSpPr>
          <p:nvPr/>
        </p:nvSpPr>
        <p:spPr bwMode="auto">
          <a:xfrm>
            <a:off x="0" y="1291216"/>
            <a:ext cx="8749862"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switch can be configured to learn about MAC addresses on a secure port in one of three ways:</a:t>
            </a:r>
          </a:p>
          <a:p>
            <a:pPr marL="800100" lvl="1" indent="-342900" eaLnBrk="0" fontAlgn="base" hangingPunct="0">
              <a:spcBef>
                <a:spcPct val="0"/>
              </a:spcBef>
              <a:spcAft>
                <a:spcPct val="0"/>
              </a:spcAft>
              <a:buAutoNum type="arabicPeriod"/>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Manually Configured </a:t>
            </a:r>
            <a:r>
              <a:rPr kumimoji="0" lang="en-US" altLang="en-US" sz="16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administrator manually configures a static MAC address(es) by using the </a:t>
            </a:r>
            <a:r>
              <a:rPr lang="en-US" altLang="en-US" sz="1600" b="1" dirty="0">
                <a:latin typeface="Arial" panose="020B0604020202020204" pitchFamily="34" charset="0"/>
                <a:cs typeface="Arial" panose="020B0604020202020204" pitchFamily="34" charset="0"/>
              </a:rPr>
              <a:t>switchport port-security mac-address </a:t>
            </a:r>
            <a:r>
              <a:rPr lang="en-US" altLang="en-US" sz="1600" i="1" dirty="0" err="1">
                <a:latin typeface="Arial" panose="020B0604020202020204" pitchFamily="34" charset="0"/>
                <a:cs typeface="Arial" panose="020B0604020202020204" pitchFamily="34" charset="0"/>
              </a:rPr>
              <a:t>mac-address</a:t>
            </a:r>
            <a:r>
              <a:rPr lang="en-US" altLang="en-US" sz="1600" b="1" dirty="0">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command for each secure MAC address on the port.</a:t>
            </a:r>
          </a:p>
          <a:p>
            <a:pPr marL="800100" lvl="1" indent="-342900" eaLnBrk="0" fontAlgn="base" hangingPunct="0">
              <a:spcBef>
                <a:spcPct val="0"/>
              </a:spcBef>
              <a:spcAft>
                <a:spcPct val="0"/>
              </a:spcAft>
              <a:buAutoNum type="arabicPeriod"/>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Dynamically Learned -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When the </a:t>
            </a: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switchport port-security</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command is entered, the current source MAC for the device connected to the port is automatically secured but is not added to the startup configuration. If the switch is rebooted, the port will have to re-learn the device’s MAC address.</a:t>
            </a:r>
          </a:p>
          <a:p>
            <a:pPr marL="800100" lvl="1" indent="-342900" eaLnBrk="0" fontAlgn="base" hangingPunct="0">
              <a:spcBef>
                <a:spcPct val="0"/>
              </a:spcBef>
              <a:spcAft>
                <a:spcPct val="0"/>
              </a:spcAft>
              <a:buAutoNum type="arabicPeriod"/>
            </a:pPr>
            <a:r>
              <a:rPr kumimoji="0" lang="en-US" altLang="en-US" sz="16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Dynamically Learned – Sticky </a:t>
            </a:r>
            <a:r>
              <a:rPr kumimoji="0" lang="en-US" altLang="en-US" sz="1600"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The administrator can enable the switch to dynamically learn the MAC address and “stick” them to the running configuration by using the </a:t>
            </a:r>
            <a:r>
              <a:rPr lang="en-US" altLang="en-US" sz="1600" b="1" dirty="0">
                <a:latin typeface="Arial" panose="020B0604020202020204" pitchFamily="34" charset="0"/>
                <a:cs typeface="Arial" panose="020B0604020202020204" pitchFamily="34" charset="0"/>
              </a:rPr>
              <a:t>switchport port-security mac-address sticky</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command.</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Port Security Aging</a:t>
            </a:r>
          </a:p>
        </p:txBody>
      </p:sp>
      <p:sp>
        <p:nvSpPr>
          <p:cNvPr id="7" name="TextBox 6">
            <a:extLst>
              <a:ext uri="{FF2B5EF4-FFF2-40B4-BE49-F238E27FC236}">
                <a16:creationId xmlns:a16="http://schemas.microsoft.com/office/drawing/2014/main" id="{56F381F5-DF56-4410-9456-0997DC93B158}"/>
              </a:ext>
            </a:extLst>
          </p:cNvPr>
          <p:cNvSpPr txBox="1"/>
          <p:nvPr/>
        </p:nvSpPr>
        <p:spPr>
          <a:xfrm>
            <a:off x="47296" y="754324"/>
            <a:ext cx="9246476" cy="2308324"/>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Port security aging can be used to set the aging time for static and dynamic secure addresses on a port. Two types of aging are supported per port:</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Absolute</a:t>
            </a:r>
            <a:r>
              <a:rPr lang="en-US" sz="1600" dirty="0">
                <a:latin typeface="Arial" panose="020B0604020202020204" pitchFamily="34" charset="0"/>
                <a:cs typeface="Arial" panose="020B0604020202020204" pitchFamily="34" charset="0"/>
              </a:rPr>
              <a:t> - The secure addresses on the port are deleted after the specified aging time.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Inactivity</a:t>
            </a:r>
            <a:r>
              <a:rPr lang="en-US" sz="1600" dirty="0">
                <a:latin typeface="Arial" panose="020B0604020202020204" pitchFamily="34" charset="0"/>
                <a:cs typeface="Arial" panose="020B0604020202020204" pitchFamily="34" charset="0"/>
              </a:rPr>
              <a:t> - The secure addresses on the port are deleted only if they are inactive for the specified aging time.</a:t>
            </a:r>
          </a:p>
          <a:p>
            <a:pPr lvl="1">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 aging to remove secure MAC addresses on a secure port without manually deleting the existing secure MAC addresses. </a:t>
            </a:r>
          </a:p>
        </p:txBody>
      </p:sp>
      <p:graphicFrame>
        <p:nvGraphicFramePr>
          <p:cNvPr id="24" name="Table 23"/>
          <p:cNvGraphicFramePr>
            <a:graphicFrameLocks noGrp="1"/>
          </p:cNvGraphicFramePr>
          <p:nvPr>
            <p:extLst>
              <p:ext uri="{D42A27DB-BD31-4B8C-83A1-F6EECF244321}">
                <p14:modId xmlns:p14="http://schemas.microsoft.com/office/powerpoint/2010/main" val="3219530717"/>
              </p:ext>
            </p:extLst>
          </p:nvPr>
        </p:nvGraphicFramePr>
        <p:xfrm>
          <a:off x="1026160" y="2967990"/>
          <a:ext cx="7000240" cy="1844040"/>
        </p:xfrm>
        <a:graphic>
          <a:graphicData uri="http://schemas.openxmlformats.org/drawingml/2006/table">
            <a:tbl>
              <a:tblPr/>
              <a:tblGrid>
                <a:gridCol w="1486504">
                  <a:extLst>
                    <a:ext uri="{9D8B030D-6E8A-4147-A177-3AD203B41FA5}">
                      <a16:colId xmlns:a16="http://schemas.microsoft.com/office/drawing/2014/main" val="20000"/>
                    </a:ext>
                  </a:extLst>
                </a:gridCol>
                <a:gridCol w="5513736">
                  <a:extLst>
                    <a:ext uri="{9D8B030D-6E8A-4147-A177-3AD203B41FA5}">
                      <a16:colId xmlns:a16="http://schemas.microsoft.com/office/drawing/2014/main" val="20001"/>
                    </a:ext>
                  </a:extLst>
                </a:gridCol>
              </a:tblGrid>
              <a:tr h="0">
                <a:tc>
                  <a:txBody>
                    <a:bodyPr/>
                    <a:lstStyle/>
                    <a:p>
                      <a:r>
                        <a:rPr lang="en-US" sz="1200" dirty="0">
                          <a:solidFill>
                            <a:srgbClr val="FFFFFF"/>
                          </a:solidFill>
                        </a:rPr>
                        <a:t>Parameter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static</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Enable aging for statically configured secure addresses on this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time </a:t>
                      </a:r>
                      <a:r>
                        <a:rPr lang="en-US" sz="1200" i="1" dirty="0">
                          <a:solidFill>
                            <a:srgbClr val="58585B"/>
                          </a:solidFill>
                          <a:latin typeface="Courier New" panose="02070309020205020404" pitchFamily="49" charset="0"/>
                          <a:cs typeface="Courier New" panose="02070309020205020404" pitchFamily="49" charset="0"/>
                        </a:rPr>
                        <a:t>time</a:t>
                      </a:r>
                      <a:endParaRPr lang="en-US" sz="1200" i="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Specify the aging time for this port. The range is 0 to 1440 minutes. If the time is 0, aging is disabled for this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type absolute</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Set the absolute aging time. All the secure addresses on this port age out exactly after the time (in minutes) specified and are removed from the secure address list.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type inactivity</a:t>
                      </a:r>
                      <a:endParaRPr lang="en-US" sz="1200" b="1" dirty="0">
                        <a:latin typeface="Courier New" panose="02070309020205020404" pitchFamily="49" charset="0"/>
                        <a:cs typeface="Courier New" panose="02070309020205020404" pitchFamily="49" charset="0"/>
                      </a:endParaRP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Set the inactivity aging type. The secure addresses on this port age out only if there is no data traffic from the secure source address for the specified time period.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Port Security Violation Modes</a:t>
            </a:r>
          </a:p>
        </p:txBody>
      </p:sp>
      <p:sp>
        <p:nvSpPr>
          <p:cNvPr id="5" name="Rectangle 1">
            <a:extLst>
              <a:ext uri="{FF2B5EF4-FFF2-40B4-BE49-F238E27FC236}">
                <a16:creationId xmlns:a16="http://schemas.microsoft.com/office/drawing/2014/main" id="{DA03C5EF-A660-45B8-A63C-9D1A653B5884}"/>
              </a:ext>
            </a:extLst>
          </p:cNvPr>
          <p:cNvSpPr>
            <a:spLocks noChangeArrowheads="1"/>
          </p:cNvSpPr>
          <p:nvPr/>
        </p:nvSpPr>
        <p:spPr bwMode="auto">
          <a:xfrm>
            <a:off x="0" y="717725"/>
            <a:ext cx="91440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If the MAC address of a device that is attached to the port differs from the list of secure addresses, then a port violation occurs. By default, the port enters the error-disabled state. To set the port security violation mode, use the </a:t>
            </a:r>
            <a:r>
              <a:rPr lang="en-US" altLang="en-US" sz="1600" b="1" dirty="0">
                <a:latin typeface="Arial" panose="020B0604020202020204" pitchFamily="34" charset="0"/>
                <a:cs typeface="Arial" panose="020B0604020202020204" pitchFamily="34" charset="0"/>
              </a:rPr>
              <a:t>switchport port-security violation </a:t>
            </a:r>
            <a:r>
              <a:rPr lang="en-US" altLang="en-US" sz="1600" dirty="0">
                <a:latin typeface="Arial" panose="020B0604020202020204" pitchFamily="34" charset="0"/>
                <a:cs typeface="Arial" panose="020B0604020202020204" pitchFamily="34" charset="0"/>
              </a:rPr>
              <a:t>{ </a:t>
            </a:r>
            <a:r>
              <a:rPr lang="en-US" altLang="en-US" sz="1600" b="1" dirty="0">
                <a:latin typeface="Arial" panose="020B0604020202020204" pitchFamily="34" charset="0"/>
                <a:cs typeface="Arial" panose="020B0604020202020204" pitchFamily="34" charset="0"/>
              </a:rPr>
              <a:t>protect</a:t>
            </a:r>
            <a:r>
              <a:rPr lang="en-US" altLang="en-US" sz="1600" dirty="0">
                <a:latin typeface="Arial" panose="020B0604020202020204" pitchFamily="34" charset="0"/>
                <a:cs typeface="Arial" panose="020B0604020202020204" pitchFamily="34" charset="0"/>
              </a:rPr>
              <a:t> | </a:t>
            </a:r>
            <a:r>
              <a:rPr lang="en-US" altLang="en-US" sz="1600" b="1" dirty="0">
                <a:latin typeface="Arial" panose="020B0604020202020204" pitchFamily="34" charset="0"/>
                <a:cs typeface="Arial" panose="020B0604020202020204" pitchFamily="34" charset="0"/>
              </a:rPr>
              <a:t>restrict</a:t>
            </a:r>
            <a:r>
              <a:rPr lang="en-US" altLang="en-US" sz="1600" dirty="0">
                <a:latin typeface="Arial" panose="020B0604020202020204" pitchFamily="34" charset="0"/>
                <a:cs typeface="Arial" panose="020B0604020202020204" pitchFamily="34" charset="0"/>
              </a:rPr>
              <a:t> | </a:t>
            </a:r>
            <a:r>
              <a:rPr lang="en-US" altLang="en-US" sz="1600" b="1" dirty="0">
                <a:latin typeface="Arial" panose="020B0604020202020204" pitchFamily="34" charset="0"/>
                <a:cs typeface="Arial" panose="020B0604020202020204" pitchFamily="34" charset="0"/>
              </a:rPr>
              <a:t>shutdown</a:t>
            </a:r>
            <a:r>
              <a:rPr lang="en-US" altLang="en-US" sz="1600" dirty="0">
                <a:latin typeface="Arial" panose="020B0604020202020204" pitchFamily="34" charset="0"/>
                <a:cs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command</a:t>
            </a:r>
            <a:r>
              <a:rPr lang="en-US" altLang="en-US" sz="1600" dirty="0">
                <a:latin typeface="Arial" panose="020B0604020202020204" pitchFamily="34" charset="0"/>
                <a:cs typeface="Arial" panose="020B0604020202020204" pitchFamily="34" charset="0"/>
              </a:rPr>
              <a:t>.</a:t>
            </a:r>
          </a:p>
          <a:p>
            <a:pPr lvl="0" eaLnBrk="0" fontAlgn="base" hangingPunct="0">
              <a:spcBef>
                <a:spcPct val="0"/>
              </a:spcBef>
              <a:spcAft>
                <a:spcPct val="0"/>
              </a:spcAft>
            </a:pPr>
            <a:endParaRPr lang="en-US" altLang="en-US" sz="1600" dirty="0">
              <a:latin typeface="Arial" panose="020B0604020202020204" pitchFamily="34" charset="0"/>
              <a:cs typeface="Arial" panose="020B0604020202020204" pitchFamily="34" charset="0"/>
            </a:endParaRPr>
          </a:p>
          <a:p>
            <a:pPr lvl="0" eaLnBrk="0" fontAlgn="base" hangingPunct="0">
              <a:spcBef>
                <a:spcPct val="0"/>
              </a:spcBef>
              <a:spcAft>
                <a:spcPct val="0"/>
              </a:spcAft>
            </a:pPr>
            <a:r>
              <a:rPr lang="en-US" altLang="en-US" sz="1600" dirty="0">
                <a:latin typeface="Arial" panose="020B0604020202020204" pitchFamily="34" charset="0"/>
                <a:cs typeface="Arial" panose="020B0604020202020204" pitchFamily="34" charset="0"/>
              </a:rPr>
              <a:t>The following table shows security violation mode descriptions.</a:t>
            </a:r>
          </a:p>
          <a:p>
            <a:pPr lvl="0" eaLnBrk="0" fontAlgn="base" hangingPunct="0">
              <a:spcBef>
                <a:spcPct val="0"/>
              </a:spcBef>
              <a:spcAft>
                <a:spcPct val="0"/>
              </a:spcAft>
            </a:pPr>
            <a:endParaRPr kumimoji="0" lang="en-US" altLang="en-US" sz="1600"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p:txBody>
      </p:sp>
      <p:graphicFrame>
        <p:nvGraphicFramePr>
          <p:cNvPr id="25" name="Table 24"/>
          <p:cNvGraphicFramePr>
            <a:graphicFrameLocks noGrp="1"/>
          </p:cNvGraphicFramePr>
          <p:nvPr>
            <p:extLst>
              <p:ext uri="{D42A27DB-BD31-4B8C-83A1-F6EECF244321}">
                <p14:modId xmlns:p14="http://schemas.microsoft.com/office/powerpoint/2010/main" val="143204191"/>
              </p:ext>
            </p:extLst>
          </p:nvPr>
        </p:nvGraphicFramePr>
        <p:xfrm>
          <a:off x="807720" y="2352740"/>
          <a:ext cx="7528560" cy="2133600"/>
        </p:xfrm>
        <a:graphic>
          <a:graphicData uri="http://schemas.openxmlformats.org/drawingml/2006/table">
            <a:tbl>
              <a:tblPr/>
              <a:tblGrid>
                <a:gridCol w="1400015">
                  <a:extLst>
                    <a:ext uri="{9D8B030D-6E8A-4147-A177-3AD203B41FA5}">
                      <a16:colId xmlns:a16="http://schemas.microsoft.com/office/drawing/2014/main" val="20000"/>
                    </a:ext>
                  </a:extLst>
                </a:gridCol>
                <a:gridCol w="6128545">
                  <a:extLst>
                    <a:ext uri="{9D8B030D-6E8A-4147-A177-3AD203B41FA5}">
                      <a16:colId xmlns:a16="http://schemas.microsoft.com/office/drawing/2014/main" val="20001"/>
                    </a:ext>
                  </a:extLst>
                </a:gridCol>
              </a:tblGrid>
              <a:tr h="0">
                <a:tc>
                  <a:txBody>
                    <a:bodyPr/>
                    <a:lstStyle/>
                    <a:p>
                      <a:r>
                        <a:rPr lang="en-US" sz="1200" dirty="0">
                          <a:solidFill>
                            <a:srgbClr val="FFFFFF"/>
                          </a:solidFill>
                        </a:rPr>
                        <a:t>Mode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b="1" dirty="0">
                          <a:solidFill>
                            <a:srgbClr val="58585B"/>
                          </a:solidFill>
                          <a:latin typeface="Courier New" panose="02070309020205020404" pitchFamily="49" charset="0"/>
                          <a:cs typeface="Courier New" panose="02070309020205020404" pitchFamily="49" charset="0"/>
                        </a:rPr>
                        <a:t>shutdown</a:t>
                      </a:r>
                      <a:r>
                        <a:rPr lang="en-US" sz="1200" dirty="0">
                          <a:solidFill>
                            <a:srgbClr val="58585B"/>
                          </a:solidFill>
                        </a:rPr>
                        <a:t> (default)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port transitions to the error-disabled state immediately, turns off the port LED, and sends a syslog message. It increments the violation counter. When a secure port is in the error-disabled state, an administrator must re-enable it by entering the shutdown and no shutdown commands.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b="1" kern="1200" dirty="0">
                          <a:solidFill>
                            <a:srgbClr val="58585B"/>
                          </a:solidFill>
                          <a:latin typeface="Courier New" panose="02070309020205020404" pitchFamily="49" charset="0"/>
                          <a:ea typeface="+mn-ea"/>
                          <a:cs typeface="Courier New" panose="02070309020205020404" pitchFamily="49" charset="0"/>
                        </a:rPr>
                        <a:t>restrict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port drops packets with unknown source addresses until you remove a sufficient number of secure MAC addresses to drop below the maximum value or increase the maximum value. This mode causes the Security Violation counter to increment and generates a syslog message.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b="1" kern="1200" dirty="0">
                          <a:solidFill>
                            <a:srgbClr val="58585B"/>
                          </a:solidFill>
                          <a:latin typeface="Courier New" panose="02070309020205020404" pitchFamily="49" charset="0"/>
                          <a:ea typeface="+mn-ea"/>
                          <a:cs typeface="Courier New" panose="02070309020205020404" pitchFamily="49" charset="0"/>
                        </a:rPr>
                        <a:t>protect</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the least secure of the security violation modes. The port drops packets with unknown MAC source addresses until you remove a sufficient number of secure MAC addresses to drop below the maximum value or increase the maximum value. No syslog message is sent.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Port Security Violation Modes (Cont.)</a:t>
            </a:r>
          </a:p>
        </p:txBody>
      </p:sp>
      <p:sp>
        <p:nvSpPr>
          <p:cNvPr id="5" name="TextBox 4">
            <a:extLst>
              <a:ext uri="{FF2B5EF4-FFF2-40B4-BE49-F238E27FC236}">
                <a16:creationId xmlns:a16="http://schemas.microsoft.com/office/drawing/2014/main" id="{4FBFD3AF-1108-4A9C-9C60-645DE0FDF409}"/>
              </a:ext>
            </a:extLst>
          </p:cNvPr>
          <p:cNvSpPr txBox="1"/>
          <p:nvPr/>
        </p:nvSpPr>
        <p:spPr>
          <a:xfrm>
            <a:off x="0" y="716406"/>
            <a:ext cx="8540181" cy="369332"/>
          </a:xfrm>
          <a:prstGeom prst="rect">
            <a:avLst/>
          </a:prstGeom>
          <a:noFill/>
        </p:spPr>
        <p:txBody>
          <a:bodyPr wrap="square" rtlCol="0">
            <a:spAutoFit/>
          </a:bodyPr>
          <a:lstStyle/>
          <a:p>
            <a:r>
              <a:rPr lang="en-US" dirty="0">
                <a:latin typeface="Arial" panose="020B0604020202020204" pitchFamily="34" charset="0"/>
                <a:cs typeface="Arial" panose="020B0604020202020204" pitchFamily="34" charset="0"/>
              </a:rPr>
              <a:t>The following table shows a security violation mode comparison</a:t>
            </a:r>
            <a:r>
              <a:rPr lang="en-US" dirty="0"/>
              <a:t>.</a:t>
            </a:r>
          </a:p>
        </p:txBody>
      </p:sp>
      <p:graphicFrame>
        <p:nvGraphicFramePr>
          <p:cNvPr id="49" name="Table 48"/>
          <p:cNvGraphicFramePr>
            <a:graphicFrameLocks noGrp="1"/>
          </p:cNvGraphicFramePr>
          <p:nvPr>
            <p:extLst>
              <p:ext uri="{D42A27DB-BD31-4B8C-83A1-F6EECF244321}">
                <p14:modId xmlns:p14="http://schemas.microsoft.com/office/powerpoint/2010/main" val="1031271718"/>
              </p:ext>
            </p:extLst>
          </p:nvPr>
        </p:nvGraphicFramePr>
        <p:xfrm>
          <a:off x="91440" y="1112646"/>
          <a:ext cx="8961120" cy="1036320"/>
        </p:xfrm>
        <a:graphic>
          <a:graphicData uri="http://schemas.openxmlformats.org/drawingml/2006/table">
            <a:tbl>
              <a:tblPr/>
              <a:tblGrid>
                <a:gridCol w="1792224">
                  <a:extLst>
                    <a:ext uri="{9D8B030D-6E8A-4147-A177-3AD203B41FA5}">
                      <a16:colId xmlns:a16="http://schemas.microsoft.com/office/drawing/2014/main" val="20000"/>
                    </a:ext>
                  </a:extLst>
                </a:gridCol>
                <a:gridCol w="1792224">
                  <a:extLst>
                    <a:ext uri="{9D8B030D-6E8A-4147-A177-3AD203B41FA5}">
                      <a16:colId xmlns:a16="http://schemas.microsoft.com/office/drawing/2014/main" val="20001"/>
                    </a:ext>
                  </a:extLst>
                </a:gridCol>
                <a:gridCol w="1792224">
                  <a:extLst>
                    <a:ext uri="{9D8B030D-6E8A-4147-A177-3AD203B41FA5}">
                      <a16:colId xmlns:a16="http://schemas.microsoft.com/office/drawing/2014/main" val="20002"/>
                    </a:ext>
                  </a:extLst>
                </a:gridCol>
                <a:gridCol w="1792224">
                  <a:extLst>
                    <a:ext uri="{9D8B030D-6E8A-4147-A177-3AD203B41FA5}">
                      <a16:colId xmlns:a16="http://schemas.microsoft.com/office/drawing/2014/main" val="20003"/>
                    </a:ext>
                  </a:extLst>
                </a:gridCol>
                <a:gridCol w="1792224">
                  <a:extLst>
                    <a:ext uri="{9D8B030D-6E8A-4147-A177-3AD203B41FA5}">
                      <a16:colId xmlns:a16="http://schemas.microsoft.com/office/drawing/2014/main" val="20004"/>
                    </a:ext>
                  </a:extLst>
                </a:gridCol>
              </a:tblGrid>
              <a:tr h="0">
                <a:tc>
                  <a:txBody>
                    <a:bodyPr/>
                    <a:lstStyle/>
                    <a:p>
                      <a:r>
                        <a:rPr lang="en-US" sz="1200" dirty="0">
                          <a:solidFill>
                            <a:srgbClr val="FFFFFF"/>
                          </a:solidFill>
                        </a:rPr>
                        <a:t>Violation Mode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Discards Offending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Sends Syslog Message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Increase Violation Counter</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Shuts Down Port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Protect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Restrict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Shutdown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Yes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bl>
          </a:graphicData>
        </a:graphic>
      </p:graphicFrame>
      <p:sp>
        <p:nvSpPr>
          <p:cNvPr id="9" name="TextBox 8">
            <a:extLst>
              <a:ext uri="{FF2B5EF4-FFF2-40B4-BE49-F238E27FC236}">
                <a16:creationId xmlns:a16="http://schemas.microsoft.com/office/drawing/2014/main" id="{69865677-F132-4985-90A1-2E80E8EB2556}"/>
              </a:ext>
            </a:extLst>
          </p:cNvPr>
          <p:cNvSpPr txBox="1"/>
          <p:nvPr/>
        </p:nvSpPr>
        <p:spPr>
          <a:xfrm>
            <a:off x="91440" y="2488102"/>
            <a:ext cx="3432153" cy="2031325"/>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figure on the right, shows an administrator changing the security violation to “restrict”. The output of the </a:t>
            </a:r>
            <a:r>
              <a:rPr lang="en-US" b="1" dirty="0">
                <a:latin typeface="Arial" panose="020B0604020202020204" pitchFamily="34" charset="0"/>
                <a:cs typeface="Arial" panose="020B0604020202020204" pitchFamily="34" charset="0"/>
              </a:rPr>
              <a:t>show port-security interface</a:t>
            </a:r>
            <a:r>
              <a:rPr lang="en-US" dirty="0">
                <a:latin typeface="Arial" panose="020B0604020202020204" pitchFamily="34" charset="0"/>
                <a:cs typeface="Arial" panose="020B0604020202020204" pitchFamily="34" charset="0"/>
              </a:rPr>
              <a:t> command confirms that the change has been made.</a:t>
            </a:r>
          </a:p>
        </p:txBody>
      </p:sp>
      <p:pic>
        <p:nvPicPr>
          <p:cNvPr id="7" name="Picture 6">
            <a:extLst>
              <a:ext uri="{FF2B5EF4-FFF2-40B4-BE49-F238E27FC236}">
                <a16:creationId xmlns:a16="http://schemas.microsoft.com/office/drawing/2014/main" id="{828BBFFB-7B42-4796-B433-73375EB1B7F0}"/>
              </a:ext>
            </a:extLst>
          </p:cNvPr>
          <p:cNvPicPr>
            <a:picLocks noChangeAspect="1"/>
          </p:cNvPicPr>
          <p:nvPr/>
        </p:nvPicPr>
        <p:blipFill>
          <a:blip r:embed="rId3"/>
          <a:stretch>
            <a:fillRect/>
          </a:stretch>
        </p:blipFill>
        <p:spPr>
          <a:xfrm>
            <a:off x="4572000" y="2259502"/>
            <a:ext cx="3636979" cy="2406824"/>
          </a:xfrm>
          <a:prstGeom prst="rect">
            <a:avLst/>
          </a:prstGeom>
        </p:spPr>
      </p:pic>
      <p:sp>
        <p:nvSpPr>
          <p:cNvPr id="4"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22</a:t>
            </a:fld>
            <a:endParaRPr lang="en-US"/>
          </a:p>
        </p:txBody>
      </p:sp>
    </p:spTree>
    <p:extLst>
      <p:ext uri="{BB962C8B-B14F-4D97-AF65-F5344CB8AC3E}">
        <p14:creationId xmlns:p14="http://schemas.microsoft.com/office/powerpoint/2010/main" val="27412020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Ports in error-disabled State</a:t>
            </a:r>
          </a:p>
        </p:txBody>
      </p:sp>
      <p:sp>
        <p:nvSpPr>
          <p:cNvPr id="5" name="Object4"/>
          <p:cNvSpPr/>
          <p:nvPr/>
        </p:nvSpPr>
        <p:spPr>
          <a:xfrm>
            <a:off x="0" y="763604"/>
            <a:ext cx="9144000" cy="1474076"/>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What happens when the port security violation is shutdown and a port violation occurs? The port is physically shut down and placed in the error-disabled state, and no traffic is sent or received on that port.</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In the example, the port security violation is changed back to the default shutdown setting. Then the host with MAC address a41f.7272.676a is disconnected and a new host is plugged into Fa0/1. Notice that a series of port security related messages are generated on the console.</a:t>
            </a:r>
          </a:p>
        </p:txBody>
      </p:sp>
      <p:pic>
        <p:nvPicPr>
          <p:cNvPr id="4" name="Picture 3">
            <a:extLst>
              <a:ext uri="{FF2B5EF4-FFF2-40B4-BE49-F238E27FC236}">
                <a16:creationId xmlns:a16="http://schemas.microsoft.com/office/drawing/2014/main" id="{97636EB6-CDB8-443D-BBBF-E02513C201C8}"/>
              </a:ext>
            </a:extLst>
          </p:cNvPr>
          <p:cNvPicPr>
            <a:picLocks noChangeAspect="1"/>
          </p:cNvPicPr>
          <p:nvPr/>
        </p:nvPicPr>
        <p:blipFill>
          <a:blip r:embed="rId3"/>
          <a:stretch>
            <a:fillRect/>
          </a:stretch>
        </p:blipFill>
        <p:spPr>
          <a:xfrm>
            <a:off x="1684762" y="2586185"/>
            <a:ext cx="4698124" cy="22829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Verify Port Security</a:t>
            </a:r>
          </a:p>
        </p:txBody>
      </p:sp>
      <p:sp>
        <p:nvSpPr>
          <p:cNvPr id="5" name="Object4"/>
          <p:cNvSpPr/>
          <p:nvPr/>
        </p:nvSpPr>
        <p:spPr>
          <a:xfrm>
            <a:off x="0" y="811924"/>
            <a:ext cx="86868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After configuring port security on a switch, check each interface to verify that the port security is set correctly, and check to ensure that the static MAC addresses have been configured correctly.</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display port security settings for the switch, use the </a:t>
            </a:r>
            <a:r>
              <a:rPr lang="en-US" sz="1600" b="1" dirty="0">
                <a:latin typeface="Arial" panose="020B0604020202020204" pitchFamily="34" charset="0"/>
                <a:cs typeface="Arial" panose="020B0604020202020204" pitchFamily="34" charset="0"/>
              </a:rPr>
              <a:t>show port-security</a:t>
            </a:r>
            <a:r>
              <a:rPr lang="en-US" sz="1600" dirty="0">
                <a:latin typeface="Arial" panose="020B0604020202020204" pitchFamily="34" charset="0"/>
                <a:cs typeface="Arial" panose="020B0604020202020204" pitchFamily="34" charset="0"/>
              </a:rPr>
              <a:t> command.</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show port-security interface</a:t>
            </a:r>
            <a:r>
              <a:rPr lang="en-US" sz="1600" dirty="0">
                <a:latin typeface="Arial" panose="020B0604020202020204" pitchFamily="34" charset="0"/>
                <a:cs typeface="Arial" panose="020B0604020202020204" pitchFamily="34" charset="0"/>
              </a:rPr>
              <a:t> command to view details for a specific interface.</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verify that MAC addresses are “sticking” to the configuration, use the </a:t>
            </a:r>
            <a:r>
              <a:rPr lang="en-US" sz="1600" b="1" dirty="0">
                <a:latin typeface="Arial" panose="020B0604020202020204" pitchFamily="34" charset="0"/>
                <a:cs typeface="Arial" panose="020B0604020202020204" pitchFamily="34" charset="0"/>
              </a:rPr>
              <a:t>show run</a:t>
            </a:r>
            <a:r>
              <a:rPr lang="en-US" sz="1600" dirty="0">
                <a:latin typeface="Arial" panose="020B0604020202020204" pitchFamily="34" charset="0"/>
                <a:cs typeface="Arial" panose="020B0604020202020204" pitchFamily="34" charset="0"/>
              </a:rPr>
              <a:t> command.</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display all secure MAC addresses that are manually configured or dynamically learned on all switch interfaces, use the </a:t>
            </a:r>
            <a:r>
              <a:rPr lang="en-US" sz="1600" b="1" dirty="0">
                <a:latin typeface="Arial" panose="020B0604020202020204" pitchFamily="34" charset="0"/>
                <a:cs typeface="Arial" panose="020B0604020202020204" pitchFamily="34" charset="0"/>
              </a:rPr>
              <a:t>show port-security address</a:t>
            </a:r>
            <a:r>
              <a:rPr lang="en-US" sz="1600" dirty="0">
                <a:latin typeface="Arial" panose="020B0604020202020204" pitchFamily="34" charset="0"/>
                <a:cs typeface="Arial" panose="020B0604020202020204" pitchFamily="34" charset="0"/>
              </a:rPr>
              <a:t> command.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MAC Table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SNMP MAC Address Notification</a:t>
            </a:r>
          </a:p>
        </p:txBody>
      </p:sp>
      <p:sp>
        <p:nvSpPr>
          <p:cNvPr id="5" name="Object4"/>
          <p:cNvSpPr/>
          <p:nvPr/>
        </p:nvSpPr>
        <p:spPr>
          <a:xfrm>
            <a:off x="-1" y="914400"/>
            <a:ext cx="8868103" cy="16573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MAC address notification feature sends SNMP traps to the network management station (NMS) whenever a new MAC address is added to, or an old address is deleted from, the forwarding tables. MAC address notifications are generated only for dynamic and secure MAC addresses.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mac address-table notification</a:t>
            </a:r>
            <a:r>
              <a:rPr lang="en-US" sz="1600" dirty="0">
                <a:latin typeface="Arial" panose="020B0604020202020204" pitchFamily="34" charset="0"/>
                <a:cs typeface="Arial" panose="020B0604020202020204" pitchFamily="34" charset="0"/>
              </a:rPr>
              <a:t> global configuration command to enable the MAC address notification feature on a switch.</a:t>
            </a:r>
          </a:p>
        </p:txBody>
      </p:sp>
      <p:pic>
        <p:nvPicPr>
          <p:cNvPr id="4" name="Picture 3">
            <a:extLst>
              <a:ext uri="{FF2B5EF4-FFF2-40B4-BE49-F238E27FC236}">
                <a16:creationId xmlns:a16="http://schemas.microsoft.com/office/drawing/2014/main" id="{18C53498-FAE9-4179-AD7B-E49B20A22D38}"/>
              </a:ext>
            </a:extLst>
          </p:cNvPr>
          <p:cNvPicPr>
            <a:picLocks noChangeAspect="1"/>
          </p:cNvPicPr>
          <p:nvPr/>
        </p:nvPicPr>
        <p:blipFill>
          <a:blip r:embed="rId3"/>
          <a:stretch>
            <a:fillRect/>
          </a:stretch>
        </p:blipFill>
        <p:spPr>
          <a:xfrm>
            <a:off x="1517276" y="2791905"/>
            <a:ext cx="4160999" cy="23515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14.4 Mitigate VLAN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VLAN Hopping Attacks</a:t>
            </a:r>
          </a:p>
        </p:txBody>
      </p:sp>
      <p:sp>
        <p:nvSpPr>
          <p:cNvPr id="5" name="Object4"/>
          <p:cNvSpPr/>
          <p:nvPr/>
        </p:nvSpPr>
        <p:spPr>
          <a:xfrm>
            <a:off x="-1" y="914400"/>
            <a:ext cx="5494283" cy="3313216"/>
          </a:xfrm>
          <a:prstGeom prst="rect">
            <a:avLst/>
          </a:prstGeom>
          <a:noFill/>
          <a:ln/>
        </p:spPr>
        <p:txBody>
          <a:bodyPr wrap="square" rtlCol="0" anchor="t"/>
          <a:lstStyle/>
          <a:p>
            <a:r>
              <a:rPr lang="en-US" sz="1500" dirty="0">
                <a:latin typeface="Arial" panose="020B0604020202020204" pitchFamily="34" charset="0"/>
                <a:cs typeface="Arial" panose="020B0604020202020204" pitchFamily="34" charset="0"/>
              </a:rPr>
              <a:t>Two types of VLAN attacks are VLAN hopping attacks and VLAN double-tagging attacks.</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In a basic VLAN hopping attack, </a:t>
            </a:r>
            <a:r>
              <a:rPr lang="en-US" sz="1500" b="1" dirty="0">
                <a:latin typeface="Arial" panose="020B0604020202020204" pitchFamily="34" charset="0"/>
                <a:cs typeface="Arial" panose="020B0604020202020204" pitchFamily="34" charset="0"/>
              </a:rPr>
              <a:t>the threat actor configures a host to act like a switch</a:t>
            </a:r>
            <a:r>
              <a:rPr lang="en-US" sz="1500" dirty="0">
                <a:latin typeface="Arial" panose="020B0604020202020204" pitchFamily="34" charset="0"/>
                <a:cs typeface="Arial" panose="020B0604020202020204" pitchFamily="34" charset="0"/>
              </a:rPr>
              <a:t> to take advantage of the automatic trunking port feature enabled by default on most switch ports.</a:t>
            </a:r>
          </a:p>
          <a:p>
            <a:endParaRPr lang="en-US" sz="1500" dirty="0">
              <a:latin typeface="Arial" panose="020B0604020202020204" pitchFamily="34" charset="0"/>
              <a:cs typeface="Arial" panose="020B0604020202020204" pitchFamily="34" charset="0"/>
            </a:endParaRPr>
          </a:p>
          <a:p>
            <a:r>
              <a:rPr lang="en-US" sz="1500" dirty="0">
                <a:latin typeface="Arial" panose="020B0604020202020204" pitchFamily="34" charset="0"/>
                <a:cs typeface="Arial" panose="020B0604020202020204" pitchFamily="34" charset="0"/>
              </a:rPr>
              <a:t>The threat actor configures the host to spoof 802.1Q signaling and Cisco-proprietary Dynamic Trunking Protocol (DTP) signaling to trunk with the connecting switch. If successful, </a:t>
            </a:r>
          </a:p>
          <a:p>
            <a:r>
              <a:rPr lang="en-US" sz="1500" dirty="0">
                <a:latin typeface="Arial" panose="020B0604020202020204" pitchFamily="34" charset="0"/>
                <a:cs typeface="Arial" panose="020B0604020202020204" pitchFamily="34" charset="0"/>
              </a:rPr>
              <a:t>the switch establishes a trunk link with the host, as shown in the figure. Now the threat actor can access all the VLANs on the switch. The threat actor can send and receive traffic on any VLAN, effectively hopping between VLANs.</a:t>
            </a:r>
          </a:p>
        </p:txBody>
      </p:sp>
      <p:pic>
        <p:nvPicPr>
          <p:cNvPr id="4" name="Picture 3">
            <a:extLst>
              <a:ext uri="{FF2B5EF4-FFF2-40B4-BE49-F238E27FC236}">
                <a16:creationId xmlns:a16="http://schemas.microsoft.com/office/drawing/2014/main" id="{D749BEF0-828B-4FA0-8574-686B9AFF317F}"/>
              </a:ext>
            </a:extLst>
          </p:cNvPr>
          <p:cNvPicPr>
            <a:picLocks noChangeAspect="1"/>
          </p:cNvPicPr>
          <p:nvPr/>
        </p:nvPicPr>
        <p:blipFill>
          <a:blip r:embed="rId3"/>
          <a:stretch>
            <a:fillRect/>
          </a:stretch>
        </p:blipFill>
        <p:spPr>
          <a:xfrm>
            <a:off x="5302105" y="1379482"/>
            <a:ext cx="3841895" cy="216342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VLAN Double-Tagging Attack</a:t>
            </a:r>
          </a:p>
        </p:txBody>
      </p:sp>
      <p:sp>
        <p:nvSpPr>
          <p:cNvPr id="5" name="Object4"/>
          <p:cNvSpPr/>
          <p:nvPr/>
        </p:nvSpPr>
        <p:spPr>
          <a:xfrm>
            <a:off x="0" y="662152"/>
            <a:ext cx="9144000" cy="2823998"/>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A threat actor in specific situations could embed a hidden 802.1Q tag inside the frame that already has an 802.1Q tag. This tag allows the frame to go to a VLAN that the original 802.1Q tag did not specify. The following explains the steps taken by the threat actor.</a:t>
            </a:r>
          </a:p>
          <a:p>
            <a:endParaRPr lang="en-US" sz="1400" dirty="0">
              <a:latin typeface="Arial" panose="020B0604020202020204" pitchFamily="34" charset="0"/>
              <a:cs typeface="Arial" panose="020B0604020202020204" pitchFamily="34" charset="0"/>
            </a:endParaRPr>
          </a:p>
          <a:p>
            <a:pPr marL="342900" indent="-342900">
              <a:buFont typeface="+mj-lt"/>
              <a:buAutoNum type="arabicPeriod"/>
            </a:pPr>
            <a:r>
              <a:rPr lang="en-US" sz="1400" dirty="0">
                <a:effectLst/>
                <a:latin typeface="Arial" panose="020B0604020202020204" pitchFamily="34" charset="0"/>
                <a:cs typeface="Arial" panose="020B0604020202020204" pitchFamily="34" charset="0"/>
              </a:rPr>
              <a:t>The threat actor sends a double-tagged 802.1Q frame to the switch. The </a:t>
            </a:r>
            <a:r>
              <a:rPr lang="en-US" sz="1400" u="sng" dirty="0">
                <a:effectLst/>
                <a:latin typeface="Arial" panose="020B0604020202020204" pitchFamily="34" charset="0"/>
                <a:cs typeface="Arial" panose="020B0604020202020204" pitchFamily="34" charset="0"/>
              </a:rPr>
              <a:t>outer header</a:t>
            </a:r>
            <a:r>
              <a:rPr lang="en-US" sz="1400" dirty="0">
                <a:effectLst/>
                <a:latin typeface="Arial" panose="020B0604020202020204" pitchFamily="34" charset="0"/>
                <a:cs typeface="Arial" panose="020B0604020202020204" pitchFamily="34" charset="0"/>
              </a:rPr>
              <a:t> has the VLAN tag of the threat actor, </a:t>
            </a:r>
            <a:r>
              <a:rPr lang="en-US" sz="1400" u="sng" dirty="0">
                <a:effectLst/>
                <a:latin typeface="Arial" panose="020B0604020202020204" pitchFamily="34" charset="0"/>
                <a:cs typeface="Arial" panose="020B0604020202020204" pitchFamily="34" charset="0"/>
              </a:rPr>
              <a:t>which is the same as the native VLAN </a:t>
            </a:r>
            <a:r>
              <a:rPr lang="en-US" sz="1400" dirty="0">
                <a:effectLst/>
                <a:latin typeface="Arial" panose="020B0604020202020204" pitchFamily="34" charset="0"/>
                <a:cs typeface="Arial" panose="020B0604020202020204" pitchFamily="34" charset="0"/>
              </a:rPr>
              <a:t>of the trunk port. For the purposes of this example, assume that this is VLAN 10. The inner tag is the victim VLAN.</a:t>
            </a:r>
            <a:endParaRPr lang="en-US" sz="1400" dirty="0">
              <a:latin typeface="Arial" panose="020B0604020202020204" pitchFamily="34" charset="0"/>
              <a:cs typeface="Arial" panose="020B0604020202020204" pitchFamily="34" charset="0"/>
            </a:endParaRPr>
          </a:p>
          <a:p>
            <a:pPr marL="342900" indent="-342900">
              <a:lnSpc>
                <a:spcPts val="2000"/>
              </a:lnSpc>
              <a:buFont typeface="+mj-lt"/>
              <a:buAutoNum type="arabicPeriod"/>
            </a:pPr>
            <a:r>
              <a:rPr lang="en-US" sz="1400" dirty="0">
                <a:latin typeface="Arial" panose="020B0604020202020204" pitchFamily="34" charset="0"/>
                <a:cs typeface="Arial" panose="020B0604020202020204" pitchFamily="34" charset="0"/>
              </a:rPr>
              <a:t>The frame arrives on the first switch, which looks at the first 4-byte 802.1Q tag. The switch sees that the frame is destined for VLAN 10, which is the native VLAN. The switch forwards the packet out all VLAN 10 ports after stripping the VLAN 10 tag. The frame is not retagged because it is part of the native VLAN. At this point, the VLAN 20 tag is still intact and has not been inspected by the first switch.</a:t>
            </a:r>
          </a:p>
          <a:p>
            <a:pPr marL="342900" indent="-342900">
              <a:buFont typeface="+mj-lt"/>
              <a:buAutoNum type="arabicPeriod"/>
            </a:pPr>
            <a:r>
              <a:rPr lang="en-US" sz="1400" dirty="0">
                <a:effectLst/>
                <a:latin typeface="Arial" panose="020B0604020202020204" pitchFamily="34" charset="0"/>
                <a:cs typeface="Arial" panose="020B0604020202020204" pitchFamily="34" charset="0"/>
              </a:rPr>
              <a:t>The frame arrives at the second switch which has no knowledge that it was supposed to be for VLAN 10. Native VLAN traffic is not tagged by the sending switch as specified in the 802.1Q specification. The second switch looks only at the inner 802.1Q tag that the threat actor inserted and sees that the frame is destined for VLAN 20, the target VLAN. The second switch sends the frame on to the target or floods it, depending on whether there is an existing MAC address table entry for the target.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VLAN Hopping Attacks</a:t>
            </a:r>
          </a:p>
        </p:txBody>
      </p:sp>
      <p:sp>
        <p:nvSpPr>
          <p:cNvPr id="5" name="Object4"/>
          <p:cNvSpPr/>
          <p:nvPr/>
        </p:nvSpPr>
        <p:spPr>
          <a:xfrm>
            <a:off x="-1" y="914400"/>
            <a:ext cx="9143999"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Use the following steps to mitigate VLAN hopping attacks:</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Step 1</a:t>
            </a:r>
            <a:r>
              <a:rPr lang="en-US" sz="1600" dirty="0">
                <a:latin typeface="Arial" panose="020B0604020202020204" pitchFamily="34" charset="0"/>
                <a:cs typeface="Arial" panose="020B0604020202020204" pitchFamily="34" charset="0"/>
              </a:rPr>
              <a:t>: Disable DTP (auto </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negotiations on non-</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ports by using the </a:t>
            </a:r>
            <a:r>
              <a:rPr lang="en-US" sz="1600" b="1" dirty="0">
                <a:latin typeface="Arial" panose="020B0604020202020204" pitchFamily="34" charset="0"/>
                <a:cs typeface="Arial" panose="020B0604020202020204" pitchFamily="34" charset="0"/>
              </a:rPr>
              <a:t>switchport mode access</a:t>
            </a:r>
            <a:r>
              <a:rPr lang="en-US" sz="1600" dirty="0">
                <a:latin typeface="Arial" panose="020B0604020202020204" pitchFamily="34" charset="0"/>
                <a:cs typeface="Arial" panose="020B0604020202020204" pitchFamily="34" charset="0"/>
              </a:rPr>
              <a:t> interface configuration command.</a:t>
            </a:r>
          </a:p>
          <a:p>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Step 2</a:t>
            </a:r>
            <a:r>
              <a:rPr lang="en-US" sz="1600" dirty="0">
                <a:latin typeface="Arial" panose="020B0604020202020204" pitchFamily="34" charset="0"/>
                <a:cs typeface="Arial" panose="020B0604020202020204" pitchFamily="34" charset="0"/>
              </a:rPr>
              <a:t>: Disable unused ports and put them in an unused VLAN. In the example it is VLAN 1000.</a:t>
            </a:r>
          </a:p>
          <a:p>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Step 3</a:t>
            </a:r>
            <a:r>
              <a:rPr lang="en-US" sz="1600" dirty="0">
                <a:latin typeface="Arial" panose="020B0604020202020204" pitchFamily="34" charset="0"/>
                <a:cs typeface="Arial" panose="020B0604020202020204" pitchFamily="34" charset="0"/>
              </a:rPr>
              <a:t>: Manually enable the trunk link on a </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port by using the </a:t>
            </a:r>
            <a:r>
              <a:rPr lang="en-US" sz="1600" b="1" dirty="0">
                <a:latin typeface="Arial" panose="020B0604020202020204" pitchFamily="34" charset="0"/>
                <a:cs typeface="Arial" panose="020B0604020202020204" pitchFamily="34" charset="0"/>
              </a:rPr>
              <a:t>switchport mode trunk</a:t>
            </a:r>
            <a:r>
              <a:rPr lang="en-US" sz="1600" dirty="0">
                <a:latin typeface="Arial" panose="020B0604020202020204" pitchFamily="34" charset="0"/>
                <a:cs typeface="Arial" panose="020B0604020202020204" pitchFamily="34" charset="0"/>
              </a:rPr>
              <a:t> command.</a:t>
            </a:r>
          </a:p>
          <a:p>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Step 4</a:t>
            </a:r>
            <a:r>
              <a:rPr lang="en-US" sz="1600" dirty="0">
                <a:latin typeface="Arial" panose="020B0604020202020204" pitchFamily="34" charset="0"/>
                <a:cs typeface="Arial" panose="020B0604020202020204" pitchFamily="34" charset="0"/>
              </a:rPr>
              <a:t>: Disable DTP (auto </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negotiations on </a:t>
            </a:r>
            <a:r>
              <a:rPr lang="en-US" sz="1600" dirty="0" err="1">
                <a:latin typeface="Arial" panose="020B0604020202020204" pitchFamily="34" charset="0"/>
                <a:cs typeface="Arial" panose="020B0604020202020204" pitchFamily="34" charset="0"/>
              </a:rPr>
              <a:t>trunking</a:t>
            </a:r>
            <a:r>
              <a:rPr lang="en-US" sz="1600" dirty="0">
                <a:latin typeface="Arial" panose="020B0604020202020204" pitchFamily="34" charset="0"/>
                <a:cs typeface="Arial" panose="020B0604020202020204" pitchFamily="34" charset="0"/>
              </a:rPr>
              <a:t> ports by using the </a:t>
            </a:r>
            <a:r>
              <a:rPr lang="en-US" sz="1600" b="1" dirty="0">
                <a:latin typeface="Arial" panose="020B0604020202020204" pitchFamily="34" charset="0"/>
                <a:cs typeface="Arial" panose="020B0604020202020204" pitchFamily="34" charset="0"/>
              </a:rPr>
              <a:t>switchport </a:t>
            </a:r>
            <a:r>
              <a:rPr lang="en-US" sz="1600" b="1" dirty="0" err="1">
                <a:latin typeface="Arial" panose="020B0604020202020204" pitchFamily="34" charset="0"/>
                <a:cs typeface="Arial" panose="020B0604020202020204" pitchFamily="34" charset="0"/>
              </a:rPr>
              <a:t>nonegotiate</a:t>
            </a:r>
            <a:r>
              <a:rPr lang="en-US" sz="1600" dirty="0">
                <a:latin typeface="Arial" panose="020B0604020202020204" pitchFamily="34" charset="0"/>
                <a:cs typeface="Arial" panose="020B0604020202020204" pitchFamily="34" charset="0"/>
              </a:rPr>
              <a:t> command.</a:t>
            </a:r>
          </a:p>
          <a:p>
            <a:br>
              <a:rPr lang="en-US" sz="1600" dirty="0">
                <a:latin typeface="Arial" panose="020B0604020202020204" pitchFamily="34" charset="0"/>
                <a:cs typeface="Arial" panose="020B0604020202020204" pitchFamily="34" charset="0"/>
              </a:rPr>
            </a:br>
            <a:r>
              <a:rPr lang="en-US" sz="1600" b="1" dirty="0">
                <a:latin typeface="Arial" panose="020B0604020202020204" pitchFamily="34" charset="0"/>
                <a:cs typeface="Arial" panose="020B0604020202020204" pitchFamily="34" charset="0"/>
              </a:rPr>
              <a:t>Step 5</a:t>
            </a:r>
            <a:r>
              <a:rPr lang="en-US" sz="1600" dirty="0">
                <a:latin typeface="Arial" panose="020B0604020202020204" pitchFamily="34" charset="0"/>
                <a:cs typeface="Arial" panose="020B0604020202020204" pitchFamily="34" charset="0"/>
              </a:rPr>
              <a:t>: Set the native VLAN to a VLAN other than VLAN 1 by using the </a:t>
            </a:r>
            <a:r>
              <a:rPr lang="en-US" sz="1600" b="1" dirty="0">
                <a:latin typeface="Arial" panose="020B0604020202020204" pitchFamily="34" charset="0"/>
                <a:cs typeface="Arial" panose="020B0604020202020204" pitchFamily="34" charset="0"/>
              </a:rPr>
              <a:t>switchport trunk native </a:t>
            </a:r>
            <a:r>
              <a:rPr lang="en-US" sz="1600" b="1" dirty="0" err="1">
                <a:latin typeface="Arial" panose="020B0604020202020204" pitchFamily="34" charset="0"/>
                <a:cs typeface="Arial" panose="020B0604020202020204" pitchFamily="34" charset="0"/>
              </a:rPr>
              <a:t>vlan</a:t>
            </a:r>
            <a:r>
              <a:rPr lang="en-US" sz="1600"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vlan_number</a:t>
            </a:r>
            <a:r>
              <a:rPr lang="en-US" sz="1600" dirty="0">
                <a:latin typeface="Arial" panose="020B0604020202020204" pitchFamily="34" charset="0"/>
                <a:cs typeface="Arial" panose="020B0604020202020204" pitchFamily="34" charset="0"/>
              </a:rPr>
              <a:t>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Private VLANs</a:t>
            </a:r>
          </a:p>
        </p:txBody>
      </p:sp>
      <p:sp>
        <p:nvSpPr>
          <p:cNvPr id="5" name="Object4"/>
          <p:cNvSpPr/>
          <p:nvPr/>
        </p:nvSpPr>
        <p:spPr>
          <a:xfrm>
            <a:off x="0" y="749231"/>
            <a:ext cx="5166486" cy="1776172"/>
          </a:xfrm>
          <a:prstGeom prst="rect">
            <a:avLst/>
          </a:prstGeom>
          <a:noFill/>
          <a:ln/>
        </p:spPr>
        <p:txBody>
          <a:bodyPr wrap="square" rtlCol="0" anchor="t"/>
          <a:lstStyle/>
          <a:p>
            <a:r>
              <a:rPr lang="en-US" sz="1200" dirty="0">
                <a:latin typeface="Arial" panose="020B0604020202020204" pitchFamily="34" charset="0"/>
                <a:cs typeface="Arial" panose="020B0604020202020204" pitchFamily="34" charset="0"/>
              </a:rPr>
              <a:t>Private VLANs (PVLAN) provide Layer 2 isolation between ports within the same broadcast domain. There are three types of PVLAN ports: </a:t>
            </a:r>
            <a:r>
              <a:rPr lang="en-US" sz="1200" b="1" dirty="0">
                <a:latin typeface="Arial" panose="020B0604020202020204" pitchFamily="34" charset="0"/>
                <a:cs typeface="Arial" panose="020B0604020202020204" pitchFamily="34" charset="0"/>
              </a:rPr>
              <a:t>promiscuous, isolated</a:t>
            </a:r>
            <a:r>
              <a:rPr lang="en-US" sz="1200" dirty="0">
                <a:latin typeface="Arial" panose="020B0604020202020204" pitchFamily="34" charset="0"/>
                <a:cs typeface="Arial" panose="020B0604020202020204" pitchFamily="34" charset="0"/>
              </a:rPr>
              <a:t>, and </a:t>
            </a:r>
            <a:r>
              <a:rPr lang="en-US" sz="1200" b="1" dirty="0">
                <a:latin typeface="Arial" panose="020B0604020202020204" pitchFamily="34" charset="0"/>
                <a:cs typeface="Arial" panose="020B0604020202020204" pitchFamily="34" charset="0"/>
              </a:rPr>
              <a:t>community</a:t>
            </a:r>
            <a:r>
              <a:rPr lang="en-US" sz="1200" dirty="0">
                <a:latin typeface="Arial" panose="020B0604020202020204" pitchFamily="34" charset="0"/>
                <a:cs typeface="Arial" panose="020B0604020202020204" pitchFamily="34" charset="0"/>
              </a:rPr>
              <a:t>.</a:t>
            </a:r>
          </a:p>
          <a:p>
            <a:endParaRPr lang="en-US" sz="1200" dirty="0">
              <a:latin typeface="Arial" panose="020B0604020202020204" pitchFamily="34" charset="0"/>
              <a:cs typeface="Arial" panose="020B0604020202020204" pitchFamily="34" charset="0"/>
            </a:endParaRPr>
          </a:p>
          <a:p>
            <a:r>
              <a:rPr lang="en-US" sz="1200" dirty="0">
                <a:latin typeface="Arial" panose="020B0604020202020204" pitchFamily="34" charset="0"/>
                <a:cs typeface="Arial" panose="020B0604020202020204" pitchFamily="34" charset="0"/>
              </a:rPr>
              <a:t>The example in the first figure illustrates which ports can interconnect. The security provided by a PVLAN can be bypassed by using the router as a proxy. The second figure is an example of an attack. To mitigate this type of attack, configure an ACL that will deny traffic with a source and destination IP address that belongs to the same subnet.</a:t>
            </a:r>
          </a:p>
        </p:txBody>
      </p:sp>
      <p:pic>
        <p:nvPicPr>
          <p:cNvPr id="4" name="Picture 3">
            <a:extLst>
              <a:ext uri="{FF2B5EF4-FFF2-40B4-BE49-F238E27FC236}">
                <a16:creationId xmlns:a16="http://schemas.microsoft.com/office/drawing/2014/main" id="{BBC37428-DF8B-469F-A0EF-5DB779E6E053}"/>
              </a:ext>
            </a:extLst>
          </p:cNvPr>
          <p:cNvPicPr>
            <a:picLocks noChangeAspect="1"/>
          </p:cNvPicPr>
          <p:nvPr/>
        </p:nvPicPr>
        <p:blipFill>
          <a:blip r:embed="rId3"/>
          <a:stretch>
            <a:fillRect/>
          </a:stretch>
        </p:blipFill>
        <p:spPr>
          <a:xfrm>
            <a:off x="63062" y="2525403"/>
            <a:ext cx="3760076" cy="203582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30</a:t>
            </a:fld>
            <a:endParaRPr lang="en-US"/>
          </a:p>
        </p:txBody>
      </p:sp>
      <p:sp>
        <p:nvSpPr>
          <p:cNvPr id="7" name="Zástupný objekt pre text 1">
            <a:extLst>
              <a:ext uri="{FF2B5EF4-FFF2-40B4-BE49-F238E27FC236}">
                <a16:creationId xmlns:a16="http://schemas.microsoft.com/office/drawing/2014/main" id="{9E4BAF89-1F28-20D8-4C93-E26FD76F22A0}"/>
              </a:ext>
            </a:extLst>
          </p:cNvPr>
          <p:cNvSpPr txBox="1">
            <a:spLocks/>
          </p:cNvSpPr>
          <p:nvPr/>
        </p:nvSpPr>
        <p:spPr>
          <a:xfrm>
            <a:off x="3628856" y="2571750"/>
            <a:ext cx="1537629" cy="1622216"/>
          </a:xfrm>
          <a:prstGeom prst="rect">
            <a:avLst/>
          </a:prstGeom>
        </p:spPr>
        <p:txBody>
          <a:bodyPr>
            <a:normAutofit fontScale="2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A </a:t>
            </a:r>
            <a:r>
              <a:rPr lang="en-US" b="1" dirty="0"/>
              <a:t>promiscuous</a:t>
            </a:r>
            <a:r>
              <a:rPr lang="en-US" dirty="0"/>
              <a:t> port can talk to everyone.</a:t>
            </a:r>
            <a:endParaRPr lang="sk-SK" dirty="0"/>
          </a:p>
          <a:p>
            <a:r>
              <a:rPr lang="en-US" dirty="0"/>
              <a:t>An </a:t>
            </a:r>
            <a:r>
              <a:rPr lang="en-US" b="1" dirty="0"/>
              <a:t>isolated</a:t>
            </a:r>
            <a:r>
              <a:rPr lang="en-US" dirty="0"/>
              <a:t> port can only talk to promiscuous ports.</a:t>
            </a:r>
            <a:endParaRPr lang="sk-SK" dirty="0"/>
          </a:p>
          <a:p>
            <a:r>
              <a:rPr lang="en-US" b="1" dirty="0"/>
              <a:t>Community</a:t>
            </a:r>
            <a:r>
              <a:rPr lang="en-US" dirty="0"/>
              <a:t> ports can talk to other community and promiscuous ports. </a:t>
            </a:r>
            <a:endParaRPr lang="sk-SK" dirty="0"/>
          </a:p>
          <a:p>
            <a:r>
              <a:rPr lang="en-US" dirty="0"/>
              <a:t>PVLANs are used mainly in service provider co-location sites.</a:t>
            </a:r>
          </a:p>
        </p:txBody>
      </p:sp>
      <p:sp>
        <p:nvSpPr>
          <p:cNvPr id="8" name="BlokTextu 7">
            <a:extLst>
              <a:ext uri="{FF2B5EF4-FFF2-40B4-BE49-F238E27FC236}">
                <a16:creationId xmlns:a16="http://schemas.microsoft.com/office/drawing/2014/main" id="{F791A303-468C-ABF9-EA0C-8D1633D13119}"/>
              </a:ext>
            </a:extLst>
          </p:cNvPr>
          <p:cNvSpPr txBox="1"/>
          <p:nvPr/>
        </p:nvSpPr>
        <p:spPr>
          <a:xfrm>
            <a:off x="5320864" y="582269"/>
            <a:ext cx="3214791" cy="4339650"/>
          </a:xfrm>
          <a:prstGeom prst="rect">
            <a:avLst/>
          </a:prstGeom>
          <a:noFill/>
        </p:spPr>
        <p:txBody>
          <a:bodyPr wrap="none" rtlCol="0">
            <a:spAutoFit/>
          </a:bodyPr>
          <a:lstStyle/>
          <a:p>
            <a:r>
              <a:rPr lang="sk-SK" sz="1200" dirty="0" err="1"/>
              <a:t>vlan</a:t>
            </a:r>
            <a:r>
              <a:rPr lang="sk-SK" sz="1200" dirty="0"/>
              <a:t> 100</a:t>
            </a:r>
          </a:p>
          <a:p>
            <a:r>
              <a:rPr lang="sk-SK" sz="1200" dirty="0" err="1"/>
              <a:t>name</a:t>
            </a:r>
            <a:r>
              <a:rPr lang="sk-SK" sz="1200" dirty="0"/>
              <a:t> </a:t>
            </a:r>
            <a:r>
              <a:rPr lang="sk-SK" sz="1200" dirty="0" err="1"/>
              <a:t>Primary</a:t>
            </a:r>
            <a:r>
              <a:rPr lang="sk-SK" sz="1200" dirty="0"/>
              <a:t>-PVLAN</a:t>
            </a:r>
          </a:p>
          <a:p>
            <a:r>
              <a:rPr lang="sk-SK" sz="1200" dirty="0" err="1"/>
              <a:t>private-vlan</a:t>
            </a:r>
            <a:r>
              <a:rPr lang="sk-SK" sz="1200" dirty="0"/>
              <a:t> </a:t>
            </a:r>
            <a:r>
              <a:rPr lang="sk-SK" sz="1200" dirty="0" err="1"/>
              <a:t>primary</a:t>
            </a:r>
            <a:endParaRPr lang="sk-SK" sz="1200" dirty="0"/>
          </a:p>
          <a:p>
            <a:r>
              <a:rPr lang="sk-SK" sz="1200" dirty="0" err="1"/>
              <a:t>private-vlan</a:t>
            </a:r>
            <a:r>
              <a:rPr lang="sk-SK" sz="1200" dirty="0"/>
              <a:t> association 102, 105</a:t>
            </a:r>
          </a:p>
          <a:p>
            <a:r>
              <a:rPr lang="sk-SK" sz="1200" dirty="0" err="1"/>
              <a:t>vlan</a:t>
            </a:r>
            <a:r>
              <a:rPr lang="sk-SK" sz="1200" dirty="0"/>
              <a:t> 105</a:t>
            </a:r>
          </a:p>
          <a:p>
            <a:r>
              <a:rPr lang="sk-SK" sz="1200" dirty="0" err="1"/>
              <a:t>name</a:t>
            </a:r>
            <a:r>
              <a:rPr lang="sk-SK" sz="1200" dirty="0"/>
              <a:t> </a:t>
            </a:r>
            <a:r>
              <a:rPr lang="sk-SK" sz="1200" dirty="0" err="1"/>
              <a:t>Isolated</a:t>
            </a:r>
            <a:r>
              <a:rPr lang="sk-SK" sz="1200" dirty="0"/>
              <a:t>-PVLAN</a:t>
            </a:r>
          </a:p>
          <a:p>
            <a:r>
              <a:rPr lang="sk-SK" sz="1200" dirty="0" err="1"/>
              <a:t>private-vlan</a:t>
            </a:r>
            <a:r>
              <a:rPr lang="sk-SK" sz="1200" dirty="0"/>
              <a:t> </a:t>
            </a:r>
            <a:r>
              <a:rPr lang="sk-SK" sz="1200" dirty="0" err="1"/>
              <a:t>isolated</a:t>
            </a:r>
            <a:endParaRPr lang="sk-SK" sz="1200" dirty="0"/>
          </a:p>
          <a:p>
            <a:r>
              <a:rPr lang="sk-SK" sz="1200" dirty="0" err="1"/>
              <a:t>vlan</a:t>
            </a:r>
            <a:r>
              <a:rPr lang="sk-SK" sz="1200" dirty="0"/>
              <a:t> 102</a:t>
            </a:r>
          </a:p>
          <a:p>
            <a:r>
              <a:rPr lang="sk-SK" sz="1200" dirty="0" err="1"/>
              <a:t>name</a:t>
            </a:r>
            <a:r>
              <a:rPr lang="sk-SK" sz="1200" dirty="0"/>
              <a:t> </a:t>
            </a:r>
            <a:r>
              <a:rPr lang="sk-SK" sz="1200" dirty="0" err="1"/>
              <a:t>Community</a:t>
            </a:r>
            <a:r>
              <a:rPr lang="sk-SK" sz="1200" dirty="0"/>
              <a:t>-PVLAN</a:t>
            </a:r>
          </a:p>
          <a:p>
            <a:r>
              <a:rPr lang="sk-SK" sz="1200" dirty="0" err="1"/>
              <a:t>private-vlan</a:t>
            </a:r>
            <a:r>
              <a:rPr lang="sk-SK" sz="1200" dirty="0"/>
              <a:t> </a:t>
            </a:r>
            <a:r>
              <a:rPr lang="sk-SK" sz="1200" dirty="0" err="1"/>
              <a:t>community</a:t>
            </a:r>
            <a:endParaRPr lang="sk-SK" sz="1200" dirty="0"/>
          </a:p>
          <a:p>
            <a:endParaRPr lang="sk-SK" sz="1200" dirty="0"/>
          </a:p>
          <a:p>
            <a:r>
              <a:rPr lang="sk-SK" sz="1200" dirty="0"/>
              <a:t>interface GigabitEthernet0/1</a:t>
            </a:r>
          </a:p>
          <a:p>
            <a:r>
              <a:rPr lang="sk-SK" sz="1200" dirty="0" err="1"/>
              <a:t>switchport</a:t>
            </a:r>
            <a:r>
              <a:rPr lang="sk-SK" sz="1200" dirty="0"/>
              <a:t> </a:t>
            </a:r>
            <a:r>
              <a:rPr lang="sk-SK" sz="1200" dirty="0" err="1"/>
              <a:t>mode</a:t>
            </a:r>
            <a:r>
              <a:rPr lang="sk-SK" sz="1200" dirty="0"/>
              <a:t> </a:t>
            </a:r>
            <a:r>
              <a:rPr lang="sk-SK" sz="1200" dirty="0" err="1"/>
              <a:t>private-vlan</a:t>
            </a:r>
            <a:r>
              <a:rPr lang="sk-SK" sz="1200" dirty="0"/>
              <a:t> </a:t>
            </a:r>
            <a:r>
              <a:rPr lang="sk-SK" sz="1200" dirty="0" err="1"/>
              <a:t>promiscuous</a:t>
            </a:r>
            <a:endParaRPr lang="sk-SK" sz="1200" dirty="0"/>
          </a:p>
          <a:p>
            <a:r>
              <a:rPr lang="sk-SK" sz="1200" dirty="0" err="1"/>
              <a:t>switchport</a:t>
            </a:r>
            <a:r>
              <a:rPr lang="sk-SK" sz="1200" dirty="0"/>
              <a:t> </a:t>
            </a:r>
            <a:r>
              <a:rPr lang="sk-SK" sz="1200" dirty="0" err="1"/>
              <a:t>private-vlan</a:t>
            </a:r>
            <a:r>
              <a:rPr lang="sk-SK" sz="1200" dirty="0"/>
              <a:t> </a:t>
            </a:r>
            <a:r>
              <a:rPr lang="sk-SK" sz="1200" dirty="0" err="1"/>
              <a:t>mapping</a:t>
            </a:r>
            <a:r>
              <a:rPr lang="sk-SK" sz="1200" dirty="0"/>
              <a:t> 100 102 105</a:t>
            </a:r>
          </a:p>
          <a:p>
            <a:r>
              <a:rPr lang="sk-SK" sz="1200" dirty="0"/>
              <a:t>interface GigabitEthernet0/2</a:t>
            </a:r>
          </a:p>
          <a:p>
            <a:r>
              <a:rPr lang="sk-SK" sz="1200" dirty="0" err="1"/>
              <a:t>switchport</a:t>
            </a:r>
            <a:r>
              <a:rPr lang="sk-SK" sz="1200" dirty="0"/>
              <a:t> </a:t>
            </a:r>
            <a:r>
              <a:rPr lang="sk-SK" sz="1200" dirty="0" err="1"/>
              <a:t>mode</a:t>
            </a:r>
            <a:r>
              <a:rPr lang="sk-SK" sz="1200" dirty="0"/>
              <a:t> </a:t>
            </a:r>
            <a:r>
              <a:rPr lang="sk-SK" sz="1200" dirty="0" err="1"/>
              <a:t>private-vlan</a:t>
            </a:r>
            <a:r>
              <a:rPr lang="sk-SK" sz="1200" dirty="0"/>
              <a:t> </a:t>
            </a:r>
            <a:r>
              <a:rPr lang="sk-SK" sz="1200" dirty="0" err="1"/>
              <a:t>host</a:t>
            </a:r>
            <a:endParaRPr lang="sk-SK" sz="1200" dirty="0"/>
          </a:p>
          <a:p>
            <a:r>
              <a:rPr lang="sk-SK" sz="1200" dirty="0" err="1"/>
              <a:t>switchport</a:t>
            </a:r>
            <a:r>
              <a:rPr lang="sk-SK" sz="1200" dirty="0"/>
              <a:t> </a:t>
            </a:r>
            <a:r>
              <a:rPr lang="sk-SK" sz="1200" dirty="0" err="1"/>
              <a:t>private-vlan</a:t>
            </a:r>
            <a:r>
              <a:rPr lang="sk-SK" sz="1200" dirty="0"/>
              <a:t> </a:t>
            </a:r>
            <a:r>
              <a:rPr lang="sk-SK" sz="1200" dirty="0" err="1"/>
              <a:t>host</a:t>
            </a:r>
            <a:r>
              <a:rPr lang="sk-SK" sz="1200" dirty="0"/>
              <a:t>-association 100 105</a:t>
            </a:r>
          </a:p>
          <a:p>
            <a:r>
              <a:rPr lang="sk-SK" sz="1200" dirty="0"/>
              <a:t>interface GigabitEthernet0/3</a:t>
            </a:r>
          </a:p>
          <a:p>
            <a:r>
              <a:rPr lang="sk-SK" sz="1200" dirty="0" err="1"/>
              <a:t>switchport</a:t>
            </a:r>
            <a:r>
              <a:rPr lang="sk-SK" sz="1200" dirty="0"/>
              <a:t> </a:t>
            </a:r>
            <a:r>
              <a:rPr lang="sk-SK" sz="1200" dirty="0" err="1"/>
              <a:t>mode</a:t>
            </a:r>
            <a:r>
              <a:rPr lang="sk-SK" sz="1200" dirty="0"/>
              <a:t> </a:t>
            </a:r>
            <a:r>
              <a:rPr lang="sk-SK" sz="1200" dirty="0" err="1"/>
              <a:t>private-vlan</a:t>
            </a:r>
            <a:r>
              <a:rPr lang="sk-SK" sz="1200" dirty="0"/>
              <a:t> </a:t>
            </a:r>
            <a:r>
              <a:rPr lang="sk-SK" sz="1200" dirty="0" err="1"/>
              <a:t>host</a:t>
            </a:r>
            <a:endParaRPr lang="sk-SK" sz="1200" dirty="0"/>
          </a:p>
          <a:p>
            <a:r>
              <a:rPr lang="sk-SK" sz="1200" dirty="0" err="1"/>
              <a:t>switchport</a:t>
            </a:r>
            <a:r>
              <a:rPr lang="sk-SK" sz="1200" dirty="0"/>
              <a:t> </a:t>
            </a:r>
            <a:r>
              <a:rPr lang="sk-SK" sz="1200" dirty="0" err="1"/>
              <a:t>private-vlan</a:t>
            </a:r>
            <a:r>
              <a:rPr lang="sk-SK" sz="1200" dirty="0"/>
              <a:t> </a:t>
            </a:r>
            <a:r>
              <a:rPr lang="sk-SK" sz="1200" dirty="0" err="1"/>
              <a:t>host</a:t>
            </a:r>
            <a:r>
              <a:rPr lang="sk-SK" sz="1200" dirty="0"/>
              <a:t>-association 100 102</a:t>
            </a:r>
          </a:p>
          <a:p>
            <a:r>
              <a:rPr lang="sk-SK" sz="1200" dirty="0"/>
              <a:t>interface GigabitEthernet0/4</a:t>
            </a:r>
          </a:p>
          <a:p>
            <a:r>
              <a:rPr lang="sk-SK" sz="1200" dirty="0" err="1"/>
              <a:t>switchport</a:t>
            </a:r>
            <a:r>
              <a:rPr lang="sk-SK" sz="1200" dirty="0"/>
              <a:t> </a:t>
            </a:r>
            <a:r>
              <a:rPr lang="sk-SK" sz="1200" dirty="0" err="1"/>
              <a:t>mode</a:t>
            </a:r>
            <a:r>
              <a:rPr lang="sk-SK" sz="1200" dirty="0"/>
              <a:t> </a:t>
            </a:r>
            <a:r>
              <a:rPr lang="sk-SK" sz="1200" dirty="0" err="1"/>
              <a:t>trunk</a:t>
            </a:r>
            <a:endParaRPr lang="sk-SK" sz="1200" dirty="0"/>
          </a:p>
          <a:p>
            <a:r>
              <a:rPr lang="sk-SK" sz="1200" dirty="0" err="1"/>
              <a:t>switchport</a:t>
            </a:r>
            <a:r>
              <a:rPr lang="sk-SK" sz="1200" dirty="0"/>
              <a:t> </a:t>
            </a:r>
            <a:r>
              <a:rPr lang="sk-SK" sz="1200" dirty="0" err="1"/>
              <a:t>trunk</a:t>
            </a:r>
            <a:r>
              <a:rPr lang="sk-SK" sz="1200" dirty="0"/>
              <a:t> </a:t>
            </a:r>
            <a:r>
              <a:rPr lang="sk-SK" sz="1200" dirty="0" err="1"/>
              <a:t>allowed</a:t>
            </a:r>
            <a:r>
              <a:rPr lang="sk-SK" sz="1200" dirty="0"/>
              <a:t> </a:t>
            </a:r>
            <a:r>
              <a:rPr lang="sk-SK" sz="1200" dirty="0" err="1"/>
              <a:t>vlan</a:t>
            </a:r>
            <a:r>
              <a:rPr lang="sk-SK" sz="1200" dirty="0"/>
              <a:t> 100, 102, 105</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PVLAN Edge Feature</a:t>
            </a:r>
          </a:p>
        </p:txBody>
      </p:sp>
      <p:sp>
        <p:nvSpPr>
          <p:cNvPr id="5" name="Object4"/>
          <p:cNvSpPr/>
          <p:nvPr/>
        </p:nvSpPr>
        <p:spPr>
          <a:xfrm>
            <a:off x="0" y="914400"/>
            <a:ext cx="4516821"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Some applications require that no traffic be forwarded at Layer 2 between ports on the same switch so that one neighbor does not see the traffic generated by another neighbor.</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In such an environment, the use of the PVLAN Edge feature ensures that there is no exchange of unicast, broadcast, or multicast traffic between PVLAN edge ports on the switch, as shown in the figure. The PLVAN Edge feature is also called Protected Port.</a:t>
            </a:r>
          </a:p>
        </p:txBody>
      </p:sp>
      <p:pic>
        <p:nvPicPr>
          <p:cNvPr id="4" name="Picture 3">
            <a:extLst>
              <a:ext uri="{FF2B5EF4-FFF2-40B4-BE49-F238E27FC236}">
                <a16:creationId xmlns:a16="http://schemas.microsoft.com/office/drawing/2014/main" id="{E0970F28-BF2F-4762-AA63-A009D4E83F10}"/>
              </a:ext>
            </a:extLst>
          </p:cNvPr>
          <p:cNvPicPr>
            <a:picLocks noChangeAspect="1"/>
          </p:cNvPicPr>
          <p:nvPr/>
        </p:nvPicPr>
        <p:blipFill>
          <a:blip r:embed="rId3"/>
          <a:stretch>
            <a:fillRect/>
          </a:stretch>
        </p:blipFill>
        <p:spPr>
          <a:xfrm>
            <a:off x="4443558" y="914400"/>
            <a:ext cx="4243242" cy="345626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VLAN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PVLAN Edge</a:t>
            </a:r>
          </a:p>
        </p:txBody>
      </p:sp>
      <p:sp>
        <p:nvSpPr>
          <p:cNvPr id="5" name="Object4"/>
          <p:cNvSpPr/>
          <p:nvPr/>
        </p:nvSpPr>
        <p:spPr>
          <a:xfrm>
            <a:off x="0" y="914400"/>
            <a:ext cx="8686800" cy="2571750"/>
          </a:xfrm>
          <a:prstGeom prst="rect">
            <a:avLst/>
          </a:prstGeom>
          <a:noFill/>
          <a:ln/>
        </p:spPr>
        <p:txBody>
          <a:bodyPr wrap="square" rtlCol="0" anchor="t"/>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configure the PVLAN Edge feature, enter the </a:t>
            </a:r>
            <a:r>
              <a:rPr lang="en-US" sz="1600" b="1" dirty="0">
                <a:latin typeface="Arial" panose="020B0604020202020204" pitchFamily="34" charset="0"/>
                <a:cs typeface="Arial" panose="020B0604020202020204" pitchFamily="34" charset="0"/>
              </a:rPr>
              <a:t>switchport protected</a:t>
            </a:r>
            <a:r>
              <a:rPr lang="en-US" sz="1600" dirty="0">
                <a:latin typeface="Arial" panose="020B0604020202020204" pitchFamily="34" charset="0"/>
                <a:cs typeface="Arial" panose="020B0604020202020204" pitchFamily="34" charset="0"/>
              </a:rPr>
              <a:t> interface configuration mode command.</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PVLAN Edge feature can be configured on a physical interface or an EtherChannel group. When the PVLAN Edge feature is enabled for a port channel, it is enabled for all ports in the port-channel group. To disable protected port, use the </a:t>
            </a:r>
            <a:r>
              <a:rPr lang="en-US" sz="1600" b="1" dirty="0">
                <a:latin typeface="Arial" panose="020B0604020202020204" pitchFamily="34" charset="0"/>
                <a:cs typeface="Arial" panose="020B0604020202020204" pitchFamily="34" charset="0"/>
              </a:rPr>
              <a:t>no switchport protected</a:t>
            </a:r>
            <a:r>
              <a:rPr lang="en-US" sz="1600" dirty="0">
                <a:latin typeface="Arial" panose="020B0604020202020204" pitchFamily="34" charset="0"/>
                <a:cs typeface="Arial" panose="020B0604020202020204" pitchFamily="34" charset="0"/>
              </a:rPr>
              <a:t> interface configuration mode command.</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verify the configuration of the PVLAN Edge feature, use the </a:t>
            </a:r>
            <a:r>
              <a:rPr lang="en-US" sz="1600" b="1" dirty="0">
                <a:latin typeface="Arial" panose="020B0604020202020204" pitchFamily="34" charset="0"/>
                <a:cs typeface="Arial" panose="020B0604020202020204" pitchFamily="34" charset="0"/>
              </a:rPr>
              <a:t>show interfaces </a:t>
            </a:r>
            <a:r>
              <a:rPr lang="en-US" sz="1600" i="1" dirty="0">
                <a:latin typeface="Arial" panose="020B0604020202020204" pitchFamily="34" charset="0"/>
                <a:cs typeface="Arial" panose="020B0604020202020204" pitchFamily="34" charset="0"/>
              </a:rPr>
              <a:t>interface-id</a:t>
            </a:r>
            <a:r>
              <a:rPr lang="en-US" sz="1600" dirty="0">
                <a:latin typeface="Arial" panose="020B0604020202020204" pitchFamily="34" charset="0"/>
                <a:cs typeface="Arial" panose="020B0604020202020204" pitchFamily="34" charset="0"/>
              </a:rPr>
              <a:t> switchport global configuration mode command.</a:t>
            </a:r>
          </a:p>
          <a:p>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PVLAN edge is a feature that has only local significance to the switch, and there is no isolation provided between two protected ports located on different switches.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1315277" y="78416"/>
            <a:ext cx="6441646" cy="628650"/>
          </a:xfrm>
        </p:spPr>
        <p:txBody>
          <a:bodyPr/>
          <a:lstStyle/>
          <a:p>
            <a:pPr>
              <a:lnSpc>
                <a:spcPct val="100000"/>
              </a:lnSpc>
            </a:pPr>
            <a:r>
              <a:rPr lang="en-US" sz="2400" dirty="0"/>
              <a:t>Verifying Protected Ports</a:t>
            </a:r>
          </a:p>
        </p:txBody>
      </p:sp>
      <p:pic>
        <p:nvPicPr>
          <p:cNvPr id="276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809" y="707826"/>
            <a:ext cx="4844382" cy="37278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39187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14.5 Mitigate DHCP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DHCP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DHCP Attacks</a:t>
            </a:r>
          </a:p>
        </p:txBody>
      </p:sp>
      <p:sp>
        <p:nvSpPr>
          <p:cNvPr id="5" name="Object4"/>
          <p:cNvSpPr/>
          <p:nvPr/>
        </p:nvSpPr>
        <p:spPr>
          <a:xfrm>
            <a:off x="0" y="914400"/>
            <a:ext cx="8789276"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Two types of DHCP attacks are DHCP starvation and DHCP spoofing. Both attacks are mitigated by implementing DHCP snooping.</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DHCP Starvation Attack - </a:t>
            </a:r>
            <a:r>
              <a:rPr lang="en-US" dirty="0">
                <a:latin typeface="Arial" panose="020B0604020202020204" pitchFamily="34" charset="0"/>
                <a:cs typeface="Arial" panose="020B0604020202020204" pitchFamily="34" charset="0"/>
              </a:rPr>
              <a:t>The goal of the DHCP starvation attack is DoS for connecting clients. DHCP starvation attacks require an attack tool such as Gobbler.</a:t>
            </a:r>
          </a:p>
          <a:p>
            <a:endParaRPr lang="en-US"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b="1" dirty="0">
                <a:latin typeface="Arial" panose="020B0604020202020204" pitchFamily="34" charset="0"/>
                <a:cs typeface="Arial" panose="020B0604020202020204" pitchFamily="34" charset="0"/>
              </a:rPr>
              <a:t>DHCP Spoofing Attack - </a:t>
            </a:r>
            <a:r>
              <a:rPr lang="en-US" dirty="0">
                <a:latin typeface="Arial" panose="020B0604020202020204" pitchFamily="34" charset="0"/>
                <a:cs typeface="Arial" panose="020B0604020202020204" pitchFamily="34" charset="0"/>
              </a:rPr>
              <a:t>A DHCP spoofing attack occurs when a rogue DHCP server is connected to the network and provides false IP configuration parameters to legitimate clients. A rogue server can provide a variety of misleading information including wrong default gateway, wrong DNS server, and wrong IP address.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a:p>
        </p:txBody>
      </p:sp>
      <p:sp>
        <p:nvSpPr>
          <p:cNvPr id="4" name="BlokTextu 3">
            <a:extLst>
              <a:ext uri="{FF2B5EF4-FFF2-40B4-BE49-F238E27FC236}">
                <a16:creationId xmlns:a16="http://schemas.microsoft.com/office/drawing/2014/main" id="{FE4E1A63-DD15-583D-D856-E4994A3586DF}"/>
              </a:ext>
            </a:extLst>
          </p:cNvPr>
          <p:cNvSpPr txBox="1"/>
          <p:nvPr/>
        </p:nvSpPr>
        <p:spPr>
          <a:xfrm>
            <a:off x="2980707" y="4259818"/>
            <a:ext cx="1912703" cy="369332"/>
          </a:xfrm>
          <a:prstGeom prst="rect">
            <a:avLst/>
          </a:prstGeom>
          <a:noFill/>
        </p:spPr>
        <p:txBody>
          <a:bodyPr wrap="none" rtlCol="0">
            <a:spAutoFit/>
          </a:bodyPr>
          <a:lstStyle/>
          <a:p>
            <a:r>
              <a:rPr lang="sk-SK" b="1" dirty="0"/>
              <a:t>DHCP</a:t>
            </a:r>
            <a:r>
              <a:rPr lang="sk-SK" dirty="0"/>
              <a:t> UDP 67 a 68</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DHCP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DHCP Attacks Mitigation</a:t>
            </a:r>
          </a:p>
        </p:txBody>
      </p:sp>
      <p:sp>
        <p:nvSpPr>
          <p:cNvPr id="5" name="Object4"/>
          <p:cNvSpPr/>
          <p:nvPr/>
        </p:nvSpPr>
        <p:spPr>
          <a:xfrm>
            <a:off x="0" y="914399"/>
            <a:ext cx="8939048" cy="3224151"/>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It is easy to mitigate </a:t>
            </a:r>
            <a:r>
              <a:rPr lang="en-US" sz="1600" b="1" dirty="0">
                <a:latin typeface="Arial" panose="020B0604020202020204" pitchFamily="34" charset="0"/>
                <a:cs typeface="Arial" panose="020B0604020202020204" pitchFamily="34" charset="0"/>
              </a:rPr>
              <a:t>DHCP starvation attacks by using port security</a:t>
            </a:r>
            <a:r>
              <a:rPr lang="en-US" sz="1600" dirty="0">
                <a:latin typeface="Arial" panose="020B0604020202020204" pitchFamily="34" charset="0"/>
                <a:cs typeface="Arial" panose="020B0604020202020204" pitchFamily="34" charset="0"/>
              </a:rPr>
              <a:t>. However, mitigating DHCP spoofing attacks requires more protection.</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DHCP spoofing attacks can be mitigated using DHCP snooping on trusted ports</a:t>
            </a:r>
            <a:r>
              <a:rPr lang="en-US" sz="1600" dirty="0">
                <a:latin typeface="Arial" panose="020B0604020202020204" pitchFamily="34" charset="0"/>
                <a:cs typeface="Arial" panose="020B0604020202020204" pitchFamily="34" charset="0"/>
              </a:rPr>
              <a:t>. DHCP snooping </a:t>
            </a:r>
            <a:r>
              <a:rPr lang="en-US" sz="1600" b="1" dirty="0">
                <a:latin typeface="Arial" panose="020B0604020202020204" pitchFamily="34" charset="0"/>
                <a:cs typeface="Arial" panose="020B0604020202020204" pitchFamily="34" charset="0"/>
              </a:rPr>
              <a:t>also helps mitigate against DHCP starvation attacks </a:t>
            </a:r>
            <a:r>
              <a:rPr lang="en-US" sz="1600" dirty="0">
                <a:latin typeface="Arial" panose="020B0604020202020204" pitchFamily="34" charset="0"/>
                <a:cs typeface="Arial" panose="020B0604020202020204" pitchFamily="34" charset="0"/>
              </a:rPr>
              <a:t>by rate limiting the number of DHCP discovery messages that an untrusted port can receive. DHCP snooping builds and maintains a DHCP snooping binding database that the switch can use to filter DHCP messages from untrusted sources.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DHCP snooping is enabled on an interface or VLAN, and a switch receives a packet on an untrusted port, the switch compares the source packet information with the information held in the DHCP snooping binding table. The switch will deny packets containing specific information.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DHCP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Steps to Implement DHCP Snooping</a:t>
            </a:r>
          </a:p>
        </p:txBody>
      </p:sp>
      <p:sp>
        <p:nvSpPr>
          <p:cNvPr id="5" name="Object4"/>
          <p:cNvSpPr/>
          <p:nvPr/>
        </p:nvSpPr>
        <p:spPr>
          <a:xfrm>
            <a:off x="0" y="732308"/>
            <a:ext cx="8946931"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Use the following steps to enable DHCP snooping:</a:t>
            </a:r>
          </a:p>
          <a:p>
            <a:endParaRPr lang="en-US" dirty="0">
              <a:effectLst/>
              <a:latin typeface="Arial" panose="020B0604020202020204" pitchFamily="34" charset="0"/>
              <a:cs typeface="Arial" panose="020B0604020202020204" pitchFamily="34" charset="0"/>
            </a:endParaRPr>
          </a:p>
          <a:p>
            <a:r>
              <a:rPr lang="en-US" b="1" dirty="0">
                <a:effectLst/>
                <a:latin typeface="Arial" panose="020B0604020202020204" pitchFamily="34" charset="0"/>
                <a:cs typeface="Arial" panose="020B0604020202020204" pitchFamily="34" charset="0"/>
              </a:rPr>
              <a:t>Step 1</a:t>
            </a:r>
            <a:r>
              <a:rPr lang="en-US" dirty="0">
                <a:effectLst/>
                <a:latin typeface="Arial" panose="020B0604020202020204" pitchFamily="34" charset="0"/>
                <a:cs typeface="Arial" panose="020B0604020202020204" pitchFamily="34" charset="0"/>
              </a:rPr>
              <a:t>. Enable DHCP snooping by using the </a:t>
            </a:r>
            <a:r>
              <a:rPr lang="en-US" b="1" dirty="0" err="1">
                <a:effectLst/>
                <a:latin typeface="Arial" panose="020B0604020202020204" pitchFamily="34" charset="0"/>
                <a:cs typeface="Arial" panose="020B0604020202020204" pitchFamily="34" charset="0"/>
              </a:rPr>
              <a:t>ip</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dhcp</a:t>
            </a:r>
            <a:r>
              <a:rPr lang="en-US" b="1" dirty="0">
                <a:effectLst/>
                <a:latin typeface="Arial" panose="020B0604020202020204" pitchFamily="34" charset="0"/>
                <a:cs typeface="Arial" panose="020B0604020202020204" pitchFamily="34" charset="0"/>
              </a:rPr>
              <a:t> snooping</a:t>
            </a:r>
            <a:r>
              <a:rPr lang="en-US" dirty="0">
                <a:effectLst/>
                <a:latin typeface="Arial" panose="020B0604020202020204" pitchFamily="34" charset="0"/>
                <a:cs typeface="Arial" panose="020B0604020202020204" pitchFamily="34" charset="0"/>
              </a:rPr>
              <a:t> global configuration command.</a:t>
            </a:r>
          </a:p>
          <a:p>
            <a:br>
              <a:rPr lang="en-US" dirty="0">
                <a:effectLst/>
                <a:latin typeface="Arial" panose="020B0604020202020204" pitchFamily="34" charset="0"/>
                <a:cs typeface="Arial" panose="020B0604020202020204" pitchFamily="34" charset="0"/>
              </a:rPr>
            </a:br>
            <a:r>
              <a:rPr lang="en-US" b="1" dirty="0">
                <a:effectLst/>
                <a:latin typeface="Arial" panose="020B0604020202020204" pitchFamily="34" charset="0"/>
                <a:cs typeface="Arial" panose="020B0604020202020204" pitchFamily="34" charset="0"/>
              </a:rPr>
              <a:t>Step 2</a:t>
            </a:r>
            <a:r>
              <a:rPr lang="en-US" dirty="0">
                <a:effectLst/>
                <a:latin typeface="Arial" panose="020B0604020202020204" pitchFamily="34" charset="0"/>
                <a:cs typeface="Arial" panose="020B0604020202020204" pitchFamily="34" charset="0"/>
              </a:rPr>
              <a:t>. On trusted ports, use the </a:t>
            </a:r>
            <a:r>
              <a:rPr lang="en-US" b="1" dirty="0" err="1">
                <a:effectLst/>
                <a:latin typeface="Arial" panose="020B0604020202020204" pitchFamily="34" charset="0"/>
                <a:cs typeface="Arial" panose="020B0604020202020204" pitchFamily="34" charset="0"/>
              </a:rPr>
              <a:t>ip</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dhcp</a:t>
            </a:r>
            <a:r>
              <a:rPr lang="en-US" b="1" dirty="0">
                <a:effectLst/>
                <a:latin typeface="Arial" panose="020B0604020202020204" pitchFamily="34" charset="0"/>
                <a:cs typeface="Arial" panose="020B0604020202020204" pitchFamily="34" charset="0"/>
              </a:rPr>
              <a:t> snooping trust</a:t>
            </a:r>
            <a:r>
              <a:rPr lang="en-US" dirty="0">
                <a:effectLst/>
                <a:latin typeface="Arial" panose="020B0604020202020204" pitchFamily="34" charset="0"/>
                <a:cs typeface="Arial" panose="020B0604020202020204" pitchFamily="34" charset="0"/>
              </a:rPr>
              <a:t> interface configuration command.</a:t>
            </a:r>
          </a:p>
          <a:p>
            <a:br>
              <a:rPr lang="en-US" dirty="0">
                <a:effectLst/>
                <a:latin typeface="Arial" panose="020B0604020202020204" pitchFamily="34" charset="0"/>
                <a:cs typeface="Arial" panose="020B0604020202020204" pitchFamily="34" charset="0"/>
              </a:rPr>
            </a:br>
            <a:r>
              <a:rPr lang="en-US" b="1" dirty="0">
                <a:effectLst/>
                <a:latin typeface="Arial" panose="020B0604020202020204" pitchFamily="34" charset="0"/>
                <a:cs typeface="Arial" panose="020B0604020202020204" pitchFamily="34" charset="0"/>
              </a:rPr>
              <a:t>Step 3</a:t>
            </a:r>
            <a:r>
              <a:rPr lang="en-US" dirty="0">
                <a:effectLst/>
                <a:latin typeface="Arial" panose="020B0604020202020204" pitchFamily="34" charset="0"/>
                <a:cs typeface="Arial" panose="020B0604020202020204" pitchFamily="34" charset="0"/>
              </a:rPr>
              <a:t>. Limit the number of DHCP discovery messages that can be received per second on untrusted ports by using the </a:t>
            </a:r>
            <a:r>
              <a:rPr lang="en-US" b="1" dirty="0" err="1">
                <a:effectLst/>
                <a:latin typeface="Arial" panose="020B0604020202020204" pitchFamily="34" charset="0"/>
                <a:cs typeface="Arial" panose="020B0604020202020204" pitchFamily="34" charset="0"/>
              </a:rPr>
              <a:t>ip</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dhcp</a:t>
            </a:r>
            <a:r>
              <a:rPr lang="en-US" b="1" dirty="0">
                <a:effectLst/>
                <a:latin typeface="Arial" panose="020B0604020202020204" pitchFamily="34" charset="0"/>
                <a:cs typeface="Arial" panose="020B0604020202020204" pitchFamily="34" charset="0"/>
              </a:rPr>
              <a:t> snooping limit rate</a:t>
            </a:r>
            <a:r>
              <a:rPr lang="en-US" dirty="0">
                <a:effectLst/>
                <a:latin typeface="Arial" panose="020B0604020202020204" pitchFamily="34" charset="0"/>
                <a:cs typeface="Arial" panose="020B0604020202020204" pitchFamily="34" charset="0"/>
              </a:rPr>
              <a:t> interface configuration command.</a:t>
            </a:r>
          </a:p>
          <a:p>
            <a:br>
              <a:rPr lang="en-US" dirty="0">
                <a:effectLst/>
                <a:latin typeface="Arial" panose="020B0604020202020204" pitchFamily="34" charset="0"/>
                <a:cs typeface="Arial" panose="020B0604020202020204" pitchFamily="34" charset="0"/>
              </a:rPr>
            </a:br>
            <a:r>
              <a:rPr lang="en-US" b="1" dirty="0">
                <a:effectLst/>
                <a:latin typeface="Arial" panose="020B0604020202020204" pitchFamily="34" charset="0"/>
                <a:cs typeface="Arial" panose="020B0604020202020204" pitchFamily="34" charset="0"/>
              </a:rPr>
              <a:t>Step 4</a:t>
            </a:r>
            <a:r>
              <a:rPr lang="en-US" dirty="0">
                <a:effectLst/>
                <a:latin typeface="Arial" panose="020B0604020202020204" pitchFamily="34" charset="0"/>
                <a:cs typeface="Arial" panose="020B0604020202020204" pitchFamily="34" charset="0"/>
              </a:rPr>
              <a:t>. Enable DHCP snooping by VLAN, or by a range of VLANs, by using the </a:t>
            </a:r>
            <a:r>
              <a:rPr lang="en-US" b="1" dirty="0" err="1">
                <a:effectLst/>
                <a:latin typeface="Arial" panose="020B0604020202020204" pitchFamily="34" charset="0"/>
                <a:cs typeface="Arial" panose="020B0604020202020204" pitchFamily="34" charset="0"/>
              </a:rPr>
              <a:t>ip</a:t>
            </a:r>
            <a:r>
              <a:rPr lang="en-US" b="1" dirty="0">
                <a:effectLst/>
                <a:latin typeface="Arial" panose="020B0604020202020204" pitchFamily="34" charset="0"/>
                <a:cs typeface="Arial" panose="020B0604020202020204" pitchFamily="34" charset="0"/>
              </a:rPr>
              <a:t> </a:t>
            </a:r>
            <a:r>
              <a:rPr lang="en-US" b="1" dirty="0" err="1">
                <a:effectLst/>
                <a:latin typeface="Arial" panose="020B0604020202020204" pitchFamily="34" charset="0"/>
                <a:cs typeface="Arial" panose="020B0604020202020204" pitchFamily="34" charset="0"/>
              </a:rPr>
              <a:t>dhcp</a:t>
            </a:r>
            <a:r>
              <a:rPr lang="en-US" b="1" dirty="0">
                <a:effectLst/>
                <a:latin typeface="Arial" panose="020B0604020202020204" pitchFamily="34" charset="0"/>
                <a:cs typeface="Arial" panose="020B0604020202020204" pitchFamily="34" charset="0"/>
              </a:rPr>
              <a:t> snooping</a:t>
            </a:r>
            <a:r>
              <a:rPr lang="en-US" dirty="0">
                <a:effectLst/>
                <a:latin typeface="Arial" panose="020B0604020202020204" pitchFamily="34" charset="0"/>
                <a:cs typeface="Arial" panose="020B0604020202020204" pitchFamily="34" charset="0"/>
              </a:rPr>
              <a:t> </a:t>
            </a:r>
            <a:r>
              <a:rPr lang="en-US" i="1" dirty="0" err="1">
                <a:effectLst/>
                <a:latin typeface="Arial" panose="020B0604020202020204" pitchFamily="34" charset="0"/>
                <a:cs typeface="Arial" panose="020B0604020202020204" pitchFamily="34" charset="0"/>
              </a:rPr>
              <a:t>vlan</a:t>
            </a:r>
            <a:r>
              <a:rPr lang="en-US" dirty="0">
                <a:effectLst/>
                <a:latin typeface="Arial" panose="020B0604020202020204" pitchFamily="34" charset="0"/>
                <a:cs typeface="Arial" panose="020B0604020202020204" pitchFamily="34" charset="0"/>
              </a:rPr>
              <a:t> global configuration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DHCP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DHCP Snooping Configuration Example</a:t>
            </a:r>
          </a:p>
        </p:txBody>
      </p:sp>
      <p:sp>
        <p:nvSpPr>
          <p:cNvPr id="5" name="Object4"/>
          <p:cNvSpPr/>
          <p:nvPr/>
        </p:nvSpPr>
        <p:spPr>
          <a:xfrm>
            <a:off x="0" y="807127"/>
            <a:ext cx="5849007"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reference topology for this DHCP snooping example is shown in the figure. Notice that F0/5 is an untrusted port because it connects to a PC. F0/1 is a trusted port because it connects to the DHCP server.</a:t>
            </a:r>
          </a:p>
        </p:txBody>
      </p:sp>
      <p:pic>
        <p:nvPicPr>
          <p:cNvPr id="4" name="Picture 3">
            <a:extLst>
              <a:ext uri="{FF2B5EF4-FFF2-40B4-BE49-F238E27FC236}">
                <a16:creationId xmlns:a16="http://schemas.microsoft.com/office/drawing/2014/main" id="{2E05A154-81E4-4113-94B9-6A7CADD25F03}"/>
              </a:ext>
            </a:extLst>
          </p:cNvPr>
          <p:cNvPicPr>
            <a:picLocks noChangeAspect="1"/>
          </p:cNvPicPr>
          <p:nvPr/>
        </p:nvPicPr>
        <p:blipFill>
          <a:blip r:embed="rId3"/>
          <a:stretch>
            <a:fillRect/>
          </a:stretch>
        </p:blipFill>
        <p:spPr>
          <a:xfrm>
            <a:off x="5788044" y="896561"/>
            <a:ext cx="2897585" cy="1502718"/>
          </a:xfrm>
          <a:prstGeom prst="rect">
            <a:avLst/>
          </a:prstGeom>
        </p:spPr>
      </p:pic>
      <p:sp>
        <p:nvSpPr>
          <p:cNvPr id="8" name="TextBox 7">
            <a:extLst>
              <a:ext uri="{FF2B5EF4-FFF2-40B4-BE49-F238E27FC236}">
                <a16:creationId xmlns:a16="http://schemas.microsoft.com/office/drawing/2014/main" id="{9904BBC3-44AE-4B7E-B5A4-9BB4DE5D0A9C}"/>
              </a:ext>
            </a:extLst>
          </p:cNvPr>
          <p:cNvSpPr txBox="1"/>
          <p:nvPr/>
        </p:nvSpPr>
        <p:spPr>
          <a:xfrm>
            <a:off x="29560" y="2005683"/>
            <a:ext cx="4611414" cy="923330"/>
          </a:xfrm>
          <a:prstGeom prst="rect">
            <a:avLst/>
          </a:prstGeom>
          <a:noFill/>
        </p:spPr>
        <p:txBody>
          <a:bodyPr wrap="square">
            <a:spAutoFit/>
          </a:bodyPr>
          <a:lstStyle/>
          <a:p>
            <a:r>
              <a:rPr lang="en-US" dirty="0"/>
              <a:t>The following is an example of how to configure DHCP snooping on S1. Notice how DHCP snooping is first enabled. </a:t>
            </a:r>
          </a:p>
        </p:txBody>
      </p:sp>
      <p:pic>
        <p:nvPicPr>
          <p:cNvPr id="7" name="Picture 6">
            <a:extLst>
              <a:ext uri="{FF2B5EF4-FFF2-40B4-BE49-F238E27FC236}">
                <a16:creationId xmlns:a16="http://schemas.microsoft.com/office/drawing/2014/main" id="{1D713301-4544-4132-A415-A7235339C106}"/>
              </a:ext>
            </a:extLst>
          </p:cNvPr>
          <p:cNvPicPr>
            <a:picLocks noChangeAspect="1"/>
          </p:cNvPicPr>
          <p:nvPr/>
        </p:nvPicPr>
        <p:blipFill>
          <a:blip r:embed="rId4"/>
          <a:stretch>
            <a:fillRect/>
          </a:stretch>
        </p:blipFill>
        <p:spPr>
          <a:xfrm>
            <a:off x="117070" y="2856149"/>
            <a:ext cx="3840075" cy="1701086"/>
          </a:xfrm>
          <a:prstGeom prst="rect">
            <a:avLst/>
          </a:prstGeom>
        </p:spPr>
      </p:pic>
      <p:sp>
        <p:nvSpPr>
          <p:cNvPr id="11" name="TextBox 10">
            <a:extLst>
              <a:ext uri="{FF2B5EF4-FFF2-40B4-BE49-F238E27FC236}">
                <a16:creationId xmlns:a16="http://schemas.microsoft.com/office/drawing/2014/main" id="{16526BE1-647A-4D89-B35F-2F8EF6302062}"/>
              </a:ext>
            </a:extLst>
          </p:cNvPr>
          <p:cNvSpPr txBox="1"/>
          <p:nvPr/>
        </p:nvSpPr>
        <p:spPr>
          <a:xfrm>
            <a:off x="4074215" y="3096948"/>
            <a:ext cx="4611414" cy="1200329"/>
          </a:xfrm>
          <a:prstGeom prst="rect">
            <a:avLst/>
          </a:prstGeom>
          <a:noFill/>
        </p:spPr>
        <p:txBody>
          <a:bodyPr wrap="square">
            <a:spAutoFit/>
          </a:bodyPr>
          <a:lstStyle/>
          <a:p>
            <a:r>
              <a:rPr lang="en-US" dirty="0"/>
              <a:t>Use the </a:t>
            </a:r>
            <a:r>
              <a:rPr lang="en-US" b="1" dirty="0"/>
              <a:t>show ip dhcp snooping</a:t>
            </a:r>
            <a:r>
              <a:rPr lang="en-US" dirty="0"/>
              <a:t> privileged EXEC command to verify DHCP snooping and </a:t>
            </a:r>
            <a:r>
              <a:rPr lang="en-US" b="1" dirty="0"/>
              <a:t>show ip dhcp snooping binding</a:t>
            </a:r>
            <a:r>
              <a:rPr lang="en-US" dirty="0"/>
              <a:t> to view the clients that have received DHCP information.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14.6 Mitigate ARP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ARP Attacks</a:t>
            </a:r>
          </a:p>
        </p:txBody>
      </p:sp>
      <p:sp>
        <p:nvSpPr>
          <p:cNvPr id="5" name="Object4"/>
          <p:cNvSpPr/>
          <p:nvPr/>
        </p:nvSpPr>
        <p:spPr>
          <a:xfrm>
            <a:off x="0" y="914400"/>
            <a:ext cx="9041524"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In a typical attack, a threat actor can send unsolicited ARP Replies to other hosts on the subnet with the MAC Address of the threat actor and the IPv4 address of the default gateway.</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There are many tools available on the internet to create ARP man-in-the-middle attacks including </a:t>
            </a:r>
            <a:r>
              <a:rPr lang="en-US" dirty="0" err="1">
                <a:latin typeface="Arial" panose="020B0604020202020204" pitchFamily="34" charset="0"/>
                <a:cs typeface="Arial" panose="020B0604020202020204" pitchFamily="34" charset="0"/>
              </a:rPr>
              <a:t>dsniff</a:t>
            </a:r>
            <a:r>
              <a:rPr lang="en-US" dirty="0">
                <a:latin typeface="Arial" panose="020B0604020202020204" pitchFamily="34" charset="0"/>
                <a:cs typeface="Arial" panose="020B0604020202020204" pitchFamily="34" charset="0"/>
              </a:rPr>
              <a:t>, Cain &amp; Abel, </a:t>
            </a:r>
            <a:r>
              <a:rPr lang="en-US" dirty="0" err="1">
                <a:latin typeface="Arial" panose="020B0604020202020204" pitchFamily="34" charset="0"/>
                <a:cs typeface="Arial" panose="020B0604020202020204" pitchFamily="34" charset="0"/>
              </a:rPr>
              <a:t>ettercap</a:t>
            </a:r>
            <a:r>
              <a:rPr lang="en-US" dirty="0">
                <a:latin typeface="Arial" panose="020B0604020202020204" pitchFamily="34" charset="0"/>
                <a:cs typeface="Arial" panose="020B0604020202020204" pitchFamily="34" charset="0"/>
              </a:rPr>
              <a:t>, Yersinia, and others. IPv6 uses ICMPv6 Neighbor Discovery Protocol for Layer 2 address resolution. IPv6 includes strategies to mitigate Neighbor Advertisement spoofing, similar to the way IPv6 prevents a spoofed ARP Reply.</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ARP spoofing and ARP poisoning are mitigated by implementing </a:t>
            </a:r>
            <a:r>
              <a:rPr lang="en-US" b="1" dirty="0">
                <a:latin typeface="Arial" panose="020B0604020202020204" pitchFamily="34" charset="0"/>
                <a:cs typeface="Arial" panose="020B0604020202020204" pitchFamily="34" charset="0"/>
              </a:rPr>
              <a:t>Dynamic ARP Inspection</a:t>
            </a:r>
            <a:r>
              <a:rPr lang="en-US" dirty="0">
                <a:latin typeface="Arial" panose="020B0604020202020204" pitchFamily="34" charset="0"/>
                <a:cs typeface="Arial" panose="020B0604020202020204" pitchFamily="34" charset="0"/>
              </a:rPr>
              <a:t> (DAI).</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Dynamic ARP Inspection</a:t>
            </a:r>
          </a:p>
        </p:txBody>
      </p:sp>
      <p:sp>
        <p:nvSpPr>
          <p:cNvPr id="5" name="Object4"/>
          <p:cNvSpPr/>
          <p:nvPr/>
        </p:nvSpPr>
        <p:spPr>
          <a:xfrm>
            <a:off x="0" y="914400"/>
            <a:ext cx="900211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In a typical ARP attack, a threat actor can send unsolicited ARP requests to other hosts on the subnet with the MAC Address of the threat actor and the IP address of the default gateway.</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Dynamic ARP inspection (DAI) requires DHCP snooping and helps prevent ARP attacks by: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Not relaying invalid or gratuitous ARP Requests out to other ports in the same VLAN.</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Intercepting all </a:t>
            </a:r>
            <a:r>
              <a:rPr lang="en-US" sz="1600" b="1" u="sng" dirty="0">
                <a:latin typeface="Arial" panose="020B0604020202020204" pitchFamily="34" charset="0"/>
                <a:cs typeface="Arial" panose="020B0604020202020204" pitchFamily="34" charset="0"/>
              </a:rPr>
              <a:t>ARP</a:t>
            </a:r>
            <a:r>
              <a:rPr lang="en-US" sz="1600" b="1" dirty="0">
                <a:latin typeface="Arial" panose="020B0604020202020204" pitchFamily="34" charset="0"/>
                <a:cs typeface="Arial" panose="020B0604020202020204" pitchFamily="34" charset="0"/>
              </a:rPr>
              <a:t> Requests and Replies on untrusted ports</a:t>
            </a:r>
            <a:r>
              <a:rPr lang="en-US" sz="1600" dirty="0">
                <a:latin typeface="Arial" panose="020B0604020202020204" pitchFamily="34" charset="0"/>
                <a:cs typeface="Arial" panose="020B0604020202020204" pitchFamily="34" charset="0"/>
              </a:rPr>
              <a: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Verifying each intercepted packet for a valid IP-to-MAC binding.</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Dropping and logging ARP Requests coming from invalid sources to prevent ARP poisoning.</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Error-disabling the interface if the configured DAI number of ARP packets is exceeded.</a:t>
            </a:r>
          </a:p>
          <a:p>
            <a:pPr>
              <a:lnSpc>
                <a:spcPts val="2000"/>
              </a:lnSpc>
            </a:pPr>
            <a:endParaRPr lang="en-US" sz="1400" dirty="0"/>
          </a:p>
          <a:p>
            <a:pPr>
              <a:lnSpc>
                <a:spcPts val="2000"/>
              </a:lnSpc>
            </a:pPr>
            <a:endParaRPr lang="en-US" sz="1400" dirty="0"/>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DAI Implementation Guidelines</a:t>
            </a:r>
          </a:p>
        </p:txBody>
      </p:sp>
      <p:sp>
        <p:nvSpPr>
          <p:cNvPr id="5" name="Object4"/>
          <p:cNvSpPr/>
          <p:nvPr/>
        </p:nvSpPr>
        <p:spPr>
          <a:xfrm>
            <a:off x="0" y="914400"/>
            <a:ext cx="4404220"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To mitigate the chances of ARP spoofing and ARP poisoning, follow these DAI implementation guidelines: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Enable DHCP snooping globally.</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Enable DHCP snooping on selected VLANs.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Enable DAI on selected VLANs.</a:t>
            </a:r>
          </a:p>
          <a:p>
            <a:pPr marL="742950" lvl="1" indent="-285750">
              <a:buFont typeface="Arial" panose="020B0604020202020204" pitchFamily="34" charset="0"/>
              <a:buChar char="•"/>
            </a:pPr>
            <a:r>
              <a:rPr lang="en-US" dirty="0">
                <a:latin typeface="Arial" panose="020B0604020202020204" pitchFamily="34" charset="0"/>
                <a:cs typeface="Arial" panose="020B0604020202020204" pitchFamily="34" charset="0"/>
              </a:rPr>
              <a:t>Configure trusted interfaces for DHCP snooping and ARP inspection.</a:t>
            </a:r>
          </a:p>
        </p:txBody>
      </p:sp>
      <p:pic>
        <p:nvPicPr>
          <p:cNvPr id="4" name="Picture 3">
            <a:extLst>
              <a:ext uri="{FF2B5EF4-FFF2-40B4-BE49-F238E27FC236}">
                <a16:creationId xmlns:a16="http://schemas.microsoft.com/office/drawing/2014/main" id="{53ED3E6C-54E3-4F83-9B3E-96131FD77257}"/>
              </a:ext>
            </a:extLst>
          </p:cNvPr>
          <p:cNvPicPr>
            <a:picLocks noChangeAspect="1"/>
          </p:cNvPicPr>
          <p:nvPr/>
        </p:nvPicPr>
        <p:blipFill>
          <a:blip r:embed="rId3"/>
          <a:stretch>
            <a:fillRect/>
          </a:stretch>
        </p:blipFill>
        <p:spPr>
          <a:xfrm>
            <a:off x="5192061" y="1054116"/>
            <a:ext cx="3164098" cy="256663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DAI Configuration Example</a:t>
            </a:r>
          </a:p>
        </p:txBody>
      </p:sp>
      <p:sp>
        <p:nvSpPr>
          <p:cNvPr id="5" name="Object4"/>
          <p:cNvSpPr/>
          <p:nvPr/>
        </p:nvSpPr>
        <p:spPr>
          <a:xfrm>
            <a:off x="0" y="914399"/>
            <a:ext cx="3980793" cy="3526971"/>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In the previous topology, S1 is connecting two users on VLAN 10. DAI will be configured to mitigate against ARP spoofing and ARP poisoning attacks.</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As shown in the example, </a:t>
            </a:r>
            <a:r>
              <a:rPr lang="en-US" sz="1600" b="1" dirty="0">
                <a:effectLst/>
                <a:latin typeface="Arial" panose="020B0604020202020204" pitchFamily="34" charset="0"/>
                <a:cs typeface="Arial" panose="020B0604020202020204" pitchFamily="34" charset="0"/>
              </a:rPr>
              <a:t>DHCP snooping is enabled because DAI requires the </a:t>
            </a:r>
            <a:r>
              <a:rPr lang="en-US" sz="1600" b="1" u="sng" dirty="0">
                <a:effectLst/>
                <a:latin typeface="Arial" panose="020B0604020202020204" pitchFamily="34" charset="0"/>
                <a:cs typeface="Arial" panose="020B0604020202020204" pitchFamily="34" charset="0"/>
              </a:rPr>
              <a:t>DHCP snooping binding table</a:t>
            </a:r>
            <a:r>
              <a:rPr lang="en-US" sz="1600" b="1" dirty="0">
                <a:effectLst/>
                <a:latin typeface="Arial" panose="020B0604020202020204" pitchFamily="34" charset="0"/>
                <a:cs typeface="Arial" panose="020B0604020202020204" pitchFamily="34" charset="0"/>
              </a:rPr>
              <a:t> to operate</a:t>
            </a:r>
            <a:r>
              <a:rPr lang="en-US" sz="1600" dirty="0">
                <a:effectLst/>
                <a:latin typeface="Arial" panose="020B0604020202020204" pitchFamily="34" charset="0"/>
                <a:cs typeface="Arial" panose="020B0604020202020204" pitchFamily="34" charset="0"/>
              </a:rPr>
              <a:t>. Next, DHCP snooping and ARP inspection are enabled for the PCs on VLAN10. The uplink port to the router is trusted, and therefore, is configured as trusted for DHCP snooping and ARP inspection.</a:t>
            </a:r>
          </a:p>
        </p:txBody>
      </p:sp>
      <p:pic>
        <p:nvPicPr>
          <p:cNvPr id="8" name="Picture 7">
            <a:extLst>
              <a:ext uri="{FF2B5EF4-FFF2-40B4-BE49-F238E27FC236}">
                <a16:creationId xmlns:a16="http://schemas.microsoft.com/office/drawing/2014/main" id="{0B81FDCF-8CC8-4D78-8B87-DA1EBD63794B}"/>
              </a:ext>
            </a:extLst>
          </p:cNvPr>
          <p:cNvPicPr>
            <a:picLocks noChangeAspect="1"/>
          </p:cNvPicPr>
          <p:nvPr/>
        </p:nvPicPr>
        <p:blipFill>
          <a:blip r:embed="rId3"/>
          <a:stretch>
            <a:fillRect/>
          </a:stretch>
        </p:blipFill>
        <p:spPr>
          <a:xfrm>
            <a:off x="4364619" y="938524"/>
            <a:ext cx="3276768" cy="12510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43</a:t>
            </a:fld>
            <a:endParaRPr lang="en-US"/>
          </a:p>
        </p:txBody>
      </p:sp>
      <p:sp>
        <p:nvSpPr>
          <p:cNvPr id="4" name="BlokTextu 3">
            <a:extLst>
              <a:ext uri="{FF2B5EF4-FFF2-40B4-BE49-F238E27FC236}">
                <a16:creationId xmlns:a16="http://schemas.microsoft.com/office/drawing/2014/main" id="{0806B029-BDBB-FFF2-7FB5-0E0200428D4C}"/>
              </a:ext>
            </a:extLst>
          </p:cNvPr>
          <p:cNvSpPr txBox="1"/>
          <p:nvPr/>
        </p:nvSpPr>
        <p:spPr>
          <a:xfrm>
            <a:off x="4252334" y="2189538"/>
            <a:ext cx="4787971" cy="2862322"/>
          </a:xfrm>
          <a:prstGeom prst="rect">
            <a:avLst/>
          </a:prstGeom>
          <a:noFill/>
        </p:spPr>
        <p:txBody>
          <a:bodyPr wrap="square" rtlCol="0">
            <a:spAutoFit/>
          </a:bodyPr>
          <a:lstStyle/>
          <a:p>
            <a:r>
              <a:rPr lang="sk-SK" dirty="0"/>
              <a:t>S1(</a:t>
            </a:r>
            <a:r>
              <a:rPr lang="sk-SK" dirty="0" err="1"/>
              <a:t>config</a:t>
            </a:r>
            <a:r>
              <a:rPr lang="sk-SK" dirty="0"/>
              <a:t>)#</a:t>
            </a:r>
            <a:r>
              <a:rPr lang="sk-SK" dirty="0" err="1"/>
              <a:t>int</a:t>
            </a:r>
            <a:r>
              <a:rPr lang="sk-SK" dirty="0"/>
              <a:t> fa0/1 ! Aj fa0/2</a:t>
            </a:r>
          </a:p>
          <a:p>
            <a:r>
              <a:rPr lang="sk-SK" dirty="0"/>
              <a:t>S1(</a:t>
            </a:r>
            <a:r>
              <a:rPr lang="sk-SK" dirty="0" err="1"/>
              <a:t>config-if</a:t>
            </a:r>
            <a:r>
              <a:rPr lang="sk-SK" dirty="0"/>
              <a:t>)#</a:t>
            </a:r>
            <a:r>
              <a:rPr lang="sk-SK" dirty="0" err="1"/>
              <a:t>ip</a:t>
            </a:r>
            <a:r>
              <a:rPr lang="sk-SK" dirty="0"/>
              <a:t> </a:t>
            </a:r>
            <a:r>
              <a:rPr lang="sk-SK" dirty="0" err="1"/>
              <a:t>arp</a:t>
            </a:r>
            <a:r>
              <a:rPr lang="sk-SK" dirty="0"/>
              <a:t> </a:t>
            </a:r>
            <a:r>
              <a:rPr lang="sk-SK" dirty="0" err="1"/>
              <a:t>inspeciton</a:t>
            </a:r>
            <a:r>
              <a:rPr lang="sk-SK" dirty="0"/>
              <a:t> limit rate 15</a:t>
            </a:r>
          </a:p>
          <a:p>
            <a:endParaRPr lang="sk-SK" dirty="0"/>
          </a:p>
          <a:p>
            <a:r>
              <a:rPr lang="sk-SK" dirty="0" err="1"/>
              <a:t>ip</a:t>
            </a:r>
            <a:r>
              <a:rPr lang="sk-SK" dirty="0"/>
              <a:t> </a:t>
            </a:r>
            <a:r>
              <a:rPr lang="sk-SK" dirty="0" err="1"/>
              <a:t>access</a:t>
            </a:r>
            <a:r>
              <a:rPr lang="sk-SK" dirty="0"/>
              <a:t>-list </a:t>
            </a:r>
            <a:r>
              <a:rPr lang="sk-SK" dirty="0" err="1"/>
              <a:t>extended</a:t>
            </a:r>
            <a:r>
              <a:rPr lang="sk-SK" dirty="0"/>
              <a:t> ARP-ACL</a:t>
            </a:r>
          </a:p>
          <a:p>
            <a:r>
              <a:rPr lang="sk-SK" dirty="0" err="1"/>
              <a:t>permit</a:t>
            </a:r>
            <a:r>
              <a:rPr lang="sk-SK" dirty="0"/>
              <a:t> </a:t>
            </a:r>
            <a:r>
              <a:rPr lang="sk-SK" dirty="0" err="1"/>
              <a:t>ip</a:t>
            </a:r>
            <a:r>
              <a:rPr lang="sk-SK" dirty="0"/>
              <a:t> </a:t>
            </a:r>
            <a:r>
              <a:rPr lang="sk-SK" dirty="0" err="1"/>
              <a:t>host</a:t>
            </a:r>
            <a:r>
              <a:rPr lang="sk-SK" dirty="0"/>
              <a:t> 192.168.1.1 </a:t>
            </a:r>
            <a:r>
              <a:rPr lang="sk-SK" dirty="0" err="1"/>
              <a:t>any</a:t>
            </a:r>
            <a:endParaRPr lang="sk-SK" dirty="0"/>
          </a:p>
          <a:p>
            <a:r>
              <a:rPr lang="sk-SK" dirty="0" err="1"/>
              <a:t>permit</a:t>
            </a:r>
            <a:r>
              <a:rPr lang="sk-SK" dirty="0"/>
              <a:t> </a:t>
            </a:r>
            <a:r>
              <a:rPr lang="sk-SK" dirty="0" err="1"/>
              <a:t>ip</a:t>
            </a:r>
            <a:r>
              <a:rPr lang="sk-SK" dirty="0"/>
              <a:t> </a:t>
            </a:r>
            <a:r>
              <a:rPr lang="sk-SK" dirty="0" err="1"/>
              <a:t>host</a:t>
            </a:r>
            <a:r>
              <a:rPr lang="sk-SK" dirty="0"/>
              <a:t> 192.168.1.2 </a:t>
            </a:r>
            <a:r>
              <a:rPr lang="sk-SK" dirty="0" err="1"/>
              <a:t>any</a:t>
            </a:r>
            <a:endParaRPr lang="sk-SK" dirty="0"/>
          </a:p>
          <a:p>
            <a:r>
              <a:rPr lang="sk-SK" dirty="0" err="1"/>
              <a:t>ip</a:t>
            </a:r>
            <a:r>
              <a:rPr lang="sk-SK" dirty="0"/>
              <a:t> </a:t>
            </a:r>
            <a:r>
              <a:rPr lang="sk-SK" dirty="0" err="1"/>
              <a:t>arp</a:t>
            </a:r>
            <a:r>
              <a:rPr lang="sk-SK" dirty="0"/>
              <a:t> </a:t>
            </a:r>
            <a:r>
              <a:rPr lang="sk-SK" dirty="0" err="1"/>
              <a:t>inspection</a:t>
            </a:r>
            <a:r>
              <a:rPr lang="sk-SK" dirty="0"/>
              <a:t> filter ARP-ACL </a:t>
            </a:r>
            <a:r>
              <a:rPr lang="sk-SK" dirty="0" err="1"/>
              <a:t>vlan</a:t>
            </a:r>
            <a:r>
              <a:rPr lang="sk-SK" dirty="0"/>
              <a:t> 10</a:t>
            </a:r>
          </a:p>
          <a:p>
            <a:endParaRPr lang="sk-SK" b="1" i="0" dirty="0">
              <a:solidFill>
                <a:srgbClr val="111111"/>
              </a:solidFill>
              <a:effectLst/>
              <a:latin typeface="-apple-system"/>
            </a:endParaRPr>
          </a:p>
          <a:p>
            <a:r>
              <a:rPr lang="sk-SK" b="1" i="0" dirty="0">
                <a:solidFill>
                  <a:srgbClr val="111111"/>
                </a:solidFill>
                <a:effectLst/>
                <a:latin typeface="-apple-system"/>
              </a:rPr>
              <a:t>ACL pre ARP</a:t>
            </a:r>
            <a:r>
              <a:rPr lang="sk-SK" b="0" i="0" dirty="0">
                <a:solidFill>
                  <a:srgbClr val="111111"/>
                </a:solidFill>
                <a:effectLst/>
                <a:latin typeface="-apple-system"/>
              </a:rPr>
              <a:t>: Definuje povolené ARP požiadavky pre konkrétne IP adresy.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DAI Configuration Example (Cont.)</a:t>
            </a:r>
          </a:p>
        </p:txBody>
      </p:sp>
      <p:sp>
        <p:nvSpPr>
          <p:cNvPr id="5" name="Object4"/>
          <p:cNvSpPr/>
          <p:nvPr/>
        </p:nvSpPr>
        <p:spPr>
          <a:xfrm>
            <a:off x="0" y="914400"/>
            <a:ext cx="8797159"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DAI can also be configured to check for both destination or source MAC and IP addresses:</a:t>
            </a:r>
          </a:p>
          <a:p>
            <a:endParaRPr lang="en-US"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Destination MAC</a:t>
            </a:r>
            <a:r>
              <a:rPr lang="en-US" dirty="0">
                <a:latin typeface="Arial" panose="020B0604020202020204" pitchFamily="34" charset="0"/>
                <a:cs typeface="Arial" panose="020B0604020202020204" pitchFamily="34" charset="0"/>
              </a:rPr>
              <a:t> - Checks the destination MAC address in the Ethernet header against the target MAC address in the ARP packet body.</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Source MAC</a:t>
            </a:r>
            <a:r>
              <a:rPr lang="en-US" dirty="0">
                <a:latin typeface="Arial" panose="020B0604020202020204" pitchFamily="34" charset="0"/>
                <a:cs typeface="Arial" panose="020B0604020202020204" pitchFamily="34" charset="0"/>
              </a:rPr>
              <a:t> - Checks the source MAC address in the Ethernet header against the sender MAC address in the ARP packet body.</a:t>
            </a:r>
          </a:p>
          <a:p>
            <a:pPr marL="742950" lvl="1" indent="-285750">
              <a:buFont typeface="Arial" panose="020B0604020202020204" pitchFamily="34" charset="0"/>
              <a:buChar char="•"/>
            </a:pPr>
            <a:r>
              <a:rPr lang="en-US" b="1" dirty="0">
                <a:latin typeface="Arial" panose="020B0604020202020204" pitchFamily="34" charset="0"/>
                <a:cs typeface="Arial" panose="020B0604020202020204" pitchFamily="34" charset="0"/>
              </a:rPr>
              <a:t>IP address</a:t>
            </a:r>
            <a:r>
              <a:rPr lang="en-US" dirty="0">
                <a:latin typeface="Arial" panose="020B0604020202020204" pitchFamily="34" charset="0"/>
                <a:cs typeface="Arial" panose="020B0604020202020204" pitchFamily="34" charset="0"/>
              </a:rPr>
              <a:t> - Checks the ARP packet body for invalid and unexpected IP addresses including addresses 0.0.0.0, 255.255.255.255, and all IP multicast addresses.</a:t>
            </a:r>
          </a:p>
          <a:p>
            <a:endParaRPr lang="en-US"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a:p>
        </p:txBody>
      </p:sp>
    </p:spTree>
    <p:extLst>
      <p:ext uri="{BB962C8B-B14F-4D97-AF65-F5344CB8AC3E}">
        <p14:creationId xmlns:p14="http://schemas.microsoft.com/office/powerpoint/2010/main" val="331758385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ARP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DAI Configuration Example (Cont.)</a:t>
            </a:r>
          </a:p>
        </p:txBody>
      </p:sp>
      <p:sp>
        <p:nvSpPr>
          <p:cNvPr id="5" name="Object4"/>
          <p:cNvSpPr/>
          <p:nvPr/>
        </p:nvSpPr>
        <p:spPr>
          <a:xfrm>
            <a:off x="0" y="914400"/>
            <a:ext cx="8797159"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a:t>
            </a:r>
            <a:r>
              <a:rPr lang="en-US" sz="1600" b="1" dirty="0" err="1">
                <a:latin typeface="Arial" panose="020B0604020202020204" pitchFamily="34" charset="0"/>
                <a:cs typeface="Arial" panose="020B0604020202020204" pitchFamily="34" charset="0"/>
              </a:rPr>
              <a:t>ip</a:t>
            </a:r>
            <a:r>
              <a:rPr lang="en-US" sz="1600" b="1"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arp</a:t>
            </a:r>
            <a:r>
              <a:rPr lang="en-US" sz="1600" b="1" dirty="0">
                <a:latin typeface="Arial" panose="020B0604020202020204" pitchFamily="34" charset="0"/>
                <a:cs typeface="Arial" panose="020B0604020202020204" pitchFamily="34" charset="0"/>
              </a:rPr>
              <a:t> inspection validate </a:t>
            </a:r>
            <a:r>
              <a:rPr lang="en-US" sz="1600" dirty="0">
                <a:latin typeface="Arial" panose="020B0604020202020204" pitchFamily="34" charset="0"/>
                <a:cs typeface="Arial" panose="020B0604020202020204" pitchFamily="34" charset="0"/>
              </a:rPr>
              <a:t>{</a:t>
            </a:r>
            <a:r>
              <a:rPr lang="en-US" sz="1600" b="1" dirty="0" err="1">
                <a:latin typeface="Arial" panose="020B0604020202020204" pitchFamily="34" charset="0"/>
                <a:cs typeface="Arial" panose="020B0604020202020204" pitchFamily="34" charset="0"/>
              </a:rPr>
              <a:t>src</a:t>
            </a:r>
            <a:r>
              <a:rPr lang="en-US" sz="1600" b="1" dirty="0">
                <a:latin typeface="Arial" panose="020B0604020202020204" pitchFamily="34" charset="0"/>
                <a:cs typeface="Arial" panose="020B0604020202020204" pitchFamily="34" charset="0"/>
              </a:rPr>
              <a:t>-mac</a:t>
            </a:r>
            <a:r>
              <a:rPr lang="en-US" sz="1600"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dst</a:t>
            </a:r>
            <a:r>
              <a:rPr lang="en-US" sz="1600" b="1" dirty="0">
                <a:latin typeface="Arial" panose="020B0604020202020204" pitchFamily="34" charset="0"/>
                <a:cs typeface="Arial" panose="020B0604020202020204" pitchFamily="34" charset="0"/>
              </a:rPr>
              <a:t>-mac</a:t>
            </a:r>
            <a:r>
              <a:rPr lang="en-US" sz="1600" dirty="0">
                <a:latin typeface="Arial" panose="020B0604020202020204" pitchFamily="34" charset="0"/>
                <a:cs typeface="Arial" panose="020B0604020202020204" pitchFamily="34" charset="0"/>
              </a:rPr>
              <a:t>] [</a:t>
            </a:r>
            <a:r>
              <a:rPr lang="en-US" sz="1600" b="1" dirty="0" err="1">
                <a:latin typeface="Arial" panose="020B0604020202020204" pitchFamily="34" charset="0"/>
                <a:cs typeface="Arial" panose="020B0604020202020204" pitchFamily="34" charset="0"/>
              </a:rPr>
              <a:t>ip</a:t>
            </a:r>
            <a:r>
              <a:rPr lang="en-US" sz="1600" dirty="0">
                <a:latin typeface="Arial" panose="020B0604020202020204" pitchFamily="34" charset="0"/>
                <a:cs typeface="Arial" panose="020B0604020202020204" pitchFamily="34" charset="0"/>
              </a:rPr>
              <a:t>]} global configuration command is used to configure DAI to drop ARP packets when the IP addresses are invalid.</a:t>
            </a:r>
          </a:p>
        </p:txBody>
      </p:sp>
      <p:pic>
        <p:nvPicPr>
          <p:cNvPr id="6" name="Picture 5">
            <a:extLst>
              <a:ext uri="{FF2B5EF4-FFF2-40B4-BE49-F238E27FC236}">
                <a16:creationId xmlns:a16="http://schemas.microsoft.com/office/drawing/2014/main" id="{B5ABFAEE-F527-48C1-A74F-FEBDB85E9F19}"/>
              </a:ext>
            </a:extLst>
          </p:cNvPr>
          <p:cNvPicPr>
            <a:picLocks noChangeAspect="1"/>
          </p:cNvPicPr>
          <p:nvPr/>
        </p:nvPicPr>
        <p:blipFill>
          <a:blip r:embed="rId3"/>
          <a:stretch>
            <a:fillRect/>
          </a:stretch>
        </p:blipFill>
        <p:spPr>
          <a:xfrm>
            <a:off x="2042608" y="1828800"/>
            <a:ext cx="4711942" cy="255918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a:p>
        </p:txBody>
      </p:sp>
    </p:spTree>
    <p:extLst>
      <p:ext uri="{BB962C8B-B14F-4D97-AF65-F5344CB8AC3E}">
        <p14:creationId xmlns:p14="http://schemas.microsoft.com/office/powerpoint/2010/main" val="3857449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14.7 Mitigate Address Spoofing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Address Spoofing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Address Spoofing Attacks</a:t>
            </a:r>
          </a:p>
        </p:txBody>
      </p:sp>
      <p:sp>
        <p:nvSpPr>
          <p:cNvPr id="5" name="Object4"/>
          <p:cNvSpPr/>
          <p:nvPr/>
        </p:nvSpPr>
        <p:spPr>
          <a:xfrm>
            <a:off x="0" y="914400"/>
            <a:ext cx="4920837" cy="3405352"/>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MAC address spoofing attacks occur when attackers alter the MAC address of their host to match another known MAC address of a target host, as shown in the first figure.</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When the switch receives the frame, it examines the source MAC address. The switch overwrites the current MAC table entry and assigns the MAC address to the new port, as shown in the second figure. It then inadvertently forwards frames destined for the target host to the attacking host.</a:t>
            </a:r>
          </a:p>
        </p:txBody>
      </p:sp>
      <p:pic>
        <p:nvPicPr>
          <p:cNvPr id="4" name="Picture 3">
            <a:extLst>
              <a:ext uri="{FF2B5EF4-FFF2-40B4-BE49-F238E27FC236}">
                <a16:creationId xmlns:a16="http://schemas.microsoft.com/office/drawing/2014/main" id="{C5898A99-1D99-4CC7-A141-48DBA5F69059}"/>
              </a:ext>
            </a:extLst>
          </p:cNvPr>
          <p:cNvPicPr>
            <a:picLocks noChangeAspect="1"/>
          </p:cNvPicPr>
          <p:nvPr/>
        </p:nvPicPr>
        <p:blipFill>
          <a:blip r:embed="rId3"/>
          <a:stretch>
            <a:fillRect/>
          </a:stretch>
        </p:blipFill>
        <p:spPr>
          <a:xfrm>
            <a:off x="5092262" y="387757"/>
            <a:ext cx="3152310" cy="2183993"/>
          </a:xfrm>
          <a:prstGeom prst="rect">
            <a:avLst/>
          </a:prstGeom>
        </p:spPr>
      </p:pic>
      <p:pic>
        <p:nvPicPr>
          <p:cNvPr id="6" name="Picture 5">
            <a:extLst>
              <a:ext uri="{FF2B5EF4-FFF2-40B4-BE49-F238E27FC236}">
                <a16:creationId xmlns:a16="http://schemas.microsoft.com/office/drawing/2014/main" id="{832D080A-A8BD-4528-9ECA-EACD9995FF84}"/>
              </a:ext>
            </a:extLst>
          </p:cNvPr>
          <p:cNvPicPr>
            <a:picLocks noChangeAspect="1"/>
          </p:cNvPicPr>
          <p:nvPr/>
        </p:nvPicPr>
        <p:blipFill>
          <a:blip r:embed="rId4"/>
          <a:stretch>
            <a:fillRect/>
          </a:stretch>
        </p:blipFill>
        <p:spPr>
          <a:xfrm>
            <a:off x="5639148" y="2573720"/>
            <a:ext cx="2433999" cy="182485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Address Spoofing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Address Spoofing Attack Mitigation</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To protect against MAC and IP address spoofing, configure the IP Source Guard (IPSG) security feature. </a:t>
            </a:r>
            <a:r>
              <a:rPr lang="en-US" sz="1600" b="1" dirty="0">
                <a:latin typeface="Arial" panose="020B0604020202020204" pitchFamily="34" charset="0"/>
                <a:cs typeface="Arial" panose="020B0604020202020204" pitchFamily="34" charset="0"/>
              </a:rPr>
              <a:t>IPSG operates just like DAI, but it looks at every packet, </a:t>
            </a:r>
            <a:r>
              <a:rPr lang="en-US" sz="1600" b="1" u="sng" dirty="0">
                <a:latin typeface="Arial" panose="020B0604020202020204" pitchFamily="34" charset="0"/>
                <a:cs typeface="Arial" panose="020B0604020202020204" pitchFamily="34" charset="0"/>
              </a:rPr>
              <a:t>not just the ARP packets.</a:t>
            </a:r>
            <a:r>
              <a:rPr lang="en-US" sz="1600" dirty="0">
                <a:latin typeface="Arial" panose="020B0604020202020204" pitchFamily="34" charset="0"/>
                <a:cs typeface="Arial" panose="020B0604020202020204" pitchFamily="34" charset="0"/>
              </a:rPr>
              <a:t> Like DAI, IPSG also requires that DHCP snooping be enabled.</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For each untrusted port, there are two possible levels of IP traffic security filtering:</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Source IP address filter</a:t>
            </a:r>
            <a:r>
              <a:rPr lang="en-US" sz="1600" dirty="0">
                <a:latin typeface="Arial" panose="020B0604020202020204" pitchFamily="34" charset="0"/>
                <a:cs typeface="Arial" panose="020B0604020202020204" pitchFamily="34" charset="0"/>
              </a:rPr>
              <a:t> - IP traffic is filtered based on its source IP address and only IP traffic with a source IP address that matches the IP source binding entry is permitted. When a new IP source entry binding is created or deleted on the port, the per-port VLAN ACL (PVACL) automatically adjusts itself to reflect the IP source binding change.</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Source IP and MAC address filter</a:t>
            </a:r>
            <a:r>
              <a:rPr lang="en-US" sz="1600" dirty="0">
                <a:latin typeface="Arial" panose="020B0604020202020204" pitchFamily="34" charset="0"/>
                <a:cs typeface="Arial" panose="020B0604020202020204" pitchFamily="34" charset="0"/>
              </a:rPr>
              <a:t> - IP traffic is filtered based on its source IP address in addition to its MAC address. Only IP traffic with source IP and MAC addresses that match the IP source binding entry are permitted.</a:t>
            </a:r>
          </a:p>
          <a:p>
            <a:pPr>
              <a:lnSpc>
                <a:spcPts val="2000"/>
              </a:lnSpc>
            </a:pP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Address Spoofing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IP Source Guard</a:t>
            </a:r>
          </a:p>
        </p:txBody>
      </p:sp>
      <p:sp>
        <p:nvSpPr>
          <p:cNvPr id="5" name="Object4"/>
          <p:cNvSpPr/>
          <p:nvPr/>
        </p:nvSpPr>
        <p:spPr>
          <a:xfrm>
            <a:off x="0" y="914400"/>
            <a:ext cx="4453759" cy="54864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IP Source Guard reference topology is shown in the figure on the right.</a:t>
            </a:r>
          </a:p>
        </p:txBody>
      </p:sp>
      <p:pic>
        <p:nvPicPr>
          <p:cNvPr id="4" name="Picture 3">
            <a:extLst>
              <a:ext uri="{FF2B5EF4-FFF2-40B4-BE49-F238E27FC236}">
                <a16:creationId xmlns:a16="http://schemas.microsoft.com/office/drawing/2014/main" id="{69DB8D78-3C22-44C0-8AC6-1FF23F1A2159}"/>
              </a:ext>
            </a:extLst>
          </p:cNvPr>
          <p:cNvPicPr>
            <a:picLocks noChangeAspect="1"/>
          </p:cNvPicPr>
          <p:nvPr/>
        </p:nvPicPr>
        <p:blipFill>
          <a:blip r:embed="rId3"/>
          <a:stretch>
            <a:fillRect/>
          </a:stretch>
        </p:blipFill>
        <p:spPr>
          <a:xfrm>
            <a:off x="5174296" y="274320"/>
            <a:ext cx="3512504" cy="2124522"/>
          </a:xfrm>
          <a:prstGeom prst="rect">
            <a:avLst/>
          </a:prstGeom>
        </p:spPr>
      </p:pic>
      <p:sp>
        <p:nvSpPr>
          <p:cNvPr id="8" name="TextBox 7">
            <a:extLst>
              <a:ext uri="{FF2B5EF4-FFF2-40B4-BE49-F238E27FC236}">
                <a16:creationId xmlns:a16="http://schemas.microsoft.com/office/drawing/2014/main" id="{60684DB2-BDF4-4837-BD63-D5EF75CDB82C}"/>
              </a:ext>
            </a:extLst>
          </p:cNvPr>
          <p:cNvSpPr txBox="1"/>
          <p:nvPr/>
        </p:nvSpPr>
        <p:spPr>
          <a:xfrm>
            <a:off x="0" y="1687309"/>
            <a:ext cx="4931508"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IP Source Guard is enabled on untrusted ports using the </a:t>
            </a:r>
            <a:r>
              <a:rPr lang="en-US" sz="1600" b="1" dirty="0" err="1">
                <a:latin typeface="Arial" panose="020B0604020202020204" pitchFamily="34" charset="0"/>
                <a:cs typeface="Arial" panose="020B0604020202020204" pitchFamily="34" charset="0"/>
              </a:rPr>
              <a:t>ip</a:t>
            </a:r>
            <a:r>
              <a:rPr lang="en-US" sz="1600" b="1" dirty="0">
                <a:latin typeface="Arial" panose="020B0604020202020204" pitchFamily="34" charset="0"/>
                <a:cs typeface="Arial" panose="020B0604020202020204" pitchFamily="34" charset="0"/>
              </a:rPr>
              <a:t> verify source</a:t>
            </a:r>
            <a:r>
              <a:rPr lang="en-US" sz="1600" dirty="0">
                <a:latin typeface="Arial" panose="020B0604020202020204" pitchFamily="34" charset="0"/>
                <a:cs typeface="Arial" panose="020B0604020202020204" pitchFamily="34" charset="0"/>
              </a:rPr>
              <a:t> command as shown in the configuration below. </a:t>
            </a:r>
          </a:p>
        </p:txBody>
      </p:sp>
      <p:pic>
        <p:nvPicPr>
          <p:cNvPr id="7" name="Picture 6">
            <a:extLst>
              <a:ext uri="{FF2B5EF4-FFF2-40B4-BE49-F238E27FC236}">
                <a16:creationId xmlns:a16="http://schemas.microsoft.com/office/drawing/2014/main" id="{0D9AAC8C-4DF7-42FE-BCCD-948BC9891D56}"/>
              </a:ext>
            </a:extLst>
          </p:cNvPr>
          <p:cNvPicPr>
            <a:picLocks noChangeAspect="1"/>
          </p:cNvPicPr>
          <p:nvPr/>
        </p:nvPicPr>
        <p:blipFill>
          <a:blip r:embed="rId4"/>
          <a:stretch>
            <a:fillRect/>
          </a:stretch>
        </p:blipFill>
        <p:spPr>
          <a:xfrm>
            <a:off x="4931508" y="2490030"/>
            <a:ext cx="3998079" cy="837810"/>
          </a:xfrm>
          <a:prstGeom prst="rect">
            <a:avLst/>
          </a:prstGeom>
        </p:spPr>
      </p:pic>
      <p:sp>
        <p:nvSpPr>
          <p:cNvPr id="11" name="TextBox 10">
            <a:extLst>
              <a:ext uri="{FF2B5EF4-FFF2-40B4-BE49-F238E27FC236}">
                <a16:creationId xmlns:a16="http://schemas.microsoft.com/office/drawing/2014/main" id="{8B7A4632-BC98-46B7-B8B4-378174009792}"/>
              </a:ext>
            </a:extLst>
          </p:cNvPr>
          <p:cNvSpPr txBox="1"/>
          <p:nvPr/>
        </p:nvSpPr>
        <p:spPr>
          <a:xfrm>
            <a:off x="84136" y="2643785"/>
            <a:ext cx="3908744"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show </a:t>
            </a:r>
            <a:r>
              <a:rPr lang="en-US" sz="1600" b="1" dirty="0" err="1">
                <a:latin typeface="Arial" panose="020B0604020202020204" pitchFamily="34" charset="0"/>
                <a:cs typeface="Arial" panose="020B0604020202020204" pitchFamily="34" charset="0"/>
              </a:rPr>
              <a:t>ip</a:t>
            </a:r>
            <a:r>
              <a:rPr lang="en-US" sz="1600" b="1" dirty="0">
                <a:latin typeface="Arial" panose="020B0604020202020204" pitchFamily="34" charset="0"/>
                <a:cs typeface="Arial" panose="020B0604020202020204" pitchFamily="34" charset="0"/>
              </a:rPr>
              <a:t> verify source </a:t>
            </a:r>
            <a:r>
              <a:rPr lang="en-US" sz="1600" dirty="0">
                <a:latin typeface="Arial" panose="020B0604020202020204" pitchFamily="34" charset="0"/>
                <a:cs typeface="Arial" panose="020B0604020202020204" pitchFamily="34" charset="0"/>
              </a:rPr>
              <a:t>command to verify the IP Source Guard configuration.</a:t>
            </a:r>
          </a:p>
        </p:txBody>
      </p:sp>
      <p:pic>
        <p:nvPicPr>
          <p:cNvPr id="9" name="Picture 8">
            <a:extLst>
              <a:ext uri="{FF2B5EF4-FFF2-40B4-BE49-F238E27FC236}">
                <a16:creationId xmlns:a16="http://schemas.microsoft.com/office/drawing/2014/main" id="{BA472C2F-90FD-4D3D-8012-8706A44E14B5}"/>
              </a:ext>
            </a:extLst>
          </p:cNvPr>
          <p:cNvPicPr>
            <a:picLocks noChangeAspect="1"/>
          </p:cNvPicPr>
          <p:nvPr/>
        </p:nvPicPr>
        <p:blipFill>
          <a:blip r:embed="rId5"/>
          <a:stretch>
            <a:fillRect/>
          </a:stretch>
        </p:blipFill>
        <p:spPr>
          <a:xfrm>
            <a:off x="1387311" y="3596432"/>
            <a:ext cx="6369377" cy="114940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14.8 Spanning Tree Protocol</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Spanning Tree Protocol</a:t>
            </a:r>
          </a:p>
        </p:txBody>
      </p:sp>
      <p:sp>
        <p:nvSpPr>
          <p:cNvPr id="5" name="Object4"/>
          <p:cNvSpPr/>
          <p:nvPr/>
        </p:nvSpPr>
        <p:spPr>
          <a:xfrm>
            <a:off x="-1" y="914400"/>
            <a:ext cx="8820807" cy="6858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Spanning Tree Protocol (STP) is a loop-prevention network protocol that allows for redundancy while creating a loop-free Layer 2 topology. IEEE 802.1D is the original IEEE MAC Bridging standard for STP.</a:t>
            </a:r>
          </a:p>
        </p:txBody>
      </p:sp>
      <p:pic>
        <p:nvPicPr>
          <p:cNvPr id="4" name="Picture 3">
            <a:extLst>
              <a:ext uri="{FF2B5EF4-FFF2-40B4-BE49-F238E27FC236}">
                <a16:creationId xmlns:a16="http://schemas.microsoft.com/office/drawing/2014/main" id="{5DD08A83-AACA-47EF-BF48-C3676560ECC9}"/>
              </a:ext>
            </a:extLst>
          </p:cNvPr>
          <p:cNvPicPr>
            <a:picLocks noChangeAspect="1"/>
          </p:cNvPicPr>
          <p:nvPr/>
        </p:nvPicPr>
        <p:blipFill>
          <a:blip r:embed="rId3"/>
          <a:stretch>
            <a:fillRect/>
          </a:stretch>
        </p:blipFill>
        <p:spPr>
          <a:xfrm>
            <a:off x="1995979" y="1692119"/>
            <a:ext cx="4650828" cy="2599466"/>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416560"/>
          </a:xfrm>
          <a:prstGeom prst="rect">
            <a:avLst/>
          </a:prstGeom>
          <a:noFill/>
          <a:ln/>
        </p:spPr>
        <p:txBody>
          <a:bodyPr wrap="square" rtlCol="0"/>
          <a:lstStyle/>
          <a:p>
            <a:pPr marL="0" indent="0">
              <a:buNone/>
            </a:pPr>
            <a:r>
              <a:rPr lang="en-US" dirty="0"/>
              <a:t>STP Recalculation</a:t>
            </a:r>
          </a:p>
        </p:txBody>
      </p:sp>
      <p:pic>
        <p:nvPicPr>
          <p:cNvPr id="6" name="Picture 5">
            <a:extLst>
              <a:ext uri="{FF2B5EF4-FFF2-40B4-BE49-F238E27FC236}">
                <a16:creationId xmlns:a16="http://schemas.microsoft.com/office/drawing/2014/main" id="{DB8B3885-2BBE-4AA1-9896-DA2FB66BDBDC}"/>
              </a:ext>
            </a:extLst>
          </p:cNvPr>
          <p:cNvPicPr>
            <a:picLocks noChangeAspect="1"/>
          </p:cNvPicPr>
          <p:nvPr/>
        </p:nvPicPr>
        <p:blipFill>
          <a:blip r:embed="rId3"/>
          <a:stretch>
            <a:fillRect/>
          </a:stretch>
        </p:blipFill>
        <p:spPr>
          <a:xfrm>
            <a:off x="245878" y="875608"/>
            <a:ext cx="4194372" cy="258595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52</a:t>
            </a:fld>
            <a:endParaRPr lang="en-US"/>
          </a:p>
        </p:txBody>
      </p:sp>
      <p:sp>
        <p:nvSpPr>
          <p:cNvPr id="5" name="BlokTextu 4">
            <a:extLst>
              <a:ext uri="{FF2B5EF4-FFF2-40B4-BE49-F238E27FC236}">
                <a16:creationId xmlns:a16="http://schemas.microsoft.com/office/drawing/2014/main" id="{D1B548FA-7F59-3ED0-AED1-23CC7ED5F042}"/>
              </a:ext>
            </a:extLst>
          </p:cNvPr>
          <p:cNvSpPr txBox="1"/>
          <p:nvPr/>
        </p:nvSpPr>
        <p:spPr>
          <a:xfrm>
            <a:off x="4440250" y="737422"/>
            <a:ext cx="4610792" cy="2862322"/>
          </a:xfrm>
          <a:prstGeom prst="rect">
            <a:avLst/>
          </a:prstGeom>
          <a:noFill/>
        </p:spPr>
        <p:txBody>
          <a:bodyPr wrap="square">
            <a:spAutoFit/>
          </a:bodyPr>
          <a:lstStyle/>
          <a:p>
            <a:r>
              <a:rPr lang="sk-SK" b="0" i="0" dirty="0" err="1">
                <a:solidFill>
                  <a:srgbClr val="242424"/>
                </a:solidFill>
                <a:effectLst/>
                <a:latin typeface="Segoe UI" panose="020B0502040204020203" pitchFamily="34" charset="0"/>
              </a:rPr>
              <a:t>Spanning</a:t>
            </a:r>
            <a:r>
              <a:rPr lang="sk-SK" b="0" i="0" dirty="0">
                <a:solidFill>
                  <a:srgbClr val="242424"/>
                </a:solidFill>
                <a:effectLst/>
                <a:latin typeface="Segoe UI" panose="020B0502040204020203" pitchFamily="34" charset="0"/>
              </a:rPr>
              <a:t> </a:t>
            </a:r>
            <a:r>
              <a:rPr lang="sk-SK" b="0" i="0" dirty="0" err="1">
                <a:solidFill>
                  <a:srgbClr val="242424"/>
                </a:solidFill>
                <a:effectLst/>
                <a:latin typeface="Segoe UI" panose="020B0502040204020203" pitchFamily="34" charset="0"/>
              </a:rPr>
              <a:t>Tree</a:t>
            </a:r>
            <a:r>
              <a:rPr lang="sk-SK" b="0" i="0" dirty="0">
                <a:solidFill>
                  <a:srgbClr val="242424"/>
                </a:solidFill>
                <a:effectLst/>
                <a:latin typeface="Segoe UI" panose="020B0502040204020203" pitchFamily="34" charset="0"/>
              </a:rPr>
              <a:t> </a:t>
            </a:r>
            <a:r>
              <a:rPr lang="sk-SK" b="0" i="0" dirty="0" err="1">
                <a:solidFill>
                  <a:srgbClr val="242424"/>
                </a:solidFill>
                <a:effectLst/>
                <a:latin typeface="Segoe UI" panose="020B0502040204020203" pitchFamily="34" charset="0"/>
              </a:rPr>
              <a:t>Protocol</a:t>
            </a:r>
            <a:r>
              <a:rPr lang="sk-SK" b="0" i="0" dirty="0">
                <a:solidFill>
                  <a:srgbClr val="242424"/>
                </a:solidFill>
                <a:effectLst/>
                <a:latin typeface="Segoe UI" panose="020B0502040204020203" pitchFamily="34" charset="0"/>
              </a:rPr>
              <a:t> (STP) prepočet sa uskutočňuje dynamicky, keď sa zmení topológia siete. Tento proces zahŕňa výber koreňového mosta (</a:t>
            </a:r>
            <a:r>
              <a:rPr lang="sk-SK" b="0" i="0" dirty="0" err="1">
                <a:solidFill>
                  <a:srgbClr val="242424"/>
                </a:solidFill>
                <a:effectLst/>
                <a:latin typeface="Segoe UI" panose="020B0502040204020203" pitchFamily="34" charset="0"/>
              </a:rPr>
              <a:t>root</a:t>
            </a:r>
            <a:r>
              <a:rPr lang="sk-SK" b="0" i="0" dirty="0">
                <a:solidFill>
                  <a:srgbClr val="242424"/>
                </a:solidFill>
                <a:effectLst/>
                <a:latin typeface="Segoe UI" panose="020B0502040204020203" pitchFamily="34" charset="0"/>
              </a:rPr>
              <a:t> </a:t>
            </a:r>
            <a:r>
              <a:rPr lang="sk-SK" b="0" i="0" dirty="0" err="1">
                <a:solidFill>
                  <a:srgbClr val="242424"/>
                </a:solidFill>
                <a:effectLst/>
                <a:latin typeface="Segoe UI" panose="020B0502040204020203" pitchFamily="34" charset="0"/>
              </a:rPr>
              <a:t>bridge</a:t>
            </a:r>
            <a:r>
              <a:rPr lang="sk-SK" b="0" i="0" dirty="0">
                <a:solidFill>
                  <a:srgbClr val="242424"/>
                </a:solidFill>
                <a:effectLst/>
                <a:latin typeface="Segoe UI" panose="020B0502040204020203" pitchFamily="34" charset="0"/>
              </a:rPr>
              <a:t>) a následné určenie najkratších ciest k tomuto mostu pre všetky ostatné mosty v sieti. Ak dôjde k zmene v sieti, napríklad k výpadku spojenia alebo pridaniu nového mosta, STP automaticky prepočíta topológiu, aby zabezpečil, že sieť zostane bez slučiek.</a:t>
            </a:r>
            <a:endParaRPr lang="sk-SK"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Layer 2 Loops</a:t>
            </a:r>
          </a:p>
        </p:txBody>
      </p:sp>
      <p:sp>
        <p:nvSpPr>
          <p:cNvPr id="5" name="Object4"/>
          <p:cNvSpPr/>
          <p:nvPr/>
        </p:nvSpPr>
        <p:spPr>
          <a:xfrm>
            <a:off x="0" y="914400"/>
            <a:ext cx="887598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Without STP enabled, Layer 2 loops can form, causing broadcast, multicast and unknown unicast frames to loop endlessly. This can bring down a network within a very short amount of time.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When a loop occurs, the MAC address table on a switch will constantly change with the updates from the broadcast frames, which results in MAC database instability. This can cause high CPU utilization, which makes the switch unable to forward frames.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Broadcast frames are not the only type of frames that are affected by loops. Unknown unicast frames sent onto a looped network can result in duplicate frames arriving at the destination device.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STP Port Roles</a:t>
            </a:r>
          </a:p>
        </p:txBody>
      </p:sp>
      <p:sp>
        <p:nvSpPr>
          <p:cNvPr id="5" name="Object4"/>
          <p:cNvSpPr/>
          <p:nvPr/>
        </p:nvSpPr>
        <p:spPr>
          <a:xfrm>
            <a:off x="-1" y="801658"/>
            <a:ext cx="8946931" cy="362190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spanning tree algorithm designates a single switch as the root bridge and uses it as the reference point for all path calculations.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In the figure, the root bridge (switch S1) is chosen through an election process. All switches that participate in STP exchange BPDU frames to determine which switch has the lowest bridge ID (BID) on the network. </a:t>
            </a:r>
            <a:r>
              <a:rPr lang="en-US" sz="1600" b="1" dirty="0">
                <a:latin typeface="Arial" panose="020B0604020202020204" pitchFamily="34" charset="0"/>
                <a:cs typeface="Arial" panose="020B0604020202020204" pitchFamily="34" charset="0"/>
              </a:rPr>
              <a:t>The switch with the lowest BID </a:t>
            </a:r>
            <a:r>
              <a:rPr lang="en-US" sz="1600" dirty="0">
                <a:latin typeface="Arial" panose="020B0604020202020204" pitchFamily="34" charset="0"/>
                <a:cs typeface="Arial" panose="020B0604020202020204" pitchFamily="34" charset="0"/>
              </a:rPr>
              <a:t>automatically becomes the root bridge for the spanning tree algorithm calculations.</a:t>
            </a:r>
          </a:p>
        </p:txBody>
      </p:sp>
      <p:sp>
        <p:nvSpPr>
          <p:cNvPr id="8" name="TextBox 7">
            <a:extLst>
              <a:ext uri="{FF2B5EF4-FFF2-40B4-BE49-F238E27FC236}">
                <a16:creationId xmlns:a16="http://schemas.microsoft.com/office/drawing/2014/main" id="{A9F563E7-2268-43C7-B02A-272329B175E9}"/>
              </a:ext>
            </a:extLst>
          </p:cNvPr>
          <p:cNvSpPr txBox="1"/>
          <p:nvPr/>
        </p:nvSpPr>
        <p:spPr>
          <a:xfrm>
            <a:off x="39414" y="2910096"/>
            <a:ext cx="8647386" cy="830997"/>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When the spanning tree algorithm has determined which paths are most desirable relative to each switch, it assigns port roles to the participating switch ports. The STP port roles are alternate, root, and designated.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54</a:t>
            </a:fld>
            <a:endParaRPr lang="en-US"/>
          </a:p>
        </p:txBody>
      </p:sp>
      <p:sp>
        <p:nvSpPr>
          <p:cNvPr id="6" name="BlokTextu 5">
            <a:extLst>
              <a:ext uri="{FF2B5EF4-FFF2-40B4-BE49-F238E27FC236}">
                <a16:creationId xmlns:a16="http://schemas.microsoft.com/office/drawing/2014/main" id="{CDFC603C-54C4-102F-01B1-BDF06771B8E2}"/>
              </a:ext>
            </a:extLst>
          </p:cNvPr>
          <p:cNvSpPr txBox="1"/>
          <p:nvPr/>
        </p:nvSpPr>
        <p:spPr>
          <a:xfrm>
            <a:off x="39413" y="3903017"/>
            <a:ext cx="8777619" cy="615553"/>
          </a:xfrm>
          <a:prstGeom prst="rect">
            <a:avLst/>
          </a:prstGeom>
          <a:noFill/>
        </p:spPr>
        <p:txBody>
          <a:bodyPr wrap="square" rtlCol="0">
            <a:spAutoFit/>
          </a:bodyPr>
          <a:lstStyle/>
          <a:p>
            <a:r>
              <a:rPr lang="sk-SK" sz="1600" dirty="0"/>
              <a:t>Voľba </a:t>
            </a:r>
            <a:r>
              <a:rPr lang="sk-SK" sz="1600" dirty="0" err="1"/>
              <a:t>root</a:t>
            </a:r>
            <a:r>
              <a:rPr lang="sk-SK" sz="1600" dirty="0"/>
              <a:t> </a:t>
            </a:r>
            <a:r>
              <a:rPr lang="sk-SK" sz="1600" dirty="0" err="1"/>
              <a:t>bridge</a:t>
            </a:r>
            <a:r>
              <a:rPr lang="sk-SK" sz="1600" dirty="0"/>
              <a:t> sa v STP protokole sa inicializuje, keď sieť prvýkrát zapne alebo keď do siete pribudne nový prepínač</a:t>
            </a:r>
            <a:r>
              <a:rPr lang="sk-SK" dirty="0"/>
              <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STP Port Roles (Cont.)</a:t>
            </a:r>
          </a:p>
        </p:txBody>
      </p:sp>
      <p:sp>
        <p:nvSpPr>
          <p:cNvPr id="5" name="Object4"/>
          <p:cNvSpPr/>
          <p:nvPr/>
        </p:nvSpPr>
        <p:spPr>
          <a:xfrm>
            <a:off x="-1" y="801657"/>
            <a:ext cx="4804757" cy="3609629"/>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STP port roles are:</a:t>
            </a: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Root</a:t>
            </a:r>
            <a:r>
              <a:rPr lang="en-US" sz="1600" dirty="0">
                <a:latin typeface="Arial" panose="020B0604020202020204" pitchFamily="34" charset="0"/>
                <a:cs typeface="Arial" panose="020B0604020202020204" pitchFamily="34" charset="0"/>
              </a:rPr>
              <a:t> - Root ports are switch ports that are closest to the root bridge.</a:t>
            </a: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Designated</a:t>
            </a:r>
            <a:r>
              <a:rPr lang="en-US" sz="1600" dirty="0">
                <a:latin typeface="Arial" panose="020B0604020202020204" pitchFamily="34" charset="0"/>
                <a:cs typeface="Arial" panose="020B0604020202020204" pitchFamily="34" charset="0"/>
              </a:rPr>
              <a:t> - If one end of a trunk is a root port, then the other end is a designated port. All ports on the root bridge are designated ports.</a:t>
            </a:r>
          </a:p>
          <a:p>
            <a:pPr>
              <a:lnSpc>
                <a:spcPts val="2000"/>
              </a:lnSpc>
            </a:pPr>
            <a:endParaRPr lang="en-US" sz="1600" dirty="0">
              <a:latin typeface="Arial" panose="020B0604020202020204" pitchFamily="34" charset="0"/>
              <a:cs typeface="Arial" panose="020B0604020202020204" pitchFamily="34" charset="0"/>
            </a:endParaRPr>
          </a:p>
          <a:p>
            <a:pPr marL="742950" lvl="1" indent="-285750">
              <a:lnSpc>
                <a:spcPts val="2000"/>
              </a:lnSpc>
              <a:buFont typeface="Arial" panose="020B0604020202020204" pitchFamily="34" charset="0"/>
              <a:buChar char="•"/>
            </a:pPr>
            <a:r>
              <a:rPr lang="en-US" sz="1600" b="1" dirty="0">
                <a:latin typeface="Arial" panose="020B0604020202020204" pitchFamily="34" charset="0"/>
                <a:cs typeface="Arial" panose="020B0604020202020204" pitchFamily="34" charset="0"/>
              </a:rPr>
              <a:t>Alternate</a:t>
            </a:r>
            <a:r>
              <a:rPr lang="en-US" sz="1600" dirty="0">
                <a:latin typeface="Arial" panose="020B0604020202020204" pitchFamily="34" charset="0"/>
                <a:cs typeface="Arial" panose="020B0604020202020204" pitchFamily="34" charset="0"/>
              </a:rPr>
              <a:t> - Alternate or backup ports are configured to be in a blocking state to prevent loops. Alternate ports are selected only on trunk links where neither end is a root port.</a:t>
            </a:r>
          </a:p>
          <a:p>
            <a:pPr marL="742950" lvl="1" indent="-285750">
              <a:lnSpc>
                <a:spcPts val="2000"/>
              </a:lnSpc>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55</a:t>
            </a:fld>
            <a:endParaRPr lang="en-US"/>
          </a:p>
        </p:txBody>
      </p:sp>
      <p:pic>
        <p:nvPicPr>
          <p:cNvPr id="4" name="Picture 3">
            <a:extLst>
              <a:ext uri="{FF2B5EF4-FFF2-40B4-BE49-F238E27FC236}">
                <a16:creationId xmlns:a16="http://schemas.microsoft.com/office/drawing/2014/main" id="{02930074-CFDC-7FA3-8996-57C2280FFFE6}"/>
              </a:ext>
            </a:extLst>
          </p:cNvPr>
          <p:cNvPicPr>
            <a:picLocks noChangeAspect="1"/>
          </p:cNvPicPr>
          <p:nvPr/>
        </p:nvPicPr>
        <p:blipFill>
          <a:blip r:embed="rId3"/>
          <a:stretch>
            <a:fillRect/>
          </a:stretch>
        </p:blipFill>
        <p:spPr>
          <a:xfrm>
            <a:off x="4904510" y="834315"/>
            <a:ext cx="4134196" cy="3098525"/>
          </a:xfrm>
          <a:prstGeom prst="rect">
            <a:avLst/>
          </a:prstGeom>
        </p:spPr>
      </p:pic>
    </p:spTree>
    <p:extLst>
      <p:ext uri="{BB962C8B-B14F-4D97-AF65-F5344CB8AC3E}">
        <p14:creationId xmlns:p14="http://schemas.microsoft.com/office/powerpoint/2010/main" val="17146966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STP Root Bridge</a:t>
            </a:r>
          </a:p>
        </p:txBody>
      </p:sp>
      <p:sp>
        <p:nvSpPr>
          <p:cNvPr id="5" name="Object4"/>
          <p:cNvSpPr/>
          <p:nvPr/>
        </p:nvSpPr>
        <p:spPr>
          <a:xfrm>
            <a:off x="-1" y="708660"/>
            <a:ext cx="4516821" cy="2571750"/>
          </a:xfrm>
          <a:prstGeom prst="rect">
            <a:avLst/>
          </a:prstGeom>
          <a:noFill/>
          <a:ln/>
        </p:spPr>
        <p:txBody>
          <a:bodyPr wrap="square" rtlCol="0" anchor="t"/>
          <a:lstStyle/>
          <a:p>
            <a:r>
              <a:rPr lang="en-US" sz="1400" dirty="0">
                <a:effectLst/>
                <a:latin typeface="Arial" panose="020B0604020202020204" pitchFamily="34" charset="0"/>
                <a:cs typeface="Arial" panose="020B0604020202020204" pitchFamily="34" charset="0"/>
              </a:rPr>
              <a:t>As shown in the figure, every spanning tree instance (switched LAN or broadcast domain) has a switch designated as the root bridge. </a:t>
            </a:r>
          </a:p>
          <a:p>
            <a:endParaRPr lang="en-US" sz="1400" dirty="0">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The root bridge serves as a reference point for all spanning tree calculations to determine which redundant paths to block.</a:t>
            </a:r>
          </a:p>
          <a:p>
            <a:endParaRPr lang="en-US" sz="1400" dirty="0">
              <a:effectLst/>
              <a:latin typeface="Arial" panose="020B0604020202020204" pitchFamily="34" charset="0"/>
              <a:cs typeface="Arial" panose="020B0604020202020204" pitchFamily="34" charset="0"/>
            </a:endParaRPr>
          </a:p>
          <a:p>
            <a:r>
              <a:rPr lang="en-US" sz="1400" dirty="0">
                <a:effectLst/>
                <a:latin typeface="Arial" panose="020B0604020202020204" pitchFamily="34" charset="0"/>
                <a:cs typeface="Arial" panose="020B0604020202020204" pitchFamily="34" charset="0"/>
              </a:rPr>
              <a:t>An election process determines which switch becomes the root bridge.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After a switch boots, it begins to send out BPDU frames every two seconds. These BPDU frames contain the switch BID and the root ID. Eventually, the </a:t>
            </a:r>
            <a:r>
              <a:rPr lang="en-US" sz="1400" b="1" dirty="0">
                <a:latin typeface="Arial" panose="020B0604020202020204" pitchFamily="34" charset="0"/>
                <a:cs typeface="Arial" panose="020B0604020202020204" pitchFamily="34" charset="0"/>
              </a:rPr>
              <a:t>switch with the lowest BID </a:t>
            </a:r>
            <a:r>
              <a:rPr lang="en-US" sz="1400" dirty="0">
                <a:latin typeface="Arial" panose="020B0604020202020204" pitchFamily="34" charset="0"/>
                <a:cs typeface="Arial" panose="020B0604020202020204" pitchFamily="34" charset="0"/>
              </a:rPr>
              <a:t>ends up being identified as the </a:t>
            </a:r>
            <a:r>
              <a:rPr lang="en-US" sz="1400" b="1" dirty="0">
                <a:latin typeface="Arial" panose="020B0604020202020204" pitchFamily="34" charset="0"/>
                <a:cs typeface="Arial" panose="020B0604020202020204" pitchFamily="34" charset="0"/>
              </a:rPr>
              <a:t>root bridge </a:t>
            </a:r>
            <a:r>
              <a:rPr lang="en-US" sz="1400" dirty="0">
                <a:latin typeface="Arial" panose="020B0604020202020204" pitchFamily="34" charset="0"/>
                <a:cs typeface="Arial" panose="020B0604020202020204" pitchFamily="34" charset="0"/>
              </a:rPr>
              <a:t>for the spanning tree instance.</a:t>
            </a:r>
            <a:endParaRPr lang="en-US" sz="1400" dirty="0">
              <a:effectLst/>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662EC75-CA37-464F-89A8-4FFEC3846AE7}"/>
              </a:ext>
            </a:extLst>
          </p:cNvPr>
          <p:cNvPicPr>
            <a:picLocks noChangeAspect="1"/>
          </p:cNvPicPr>
          <p:nvPr/>
        </p:nvPicPr>
        <p:blipFill>
          <a:blip r:embed="rId3"/>
          <a:stretch>
            <a:fillRect/>
          </a:stretch>
        </p:blipFill>
        <p:spPr>
          <a:xfrm>
            <a:off x="4572000" y="894332"/>
            <a:ext cx="4335517" cy="29563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STP Path Cost</a:t>
            </a:r>
          </a:p>
        </p:txBody>
      </p:sp>
      <p:sp>
        <p:nvSpPr>
          <p:cNvPr id="7" name="TextBox 6">
            <a:extLst>
              <a:ext uri="{FF2B5EF4-FFF2-40B4-BE49-F238E27FC236}">
                <a16:creationId xmlns:a16="http://schemas.microsoft.com/office/drawing/2014/main" id="{6528C643-1853-47B4-860A-2C5D6CC5F5C0}"/>
              </a:ext>
            </a:extLst>
          </p:cNvPr>
          <p:cNvSpPr txBox="1"/>
          <p:nvPr/>
        </p:nvSpPr>
        <p:spPr>
          <a:xfrm>
            <a:off x="-1" y="775344"/>
            <a:ext cx="9143999" cy="923330"/>
          </a:xfrm>
          <a:prstGeom prst="rect">
            <a:avLst/>
          </a:prstGeom>
          <a:noFill/>
        </p:spPr>
        <p:txBody>
          <a:bodyPr wrap="square">
            <a:spAutoFit/>
          </a:bodyPr>
          <a:lstStyle/>
          <a:p>
            <a:r>
              <a:rPr lang="en-US" dirty="0"/>
              <a:t>The path information is determined by summing up the individual port costs along the path from the destination to the root bridge. Each “destination” is actually a switch port.</a:t>
            </a:r>
          </a:p>
          <a:p>
            <a:r>
              <a:rPr lang="en-US" dirty="0"/>
              <a:t>The default port costs are defined by the speed at which the port operates. </a:t>
            </a:r>
          </a:p>
        </p:txBody>
      </p:sp>
      <p:graphicFrame>
        <p:nvGraphicFramePr>
          <p:cNvPr id="64" name="Table 63"/>
          <p:cNvGraphicFramePr>
            <a:graphicFrameLocks noGrp="1"/>
          </p:cNvGraphicFramePr>
          <p:nvPr>
            <p:extLst>
              <p:ext uri="{D42A27DB-BD31-4B8C-83A1-F6EECF244321}">
                <p14:modId xmlns:p14="http://schemas.microsoft.com/office/powerpoint/2010/main" val="2453408990"/>
              </p:ext>
            </p:extLst>
          </p:nvPr>
        </p:nvGraphicFramePr>
        <p:xfrm>
          <a:off x="91438" y="1829474"/>
          <a:ext cx="8961120" cy="129540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r>
                        <a:rPr lang="en-US" sz="1200" dirty="0">
                          <a:solidFill>
                            <a:srgbClr val="FFFFFF"/>
                          </a:solidFill>
                        </a:rPr>
                        <a:t>Link Speed and Name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Cost (Revised IEEE Specification)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Cost (Previous IEEE Specification)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10 Gb/s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2</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1 Gb/s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4</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2"/>
                  </a:ext>
                </a:extLst>
              </a:tr>
              <a:tr h="0">
                <a:tc>
                  <a:txBody>
                    <a:bodyPr/>
                    <a:lstStyle/>
                    <a:p>
                      <a:r>
                        <a:rPr lang="en-US" sz="1200" dirty="0">
                          <a:solidFill>
                            <a:srgbClr val="58585B"/>
                          </a:solidFill>
                        </a:rPr>
                        <a:t>100 Mb/s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19</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10 Mb/s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100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100</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4"/>
                  </a:ext>
                </a:extLst>
              </a:tr>
            </a:tbl>
          </a:graphicData>
        </a:graphic>
      </p:graphicFrame>
      <p:sp>
        <p:nvSpPr>
          <p:cNvPr id="9" name="TextBox 8">
            <a:extLst>
              <a:ext uri="{FF2B5EF4-FFF2-40B4-BE49-F238E27FC236}">
                <a16:creationId xmlns:a16="http://schemas.microsoft.com/office/drawing/2014/main" id="{26FEDF12-55F4-4A08-865D-915560014B87}"/>
              </a:ext>
            </a:extLst>
          </p:cNvPr>
          <p:cNvSpPr txBox="1"/>
          <p:nvPr/>
        </p:nvSpPr>
        <p:spPr>
          <a:xfrm>
            <a:off x="0" y="3255674"/>
            <a:ext cx="9309539" cy="1200329"/>
          </a:xfrm>
          <a:prstGeom prst="rect">
            <a:avLst/>
          </a:prstGeom>
          <a:noFill/>
        </p:spPr>
        <p:txBody>
          <a:bodyPr wrap="square">
            <a:spAutoFit/>
          </a:bodyPr>
          <a:lstStyle/>
          <a:p>
            <a:r>
              <a:rPr lang="en-US" dirty="0"/>
              <a:t>To configure the port cost of an interface, enter the </a:t>
            </a:r>
            <a:r>
              <a:rPr lang="en-US" b="1" dirty="0"/>
              <a:t>spanning-tree cost </a:t>
            </a:r>
            <a:r>
              <a:rPr lang="en-US" i="1" dirty="0"/>
              <a:t>value</a:t>
            </a:r>
            <a:r>
              <a:rPr lang="en-US" dirty="0"/>
              <a:t> command in interface configuration mode. The </a:t>
            </a:r>
            <a:r>
              <a:rPr lang="en-US" i="1" dirty="0"/>
              <a:t>value</a:t>
            </a:r>
            <a:r>
              <a:rPr lang="en-US" dirty="0"/>
              <a:t> can be between 1 and 200,000,000.</a:t>
            </a:r>
          </a:p>
          <a:p>
            <a:endParaRPr lang="en-US" dirty="0"/>
          </a:p>
          <a:p>
            <a:r>
              <a:rPr lang="en-US" dirty="0"/>
              <a:t>To verify the port and path cost to the root bridge, enter the </a:t>
            </a:r>
            <a:r>
              <a:rPr lang="en-US" b="1" dirty="0"/>
              <a:t>show spanning-tree</a:t>
            </a:r>
            <a:r>
              <a:rPr lang="en-US" dirty="0"/>
              <a:t>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Spanning Tree Protocol</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Select the Root Bridge</a:t>
            </a:r>
          </a:p>
        </p:txBody>
      </p:sp>
      <p:sp>
        <p:nvSpPr>
          <p:cNvPr id="5" name="Object4"/>
          <p:cNvSpPr/>
          <p:nvPr/>
        </p:nvSpPr>
        <p:spPr>
          <a:xfrm>
            <a:off x="-1" y="914400"/>
            <a:ext cx="914399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When an administrator wants a specific switch to become a root bridge, the bridge priority value must be adjusted to ensure it is lower than the bridge priority values of all the other switches on the network.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There are two different methods to configure the bridge priority value on a Cisco Catalyst switch.</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To ensure that the switch has the lowest bridge priority value, use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vlan</a:t>
            </a:r>
            <a:r>
              <a:rPr lang="en-US" sz="1600"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vlan</a:t>
            </a:r>
            <a:r>
              <a:rPr lang="en-US" sz="1600" i="1" dirty="0">
                <a:latin typeface="Arial" panose="020B0604020202020204" pitchFamily="34" charset="0"/>
                <a:cs typeface="Arial" panose="020B0604020202020204" pitchFamily="34" charset="0"/>
              </a:rPr>
              <a:t>-id</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root primary</a:t>
            </a:r>
            <a:r>
              <a:rPr lang="en-US" sz="1600" dirty="0">
                <a:latin typeface="Arial" panose="020B0604020202020204" pitchFamily="34" charset="0"/>
                <a:cs typeface="Arial" panose="020B0604020202020204" pitchFamily="34" charset="0"/>
              </a:rPr>
              <a:t> command in global configuration mode. If an alternate root bridge is desired, use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vlan</a:t>
            </a:r>
            <a:r>
              <a:rPr lang="en-US" sz="1600"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vlan</a:t>
            </a:r>
            <a:r>
              <a:rPr lang="en-US" sz="1600" i="1" dirty="0">
                <a:latin typeface="Arial" panose="020B0604020202020204" pitchFamily="34" charset="0"/>
                <a:cs typeface="Arial" panose="020B0604020202020204" pitchFamily="34" charset="0"/>
              </a:rPr>
              <a:t>-id</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root secondary</a:t>
            </a:r>
            <a:r>
              <a:rPr lang="en-US" sz="1600" dirty="0">
                <a:latin typeface="Arial" panose="020B0604020202020204" pitchFamily="34" charset="0"/>
                <a:cs typeface="Arial" panose="020B0604020202020204" pitchFamily="34" charset="0"/>
              </a:rPr>
              <a:t> global configuration mode command. </a:t>
            </a:r>
          </a:p>
          <a:p>
            <a:pPr lvl="1"/>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Another method for configuring the bridge priority value is using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vlan</a:t>
            </a:r>
            <a:r>
              <a:rPr lang="en-US" sz="1600" dirty="0">
                <a:latin typeface="Arial" panose="020B0604020202020204" pitchFamily="34" charset="0"/>
                <a:cs typeface="Arial" panose="020B0604020202020204" pitchFamily="34" charset="0"/>
              </a:rPr>
              <a:t> </a:t>
            </a:r>
            <a:r>
              <a:rPr lang="en-US" sz="1600" i="1" dirty="0" err="1">
                <a:latin typeface="Arial" panose="020B0604020202020204" pitchFamily="34" charset="0"/>
                <a:cs typeface="Arial" panose="020B0604020202020204" pitchFamily="34" charset="0"/>
              </a:rPr>
              <a:t>vlan</a:t>
            </a:r>
            <a:r>
              <a:rPr lang="en-US" sz="1600" i="1" dirty="0">
                <a:latin typeface="Arial" panose="020B0604020202020204" pitchFamily="34" charset="0"/>
                <a:cs typeface="Arial" panose="020B0604020202020204" pitchFamily="34" charset="0"/>
              </a:rPr>
              <a:t>-id</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priority</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value</a:t>
            </a:r>
            <a:r>
              <a:rPr lang="en-US" sz="1600" dirty="0">
                <a:latin typeface="Arial" panose="020B0604020202020204" pitchFamily="34" charset="0"/>
                <a:cs typeface="Arial" panose="020B0604020202020204" pitchFamily="34" charset="0"/>
              </a:rPr>
              <a:t> global configuration mode command. This command gives more granular control over the bridge priority value. The priority value is configured in increments of 4,096 between 0 and 61,440.</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14.9 Mitigate STP Attacks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50672"/>
            <a:ext cx="9144000" cy="914400"/>
          </a:xfrm>
          <a:prstGeom prst="rect">
            <a:avLst/>
          </a:prstGeom>
          <a:noFill/>
          <a:ln/>
        </p:spPr>
        <p:txBody>
          <a:bodyPr wrap="square" rtlCol="0"/>
          <a:lstStyle/>
          <a:p>
            <a:pPr marL="0" indent="0">
              <a:buNone/>
            </a:pPr>
            <a:r>
              <a:rPr lang="en-US" dirty="0"/>
              <a:t>STP Attack</a:t>
            </a:r>
          </a:p>
        </p:txBody>
      </p:sp>
      <p:sp>
        <p:nvSpPr>
          <p:cNvPr id="5" name="Object4"/>
          <p:cNvSpPr/>
          <p:nvPr/>
        </p:nvSpPr>
        <p:spPr>
          <a:xfrm>
            <a:off x="0" y="807522"/>
            <a:ext cx="4572000" cy="3722914"/>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Threat actors can manipulate the Spanning Tree Protocol (STP) to conduct an attack by spoofing the root bridge and changing the topology of a network. Attackers can make their hosts appear as root bridges; and therefore, capture all traffic for the immediate switched domain.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conduct an STP manipulation attack, the </a:t>
            </a:r>
            <a:r>
              <a:rPr lang="en-US" sz="1600" b="1" dirty="0">
                <a:latin typeface="Arial" panose="020B0604020202020204" pitchFamily="34" charset="0"/>
                <a:cs typeface="Arial" panose="020B0604020202020204" pitchFamily="34" charset="0"/>
              </a:rPr>
              <a:t>attacking host broadcasts STP bridge protocol data units </a:t>
            </a:r>
            <a:r>
              <a:rPr lang="en-US" sz="1600" dirty="0">
                <a:latin typeface="Arial" panose="020B0604020202020204" pitchFamily="34" charset="0"/>
                <a:cs typeface="Arial" panose="020B0604020202020204" pitchFamily="34" charset="0"/>
              </a:rPr>
              <a:t>(BPDUs) containing configuration and topology changes that will force spanning-tree recalculations, as shown in the figure. The BPDUs that are sent by the attacking host announce a lower bridge priority in an attempt to be elected as the root bridge.</a:t>
            </a:r>
          </a:p>
        </p:txBody>
      </p:sp>
      <p:pic>
        <p:nvPicPr>
          <p:cNvPr id="4" name="Picture 3">
            <a:extLst>
              <a:ext uri="{FF2B5EF4-FFF2-40B4-BE49-F238E27FC236}">
                <a16:creationId xmlns:a16="http://schemas.microsoft.com/office/drawing/2014/main" id="{0849DA13-61F8-4F24-A645-20BE59CBEA43}"/>
              </a:ext>
            </a:extLst>
          </p:cNvPr>
          <p:cNvPicPr>
            <a:picLocks noChangeAspect="1"/>
          </p:cNvPicPr>
          <p:nvPr/>
        </p:nvPicPr>
        <p:blipFill>
          <a:blip r:embed="rId3"/>
          <a:stretch>
            <a:fillRect/>
          </a:stretch>
        </p:blipFill>
        <p:spPr>
          <a:xfrm>
            <a:off x="4572000" y="873213"/>
            <a:ext cx="4367666" cy="331253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Mitigating STP Attacks</a:t>
            </a:r>
          </a:p>
        </p:txBody>
      </p:sp>
      <p:sp>
        <p:nvSpPr>
          <p:cNvPr id="5" name="Object4"/>
          <p:cNvSpPr/>
          <p:nvPr/>
        </p:nvSpPr>
        <p:spPr>
          <a:xfrm>
            <a:off x="0" y="914400"/>
            <a:ext cx="4461641" cy="1836683"/>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To mitigate STP manipulation attacks, use the Cisco STP stability mechanisms to enhance the overall performance of the switches and to reduce the time that is lost during topology changes.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These are the STP stability mechanisms:</a:t>
            </a:r>
          </a:p>
          <a:p>
            <a:pPr marL="742950" lvl="1" indent="-285750">
              <a:buFont typeface="Arial" panose="020B0604020202020204" pitchFamily="34" charset="0"/>
              <a:buChar char="•"/>
            </a:pPr>
            <a:r>
              <a:rPr lang="en-US" sz="1600"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 access port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BPDU Guard – access port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Root Guard – trunk port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Loop Guard– trunk port</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lvl="1"/>
            <a:endParaRPr lang="en-US" sz="1400" dirty="0"/>
          </a:p>
        </p:txBody>
      </p:sp>
      <p:sp>
        <p:nvSpPr>
          <p:cNvPr id="7" name="TextBox 6">
            <a:extLst>
              <a:ext uri="{FF2B5EF4-FFF2-40B4-BE49-F238E27FC236}">
                <a16:creationId xmlns:a16="http://schemas.microsoft.com/office/drawing/2014/main" id="{3AB3C784-7BD3-47F7-A630-FA0FD88790C7}"/>
              </a:ext>
            </a:extLst>
          </p:cNvPr>
          <p:cNvSpPr txBox="1"/>
          <p:nvPr/>
        </p:nvSpPr>
        <p:spPr>
          <a:xfrm>
            <a:off x="43354" y="3683550"/>
            <a:ext cx="4374931"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The figure highlights the ports on which these features should be implemented.</a:t>
            </a:r>
          </a:p>
        </p:txBody>
      </p:sp>
      <p:pic>
        <p:nvPicPr>
          <p:cNvPr id="6" name="Picture 5">
            <a:extLst>
              <a:ext uri="{FF2B5EF4-FFF2-40B4-BE49-F238E27FC236}">
                <a16:creationId xmlns:a16="http://schemas.microsoft.com/office/drawing/2014/main" id="{4447D704-3109-4E84-8142-513BB1E26D44}"/>
              </a:ext>
            </a:extLst>
          </p:cNvPr>
          <p:cNvPicPr>
            <a:picLocks noChangeAspect="1"/>
          </p:cNvPicPr>
          <p:nvPr/>
        </p:nvPicPr>
        <p:blipFill>
          <a:blip r:embed="rId3"/>
          <a:stretch>
            <a:fillRect/>
          </a:stretch>
        </p:blipFill>
        <p:spPr>
          <a:xfrm>
            <a:off x="4418285" y="1008993"/>
            <a:ext cx="4051744" cy="31255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PortFast</a:t>
            </a:r>
          </a:p>
        </p:txBody>
      </p:sp>
      <p:sp>
        <p:nvSpPr>
          <p:cNvPr id="5" name="Object4"/>
          <p:cNvSpPr/>
          <p:nvPr/>
        </p:nvSpPr>
        <p:spPr>
          <a:xfrm>
            <a:off x="0" y="914399"/>
            <a:ext cx="8978462" cy="3145221"/>
          </a:xfrm>
          <a:prstGeom prst="rect">
            <a:avLst/>
          </a:prstGeom>
          <a:noFill/>
          <a:ln/>
        </p:spPr>
        <p:txBody>
          <a:bodyPr wrap="square" rtlCol="0" anchor="t"/>
          <a:lstStyle/>
          <a:p>
            <a:r>
              <a:rPr lang="en-US" sz="1600"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can be enabled on an interface by using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interface configuration command. Alternatively, </a:t>
            </a:r>
            <a:r>
              <a:rPr lang="en-US" sz="1600"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can be configured globally on all access ports by using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portfast</a:t>
            </a:r>
            <a:r>
              <a:rPr lang="en-US" sz="1600" b="1" dirty="0">
                <a:latin typeface="Arial" panose="020B0604020202020204" pitchFamily="34" charset="0"/>
                <a:cs typeface="Arial" panose="020B0604020202020204" pitchFamily="34" charset="0"/>
              </a:rPr>
              <a:t> default</a:t>
            </a:r>
            <a:r>
              <a:rPr lang="en-US" sz="1600" dirty="0">
                <a:latin typeface="Arial" panose="020B0604020202020204" pitchFamily="34" charset="0"/>
                <a:cs typeface="Arial" panose="020B0604020202020204" pitchFamily="34" charset="0"/>
              </a:rPr>
              <a:t> global configuration 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verify whether </a:t>
            </a:r>
            <a:r>
              <a:rPr lang="en-US" sz="1600"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is enabled globally you can use either the </a:t>
            </a:r>
            <a:r>
              <a:rPr lang="en-US" sz="1600" b="1" dirty="0">
                <a:latin typeface="Arial" panose="020B0604020202020204" pitchFamily="34" charset="0"/>
                <a:cs typeface="Arial" panose="020B0604020202020204" pitchFamily="34" charset="0"/>
              </a:rPr>
              <a:t>show running-config | begin span</a:t>
            </a:r>
            <a:r>
              <a:rPr lang="en-US" sz="1600" dirty="0">
                <a:latin typeface="Arial" panose="020B0604020202020204" pitchFamily="34" charset="0"/>
                <a:cs typeface="Arial" panose="020B0604020202020204" pitchFamily="34" charset="0"/>
              </a:rPr>
              <a:t> command or the </a:t>
            </a:r>
            <a:r>
              <a:rPr lang="en-US" sz="1600" b="1" dirty="0">
                <a:latin typeface="Arial" panose="020B0604020202020204" pitchFamily="34" charset="0"/>
                <a:cs typeface="Arial" panose="020B0604020202020204" pitchFamily="34" charset="0"/>
              </a:rPr>
              <a:t>show spanning-tree summary</a:t>
            </a:r>
            <a:r>
              <a:rPr lang="en-US" sz="1600" dirty="0">
                <a:latin typeface="Arial" panose="020B0604020202020204" pitchFamily="34" charset="0"/>
                <a:cs typeface="Arial" panose="020B0604020202020204" pitchFamily="34" charset="0"/>
              </a:rPr>
              <a:t> command.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verify if </a:t>
            </a:r>
            <a:r>
              <a:rPr lang="en-US" sz="1600" dirty="0" err="1">
                <a:latin typeface="Arial" panose="020B0604020202020204" pitchFamily="34" charset="0"/>
                <a:cs typeface="Arial" panose="020B0604020202020204" pitchFamily="34" charset="0"/>
              </a:rPr>
              <a:t>PortFast</a:t>
            </a:r>
            <a:r>
              <a:rPr lang="en-US" sz="1600" dirty="0">
                <a:latin typeface="Arial" panose="020B0604020202020204" pitchFamily="34" charset="0"/>
                <a:cs typeface="Arial" panose="020B0604020202020204" pitchFamily="34" charset="0"/>
              </a:rPr>
              <a:t> is enabled an interface, use the </a:t>
            </a:r>
            <a:r>
              <a:rPr lang="en-US" sz="1600" b="1" dirty="0">
                <a:latin typeface="Arial" panose="020B0604020202020204" pitchFamily="34" charset="0"/>
                <a:cs typeface="Arial" panose="020B0604020202020204" pitchFamily="34" charset="0"/>
              </a:rPr>
              <a:t>show running-config interface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type/number</a:t>
            </a:r>
            <a:r>
              <a:rPr lang="en-US" sz="1600" dirty="0">
                <a:latin typeface="Arial" panose="020B0604020202020204" pitchFamily="34" charset="0"/>
                <a:cs typeface="Arial" panose="020B0604020202020204" pitchFamily="34" charset="0"/>
              </a:rPr>
              <a:t> command. The </a:t>
            </a:r>
            <a:r>
              <a:rPr lang="en-US" sz="1600" b="1" dirty="0">
                <a:latin typeface="Arial" panose="020B0604020202020204" pitchFamily="34" charset="0"/>
                <a:cs typeface="Arial" panose="020B0604020202020204" pitchFamily="34" charset="0"/>
              </a:rPr>
              <a:t>show</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spanning-tree interface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type/number</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detail</a:t>
            </a:r>
            <a:r>
              <a:rPr lang="en-US" sz="1600" dirty="0">
                <a:latin typeface="Arial" panose="020B0604020202020204" pitchFamily="34" charset="0"/>
                <a:cs typeface="Arial" panose="020B0604020202020204" pitchFamily="34" charset="0"/>
              </a:rPr>
              <a:t> command can also be used for verification.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BPDU Guard</a:t>
            </a:r>
          </a:p>
        </p:txBody>
      </p:sp>
      <p:sp>
        <p:nvSpPr>
          <p:cNvPr id="5" name="Object4"/>
          <p:cNvSpPr/>
          <p:nvPr/>
        </p:nvSpPr>
        <p:spPr>
          <a:xfrm>
            <a:off x="0" y="914400"/>
            <a:ext cx="9017876"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BPDU Guard can be enabled on a port by using the </a:t>
            </a:r>
            <a:r>
              <a:rPr lang="en-US" b="1" dirty="0">
                <a:latin typeface="Arial" panose="020B0604020202020204" pitchFamily="34" charset="0"/>
                <a:cs typeface="Arial" panose="020B0604020202020204" pitchFamily="34" charset="0"/>
              </a:rPr>
              <a:t>spanning-tree </a:t>
            </a:r>
            <a:r>
              <a:rPr lang="en-US" b="1" dirty="0" err="1">
                <a:latin typeface="Arial" panose="020B0604020202020204" pitchFamily="34" charset="0"/>
                <a:cs typeface="Arial" panose="020B0604020202020204" pitchFamily="34" charset="0"/>
              </a:rPr>
              <a:t>bpduguard</a:t>
            </a:r>
            <a:r>
              <a:rPr lang="en-US" b="1" dirty="0">
                <a:latin typeface="Arial" panose="020B0604020202020204" pitchFamily="34" charset="0"/>
                <a:cs typeface="Arial" panose="020B0604020202020204" pitchFamily="34" charset="0"/>
              </a:rPr>
              <a:t> enable</a:t>
            </a:r>
            <a:r>
              <a:rPr lang="en-US" dirty="0">
                <a:latin typeface="Arial" panose="020B0604020202020204" pitchFamily="34" charset="0"/>
                <a:cs typeface="Arial" panose="020B0604020202020204" pitchFamily="34" charset="0"/>
              </a:rPr>
              <a:t> interface configuration command. Alternatively, use the </a:t>
            </a:r>
            <a:r>
              <a:rPr lang="en-US" b="1" dirty="0">
                <a:latin typeface="Arial" panose="020B0604020202020204" pitchFamily="34" charset="0"/>
                <a:cs typeface="Arial" panose="020B0604020202020204" pitchFamily="34" charset="0"/>
              </a:rPr>
              <a:t>spanning-tree </a:t>
            </a:r>
            <a:r>
              <a:rPr lang="en-US" b="1" dirty="0" err="1">
                <a:latin typeface="Arial" panose="020B0604020202020204" pitchFamily="34" charset="0"/>
                <a:cs typeface="Arial" panose="020B0604020202020204" pitchFamily="34" charset="0"/>
              </a:rPr>
              <a:t>portfast</a:t>
            </a:r>
            <a:r>
              <a:rPr lang="en-US" b="1" dirty="0">
                <a:latin typeface="Arial" panose="020B0604020202020204" pitchFamily="34" charset="0"/>
                <a:cs typeface="Arial" panose="020B0604020202020204" pitchFamily="34" charset="0"/>
              </a:rPr>
              <a:t> </a:t>
            </a:r>
            <a:r>
              <a:rPr lang="en-US" b="1" dirty="0" err="1">
                <a:latin typeface="Arial" panose="020B0604020202020204" pitchFamily="34" charset="0"/>
                <a:cs typeface="Arial" panose="020B0604020202020204" pitchFamily="34" charset="0"/>
              </a:rPr>
              <a:t>bpduguard</a:t>
            </a:r>
            <a:r>
              <a:rPr lang="en-US" b="1" dirty="0">
                <a:latin typeface="Arial" panose="020B0604020202020204" pitchFamily="34" charset="0"/>
                <a:cs typeface="Arial" panose="020B0604020202020204" pitchFamily="34" charset="0"/>
              </a:rPr>
              <a:t> default</a:t>
            </a:r>
            <a:r>
              <a:rPr lang="en-US" dirty="0">
                <a:latin typeface="Arial" panose="020B0604020202020204" pitchFamily="34" charset="0"/>
                <a:cs typeface="Arial" panose="020B0604020202020204" pitchFamily="34" charset="0"/>
              </a:rPr>
              <a:t> global configuration command to </a:t>
            </a:r>
            <a:r>
              <a:rPr lang="en-US" u="sng" dirty="0">
                <a:latin typeface="Arial" panose="020B0604020202020204" pitchFamily="34" charset="0"/>
                <a:cs typeface="Arial" panose="020B0604020202020204" pitchFamily="34" charset="0"/>
              </a:rPr>
              <a:t>globally enable BPDU guard on all </a:t>
            </a:r>
            <a:r>
              <a:rPr lang="en-US" u="sng" dirty="0" err="1">
                <a:latin typeface="Arial" panose="020B0604020202020204" pitchFamily="34" charset="0"/>
                <a:cs typeface="Arial" panose="020B0604020202020204" pitchFamily="34" charset="0"/>
              </a:rPr>
              <a:t>PortFast</a:t>
            </a:r>
            <a:r>
              <a:rPr lang="en-US" u="sng" dirty="0">
                <a:latin typeface="Arial" panose="020B0604020202020204" pitchFamily="34" charset="0"/>
                <a:cs typeface="Arial" panose="020B0604020202020204" pitchFamily="34" charset="0"/>
              </a:rPr>
              <a:t>-enabled ports.</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To display information about the state of spanning tree, use the </a:t>
            </a:r>
            <a:r>
              <a:rPr lang="en-US" b="1" dirty="0">
                <a:latin typeface="Arial" panose="020B0604020202020204" pitchFamily="34" charset="0"/>
                <a:cs typeface="Arial" panose="020B0604020202020204" pitchFamily="34" charset="0"/>
              </a:rPr>
              <a:t>show spanning-tree summary</a:t>
            </a:r>
            <a:r>
              <a:rPr lang="en-US" dirty="0">
                <a:latin typeface="Arial" panose="020B0604020202020204" pitchFamily="34" charset="0"/>
                <a:cs typeface="Arial" panose="020B0604020202020204" pitchFamily="34" charset="0"/>
              </a:rPr>
              <a:t> command.</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Always enable BPDU Guard on all </a:t>
            </a:r>
            <a:r>
              <a:rPr lang="en-US" dirty="0" err="1">
                <a:latin typeface="Arial" panose="020B0604020202020204" pitchFamily="34" charset="0"/>
                <a:cs typeface="Arial" panose="020B0604020202020204" pitchFamily="34" charset="0"/>
              </a:rPr>
              <a:t>PortFast</a:t>
            </a:r>
            <a:r>
              <a:rPr lang="en-US" dirty="0">
                <a:latin typeface="Arial" panose="020B0604020202020204" pitchFamily="34" charset="0"/>
                <a:cs typeface="Arial" panose="020B0604020202020204" pitchFamily="34" charset="0"/>
              </a:rPr>
              <a:t>-enabled ports.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Root Guard</a:t>
            </a:r>
          </a:p>
        </p:txBody>
      </p:sp>
      <p:sp>
        <p:nvSpPr>
          <p:cNvPr id="5" name="Object4"/>
          <p:cNvSpPr/>
          <p:nvPr/>
        </p:nvSpPr>
        <p:spPr>
          <a:xfrm>
            <a:off x="-1" y="914399"/>
            <a:ext cx="9049407" cy="3255579"/>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Root guard is best deployed on </a:t>
            </a:r>
            <a:r>
              <a:rPr lang="en-US" sz="1600" u="sng" dirty="0">
                <a:latin typeface="Arial" panose="020B0604020202020204" pitchFamily="34" charset="0"/>
                <a:cs typeface="Arial" panose="020B0604020202020204" pitchFamily="34" charset="0"/>
              </a:rPr>
              <a:t>ports that connect to switches that </a:t>
            </a:r>
            <a:r>
              <a:rPr lang="en-US" sz="1600" b="1" u="sng" dirty="0">
                <a:latin typeface="Arial" panose="020B0604020202020204" pitchFamily="34" charset="0"/>
                <a:cs typeface="Arial" panose="020B0604020202020204" pitchFamily="34" charset="0"/>
              </a:rPr>
              <a:t>should not </a:t>
            </a:r>
            <a:r>
              <a:rPr lang="en-US" sz="1600" u="sng" dirty="0">
                <a:latin typeface="Arial" panose="020B0604020202020204" pitchFamily="34" charset="0"/>
                <a:cs typeface="Arial" panose="020B0604020202020204" pitchFamily="34" charset="0"/>
              </a:rPr>
              <a:t>be the root bridge</a:t>
            </a:r>
            <a:r>
              <a:rPr lang="en-US" sz="1600" dirty="0">
                <a:latin typeface="Arial" panose="020B0604020202020204" pitchFamily="34" charset="0"/>
                <a:cs typeface="Arial" panose="020B0604020202020204" pitchFamily="34" charset="0"/>
              </a:rPr>
              <a:t>. If a root-guard-enabled port receives BPDUs that are superior to those that the current root bridge is sending, that port is moved to a root-inconsistent state. This is effectively equal to an STP listening state, and no data traffic is forwarded across that port. Recovery occurs as soon as the offending device ceases to send superior BPDUs.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spanning-tree guard root</a:t>
            </a:r>
            <a:r>
              <a:rPr lang="en-US" sz="1600" dirty="0">
                <a:latin typeface="Arial" panose="020B0604020202020204" pitchFamily="34" charset="0"/>
                <a:cs typeface="Arial" panose="020B0604020202020204" pitchFamily="34" charset="0"/>
              </a:rPr>
              <a:t> interface configuration command to configure root guard on an interface.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view Root Guard ports that have received superior BPDUs and are in a root-inconsistent state, use the </a:t>
            </a:r>
            <a:r>
              <a:rPr lang="en-US" sz="1600" b="1" dirty="0">
                <a:latin typeface="Arial" panose="020B0604020202020204" pitchFamily="34" charset="0"/>
                <a:cs typeface="Arial" panose="020B0604020202020204" pitchFamily="34" charset="0"/>
              </a:rPr>
              <a:t>show spanning-tree inconsistent ports</a:t>
            </a:r>
            <a:r>
              <a:rPr lang="en-US" sz="1600" dirty="0">
                <a:latin typeface="Arial" panose="020B0604020202020204" pitchFamily="34" charset="0"/>
                <a:cs typeface="Arial" panose="020B0604020202020204" pitchFamily="34" charset="0"/>
              </a:rPr>
              <a:t> command.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Mitigate STP Attacks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Configure Loop Guard</a:t>
            </a:r>
          </a:p>
        </p:txBody>
      </p:sp>
      <p:sp>
        <p:nvSpPr>
          <p:cNvPr id="5" name="Object4"/>
          <p:cNvSpPr/>
          <p:nvPr/>
        </p:nvSpPr>
        <p:spPr>
          <a:xfrm>
            <a:off x="-1" y="914400"/>
            <a:ext cx="892328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 Layer 2 loop is usually created when an STP port in a redundant topology stops receiving BPDUs and erroneously transitions to the forwarding state.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STP Loop Guard feature provides additional protection against Layer 2 loops. If BPDUs are not received on a non-designated Loop Guard-enabled port, the port transitions to a loop-inconsistent blocking state, instead of the listening / learning / forwarding state. Without the Loop Guard feature, the port would assume a designated port role and create a loop.</a:t>
            </a:r>
          </a:p>
          <a:p>
            <a:endParaRPr lang="en-US" sz="1600" dirty="0">
              <a:latin typeface="Arial" panose="020B0604020202020204" pitchFamily="34" charset="0"/>
              <a:cs typeface="Arial" panose="020B0604020202020204" pitchFamily="34" charset="0"/>
            </a:endParaRPr>
          </a:p>
          <a:p>
            <a:r>
              <a:rPr lang="en-US" sz="1600" u="sng" dirty="0">
                <a:latin typeface="Arial" panose="020B0604020202020204" pitchFamily="34" charset="0"/>
                <a:cs typeface="Arial" panose="020B0604020202020204" pitchFamily="34" charset="0"/>
              </a:rPr>
              <a:t>Loop Guard is enabled on all non-Root Guard ports </a:t>
            </a:r>
            <a:r>
              <a:rPr lang="en-US" sz="1600" dirty="0">
                <a:latin typeface="Arial" panose="020B0604020202020204" pitchFamily="34" charset="0"/>
                <a:cs typeface="Arial" panose="020B0604020202020204" pitchFamily="34" charset="0"/>
              </a:rPr>
              <a:t>using the </a:t>
            </a:r>
            <a:r>
              <a:rPr lang="en-US" sz="1600" b="1" dirty="0">
                <a:latin typeface="Arial" panose="020B0604020202020204" pitchFamily="34" charset="0"/>
                <a:cs typeface="Arial" panose="020B0604020202020204" pitchFamily="34" charset="0"/>
              </a:rPr>
              <a:t>spanning-tree guard loop</a:t>
            </a:r>
            <a:r>
              <a:rPr lang="en-US" sz="1600" dirty="0">
                <a:latin typeface="Arial" panose="020B0604020202020204" pitchFamily="34" charset="0"/>
                <a:cs typeface="Arial" panose="020B0604020202020204" pitchFamily="34" charset="0"/>
              </a:rPr>
              <a:t> interface configuration command.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Loop Guard can also be enabled globally using the </a:t>
            </a:r>
            <a:r>
              <a:rPr lang="en-US" sz="1600" b="1" dirty="0">
                <a:latin typeface="Arial" panose="020B0604020202020204" pitchFamily="34" charset="0"/>
                <a:cs typeface="Arial" panose="020B0604020202020204" pitchFamily="34" charset="0"/>
              </a:rPr>
              <a:t>spanning-tree </a:t>
            </a:r>
            <a:r>
              <a:rPr lang="en-US" sz="1600" b="1" dirty="0" err="1">
                <a:latin typeface="Arial" panose="020B0604020202020204" pitchFamily="34" charset="0"/>
                <a:cs typeface="Arial" panose="020B0604020202020204" pitchFamily="34" charset="0"/>
              </a:rPr>
              <a:t>loopguard</a:t>
            </a:r>
            <a:r>
              <a:rPr lang="en-US" sz="1600" b="1" dirty="0">
                <a:latin typeface="Arial" panose="020B0604020202020204" pitchFamily="34" charset="0"/>
                <a:cs typeface="Arial" panose="020B0604020202020204" pitchFamily="34" charset="0"/>
              </a:rPr>
              <a:t> default</a:t>
            </a:r>
            <a:r>
              <a:rPr lang="en-US" sz="1600" dirty="0">
                <a:latin typeface="Arial" panose="020B0604020202020204" pitchFamily="34" charset="0"/>
                <a:cs typeface="Arial" panose="020B0604020202020204" pitchFamily="34" charset="0"/>
              </a:rPr>
              <a:t> global configuration command. This enables Loop Guard on all point-to-point links.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4092</TotalTime>
  <Words>7803</Words>
  <Application>Microsoft Macintosh PowerPoint</Application>
  <PresentationFormat>Prezentácia na obrazovke (16:9)</PresentationFormat>
  <Paragraphs>690</Paragraphs>
  <Slides>66</Slides>
  <Notes>66</Notes>
  <HiddenSlides>4</HiddenSlides>
  <MMClips>0</MMClips>
  <ScaleCrop>false</ScaleCrop>
  <HeadingPairs>
    <vt:vector size="6" baseType="variant">
      <vt:variant>
        <vt:lpstr>Použité písma</vt:lpstr>
      </vt:variant>
      <vt:variant>
        <vt:i4>7</vt:i4>
      </vt:variant>
      <vt:variant>
        <vt:lpstr>Motív</vt:lpstr>
      </vt:variant>
      <vt:variant>
        <vt:i4>2</vt:i4>
      </vt:variant>
      <vt:variant>
        <vt:lpstr>Nadpisy snímok</vt:lpstr>
      </vt:variant>
      <vt:variant>
        <vt:i4>66</vt:i4>
      </vt:variant>
    </vt:vector>
  </HeadingPairs>
  <TitlesOfParts>
    <vt:vector size="75" baseType="lpstr">
      <vt:lpstr>-apple-system</vt:lpstr>
      <vt:lpstr>Arial</vt:lpstr>
      <vt:lpstr>Calibri</vt:lpstr>
      <vt:lpstr>CiscoSans ExtraLight</vt:lpstr>
      <vt:lpstr>Courier New</vt:lpstr>
      <vt:lpstr>Segoe UI</vt:lpstr>
      <vt:lpstr>Wingdings</vt:lpstr>
      <vt:lpstr>Office Theme</vt:lpstr>
      <vt:lpstr>Default Theme</vt:lpstr>
      <vt:lpstr>Prezentácia programu PowerPoint</vt:lpstr>
      <vt:lpstr>Module Objectives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Verifying Protected Ports</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lpstr>Prezentácia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Július Baráth</cp:lastModifiedBy>
  <cp:revision>87</cp:revision>
  <dcterms:created xsi:type="dcterms:W3CDTF">2020-12-08T18:27:12Z</dcterms:created>
  <dcterms:modified xsi:type="dcterms:W3CDTF">2025-03-10T13:00:58Z</dcterms:modified>
</cp:coreProperties>
</file>
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2.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tags/tag3.xml" ContentType="application/vnd.openxmlformats-officedocument.presentationml.tags+xml"/>
  <Override PartName="/ppt/notesSlides/notesSlide8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Lst>
  <p:notesMasterIdLst>
    <p:notesMasterId r:id="rId92"/>
  </p:notesMasterIdLst>
  <p:handoutMasterIdLst>
    <p:handoutMasterId r:id="rId93"/>
  </p:handoutMasterIdLst>
  <p:sldIdLst>
    <p:sldId id="256" r:id="rId3"/>
    <p:sldId id="925" r:id="rId4"/>
    <p:sldId id="263" r:id="rId5"/>
    <p:sldId id="264" r:id="rId6"/>
    <p:sldId id="265" r:id="rId7"/>
    <p:sldId id="266" r:id="rId8"/>
    <p:sldId id="267" r:id="rId9"/>
    <p:sldId id="268" r:id="rId10"/>
    <p:sldId id="270" r:id="rId11"/>
    <p:sldId id="271" r:id="rId12"/>
    <p:sldId id="1083" r:id="rId13"/>
    <p:sldId id="272" r:id="rId14"/>
    <p:sldId id="273" r:id="rId15"/>
    <p:sldId id="274" r:id="rId16"/>
    <p:sldId id="277" r:id="rId17"/>
    <p:sldId id="278" r:id="rId18"/>
    <p:sldId id="279" r:id="rId19"/>
    <p:sldId id="280" r:id="rId20"/>
    <p:sldId id="281" r:id="rId21"/>
    <p:sldId id="282" r:id="rId22"/>
    <p:sldId id="284" r:id="rId23"/>
    <p:sldId id="285" r:id="rId24"/>
    <p:sldId id="286" r:id="rId25"/>
    <p:sldId id="287" r:id="rId26"/>
    <p:sldId id="288" r:id="rId27"/>
    <p:sldId id="1074" r:id="rId28"/>
    <p:sldId id="292" r:id="rId29"/>
    <p:sldId id="293" r:id="rId30"/>
    <p:sldId id="294" r:id="rId31"/>
    <p:sldId id="295" r:id="rId32"/>
    <p:sldId id="296" r:id="rId33"/>
    <p:sldId id="1075" r:id="rId34"/>
    <p:sldId id="1102" r:id="rId35"/>
    <p:sldId id="1103" r:id="rId36"/>
    <p:sldId id="1104" r:id="rId37"/>
    <p:sldId id="1105" r:id="rId38"/>
    <p:sldId id="1106" r:id="rId39"/>
    <p:sldId id="1107" r:id="rId40"/>
    <p:sldId id="1108" r:id="rId41"/>
    <p:sldId id="269" r:id="rId42"/>
    <p:sldId id="1110" r:id="rId43"/>
    <p:sldId id="1111" r:id="rId44"/>
    <p:sldId id="1112" r:id="rId45"/>
    <p:sldId id="1113" r:id="rId46"/>
    <p:sldId id="1114" r:id="rId47"/>
    <p:sldId id="1115" r:id="rId48"/>
    <p:sldId id="1116" r:id="rId49"/>
    <p:sldId id="1117" r:id="rId50"/>
    <p:sldId id="1118" r:id="rId51"/>
    <p:sldId id="1119" r:id="rId52"/>
    <p:sldId id="1120" r:id="rId53"/>
    <p:sldId id="1121" r:id="rId54"/>
    <p:sldId id="1122" r:id="rId55"/>
    <p:sldId id="1123" r:id="rId56"/>
    <p:sldId id="1124" r:id="rId57"/>
    <p:sldId id="1125" r:id="rId58"/>
    <p:sldId id="1094" r:id="rId59"/>
    <p:sldId id="283" r:id="rId60"/>
    <p:sldId id="1126" r:id="rId61"/>
    <p:sldId id="1127" r:id="rId62"/>
    <p:sldId id="475" r:id="rId63"/>
    <p:sldId id="474" r:id="rId64"/>
    <p:sldId id="1128" r:id="rId65"/>
    <p:sldId id="1129" r:id="rId66"/>
    <p:sldId id="1130" r:id="rId67"/>
    <p:sldId id="1131" r:id="rId68"/>
    <p:sldId id="1132" r:id="rId69"/>
    <p:sldId id="1133" r:id="rId70"/>
    <p:sldId id="1134" r:id="rId71"/>
    <p:sldId id="1135" r:id="rId72"/>
    <p:sldId id="1136" r:id="rId73"/>
    <p:sldId id="1095" r:id="rId74"/>
    <p:sldId id="1137" r:id="rId75"/>
    <p:sldId id="1138" r:id="rId76"/>
    <p:sldId id="1139" r:id="rId77"/>
    <p:sldId id="297" r:id="rId78"/>
    <p:sldId id="304" r:id="rId79"/>
    <p:sldId id="305" r:id="rId80"/>
    <p:sldId id="306" r:id="rId81"/>
    <p:sldId id="307" r:id="rId82"/>
    <p:sldId id="1096" r:id="rId83"/>
    <p:sldId id="308" r:id="rId84"/>
    <p:sldId id="310" r:id="rId85"/>
    <p:sldId id="311" r:id="rId86"/>
    <p:sldId id="312" r:id="rId87"/>
    <p:sldId id="1142" r:id="rId88"/>
    <p:sldId id="1090" r:id="rId89"/>
    <p:sldId id="313" r:id="rId90"/>
    <p:sldId id="1144" r:id="rId9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e" initials="J" lastIdx="1" clrIdx="0">
    <p:extLst>
      <p:ext uri="{19B8F6BF-5375-455C-9EA6-DF929625EA0E}">
        <p15:presenceInfo xmlns:p15="http://schemas.microsoft.com/office/powerpoint/2012/main" userId="S::jagibbon@cisco.com::6c22a3d5-1ec6-41bb-bccc-597d33cd3b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E82B4B-554B-A283-9B0F-DCAF73E289CE}" v="57" dt="2025-02-11T07:51:39.3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746" autoAdjust="0"/>
    <p:restoredTop sz="96335" autoAdjust="0"/>
  </p:normalViewPr>
  <p:slideViewPr>
    <p:cSldViewPr snapToGrid="0" snapToObjects="1">
      <p:cViewPr varScale="1">
        <p:scale>
          <a:sx n="207" d="100"/>
          <a:sy n="207" d="100"/>
        </p:scale>
        <p:origin x="560" y="168"/>
      </p:cViewPr>
      <p:guideLst/>
    </p:cSldViewPr>
  </p:slideViewPr>
  <p:notesTextViewPr>
    <p:cViewPr>
      <p:scale>
        <a:sx n="1" d="1"/>
        <a:sy n="1" d="1"/>
      </p:scale>
      <p:origin x="0" y="0"/>
    </p:cViewPr>
  </p:notesTextViewPr>
  <p:sorterViewPr>
    <p:cViewPr>
      <p:scale>
        <a:sx n="140" d="100"/>
        <a:sy n="140" d="100"/>
      </p:scale>
      <p:origin x="0" y="0"/>
    </p:cViewPr>
  </p:sorterViewPr>
  <p:notesViewPr>
    <p:cSldViewPr snapToGrid="0" snapToObjects="1">
      <p:cViewPr varScale="1">
        <p:scale>
          <a:sx n="85" d="100"/>
          <a:sy n="85" d="100"/>
        </p:scale>
        <p:origin x="3450" y="10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commentAuthors" Target="commentAuthors.xml"/><Relationship Id="rId99"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handoutMaster" Target="handoutMasters/handoutMaster1.xml"/><Relationship Id="rId9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7D3B8EA3-6F76-8849-A7EF-6E4463187CC2}"/>
    <pc:docChg chg="modSld">
      <pc:chgData name="Baráth, Július" userId="aebde9b9-dccc-4475-a9ac-c05e78323d7a" providerId="ADAL" clId="{7D3B8EA3-6F76-8849-A7EF-6E4463187CC2}" dt="2024-02-14T10:21:03.677" v="7" actId="20577"/>
      <pc:docMkLst>
        <pc:docMk/>
      </pc:docMkLst>
      <pc:sldChg chg="modSp mod">
        <pc:chgData name="Baráth, Július" userId="aebde9b9-dccc-4475-a9ac-c05e78323d7a" providerId="ADAL" clId="{7D3B8EA3-6F76-8849-A7EF-6E4463187CC2}" dt="2024-02-14T10:09:37.219" v="0" actId="115"/>
        <pc:sldMkLst>
          <pc:docMk/>
          <pc:sldMk cId="0" sldId="271"/>
        </pc:sldMkLst>
        <pc:spChg chg="mod">
          <ac:chgData name="Baráth, Július" userId="aebde9b9-dccc-4475-a9ac-c05e78323d7a" providerId="ADAL" clId="{7D3B8EA3-6F76-8849-A7EF-6E4463187CC2}" dt="2024-02-14T10:09:37.219" v="0" actId="115"/>
          <ac:spMkLst>
            <pc:docMk/>
            <pc:sldMk cId="0" sldId="271"/>
            <ac:spMk id="5" creationId="{00000000-0000-0000-0000-000000000000}"/>
          </ac:spMkLst>
        </pc:spChg>
      </pc:sldChg>
      <pc:sldChg chg="modSp mod">
        <pc:chgData name="Baráth, Július" userId="aebde9b9-dccc-4475-a9ac-c05e78323d7a" providerId="ADAL" clId="{7D3B8EA3-6F76-8849-A7EF-6E4463187CC2}" dt="2024-02-14T10:21:03.677" v="7" actId="20577"/>
        <pc:sldMkLst>
          <pc:docMk/>
          <pc:sldMk cId="0" sldId="280"/>
        </pc:sldMkLst>
        <pc:graphicFrameChg chg="mod modGraphic">
          <ac:chgData name="Baráth, Július" userId="aebde9b9-dccc-4475-a9ac-c05e78323d7a" providerId="ADAL" clId="{7D3B8EA3-6F76-8849-A7EF-6E4463187CC2}" dt="2024-02-14T10:21:03.677" v="7" actId="20577"/>
          <ac:graphicFrameMkLst>
            <pc:docMk/>
            <pc:sldMk cId="0" sldId="280"/>
            <ac:graphicFrameMk id="26" creationId="{00000000-0000-0000-0000-000000000000}"/>
          </ac:graphicFrameMkLst>
        </pc:graphicFrameChg>
      </pc:sldChg>
    </pc:docChg>
  </pc:docChgLst>
  <pc:docChgLst>
    <pc:chgData name="Baráth, Július" userId="S::julius.barath@aos.sk::aebde9b9-dccc-4475-a9ac-c05e78323d7a" providerId="AD" clId="Web-{385F6AD6-6B36-DDA2-13E5-41081222FED9}"/>
    <pc:docChg chg="modSld">
      <pc:chgData name="Baráth, Július" userId="S::julius.barath@aos.sk::aebde9b9-dccc-4475-a9ac-c05e78323d7a" providerId="AD" clId="Web-{385F6AD6-6B36-DDA2-13E5-41081222FED9}" dt="2023-02-14T07:32:54.462" v="0" actId="14100"/>
      <pc:docMkLst>
        <pc:docMk/>
      </pc:docMkLst>
      <pc:sldChg chg="modSp">
        <pc:chgData name="Baráth, Július" userId="S::julius.barath@aos.sk::aebde9b9-dccc-4475-a9ac-c05e78323d7a" providerId="AD" clId="Web-{385F6AD6-6B36-DDA2-13E5-41081222FED9}" dt="2023-02-14T07:32:54.462" v="0" actId="14100"/>
        <pc:sldMkLst>
          <pc:docMk/>
          <pc:sldMk cId="1757940500" sldId="474"/>
        </pc:sldMkLst>
        <pc:spChg chg="mod">
          <ac:chgData name="Baráth, Július" userId="S::julius.barath@aos.sk::aebde9b9-dccc-4475-a9ac-c05e78323d7a" providerId="AD" clId="Web-{385F6AD6-6B36-DDA2-13E5-41081222FED9}" dt="2023-02-14T07:32:54.462" v="0" actId="14100"/>
          <ac:spMkLst>
            <pc:docMk/>
            <pc:sldMk cId="1757940500" sldId="474"/>
            <ac:spMk id="10" creationId="{C319C233-77BD-6E0B-42F0-C1FE6A29871D}"/>
          </ac:spMkLst>
        </pc:spChg>
      </pc:sldChg>
    </pc:docChg>
  </pc:docChgLst>
  <pc:docChgLst>
    <pc:chgData name="Baráth, Július" userId="aebde9b9-dccc-4475-a9ac-c05e78323d7a" providerId="ADAL" clId="{78DC09EE-6F69-BC4F-9C5F-F34D8524D35F}"/>
    <pc:docChg chg="undo custSel addSld delSld modSld">
      <pc:chgData name="Baráth, Július" userId="aebde9b9-dccc-4475-a9ac-c05e78323d7a" providerId="ADAL" clId="{78DC09EE-6F69-BC4F-9C5F-F34D8524D35F}" dt="2023-02-09T12:43:59.906" v="158"/>
      <pc:docMkLst>
        <pc:docMk/>
      </pc:docMkLst>
      <pc:sldChg chg="del">
        <pc:chgData name="Baráth, Július" userId="aebde9b9-dccc-4475-a9ac-c05e78323d7a" providerId="ADAL" clId="{78DC09EE-6F69-BC4F-9C5F-F34D8524D35F}" dt="2023-02-07T06:38:21.874" v="1" actId="2696"/>
        <pc:sldMkLst>
          <pc:docMk/>
          <pc:sldMk cId="0" sldId="262"/>
        </pc:sldMkLst>
      </pc:sldChg>
      <pc:sldChg chg="add">
        <pc:chgData name="Baráth, Július" userId="aebde9b9-dccc-4475-a9ac-c05e78323d7a" providerId="ADAL" clId="{78DC09EE-6F69-BC4F-9C5F-F34D8524D35F}" dt="2023-02-07T06:38:06.720" v="0"/>
        <pc:sldMkLst>
          <pc:docMk/>
          <pc:sldMk cId="3200500806" sldId="269"/>
        </pc:sldMkLst>
      </pc:sldChg>
      <pc:sldChg chg="del">
        <pc:chgData name="Baráth, Július" userId="aebde9b9-dccc-4475-a9ac-c05e78323d7a" providerId="ADAL" clId="{78DC09EE-6F69-BC4F-9C5F-F34D8524D35F}" dt="2023-02-07T06:38:35.600" v="2" actId="2696"/>
        <pc:sldMkLst>
          <pc:docMk/>
          <pc:sldMk cId="0" sldId="275"/>
        </pc:sldMkLst>
      </pc:sldChg>
      <pc:sldChg chg="del">
        <pc:chgData name="Baráth, Július" userId="aebde9b9-dccc-4475-a9ac-c05e78323d7a" providerId="ADAL" clId="{78DC09EE-6F69-BC4F-9C5F-F34D8524D35F}" dt="2023-02-07T06:38:36.529" v="3" actId="2696"/>
        <pc:sldMkLst>
          <pc:docMk/>
          <pc:sldMk cId="0" sldId="276"/>
        </pc:sldMkLst>
      </pc:sldChg>
      <pc:sldChg chg="add">
        <pc:chgData name="Baráth, Július" userId="aebde9b9-dccc-4475-a9ac-c05e78323d7a" providerId="ADAL" clId="{78DC09EE-6F69-BC4F-9C5F-F34D8524D35F}" dt="2023-02-07T06:38:06.720" v="0"/>
        <pc:sldMkLst>
          <pc:docMk/>
          <pc:sldMk cId="3189682091" sldId="283"/>
        </pc:sldMkLst>
      </pc:sldChg>
      <pc:sldChg chg="addSp modSp mod">
        <pc:chgData name="Baráth, Július" userId="aebde9b9-dccc-4475-a9ac-c05e78323d7a" providerId="ADAL" clId="{78DC09EE-6F69-BC4F-9C5F-F34D8524D35F}" dt="2023-02-09T12:23:39.590" v="20" actId="1076"/>
        <pc:sldMkLst>
          <pc:docMk/>
          <pc:sldMk cId="0" sldId="287"/>
        </pc:sldMkLst>
        <pc:spChg chg="add mod">
          <ac:chgData name="Baráth, Július" userId="aebde9b9-dccc-4475-a9ac-c05e78323d7a" providerId="ADAL" clId="{78DC09EE-6F69-BC4F-9C5F-F34D8524D35F}" dt="2023-02-09T12:23:39.590" v="20" actId="1076"/>
          <ac:spMkLst>
            <pc:docMk/>
            <pc:sldMk cId="0" sldId="287"/>
            <ac:spMk id="7" creationId="{B46BAE51-53F8-E93E-99FE-8C09ECF6DBF1}"/>
          </ac:spMkLst>
        </pc:spChg>
      </pc:sldChg>
      <pc:sldChg chg="del">
        <pc:chgData name="Baráth, Július" userId="aebde9b9-dccc-4475-a9ac-c05e78323d7a" providerId="ADAL" clId="{78DC09EE-6F69-BC4F-9C5F-F34D8524D35F}" dt="2023-02-07T06:38:47.787" v="4" actId="2696"/>
        <pc:sldMkLst>
          <pc:docMk/>
          <pc:sldMk cId="0" sldId="290"/>
        </pc:sldMkLst>
      </pc:sldChg>
      <pc:sldChg chg="del">
        <pc:chgData name="Baráth, Július" userId="aebde9b9-dccc-4475-a9ac-c05e78323d7a" providerId="ADAL" clId="{78DC09EE-6F69-BC4F-9C5F-F34D8524D35F}" dt="2023-02-07T06:38:49.596" v="6" actId="2696"/>
        <pc:sldMkLst>
          <pc:docMk/>
          <pc:sldMk cId="0" sldId="291"/>
        </pc:sldMkLst>
      </pc:sldChg>
      <pc:sldChg chg="add">
        <pc:chgData name="Baráth, Július" userId="aebde9b9-dccc-4475-a9ac-c05e78323d7a" providerId="ADAL" clId="{78DC09EE-6F69-BC4F-9C5F-F34D8524D35F}" dt="2023-02-07T06:38:06.720" v="0"/>
        <pc:sldMkLst>
          <pc:docMk/>
          <pc:sldMk cId="2289703566" sldId="297"/>
        </pc:sldMkLst>
      </pc:sldChg>
      <pc:sldChg chg="del">
        <pc:chgData name="Baráth, Július" userId="aebde9b9-dccc-4475-a9ac-c05e78323d7a" providerId="ADAL" clId="{78DC09EE-6F69-BC4F-9C5F-F34D8524D35F}" dt="2023-02-07T06:39:34.605" v="8" actId="2696"/>
        <pc:sldMkLst>
          <pc:docMk/>
          <pc:sldMk cId="0" sldId="298"/>
        </pc:sldMkLst>
      </pc:sldChg>
      <pc:sldChg chg="del">
        <pc:chgData name="Baráth, Július" userId="aebde9b9-dccc-4475-a9ac-c05e78323d7a" providerId="ADAL" clId="{78DC09EE-6F69-BC4F-9C5F-F34D8524D35F}" dt="2023-02-07T06:39:34.605" v="8" actId="2696"/>
        <pc:sldMkLst>
          <pc:docMk/>
          <pc:sldMk cId="0" sldId="299"/>
        </pc:sldMkLst>
      </pc:sldChg>
      <pc:sldChg chg="del">
        <pc:chgData name="Baráth, Július" userId="aebde9b9-dccc-4475-a9ac-c05e78323d7a" providerId="ADAL" clId="{78DC09EE-6F69-BC4F-9C5F-F34D8524D35F}" dt="2023-02-07T06:38:21.874" v="1" actId="2696"/>
        <pc:sldMkLst>
          <pc:docMk/>
          <pc:sldMk cId="0" sldId="301"/>
        </pc:sldMkLst>
      </pc:sldChg>
      <pc:sldChg chg="add del">
        <pc:chgData name="Baráth, Július" userId="aebde9b9-dccc-4475-a9ac-c05e78323d7a" providerId="ADAL" clId="{78DC09EE-6F69-BC4F-9C5F-F34D8524D35F}" dt="2023-02-07T06:40:32.158" v="12" actId="2696"/>
        <pc:sldMkLst>
          <pc:docMk/>
          <pc:sldMk cId="3680305895" sldId="302"/>
        </pc:sldMkLst>
      </pc:sldChg>
      <pc:sldChg chg="add del">
        <pc:chgData name="Baráth, Július" userId="aebde9b9-dccc-4475-a9ac-c05e78323d7a" providerId="ADAL" clId="{78DC09EE-6F69-BC4F-9C5F-F34D8524D35F}" dt="2023-02-07T06:40:33.597" v="13" actId="2696"/>
        <pc:sldMkLst>
          <pc:docMk/>
          <pc:sldMk cId="2269808203" sldId="303"/>
        </pc:sldMkLst>
      </pc:sldChg>
      <pc:sldChg chg="add">
        <pc:chgData name="Baráth, Július" userId="aebde9b9-dccc-4475-a9ac-c05e78323d7a" providerId="ADAL" clId="{78DC09EE-6F69-BC4F-9C5F-F34D8524D35F}" dt="2023-02-07T06:38:06.720" v="0"/>
        <pc:sldMkLst>
          <pc:docMk/>
          <pc:sldMk cId="507696312" sldId="304"/>
        </pc:sldMkLst>
      </pc:sldChg>
      <pc:sldChg chg="add">
        <pc:chgData name="Baráth, Július" userId="aebde9b9-dccc-4475-a9ac-c05e78323d7a" providerId="ADAL" clId="{78DC09EE-6F69-BC4F-9C5F-F34D8524D35F}" dt="2023-02-07T06:38:06.720" v="0"/>
        <pc:sldMkLst>
          <pc:docMk/>
          <pc:sldMk cId="1174829973" sldId="305"/>
        </pc:sldMkLst>
      </pc:sldChg>
      <pc:sldChg chg="add">
        <pc:chgData name="Baráth, Július" userId="aebde9b9-dccc-4475-a9ac-c05e78323d7a" providerId="ADAL" clId="{78DC09EE-6F69-BC4F-9C5F-F34D8524D35F}" dt="2023-02-07T06:38:06.720" v="0"/>
        <pc:sldMkLst>
          <pc:docMk/>
          <pc:sldMk cId="1449330532" sldId="306"/>
        </pc:sldMkLst>
      </pc:sldChg>
      <pc:sldChg chg="add">
        <pc:chgData name="Baráth, Július" userId="aebde9b9-dccc-4475-a9ac-c05e78323d7a" providerId="ADAL" clId="{78DC09EE-6F69-BC4F-9C5F-F34D8524D35F}" dt="2023-02-07T06:38:06.720" v="0"/>
        <pc:sldMkLst>
          <pc:docMk/>
          <pc:sldMk cId="4141320677" sldId="307"/>
        </pc:sldMkLst>
      </pc:sldChg>
      <pc:sldChg chg="add">
        <pc:chgData name="Baráth, Július" userId="aebde9b9-dccc-4475-a9ac-c05e78323d7a" providerId="ADAL" clId="{78DC09EE-6F69-BC4F-9C5F-F34D8524D35F}" dt="2023-02-07T06:38:06.720" v="0"/>
        <pc:sldMkLst>
          <pc:docMk/>
          <pc:sldMk cId="2820002426" sldId="308"/>
        </pc:sldMkLst>
      </pc:sldChg>
      <pc:sldChg chg="add del">
        <pc:chgData name="Baráth, Július" userId="aebde9b9-dccc-4475-a9ac-c05e78323d7a" providerId="ADAL" clId="{78DC09EE-6F69-BC4F-9C5F-F34D8524D35F}" dt="2023-02-07T06:40:49.682" v="14" actId="2696"/>
        <pc:sldMkLst>
          <pc:docMk/>
          <pc:sldMk cId="2658364233" sldId="309"/>
        </pc:sldMkLst>
      </pc:sldChg>
      <pc:sldChg chg="add">
        <pc:chgData name="Baráth, Július" userId="aebde9b9-dccc-4475-a9ac-c05e78323d7a" providerId="ADAL" clId="{78DC09EE-6F69-BC4F-9C5F-F34D8524D35F}" dt="2023-02-07T06:38:06.720" v="0"/>
        <pc:sldMkLst>
          <pc:docMk/>
          <pc:sldMk cId="701935519" sldId="310"/>
        </pc:sldMkLst>
      </pc:sldChg>
      <pc:sldChg chg="add">
        <pc:chgData name="Baráth, Július" userId="aebde9b9-dccc-4475-a9ac-c05e78323d7a" providerId="ADAL" clId="{78DC09EE-6F69-BC4F-9C5F-F34D8524D35F}" dt="2023-02-07T06:38:06.720" v="0"/>
        <pc:sldMkLst>
          <pc:docMk/>
          <pc:sldMk cId="463906802" sldId="311"/>
        </pc:sldMkLst>
      </pc:sldChg>
      <pc:sldChg chg="add">
        <pc:chgData name="Baráth, Július" userId="aebde9b9-dccc-4475-a9ac-c05e78323d7a" providerId="ADAL" clId="{78DC09EE-6F69-BC4F-9C5F-F34D8524D35F}" dt="2023-02-07T06:38:06.720" v="0"/>
        <pc:sldMkLst>
          <pc:docMk/>
          <pc:sldMk cId="460061556" sldId="312"/>
        </pc:sldMkLst>
      </pc:sldChg>
      <pc:sldChg chg="add">
        <pc:chgData name="Baráth, Július" userId="aebde9b9-dccc-4475-a9ac-c05e78323d7a" providerId="ADAL" clId="{78DC09EE-6F69-BC4F-9C5F-F34D8524D35F}" dt="2023-02-07T06:38:06.720" v="0"/>
        <pc:sldMkLst>
          <pc:docMk/>
          <pc:sldMk cId="1903611832" sldId="313"/>
        </pc:sldMkLst>
      </pc:sldChg>
      <pc:sldChg chg="add del">
        <pc:chgData name="Baráth, Július" userId="aebde9b9-dccc-4475-a9ac-c05e78323d7a" providerId="ADAL" clId="{78DC09EE-6F69-BC4F-9C5F-F34D8524D35F}" dt="2023-02-07T06:40:57.420" v="15" actId="2696"/>
        <pc:sldMkLst>
          <pc:docMk/>
          <pc:sldMk cId="1467551161" sldId="314"/>
        </pc:sldMkLst>
      </pc:sldChg>
      <pc:sldChg chg="add del">
        <pc:chgData name="Baráth, Július" userId="aebde9b9-dccc-4475-a9ac-c05e78323d7a" providerId="ADAL" clId="{78DC09EE-6F69-BC4F-9C5F-F34D8524D35F}" dt="2023-02-07T06:41:02.878" v="16" actId="2696"/>
        <pc:sldMkLst>
          <pc:docMk/>
          <pc:sldMk cId="1222078915" sldId="315"/>
        </pc:sldMkLst>
      </pc:sldChg>
      <pc:sldChg chg="add del">
        <pc:chgData name="Baráth, Július" userId="aebde9b9-dccc-4475-a9ac-c05e78323d7a" providerId="ADAL" clId="{78DC09EE-6F69-BC4F-9C5F-F34D8524D35F}" dt="2023-02-07T06:41:02.878" v="16" actId="2696"/>
        <pc:sldMkLst>
          <pc:docMk/>
          <pc:sldMk cId="1897389466" sldId="316"/>
        </pc:sldMkLst>
      </pc:sldChg>
      <pc:sldChg chg="add del">
        <pc:chgData name="Baráth, Július" userId="aebde9b9-dccc-4475-a9ac-c05e78323d7a" providerId="ADAL" clId="{78DC09EE-6F69-BC4F-9C5F-F34D8524D35F}" dt="2023-02-07T06:39:34.605" v="8" actId="2696"/>
        <pc:sldMkLst>
          <pc:docMk/>
          <pc:sldMk cId="3581387703" sldId="318"/>
        </pc:sldMkLst>
      </pc:sldChg>
      <pc:sldChg chg="add del">
        <pc:chgData name="Baráth, Július" userId="aebde9b9-dccc-4475-a9ac-c05e78323d7a" providerId="ADAL" clId="{78DC09EE-6F69-BC4F-9C5F-F34D8524D35F}" dt="2023-02-07T06:39:34.605" v="8" actId="2696"/>
        <pc:sldMkLst>
          <pc:docMk/>
          <pc:sldMk cId="3527046983" sldId="319"/>
        </pc:sldMkLst>
      </pc:sldChg>
      <pc:sldChg chg="addSp delSp modSp add mod modClrScheme chgLayout">
        <pc:chgData name="Baráth, Július" userId="aebde9b9-dccc-4475-a9ac-c05e78323d7a" providerId="ADAL" clId="{78DC09EE-6F69-BC4F-9C5F-F34D8524D35F}" dt="2023-02-09T12:43:59.906" v="158"/>
        <pc:sldMkLst>
          <pc:docMk/>
          <pc:sldMk cId="1757940500" sldId="474"/>
        </pc:sldMkLst>
        <pc:spChg chg="add del mod">
          <ac:chgData name="Baráth, Július" userId="aebde9b9-dccc-4475-a9ac-c05e78323d7a" providerId="ADAL" clId="{78DC09EE-6F69-BC4F-9C5F-F34D8524D35F}" dt="2023-02-09T12:30:43.657" v="33"/>
          <ac:spMkLst>
            <pc:docMk/>
            <pc:sldMk cId="1757940500" sldId="474"/>
            <ac:spMk id="2" creationId="{3651D489-1F42-D700-DFF5-B1717BD04880}"/>
          </ac:spMkLst>
        </pc:spChg>
        <pc:spChg chg="add del mod">
          <ac:chgData name="Baráth, Július" userId="aebde9b9-dccc-4475-a9ac-c05e78323d7a" providerId="ADAL" clId="{78DC09EE-6F69-BC4F-9C5F-F34D8524D35F}" dt="2023-02-09T12:30:43.657" v="33"/>
          <ac:spMkLst>
            <pc:docMk/>
            <pc:sldMk cId="1757940500" sldId="474"/>
            <ac:spMk id="3" creationId="{7A4861B3-75E5-43CC-B635-AECC933EEED2}"/>
          </ac:spMkLst>
        </pc:spChg>
        <pc:spChg chg="add del mod">
          <ac:chgData name="Baráth, Július" userId="aebde9b9-dccc-4475-a9ac-c05e78323d7a" providerId="ADAL" clId="{78DC09EE-6F69-BC4F-9C5F-F34D8524D35F}" dt="2023-02-09T12:40:26.418" v="93"/>
          <ac:spMkLst>
            <pc:docMk/>
            <pc:sldMk cId="1757940500" sldId="474"/>
            <ac:spMk id="4" creationId="{5E4D5173-9B86-F50B-EB0D-A99243C993A4}"/>
          </ac:spMkLst>
        </pc:spChg>
        <pc:spChg chg="del mod ord">
          <ac:chgData name="Baráth, Július" userId="aebde9b9-dccc-4475-a9ac-c05e78323d7a" providerId="ADAL" clId="{78DC09EE-6F69-BC4F-9C5F-F34D8524D35F}" dt="2023-02-09T12:41:04.773" v="102" actId="478"/>
          <ac:spMkLst>
            <pc:docMk/>
            <pc:sldMk cId="1757940500" sldId="474"/>
            <ac:spMk id="5" creationId="{00000000-0000-0000-0000-000000000000}"/>
          </ac:spMkLst>
        </pc:spChg>
        <pc:spChg chg="mod ord">
          <ac:chgData name="Baráth, Július" userId="aebde9b9-dccc-4475-a9ac-c05e78323d7a" providerId="ADAL" clId="{78DC09EE-6F69-BC4F-9C5F-F34D8524D35F}" dt="2023-02-09T12:41:01.398" v="100" actId="14100"/>
          <ac:spMkLst>
            <pc:docMk/>
            <pc:sldMk cId="1757940500" sldId="474"/>
            <ac:spMk id="6" creationId="{00000000-0000-0000-0000-000000000000}"/>
          </ac:spMkLst>
        </pc:spChg>
        <pc:spChg chg="add del mod">
          <ac:chgData name="Baráth, Július" userId="aebde9b9-dccc-4475-a9ac-c05e78323d7a" providerId="ADAL" clId="{78DC09EE-6F69-BC4F-9C5F-F34D8524D35F}" dt="2023-02-09T12:40:26.418" v="93"/>
          <ac:spMkLst>
            <pc:docMk/>
            <pc:sldMk cId="1757940500" sldId="474"/>
            <ac:spMk id="7" creationId="{5BE51B22-5B9B-9EBE-3641-EB7A7ABA9E6D}"/>
          </ac:spMkLst>
        </pc:spChg>
        <pc:spChg chg="add del mod ord">
          <ac:chgData name="Baráth, Július" userId="aebde9b9-dccc-4475-a9ac-c05e78323d7a" providerId="ADAL" clId="{78DC09EE-6F69-BC4F-9C5F-F34D8524D35F}" dt="2023-02-09T12:41:13.011" v="104" actId="478"/>
          <ac:spMkLst>
            <pc:docMk/>
            <pc:sldMk cId="1757940500" sldId="474"/>
            <ac:spMk id="8" creationId="{5C6316F2-B8F6-1B7B-A355-2AC25E57F174}"/>
          </ac:spMkLst>
        </pc:spChg>
        <pc:spChg chg="add mod">
          <ac:chgData name="Baráth, Július" userId="aebde9b9-dccc-4475-a9ac-c05e78323d7a" providerId="ADAL" clId="{78DC09EE-6F69-BC4F-9C5F-F34D8524D35F}" dt="2023-02-09T12:43:13.567" v="114" actId="20577"/>
          <ac:spMkLst>
            <pc:docMk/>
            <pc:sldMk cId="1757940500" sldId="474"/>
            <ac:spMk id="10" creationId="{C319C233-77BD-6E0B-42F0-C1FE6A29871D}"/>
          </ac:spMkLst>
        </pc:spChg>
        <pc:spChg chg="add mod">
          <ac:chgData name="Baráth, Július" userId="aebde9b9-dccc-4475-a9ac-c05e78323d7a" providerId="ADAL" clId="{78DC09EE-6F69-BC4F-9C5F-F34D8524D35F}" dt="2023-02-09T12:42:45.707" v="108"/>
          <ac:spMkLst>
            <pc:docMk/>
            <pc:sldMk cId="1757940500" sldId="474"/>
            <ac:spMk id="11" creationId="{3368D3AB-ED3A-6E07-AC98-B36B4F0E58B0}"/>
          </ac:spMkLst>
        </pc:spChg>
        <pc:spChg chg="add mod">
          <ac:chgData name="Baráth, Július" userId="aebde9b9-dccc-4475-a9ac-c05e78323d7a" providerId="ADAL" clId="{78DC09EE-6F69-BC4F-9C5F-F34D8524D35F}" dt="2023-02-09T12:43:59.906" v="158"/>
          <ac:spMkLst>
            <pc:docMk/>
            <pc:sldMk cId="1757940500" sldId="474"/>
            <ac:spMk id="12" creationId="{0B6FFD24-A9A2-8FC5-D6BD-99567ABC7855}"/>
          </ac:spMkLst>
        </pc:spChg>
      </pc:sldChg>
      <pc:sldChg chg="addSp delSp modSp add mod modClrScheme chgLayout">
        <pc:chgData name="Baráth, Július" userId="aebde9b9-dccc-4475-a9ac-c05e78323d7a" providerId="ADAL" clId="{78DC09EE-6F69-BC4F-9C5F-F34D8524D35F}" dt="2023-02-09T12:43:53.947" v="157" actId="1076"/>
        <pc:sldMkLst>
          <pc:docMk/>
          <pc:sldMk cId="162553446" sldId="475"/>
        </pc:sldMkLst>
        <pc:spChg chg="del mod ord">
          <ac:chgData name="Baráth, Július" userId="aebde9b9-dccc-4475-a9ac-c05e78323d7a" providerId="ADAL" clId="{78DC09EE-6F69-BC4F-9C5F-F34D8524D35F}" dt="2023-02-09T12:39:34.232" v="81" actId="478"/>
          <ac:spMkLst>
            <pc:docMk/>
            <pc:sldMk cId="162553446" sldId="475"/>
            <ac:spMk id="2" creationId="{00000000-0000-0000-0000-000000000000}"/>
          </ac:spMkLst>
        </pc:spChg>
        <pc:spChg chg="mod ord">
          <ac:chgData name="Baráth, Július" userId="aebde9b9-dccc-4475-a9ac-c05e78323d7a" providerId="ADAL" clId="{78DC09EE-6F69-BC4F-9C5F-F34D8524D35F}" dt="2023-02-09T12:39:39.397" v="82" actId="1076"/>
          <ac:spMkLst>
            <pc:docMk/>
            <pc:sldMk cId="162553446" sldId="475"/>
            <ac:spMk id="3" creationId="{00000000-0000-0000-0000-000000000000}"/>
          </ac:spMkLst>
        </pc:spChg>
        <pc:spChg chg="mod ord">
          <ac:chgData name="Baráth, Július" userId="aebde9b9-dccc-4475-a9ac-c05e78323d7a" providerId="ADAL" clId="{78DC09EE-6F69-BC4F-9C5F-F34D8524D35F}" dt="2023-02-09T12:37:02.974" v="37" actId="700"/>
          <ac:spMkLst>
            <pc:docMk/>
            <pc:sldMk cId="162553446" sldId="475"/>
            <ac:spMk id="4" creationId="{00000000-0000-0000-0000-000000000000}"/>
          </ac:spMkLst>
        </pc:spChg>
        <pc:spChg chg="add del mod">
          <ac:chgData name="Baráth, Július" userId="aebde9b9-dccc-4475-a9ac-c05e78323d7a" providerId="ADAL" clId="{78DC09EE-6F69-BC4F-9C5F-F34D8524D35F}" dt="2023-02-09T12:28:22.179" v="25"/>
          <ac:spMkLst>
            <pc:docMk/>
            <pc:sldMk cId="162553446" sldId="475"/>
            <ac:spMk id="5" creationId="{2DA89C9E-5E94-0785-5BE7-679488F17423}"/>
          </ac:spMkLst>
        </pc:spChg>
        <pc:spChg chg="add del mod">
          <ac:chgData name="Baráth, Július" userId="aebde9b9-dccc-4475-a9ac-c05e78323d7a" providerId="ADAL" clId="{78DC09EE-6F69-BC4F-9C5F-F34D8524D35F}" dt="2023-02-09T12:28:22.179" v="25"/>
          <ac:spMkLst>
            <pc:docMk/>
            <pc:sldMk cId="162553446" sldId="475"/>
            <ac:spMk id="6" creationId="{1C280262-E9F8-FF5E-392B-E1D136F03497}"/>
          </ac:spMkLst>
        </pc:spChg>
        <pc:spChg chg="add del mod ord">
          <ac:chgData name="Baráth, Július" userId="aebde9b9-dccc-4475-a9ac-c05e78323d7a" providerId="ADAL" clId="{78DC09EE-6F69-BC4F-9C5F-F34D8524D35F}" dt="2023-02-09T12:30:26.796" v="31" actId="700"/>
          <ac:spMkLst>
            <pc:docMk/>
            <pc:sldMk cId="162553446" sldId="475"/>
            <ac:spMk id="7" creationId="{E6B7F8A0-DCCD-5609-D516-1A5A14DF7001}"/>
          </ac:spMkLst>
        </pc:spChg>
        <pc:spChg chg="add del mod">
          <ac:chgData name="Baráth, Július" userId="aebde9b9-dccc-4475-a9ac-c05e78323d7a" providerId="ADAL" clId="{78DC09EE-6F69-BC4F-9C5F-F34D8524D35F}" dt="2023-02-09T12:36:53.208" v="36"/>
          <ac:spMkLst>
            <pc:docMk/>
            <pc:sldMk cId="162553446" sldId="475"/>
            <ac:spMk id="8" creationId="{A5BA9A10-C649-DB3B-F3CE-CDCD74C1A868}"/>
          </ac:spMkLst>
        </pc:spChg>
        <pc:spChg chg="add del mod">
          <ac:chgData name="Baráth, Július" userId="aebde9b9-dccc-4475-a9ac-c05e78323d7a" providerId="ADAL" clId="{78DC09EE-6F69-BC4F-9C5F-F34D8524D35F}" dt="2023-02-09T12:36:53.208" v="36"/>
          <ac:spMkLst>
            <pc:docMk/>
            <pc:sldMk cId="162553446" sldId="475"/>
            <ac:spMk id="9" creationId="{FA633EE0-B763-6B50-DFF8-AE029099A6F0}"/>
          </ac:spMkLst>
        </pc:spChg>
        <pc:spChg chg="add del mod">
          <ac:chgData name="Baráth, Július" userId="aebde9b9-dccc-4475-a9ac-c05e78323d7a" providerId="ADAL" clId="{78DC09EE-6F69-BC4F-9C5F-F34D8524D35F}" dt="2023-02-09T12:36:53.208" v="36"/>
          <ac:spMkLst>
            <pc:docMk/>
            <pc:sldMk cId="162553446" sldId="475"/>
            <ac:spMk id="10" creationId="{40885DA9-B47F-451F-3402-DB0086DE51F6}"/>
          </ac:spMkLst>
        </pc:spChg>
        <pc:spChg chg="add del mod ord">
          <ac:chgData name="Baráth, Július" userId="aebde9b9-dccc-4475-a9ac-c05e78323d7a" providerId="ADAL" clId="{78DC09EE-6F69-BC4F-9C5F-F34D8524D35F}" dt="2023-02-09T12:40:18.223" v="92" actId="478"/>
          <ac:spMkLst>
            <pc:docMk/>
            <pc:sldMk cId="162553446" sldId="475"/>
            <ac:spMk id="11" creationId="{245CC291-283B-B514-65B1-381185A1EEC2}"/>
          </ac:spMkLst>
        </pc:spChg>
        <pc:spChg chg="add mod">
          <ac:chgData name="Baráth, Július" userId="aebde9b9-dccc-4475-a9ac-c05e78323d7a" providerId="ADAL" clId="{78DC09EE-6F69-BC4F-9C5F-F34D8524D35F}" dt="2023-02-09T12:40:11.609" v="91" actId="20577"/>
          <ac:spMkLst>
            <pc:docMk/>
            <pc:sldMk cId="162553446" sldId="475"/>
            <ac:spMk id="12" creationId="{BC993943-227B-C681-CE76-0D43747A71A5}"/>
          </ac:spMkLst>
        </pc:spChg>
        <pc:spChg chg="add del mod">
          <ac:chgData name="Baráth, Július" userId="aebde9b9-dccc-4475-a9ac-c05e78323d7a" providerId="ADAL" clId="{78DC09EE-6F69-BC4F-9C5F-F34D8524D35F}" dt="2023-02-09T12:41:27.703" v="106" actId="478"/>
          <ac:spMkLst>
            <pc:docMk/>
            <pc:sldMk cId="162553446" sldId="475"/>
            <ac:spMk id="14" creationId="{1BA3890D-4DA7-5816-31C4-D88A7C74B434}"/>
          </ac:spMkLst>
        </pc:spChg>
        <pc:spChg chg="add mod">
          <ac:chgData name="Baráth, Július" userId="aebde9b9-dccc-4475-a9ac-c05e78323d7a" providerId="ADAL" clId="{78DC09EE-6F69-BC4F-9C5F-F34D8524D35F}" dt="2023-02-09T12:42:41.270" v="107"/>
          <ac:spMkLst>
            <pc:docMk/>
            <pc:sldMk cId="162553446" sldId="475"/>
            <ac:spMk id="15" creationId="{92631CDA-1626-EA4F-68CD-B6487183862A}"/>
          </ac:spMkLst>
        </pc:spChg>
        <pc:spChg chg="add mod">
          <ac:chgData name="Baráth, Július" userId="aebde9b9-dccc-4475-a9ac-c05e78323d7a" providerId="ADAL" clId="{78DC09EE-6F69-BC4F-9C5F-F34D8524D35F}" dt="2023-02-09T12:43:53.947" v="157" actId="1076"/>
          <ac:spMkLst>
            <pc:docMk/>
            <pc:sldMk cId="162553446" sldId="475"/>
            <ac:spMk id="16" creationId="{939BD3D1-72A1-A915-AC23-BF15E740DF9F}"/>
          </ac:spMkLst>
        </pc:spChg>
      </pc:sldChg>
      <pc:sldChg chg="del">
        <pc:chgData name="Baráth, Július" userId="aebde9b9-dccc-4475-a9ac-c05e78323d7a" providerId="ADAL" clId="{78DC09EE-6F69-BC4F-9C5F-F34D8524D35F}" dt="2023-02-07T06:38:21.874" v="1" actId="2696"/>
        <pc:sldMkLst>
          <pc:docMk/>
          <pc:sldMk cId="1533357529" sldId="880"/>
        </pc:sldMkLst>
      </pc:sldChg>
      <pc:sldChg chg="del">
        <pc:chgData name="Baráth, Július" userId="aebde9b9-dccc-4475-a9ac-c05e78323d7a" providerId="ADAL" clId="{78DC09EE-6F69-BC4F-9C5F-F34D8524D35F}" dt="2023-02-07T06:38:21.874" v="1" actId="2696"/>
        <pc:sldMkLst>
          <pc:docMk/>
          <pc:sldMk cId="122153960" sldId="1070"/>
        </pc:sldMkLst>
      </pc:sldChg>
      <pc:sldChg chg="del">
        <pc:chgData name="Baráth, Július" userId="aebde9b9-dccc-4475-a9ac-c05e78323d7a" providerId="ADAL" clId="{78DC09EE-6F69-BC4F-9C5F-F34D8524D35F}" dt="2023-02-07T06:38:21.874" v="1" actId="2696"/>
        <pc:sldMkLst>
          <pc:docMk/>
          <pc:sldMk cId="1736058053" sldId="1071"/>
        </pc:sldMkLst>
      </pc:sldChg>
      <pc:sldChg chg="del">
        <pc:chgData name="Baráth, Július" userId="aebde9b9-dccc-4475-a9ac-c05e78323d7a" providerId="ADAL" clId="{78DC09EE-6F69-BC4F-9C5F-F34D8524D35F}" dt="2023-02-07T06:38:21.874" v="1" actId="2696"/>
        <pc:sldMkLst>
          <pc:docMk/>
          <pc:sldMk cId="0" sldId="1072"/>
        </pc:sldMkLst>
      </pc:sldChg>
      <pc:sldChg chg="del">
        <pc:chgData name="Baráth, Július" userId="aebde9b9-dccc-4475-a9ac-c05e78323d7a" providerId="ADAL" clId="{78DC09EE-6F69-BC4F-9C5F-F34D8524D35F}" dt="2023-02-07T06:38:21.874" v="1" actId="2696"/>
        <pc:sldMkLst>
          <pc:docMk/>
          <pc:sldMk cId="1138333762" sldId="1073"/>
        </pc:sldMkLst>
      </pc:sldChg>
      <pc:sldChg chg="del">
        <pc:chgData name="Baráth, Július" userId="aebde9b9-dccc-4475-a9ac-c05e78323d7a" providerId="ADAL" clId="{78DC09EE-6F69-BC4F-9C5F-F34D8524D35F}" dt="2023-02-07T06:39:34.605" v="8" actId="2696"/>
        <pc:sldMkLst>
          <pc:docMk/>
          <pc:sldMk cId="3645693150" sldId="1078"/>
        </pc:sldMkLst>
      </pc:sldChg>
      <pc:sldChg chg="del">
        <pc:chgData name="Baráth, Július" userId="aebde9b9-dccc-4475-a9ac-c05e78323d7a" providerId="ADAL" clId="{78DC09EE-6F69-BC4F-9C5F-F34D8524D35F}" dt="2023-02-07T06:39:34.605" v="8" actId="2696"/>
        <pc:sldMkLst>
          <pc:docMk/>
          <pc:sldMk cId="4190828277" sldId="1079"/>
        </pc:sldMkLst>
      </pc:sldChg>
      <pc:sldChg chg="del">
        <pc:chgData name="Baráth, Július" userId="aebde9b9-dccc-4475-a9ac-c05e78323d7a" providerId="ADAL" clId="{78DC09EE-6F69-BC4F-9C5F-F34D8524D35F}" dt="2023-02-07T06:38:21.874" v="1" actId="2696"/>
        <pc:sldMkLst>
          <pc:docMk/>
          <pc:sldMk cId="3477924235" sldId="1080"/>
        </pc:sldMkLst>
      </pc:sldChg>
      <pc:sldChg chg="del">
        <pc:chgData name="Baráth, Július" userId="aebde9b9-dccc-4475-a9ac-c05e78323d7a" providerId="ADAL" clId="{78DC09EE-6F69-BC4F-9C5F-F34D8524D35F}" dt="2023-02-07T06:38:21.874" v="1" actId="2696"/>
        <pc:sldMkLst>
          <pc:docMk/>
          <pc:sldMk cId="2905246342" sldId="1081"/>
        </pc:sldMkLst>
      </pc:sldChg>
      <pc:sldChg chg="del">
        <pc:chgData name="Baráth, Július" userId="aebde9b9-dccc-4475-a9ac-c05e78323d7a" providerId="ADAL" clId="{78DC09EE-6F69-BC4F-9C5F-F34D8524D35F}" dt="2023-02-07T06:38:21.874" v="1" actId="2696"/>
        <pc:sldMkLst>
          <pc:docMk/>
          <pc:sldMk cId="2119288657" sldId="1082"/>
        </pc:sldMkLst>
      </pc:sldChg>
      <pc:sldChg chg="del">
        <pc:chgData name="Baráth, Július" userId="aebde9b9-dccc-4475-a9ac-c05e78323d7a" providerId="ADAL" clId="{78DC09EE-6F69-BC4F-9C5F-F34D8524D35F}" dt="2023-02-07T06:39:34.605" v="8" actId="2696"/>
        <pc:sldMkLst>
          <pc:docMk/>
          <pc:sldMk cId="3041535317" sldId="1084"/>
        </pc:sldMkLst>
      </pc:sldChg>
      <pc:sldChg chg="del">
        <pc:chgData name="Baráth, Július" userId="aebde9b9-dccc-4475-a9ac-c05e78323d7a" providerId="ADAL" clId="{78DC09EE-6F69-BC4F-9C5F-F34D8524D35F}" dt="2023-02-07T06:38:48.762" v="5" actId="2696"/>
        <pc:sldMkLst>
          <pc:docMk/>
          <pc:sldMk cId="4259129871" sldId="1085"/>
        </pc:sldMkLst>
      </pc:sldChg>
      <pc:sldChg chg="del">
        <pc:chgData name="Baráth, Július" userId="aebde9b9-dccc-4475-a9ac-c05e78323d7a" providerId="ADAL" clId="{78DC09EE-6F69-BC4F-9C5F-F34D8524D35F}" dt="2023-02-07T06:38:52.796" v="7" actId="2696"/>
        <pc:sldMkLst>
          <pc:docMk/>
          <pc:sldMk cId="764901934" sldId="1086"/>
        </pc:sldMkLst>
      </pc:sldChg>
      <pc:sldChg chg="add del">
        <pc:chgData name="Baráth, Július" userId="aebde9b9-dccc-4475-a9ac-c05e78323d7a" providerId="ADAL" clId="{78DC09EE-6F69-BC4F-9C5F-F34D8524D35F}" dt="2023-02-07T06:39:34.605" v="8" actId="2696"/>
        <pc:sldMkLst>
          <pc:docMk/>
          <pc:sldMk cId="2585947262" sldId="1087"/>
        </pc:sldMkLst>
      </pc:sldChg>
      <pc:sldChg chg="add del">
        <pc:chgData name="Baráth, Július" userId="aebde9b9-dccc-4475-a9ac-c05e78323d7a" providerId="ADAL" clId="{78DC09EE-6F69-BC4F-9C5F-F34D8524D35F}" dt="2023-02-07T06:39:34.605" v="8" actId="2696"/>
        <pc:sldMkLst>
          <pc:docMk/>
          <pc:sldMk cId="380495759" sldId="1088"/>
        </pc:sldMkLst>
      </pc:sldChg>
      <pc:sldChg chg="add del">
        <pc:chgData name="Baráth, Július" userId="aebde9b9-dccc-4475-a9ac-c05e78323d7a" providerId="ADAL" clId="{78DC09EE-6F69-BC4F-9C5F-F34D8524D35F}" dt="2023-02-07T06:39:34.605" v="8" actId="2696"/>
        <pc:sldMkLst>
          <pc:docMk/>
          <pc:sldMk cId="3638091523" sldId="1089"/>
        </pc:sldMkLst>
      </pc:sldChg>
      <pc:sldChg chg="add">
        <pc:chgData name="Baráth, Július" userId="aebde9b9-dccc-4475-a9ac-c05e78323d7a" providerId="ADAL" clId="{78DC09EE-6F69-BC4F-9C5F-F34D8524D35F}" dt="2023-02-07T06:38:06.720" v="0"/>
        <pc:sldMkLst>
          <pc:docMk/>
          <pc:sldMk cId="1601746933" sldId="1090"/>
        </pc:sldMkLst>
      </pc:sldChg>
      <pc:sldChg chg="add del">
        <pc:chgData name="Baráth, Július" userId="aebde9b9-dccc-4475-a9ac-c05e78323d7a" providerId="ADAL" clId="{78DC09EE-6F69-BC4F-9C5F-F34D8524D35F}" dt="2023-02-07T06:39:34.605" v="8" actId="2696"/>
        <pc:sldMkLst>
          <pc:docMk/>
          <pc:sldMk cId="3834739644" sldId="1091"/>
        </pc:sldMkLst>
      </pc:sldChg>
      <pc:sldChg chg="add del">
        <pc:chgData name="Baráth, Július" userId="aebde9b9-dccc-4475-a9ac-c05e78323d7a" providerId="ADAL" clId="{78DC09EE-6F69-BC4F-9C5F-F34D8524D35F}" dt="2023-02-07T06:39:34.605" v="8" actId="2696"/>
        <pc:sldMkLst>
          <pc:docMk/>
          <pc:sldMk cId="4263105790" sldId="1092"/>
        </pc:sldMkLst>
      </pc:sldChg>
      <pc:sldChg chg="add del">
        <pc:chgData name="Baráth, Július" userId="aebde9b9-dccc-4475-a9ac-c05e78323d7a" providerId="ADAL" clId="{78DC09EE-6F69-BC4F-9C5F-F34D8524D35F}" dt="2023-02-07T06:39:34.605" v="8" actId="2696"/>
        <pc:sldMkLst>
          <pc:docMk/>
          <pc:sldMk cId="859697113" sldId="1093"/>
        </pc:sldMkLst>
      </pc:sldChg>
      <pc:sldChg chg="add">
        <pc:chgData name="Baráth, Július" userId="aebde9b9-dccc-4475-a9ac-c05e78323d7a" providerId="ADAL" clId="{78DC09EE-6F69-BC4F-9C5F-F34D8524D35F}" dt="2023-02-07T06:38:06.720" v="0"/>
        <pc:sldMkLst>
          <pc:docMk/>
          <pc:sldMk cId="119960904" sldId="1094"/>
        </pc:sldMkLst>
      </pc:sldChg>
      <pc:sldChg chg="add">
        <pc:chgData name="Baráth, Július" userId="aebde9b9-dccc-4475-a9ac-c05e78323d7a" providerId="ADAL" clId="{78DC09EE-6F69-BC4F-9C5F-F34D8524D35F}" dt="2023-02-07T06:38:06.720" v="0"/>
        <pc:sldMkLst>
          <pc:docMk/>
          <pc:sldMk cId="2848475975" sldId="1095"/>
        </pc:sldMkLst>
      </pc:sldChg>
      <pc:sldChg chg="add">
        <pc:chgData name="Baráth, Július" userId="aebde9b9-dccc-4475-a9ac-c05e78323d7a" providerId="ADAL" clId="{78DC09EE-6F69-BC4F-9C5F-F34D8524D35F}" dt="2023-02-07T06:38:06.720" v="0"/>
        <pc:sldMkLst>
          <pc:docMk/>
          <pc:sldMk cId="1522619948" sldId="1096"/>
        </pc:sldMkLst>
      </pc:sldChg>
      <pc:sldChg chg="add del">
        <pc:chgData name="Baráth, Július" userId="aebde9b9-dccc-4475-a9ac-c05e78323d7a" providerId="ADAL" clId="{78DC09EE-6F69-BC4F-9C5F-F34D8524D35F}" dt="2023-02-07T06:41:02.878" v="16" actId="2696"/>
        <pc:sldMkLst>
          <pc:docMk/>
          <pc:sldMk cId="461279853" sldId="1097"/>
        </pc:sldMkLst>
      </pc:sldChg>
      <pc:sldChg chg="add del">
        <pc:chgData name="Baráth, Július" userId="aebde9b9-dccc-4475-a9ac-c05e78323d7a" providerId="ADAL" clId="{78DC09EE-6F69-BC4F-9C5F-F34D8524D35F}" dt="2023-02-07T06:41:02.878" v="16" actId="2696"/>
        <pc:sldMkLst>
          <pc:docMk/>
          <pc:sldMk cId="253578227" sldId="1098"/>
        </pc:sldMkLst>
      </pc:sldChg>
      <pc:sldChg chg="add del">
        <pc:chgData name="Baráth, Július" userId="aebde9b9-dccc-4475-a9ac-c05e78323d7a" providerId="ADAL" clId="{78DC09EE-6F69-BC4F-9C5F-F34D8524D35F}" dt="2023-02-07T06:39:34.605" v="8" actId="2696"/>
        <pc:sldMkLst>
          <pc:docMk/>
          <pc:sldMk cId="3243795950" sldId="1099"/>
        </pc:sldMkLst>
      </pc:sldChg>
      <pc:sldChg chg="add del">
        <pc:chgData name="Baráth, Július" userId="aebde9b9-dccc-4475-a9ac-c05e78323d7a" providerId="ADAL" clId="{78DC09EE-6F69-BC4F-9C5F-F34D8524D35F}" dt="2023-02-07T06:39:34.605" v="8" actId="2696"/>
        <pc:sldMkLst>
          <pc:docMk/>
          <pc:sldMk cId="920831366" sldId="1100"/>
        </pc:sldMkLst>
      </pc:sldChg>
      <pc:sldChg chg="add del">
        <pc:chgData name="Baráth, Július" userId="aebde9b9-dccc-4475-a9ac-c05e78323d7a" providerId="ADAL" clId="{78DC09EE-6F69-BC4F-9C5F-F34D8524D35F}" dt="2023-02-07T06:39:34.605" v="8" actId="2696"/>
        <pc:sldMkLst>
          <pc:docMk/>
          <pc:sldMk cId="3864385265" sldId="1101"/>
        </pc:sldMkLst>
      </pc:sldChg>
      <pc:sldChg chg="add">
        <pc:chgData name="Baráth, Július" userId="aebde9b9-dccc-4475-a9ac-c05e78323d7a" providerId="ADAL" clId="{78DC09EE-6F69-BC4F-9C5F-F34D8524D35F}" dt="2023-02-07T06:38:06.720" v="0"/>
        <pc:sldMkLst>
          <pc:docMk/>
          <pc:sldMk cId="1466998822" sldId="1102"/>
        </pc:sldMkLst>
      </pc:sldChg>
      <pc:sldChg chg="add">
        <pc:chgData name="Baráth, Július" userId="aebde9b9-dccc-4475-a9ac-c05e78323d7a" providerId="ADAL" clId="{78DC09EE-6F69-BC4F-9C5F-F34D8524D35F}" dt="2023-02-07T06:38:06.720" v="0"/>
        <pc:sldMkLst>
          <pc:docMk/>
          <pc:sldMk cId="3392630962" sldId="1103"/>
        </pc:sldMkLst>
      </pc:sldChg>
      <pc:sldChg chg="add">
        <pc:chgData name="Baráth, Július" userId="aebde9b9-dccc-4475-a9ac-c05e78323d7a" providerId="ADAL" clId="{78DC09EE-6F69-BC4F-9C5F-F34D8524D35F}" dt="2023-02-07T06:38:06.720" v="0"/>
        <pc:sldMkLst>
          <pc:docMk/>
          <pc:sldMk cId="3427049670" sldId="1104"/>
        </pc:sldMkLst>
      </pc:sldChg>
      <pc:sldChg chg="add">
        <pc:chgData name="Baráth, Július" userId="aebde9b9-dccc-4475-a9ac-c05e78323d7a" providerId="ADAL" clId="{78DC09EE-6F69-BC4F-9C5F-F34D8524D35F}" dt="2023-02-07T06:38:06.720" v="0"/>
        <pc:sldMkLst>
          <pc:docMk/>
          <pc:sldMk cId="3014119093" sldId="1105"/>
        </pc:sldMkLst>
      </pc:sldChg>
      <pc:sldChg chg="add">
        <pc:chgData name="Baráth, Július" userId="aebde9b9-dccc-4475-a9ac-c05e78323d7a" providerId="ADAL" clId="{78DC09EE-6F69-BC4F-9C5F-F34D8524D35F}" dt="2023-02-07T06:38:06.720" v="0"/>
        <pc:sldMkLst>
          <pc:docMk/>
          <pc:sldMk cId="3837328448" sldId="1106"/>
        </pc:sldMkLst>
      </pc:sldChg>
      <pc:sldChg chg="add">
        <pc:chgData name="Baráth, Július" userId="aebde9b9-dccc-4475-a9ac-c05e78323d7a" providerId="ADAL" clId="{78DC09EE-6F69-BC4F-9C5F-F34D8524D35F}" dt="2023-02-07T06:38:06.720" v="0"/>
        <pc:sldMkLst>
          <pc:docMk/>
          <pc:sldMk cId="3862720228" sldId="1107"/>
        </pc:sldMkLst>
      </pc:sldChg>
      <pc:sldChg chg="add">
        <pc:chgData name="Baráth, Július" userId="aebde9b9-dccc-4475-a9ac-c05e78323d7a" providerId="ADAL" clId="{78DC09EE-6F69-BC4F-9C5F-F34D8524D35F}" dt="2023-02-07T06:38:06.720" v="0"/>
        <pc:sldMkLst>
          <pc:docMk/>
          <pc:sldMk cId="933630463" sldId="1108"/>
        </pc:sldMkLst>
      </pc:sldChg>
      <pc:sldChg chg="add del">
        <pc:chgData name="Baráth, Július" userId="aebde9b9-dccc-4475-a9ac-c05e78323d7a" providerId="ADAL" clId="{78DC09EE-6F69-BC4F-9C5F-F34D8524D35F}" dt="2023-02-07T06:39:47.023" v="9" actId="2696"/>
        <pc:sldMkLst>
          <pc:docMk/>
          <pc:sldMk cId="118841895" sldId="1109"/>
        </pc:sldMkLst>
      </pc:sldChg>
      <pc:sldChg chg="add">
        <pc:chgData name="Baráth, Július" userId="aebde9b9-dccc-4475-a9ac-c05e78323d7a" providerId="ADAL" clId="{78DC09EE-6F69-BC4F-9C5F-F34D8524D35F}" dt="2023-02-07T06:38:06.720" v="0"/>
        <pc:sldMkLst>
          <pc:docMk/>
          <pc:sldMk cId="326692137" sldId="1110"/>
        </pc:sldMkLst>
      </pc:sldChg>
      <pc:sldChg chg="add">
        <pc:chgData name="Baráth, Július" userId="aebde9b9-dccc-4475-a9ac-c05e78323d7a" providerId="ADAL" clId="{78DC09EE-6F69-BC4F-9C5F-F34D8524D35F}" dt="2023-02-07T06:38:06.720" v="0"/>
        <pc:sldMkLst>
          <pc:docMk/>
          <pc:sldMk cId="3915942765" sldId="1111"/>
        </pc:sldMkLst>
      </pc:sldChg>
      <pc:sldChg chg="add">
        <pc:chgData name="Baráth, Július" userId="aebde9b9-dccc-4475-a9ac-c05e78323d7a" providerId="ADAL" clId="{78DC09EE-6F69-BC4F-9C5F-F34D8524D35F}" dt="2023-02-07T06:38:06.720" v="0"/>
        <pc:sldMkLst>
          <pc:docMk/>
          <pc:sldMk cId="2492871025" sldId="1112"/>
        </pc:sldMkLst>
      </pc:sldChg>
      <pc:sldChg chg="add">
        <pc:chgData name="Baráth, Július" userId="aebde9b9-dccc-4475-a9ac-c05e78323d7a" providerId="ADAL" clId="{78DC09EE-6F69-BC4F-9C5F-F34D8524D35F}" dt="2023-02-07T06:38:06.720" v="0"/>
        <pc:sldMkLst>
          <pc:docMk/>
          <pc:sldMk cId="1501847368" sldId="1113"/>
        </pc:sldMkLst>
      </pc:sldChg>
      <pc:sldChg chg="add">
        <pc:chgData name="Baráth, Július" userId="aebde9b9-dccc-4475-a9ac-c05e78323d7a" providerId="ADAL" clId="{78DC09EE-6F69-BC4F-9C5F-F34D8524D35F}" dt="2023-02-07T06:38:06.720" v="0"/>
        <pc:sldMkLst>
          <pc:docMk/>
          <pc:sldMk cId="2938810399" sldId="1114"/>
        </pc:sldMkLst>
      </pc:sldChg>
      <pc:sldChg chg="add">
        <pc:chgData name="Baráth, Július" userId="aebde9b9-dccc-4475-a9ac-c05e78323d7a" providerId="ADAL" clId="{78DC09EE-6F69-BC4F-9C5F-F34D8524D35F}" dt="2023-02-07T06:38:06.720" v="0"/>
        <pc:sldMkLst>
          <pc:docMk/>
          <pc:sldMk cId="695217521" sldId="1115"/>
        </pc:sldMkLst>
      </pc:sldChg>
      <pc:sldChg chg="add">
        <pc:chgData name="Baráth, Július" userId="aebde9b9-dccc-4475-a9ac-c05e78323d7a" providerId="ADAL" clId="{78DC09EE-6F69-BC4F-9C5F-F34D8524D35F}" dt="2023-02-07T06:38:06.720" v="0"/>
        <pc:sldMkLst>
          <pc:docMk/>
          <pc:sldMk cId="641425398" sldId="1116"/>
        </pc:sldMkLst>
      </pc:sldChg>
      <pc:sldChg chg="add">
        <pc:chgData name="Baráth, Július" userId="aebde9b9-dccc-4475-a9ac-c05e78323d7a" providerId="ADAL" clId="{78DC09EE-6F69-BC4F-9C5F-F34D8524D35F}" dt="2023-02-07T06:38:06.720" v="0"/>
        <pc:sldMkLst>
          <pc:docMk/>
          <pc:sldMk cId="2009739110" sldId="1117"/>
        </pc:sldMkLst>
      </pc:sldChg>
      <pc:sldChg chg="add">
        <pc:chgData name="Baráth, Július" userId="aebde9b9-dccc-4475-a9ac-c05e78323d7a" providerId="ADAL" clId="{78DC09EE-6F69-BC4F-9C5F-F34D8524D35F}" dt="2023-02-07T06:38:06.720" v="0"/>
        <pc:sldMkLst>
          <pc:docMk/>
          <pc:sldMk cId="3261626439" sldId="1118"/>
        </pc:sldMkLst>
      </pc:sldChg>
      <pc:sldChg chg="add">
        <pc:chgData name="Baráth, Július" userId="aebde9b9-dccc-4475-a9ac-c05e78323d7a" providerId="ADAL" clId="{78DC09EE-6F69-BC4F-9C5F-F34D8524D35F}" dt="2023-02-07T06:38:06.720" v="0"/>
        <pc:sldMkLst>
          <pc:docMk/>
          <pc:sldMk cId="1301018531" sldId="1119"/>
        </pc:sldMkLst>
      </pc:sldChg>
      <pc:sldChg chg="add">
        <pc:chgData name="Baráth, Július" userId="aebde9b9-dccc-4475-a9ac-c05e78323d7a" providerId="ADAL" clId="{78DC09EE-6F69-BC4F-9C5F-F34D8524D35F}" dt="2023-02-07T06:38:06.720" v="0"/>
        <pc:sldMkLst>
          <pc:docMk/>
          <pc:sldMk cId="1000684714" sldId="1120"/>
        </pc:sldMkLst>
      </pc:sldChg>
      <pc:sldChg chg="add">
        <pc:chgData name="Baráth, Július" userId="aebde9b9-dccc-4475-a9ac-c05e78323d7a" providerId="ADAL" clId="{78DC09EE-6F69-BC4F-9C5F-F34D8524D35F}" dt="2023-02-07T06:38:06.720" v="0"/>
        <pc:sldMkLst>
          <pc:docMk/>
          <pc:sldMk cId="2504318138" sldId="1121"/>
        </pc:sldMkLst>
      </pc:sldChg>
      <pc:sldChg chg="add">
        <pc:chgData name="Baráth, Július" userId="aebde9b9-dccc-4475-a9ac-c05e78323d7a" providerId="ADAL" clId="{78DC09EE-6F69-BC4F-9C5F-F34D8524D35F}" dt="2023-02-07T06:38:06.720" v="0"/>
        <pc:sldMkLst>
          <pc:docMk/>
          <pc:sldMk cId="1931156969" sldId="1122"/>
        </pc:sldMkLst>
      </pc:sldChg>
      <pc:sldChg chg="add">
        <pc:chgData name="Baráth, Július" userId="aebde9b9-dccc-4475-a9ac-c05e78323d7a" providerId="ADAL" clId="{78DC09EE-6F69-BC4F-9C5F-F34D8524D35F}" dt="2023-02-07T06:38:06.720" v="0"/>
        <pc:sldMkLst>
          <pc:docMk/>
          <pc:sldMk cId="3187358310" sldId="1123"/>
        </pc:sldMkLst>
      </pc:sldChg>
      <pc:sldChg chg="add">
        <pc:chgData name="Baráth, Július" userId="aebde9b9-dccc-4475-a9ac-c05e78323d7a" providerId="ADAL" clId="{78DC09EE-6F69-BC4F-9C5F-F34D8524D35F}" dt="2023-02-07T06:38:06.720" v="0"/>
        <pc:sldMkLst>
          <pc:docMk/>
          <pc:sldMk cId="3879750073" sldId="1124"/>
        </pc:sldMkLst>
      </pc:sldChg>
      <pc:sldChg chg="add">
        <pc:chgData name="Baráth, Július" userId="aebde9b9-dccc-4475-a9ac-c05e78323d7a" providerId="ADAL" clId="{78DC09EE-6F69-BC4F-9C5F-F34D8524D35F}" dt="2023-02-07T06:38:06.720" v="0"/>
        <pc:sldMkLst>
          <pc:docMk/>
          <pc:sldMk cId="3724596043" sldId="1125"/>
        </pc:sldMkLst>
      </pc:sldChg>
      <pc:sldChg chg="add">
        <pc:chgData name="Baráth, Július" userId="aebde9b9-dccc-4475-a9ac-c05e78323d7a" providerId="ADAL" clId="{78DC09EE-6F69-BC4F-9C5F-F34D8524D35F}" dt="2023-02-07T06:38:06.720" v="0"/>
        <pc:sldMkLst>
          <pc:docMk/>
          <pc:sldMk cId="1162421410" sldId="1126"/>
        </pc:sldMkLst>
      </pc:sldChg>
      <pc:sldChg chg="addSp delSp modSp add mod">
        <pc:chgData name="Baráth, Július" userId="aebde9b9-dccc-4475-a9ac-c05e78323d7a" providerId="ADAL" clId="{78DC09EE-6F69-BC4F-9C5F-F34D8524D35F}" dt="2023-02-09T12:38:48.980" v="75" actId="1076"/>
        <pc:sldMkLst>
          <pc:docMk/>
          <pc:sldMk cId="2017135710" sldId="1127"/>
        </pc:sldMkLst>
        <pc:spChg chg="mod">
          <ac:chgData name="Baráth, Július" userId="aebde9b9-dccc-4475-a9ac-c05e78323d7a" providerId="ADAL" clId="{78DC09EE-6F69-BC4F-9C5F-F34D8524D35F}" dt="2023-02-09T12:38:48.980" v="75" actId="1076"/>
          <ac:spMkLst>
            <pc:docMk/>
            <pc:sldMk cId="2017135710" sldId="1127"/>
            <ac:spMk id="2" creationId="{00000000-0000-0000-0000-000000000000}"/>
          </ac:spMkLst>
        </pc:spChg>
        <pc:spChg chg="mod">
          <ac:chgData name="Baráth, Július" userId="aebde9b9-dccc-4475-a9ac-c05e78323d7a" providerId="ADAL" clId="{78DC09EE-6F69-BC4F-9C5F-F34D8524D35F}" dt="2023-02-09T12:36:38.678" v="35"/>
          <ac:spMkLst>
            <pc:docMk/>
            <pc:sldMk cId="2017135710" sldId="1127"/>
            <ac:spMk id="3" creationId="{00000000-0000-0000-0000-000000000000}"/>
          </ac:spMkLst>
        </pc:spChg>
        <pc:spChg chg="add del mod">
          <ac:chgData name="Baráth, Július" userId="aebde9b9-dccc-4475-a9ac-c05e78323d7a" providerId="ADAL" clId="{78DC09EE-6F69-BC4F-9C5F-F34D8524D35F}" dt="2023-02-09T12:36:38.678" v="35"/>
          <ac:spMkLst>
            <pc:docMk/>
            <pc:sldMk cId="2017135710" sldId="1127"/>
            <ac:spMk id="4" creationId="{0584E781-DA8D-B59A-7A0E-6AA994696D92}"/>
          </ac:spMkLst>
        </pc:spChg>
        <pc:spChg chg="add del mod">
          <ac:chgData name="Baráth, Július" userId="aebde9b9-dccc-4475-a9ac-c05e78323d7a" providerId="ADAL" clId="{78DC09EE-6F69-BC4F-9C5F-F34D8524D35F}" dt="2023-02-09T12:36:38.678" v="35"/>
          <ac:spMkLst>
            <pc:docMk/>
            <pc:sldMk cId="2017135710" sldId="1127"/>
            <ac:spMk id="7" creationId="{B1D5E06F-B0CC-5A58-AD88-92F91F64C71B}"/>
          </ac:spMkLst>
        </pc:spChg>
        <pc:spChg chg="add del mod">
          <ac:chgData name="Baráth, Július" userId="aebde9b9-dccc-4475-a9ac-c05e78323d7a" providerId="ADAL" clId="{78DC09EE-6F69-BC4F-9C5F-F34D8524D35F}" dt="2023-02-09T12:36:38.678" v="35"/>
          <ac:spMkLst>
            <pc:docMk/>
            <pc:sldMk cId="2017135710" sldId="1127"/>
            <ac:spMk id="8" creationId="{856DC40F-957E-94BB-D703-294B268FAEDE}"/>
          </ac:spMkLst>
        </pc:spChg>
        <pc:spChg chg="mod">
          <ac:chgData name="Baráth, Július" userId="aebde9b9-dccc-4475-a9ac-c05e78323d7a" providerId="ADAL" clId="{78DC09EE-6F69-BC4F-9C5F-F34D8524D35F}" dt="2023-02-09T12:36:38.678" v="35"/>
          <ac:spMkLst>
            <pc:docMk/>
            <pc:sldMk cId="2017135710" sldId="1127"/>
            <ac:spMk id="25" creationId="{00000000-0000-0000-0000-000000000000}"/>
          </ac:spMkLst>
        </pc:spChg>
      </pc:sldChg>
      <pc:sldChg chg="add">
        <pc:chgData name="Baráth, Július" userId="aebde9b9-dccc-4475-a9ac-c05e78323d7a" providerId="ADAL" clId="{78DC09EE-6F69-BC4F-9C5F-F34D8524D35F}" dt="2023-02-07T06:38:06.720" v="0"/>
        <pc:sldMkLst>
          <pc:docMk/>
          <pc:sldMk cId="3048549787" sldId="1128"/>
        </pc:sldMkLst>
      </pc:sldChg>
      <pc:sldChg chg="add">
        <pc:chgData name="Baráth, Július" userId="aebde9b9-dccc-4475-a9ac-c05e78323d7a" providerId="ADAL" clId="{78DC09EE-6F69-BC4F-9C5F-F34D8524D35F}" dt="2023-02-07T06:38:06.720" v="0"/>
        <pc:sldMkLst>
          <pc:docMk/>
          <pc:sldMk cId="4007068987" sldId="1129"/>
        </pc:sldMkLst>
      </pc:sldChg>
      <pc:sldChg chg="add">
        <pc:chgData name="Baráth, Július" userId="aebde9b9-dccc-4475-a9ac-c05e78323d7a" providerId="ADAL" clId="{78DC09EE-6F69-BC4F-9C5F-F34D8524D35F}" dt="2023-02-07T06:38:06.720" v="0"/>
        <pc:sldMkLst>
          <pc:docMk/>
          <pc:sldMk cId="3657518784" sldId="1130"/>
        </pc:sldMkLst>
      </pc:sldChg>
      <pc:sldChg chg="addSp modSp add mod">
        <pc:chgData name="Baráth, Július" userId="aebde9b9-dccc-4475-a9ac-c05e78323d7a" providerId="ADAL" clId="{78DC09EE-6F69-BC4F-9C5F-F34D8524D35F}" dt="2023-02-09T12:26:31.426" v="22" actId="1076"/>
        <pc:sldMkLst>
          <pc:docMk/>
          <pc:sldMk cId="521233187" sldId="1131"/>
        </pc:sldMkLst>
        <pc:spChg chg="add mod">
          <ac:chgData name="Baráth, Július" userId="aebde9b9-dccc-4475-a9ac-c05e78323d7a" providerId="ADAL" clId="{78DC09EE-6F69-BC4F-9C5F-F34D8524D35F}" dt="2023-02-09T12:26:31.426" v="22" actId="1076"/>
          <ac:spMkLst>
            <pc:docMk/>
            <pc:sldMk cId="521233187" sldId="1131"/>
            <ac:spMk id="7" creationId="{BFAF6C5B-8917-5264-CF45-E83799EECC22}"/>
          </ac:spMkLst>
        </pc:spChg>
      </pc:sldChg>
      <pc:sldChg chg="add">
        <pc:chgData name="Baráth, Július" userId="aebde9b9-dccc-4475-a9ac-c05e78323d7a" providerId="ADAL" clId="{78DC09EE-6F69-BC4F-9C5F-F34D8524D35F}" dt="2023-02-07T06:38:06.720" v="0"/>
        <pc:sldMkLst>
          <pc:docMk/>
          <pc:sldMk cId="2598063533" sldId="1132"/>
        </pc:sldMkLst>
      </pc:sldChg>
      <pc:sldChg chg="add">
        <pc:chgData name="Baráth, Július" userId="aebde9b9-dccc-4475-a9ac-c05e78323d7a" providerId="ADAL" clId="{78DC09EE-6F69-BC4F-9C5F-F34D8524D35F}" dt="2023-02-07T06:38:06.720" v="0"/>
        <pc:sldMkLst>
          <pc:docMk/>
          <pc:sldMk cId="2919802751" sldId="1133"/>
        </pc:sldMkLst>
      </pc:sldChg>
      <pc:sldChg chg="add">
        <pc:chgData name="Baráth, Július" userId="aebde9b9-dccc-4475-a9ac-c05e78323d7a" providerId="ADAL" clId="{78DC09EE-6F69-BC4F-9C5F-F34D8524D35F}" dt="2023-02-07T06:38:06.720" v="0"/>
        <pc:sldMkLst>
          <pc:docMk/>
          <pc:sldMk cId="4012422569" sldId="1134"/>
        </pc:sldMkLst>
      </pc:sldChg>
      <pc:sldChg chg="add">
        <pc:chgData name="Baráth, Július" userId="aebde9b9-dccc-4475-a9ac-c05e78323d7a" providerId="ADAL" clId="{78DC09EE-6F69-BC4F-9C5F-F34D8524D35F}" dt="2023-02-07T06:38:06.720" v="0"/>
        <pc:sldMkLst>
          <pc:docMk/>
          <pc:sldMk cId="3819611454" sldId="1135"/>
        </pc:sldMkLst>
      </pc:sldChg>
      <pc:sldChg chg="add">
        <pc:chgData name="Baráth, Július" userId="aebde9b9-dccc-4475-a9ac-c05e78323d7a" providerId="ADAL" clId="{78DC09EE-6F69-BC4F-9C5F-F34D8524D35F}" dt="2023-02-07T06:38:06.720" v="0"/>
        <pc:sldMkLst>
          <pc:docMk/>
          <pc:sldMk cId="2779533208" sldId="1136"/>
        </pc:sldMkLst>
      </pc:sldChg>
      <pc:sldChg chg="add">
        <pc:chgData name="Baráth, Július" userId="aebde9b9-dccc-4475-a9ac-c05e78323d7a" providerId="ADAL" clId="{78DC09EE-6F69-BC4F-9C5F-F34D8524D35F}" dt="2023-02-07T06:38:06.720" v="0"/>
        <pc:sldMkLst>
          <pc:docMk/>
          <pc:sldMk cId="4059709976" sldId="1137"/>
        </pc:sldMkLst>
      </pc:sldChg>
      <pc:sldChg chg="add">
        <pc:chgData name="Baráth, Július" userId="aebde9b9-dccc-4475-a9ac-c05e78323d7a" providerId="ADAL" clId="{78DC09EE-6F69-BC4F-9C5F-F34D8524D35F}" dt="2023-02-07T06:38:06.720" v="0"/>
        <pc:sldMkLst>
          <pc:docMk/>
          <pc:sldMk cId="2049116381" sldId="1138"/>
        </pc:sldMkLst>
      </pc:sldChg>
      <pc:sldChg chg="add">
        <pc:chgData name="Baráth, Július" userId="aebde9b9-dccc-4475-a9ac-c05e78323d7a" providerId="ADAL" clId="{78DC09EE-6F69-BC4F-9C5F-F34D8524D35F}" dt="2023-02-07T06:38:06.720" v="0"/>
        <pc:sldMkLst>
          <pc:docMk/>
          <pc:sldMk cId="2606146208" sldId="1139"/>
        </pc:sldMkLst>
      </pc:sldChg>
      <pc:sldChg chg="add del">
        <pc:chgData name="Baráth, Július" userId="aebde9b9-dccc-4475-a9ac-c05e78323d7a" providerId="ADAL" clId="{78DC09EE-6F69-BC4F-9C5F-F34D8524D35F}" dt="2023-02-07T06:40:29.613" v="10" actId="2696"/>
        <pc:sldMkLst>
          <pc:docMk/>
          <pc:sldMk cId="1339710012" sldId="1140"/>
        </pc:sldMkLst>
      </pc:sldChg>
      <pc:sldChg chg="add del">
        <pc:chgData name="Baráth, Július" userId="aebde9b9-dccc-4475-a9ac-c05e78323d7a" providerId="ADAL" clId="{78DC09EE-6F69-BC4F-9C5F-F34D8524D35F}" dt="2023-02-07T06:40:30.493" v="11" actId="2696"/>
        <pc:sldMkLst>
          <pc:docMk/>
          <pc:sldMk cId="975478985" sldId="1141"/>
        </pc:sldMkLst>
      </pc:sldChg>
      <pc:sldChg chg="add">
        <pc:chgData name="Baráth, Július" userId="aebde9b9-dccc-4475-a9ac-c05e78323d7a" providerId="ADAL" clId="{78DC09EE-6F69-BC4F-9C5F-F34D8524D35F}" dt="2023-02-07T06:38:06.720" v="0"/>
        <pc:sldMkLst>
          <pc:docMk/>
          <pc:sldMk cId="2086086728" sldId="1142"/>
        </pc:sldMkLst>
      </pc:sldChg>
      <pc:sldChg chg="add del">
        <pc:chgData name="Baráth, Július" userId="aebde9b9-dccc-4475-a9ac-c05e78323d7a" providerId="ADAL" clId="{78DC09EE-6F69-BC4F-9C5F-F34D8524D35F}" dt="2023-02-07T06:41:02.878" v="16" actId="2696"/>
        <pc:sldMkLst>
          <pc:docMk/>
          <pc:sldMk cId="125513787" sldId="1143"/>
        </pc:sldMkLst>
      </pc:sldChg>
      <pc:sldChg chg="add">
        <pc:chgData name="Baráth, Július" userId="aebde9b9-dccc-4475-a9ac-c05e78323d7a" providerId="ADAL" clId="{78DC09EE-6F69-BC4F-9C5F-F34D8524D35F}" dt="2023-02-07T06:38:06.720" v="0"/>
        <pc:sldMkLst>
          <pc:docMk/>
          <pc:sldMk cId="3146885985" sldId="1144"/>
        </pc:sldMkLst>
      </pc:sldChg>
    </pc:docChg>
  </pc:docChgLst>
  <pc:docChgLst>
    <pc:chgData name="Baráth, Július" userId="S::julius.barath@aos.sk::aebde9b9-dccc-4475-a9ac-c05e78323d7a" providerId="AD" clId="Web-{57E82B4B-554B-A283-9B0F-DCAF73E289CE}"/>
    <pc:docChg chg="modSld">
      <pc:chgData name="Baráth, Július" userId="S::julius.barath@aos.sk::aebde9b9-dccc-4475-a9ac-c05e78323d7a" providerId="AD" clId="Web-{57E82B4B-554B-A283-9B0F-DCAF73E289CE}" dt="2025-02-11T07:43:27.636" v="42" actId="20577"/>
      <pc:docMkLst>
        <pc:docMk/>
      </pc:docMkLst>
      <pc:sldChg chg="modSp">
        <pc:chgData name="Baráth, Július" userId="S::julius.barath@aos.sk::aebde9b9-dccc-4475-a9ac-c05e78323d7a" providerId="AD" clId="Web-{57E82B4B-554B-A283-9B0F-DCAF73E289CE}" dt="2025-02-11T07:32:04.645" v="1" actId="20577"/>
        <pc:sldMkLst>
          <pc:docMk/>
          <pc:sldMk cId="0" sldId="287"/>
        </pc:sldMkLst>
        <pc:spChg chg="mod">
          <ac:chgData name="Baráth, Július" userId="S::julius.barath@aos.sk::aebde9b9-dccc-4475-a9ac-c05e78323d7a" providerId="AD" clId="Web-{57E82B4B-554B-A283-9B0F-DCAF73E289CE}" dt="2025-02-11T07:32:04.645" v="1" actId="20577"/>
          <ac:spMkLst>
            <pc:docMk/>
            <pc:sldMk cId="0" sldId="287"/>
            <ac:spMk id="7" creationId="{B46BAE51-53F8-E93E-99FE-8C09ECF6DBF1}"/>
          </ac:spMkLst>
        </pc:spChg>
      </pc:sldChg>
      <pc:sldChg chg="addSp delSp modSp mod modClrScheme chgLayout">
        <pc:chgData name="Baráth, Július" userId="S::julius.barath@aos.sk::aebde9b9-dccc-4475-a9ac-c05e78323d7a" providerId="AD" clId="Web-{57E82B4B-554B-A283-9B0F-DCAF73E289CE}" dt="2025-02-11T07:43:27.636" v="42" actId="20577"/>
        <pc:sldMkLst>
          <pc:docMk/>
          <pc:sldMk cId="1757940500" sldId="474"/>
        </pc:sldMkLst>
        <pc:spChg chg="add del mod ord">
          <ac:chgData name="Baráth, Július" userId="S::julius.barath@aos.sk::aebde9b9-dccc-4475-a9ac-c05e78323d7a" providerId="AD" clId="Web-{57E82B4B-554B-A283-9B0F-DCAF73E289CE}" dt="2025-02-11T07:43:08.964" v="39"/>
          <ac:spMkLst>
            <pc:docMk/>
            <pc:sldMk cId="1757940500" sldId="474"/>
            <ac:spMk id="2" creationId="{79C906CB-947A-1D06-D072-A6BBDE3F366C}"/>
          </ac:spMkLst>
        </pc:spChg>
        <pc:spChg chg="mod ord">
          <ac:chgData name="Baráth, Július" userId="S::julius.barath@aos.sk::aebde9b9-dccc-4475-a9ac-c05e78323d7a" providerId="AD" clId="Web-{57E82B4B-554B-A283-9B0F-DCAF73E289CE}" dt="2025-02-11T07:43:08.964" v="39"/>
          <ac:spMkLst>
            <pc:docMk/>
            <pc:sldMk cId="1757940500" sldId="474"/>
            <ac:spMk id="6" creationId="{00000000-0000-0000-0000-000000000000}"/>
          </ac:spMkLst>
        </pc:spChg>
        <pc:spChg chg="mod">
          <ac:chgData name="Baráth, Július" userId="S::julius.barath@aos.sk::aebde9b9-dccc-4475-a9ac-c05e78323d7a" providerId="AD" clId="Web-{57E82B4B-554B-A283-9B0F-DCAF73E289CE}" dt="2025-02-11T07:43:27.636" v="42" actId="20577"/>
          <ac:spMkLst>
            <pc:docMk/>
            <pc:sldMk cId="1757940500" sldId="474"/>
            <ac:spMk id="10" creationId="{C319C233-77BD-6E0B-42F0-C1FE6A29871D}"/>
          </ac:spMkLst>
        </pc:spChg>
        <pc:spChg chg="mod ord">
          <ac:chgData name="Baráth, Július" userId="S::julius.barath@aos.sk::aebde9b9-dccc-4475-a9ac-c05e78323d7a" providerId="AD" clId="Web-{57E82B4B-554B-A283-9B0F-DCAF73E289CE}" dt="2025-02-11T07:43:08.964" v="39"/>
          <ac:spMkLst>
            <pc:docMk/>
            <pc:sldMk cId="1757940500" sldId="474"/>
            <ac:spMk id="11" creationId="{3368D3AB-ED3A-6E07-AC98-B36B4F0E58B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A435DAE-5648-4461-AC7F-DD8163E036DF}"/>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D90D07A-7216-4EF8-802C-97709B7E007D}"/>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6C9C6BAC-B707-4E82-BAD0-FA184DDA0B31}" type="datetimeFigureOut">
              <a:rPr lang="en-US" smtClean="0"/>
              <a:t>2/10/2025</a:t>
            </a:fld>
            <a:endParaRPr lang="en-US"/>
          </a:p>
        </p:txBody>
      </p:sp>
      <p:sp>
        <p:nvSpPr>
          <p:cNvPr id="4" name="Footer Placeholder 3">
            <a:extLst>
              <a:ext uri="{FF2B5EF4-FFF2-40B4-BE49-F238E27FC236}">
                <a16:creationId xmlns:a16="http://schemas.microsoft.com/office/drawing/2014/main" id="{17B82E01-A882-4F5F-B538-EE4FC99A6814}"/>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4260841-A23E-47DE-8E7A-5127A2713543}"/>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0329A31C-6824-4AFA-8F29-9F8E3DCCAB4E}" type="slidenum">
              <a:rPr lang="en-US" smtClean="0"/>
              <a:t>‹#›</a:t>
            </a:fld>
            <a:endParaRPr lang="en-US"/>
          </a:p>
        </p:txBody>
      </p:sp>
    </p:spTree>
    <p:extLst>
      <p:ext uri="{BB962C8B-B14F-4D97-AF65-F5344CB8AC3E}">
        <p14:creationId xmlns:p14="http://schemas.microsoft.com/office/powerpoint/2010/main" val="1174955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8BF91D4-3712-4D03-B876-B23A0208EF8A}"/>
              </a:ext>
            </a:extLst>
          </p:cNvPr>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1840608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7: Authentication, Authorization, and Accounting (AAA)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2</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7.1: AAA Characteristics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7.1: AAA Characteristics
7.1.1: Authentication without AAA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7.1: AAA Characteristics
7.1.2: AAA Components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7.1: AAA Characteristics
7.1.3: Authentication Modes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7.1: AAA Characteristics
7.1.4: Authorization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7.1: AAA Characteristics
7.1.5: Accounting</a:t>
            </a:r>
          </a:p>
          <a:p>
            <a:r>
              <a:rPr lang="en-US" dirty="0"/>
              <a:t>7.1.6: Check Your Understanding - Identify the Characteristics of AAA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7.2: Configure Local AAA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7.2: Configure Local AAA Authentication 
7.2.1: Authenticate Administrative Access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7.2: Configure Local AAA Authentication 
7.2.2: Authentication Methods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41937851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7.2: Configure Local AAA Authentication 
7.2.2: Authentication Methods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7.2: Configure Local AAA Authentication 
7.2.3: Default and Named Methods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7.2: Configure Local AAA Authentication 
7.2.4: Fine-Tuning the Authentication Configuration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7.3: Server-Based AAA Characteristics and Protocols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7.3: Server-Based AAA Characteristics and Protocols
7.3.1: Compare Local AAA and Server-Based AAA Implementations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7.3: Server-Based AAA Characteristics and Protocols
7.3.2: Cisco Identity Services Engine (ISE)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7.3: Server-Based AAA Characteristics and Protocols
7.3.3: The TACACS+ and RADIUS Protocols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7.3: Server-Based AAA Characteristics and Protocols
7.3.4: TACACS+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7.3: Server-Based AAA Characteristics and Protocols
7.3.5: RADIUS Authentication</a:t>
            </a:r>
          </a:p>
          <a:p>
            <a:r>
              <a:rPr lang="en-US" dirty="0"/>
              <a:t>7.3.6: Check Your Understanding - Identify the AAA Communication Protocol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7.4: Configure Server-Based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7.4: Configure Server-Based Authentication
7.4.1: Steps to Configure Server-Based AAA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7.4: Configure Server-Based Authentication
7.4.2: Configure TACACS+ Servers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7.4: Configure Server-Based Authentication
7.4.3: Configure RADIUS Servers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7.4: Configure Server-Based Authentication
7.4.4: Authenticate to the AAA Server Configuration Commands</a:t>
            </a:r>
          </a:p>
          <a:p>
            <a:r>
              <a:rPr lang="en-US" dirty="0"/>
              <a:t>7.4.5: Syntax Checker - Configure Server-Based AAA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7.4: Configure Server-Based Authentication
7.4.4: Authenticate to the AAA Server Configuration Commands</a:t>
            </a:r>
          </a:p>
          <a:p>
            <a:r>
              <a:rPr lang="en-US" dirty="0"/>
              <a:t>7.4.5: Syntax Checker - Configure Server-Based AAA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1912824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7.5: Configure Server-Based Authorization and Accounting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7.5: Configure Server-Based Authorization and Accounting
7.5.1: Introduction to Server-Based AAA Authorization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7.5: Configure Server-Based Authorization and Accounting
7.5.2: AAA Authorization Configuration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7.5: Configure Server-Based Authorization and Accounting
7.5.3: Introduction to Server-Based AAA Accounting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7.5: Configure Server-Based Authorization and Accounting
7.5.4: AAA Accounting Configuration</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Authentication, Authorization, and Accounting (AAA)
7.5: Configure Server-Based Authorization and Accounting
7.5.4: AAA Accounting Configuration</a:t>
            </a:r>
          </a:p>
          <a:p>
            <a:r>
              <a:rPr lang="en-US" dirty="0"/>
              <a:t>7.5.5: Syntax Checker - Configure AAA Accounting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8858718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8: Access Control Lists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dirty="0"/>
          </a:p>
        </p:txBody>
      </p:sp>
    </p:spTree>
    <p:extLst>
      <p:ext uri="{BB962C8B-B14F-4D97-AF65-F5344CB8AC3E}">
        <p14:creationId xmlns:p14="http://schemas.microsoft.com/office/powerpoint/2010/main" val="5763643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34</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GB" dirty="0"/>
          </a:p>
        </p:txBody>
      </p:sp>
    </p:spTree>
    <p:extLst>
      <p:ext uri="{BB962C8B-B14F-4D97-AF65-F5344CB8AC3E}">
        <p14:creationId xmlns:p14="http://schemas.microsoft.com/office/powerpoint/2010/main" val="3831301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8.1: Introduction to Access Control Lists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15590356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8.1: Introduction to Access Control Lists
8.1.1: What is an ACL?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dirty="0"/>
          </a:p>
        </p:txBody>
      </p:sp>
    </p:spTree>
    <p:extLst>
      <p:ext uri="{BB962C8B-B14F-4D97-AF65-F5344CB8AC3E}">
        <p14:creationId xmlns:p14="http://schemas.microsoft.com/office/powerpoint/2010/main" val="20656514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8.1: Introduction to Access Control Lists
8.1.2: Packet Filtering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dirty="0"/>
          </a:p>
        </p:txBody>
      </p:sp>
    </p:spTree>
    <p:extLst>
      <p:ext uri="{BB962C8B-B14F-4D97-AF65-F5344CB8AC3E}">
        <p14:creationId xmlns:p14="http://schemas.microsoft.com/office/powerpoint/2010/main" val="17924370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8.1: Introduction to Access Control Lists
8.1.3: Numbered and Named ACLs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dirty="0"/>
          </a:p>
        </p:txBody>
      </p:sp>
    </p:spTree>
    <p:extLst>
      <p:ext uri="{BB962C8B-B14F-4D97-AF65-F5344CB8AC3E}">
        <p14:creationId xmlns:p14="http://schemas.microsoft.com/office/powerpoint/2010/main" val="5194137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8.1: Introduction to Access Control Lists
8.1.4: ACL Operation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dirty="0"/>
          </a:p>
        </p:txBody>
      </p:sp>
    </p:spTree>
    <p:extLst>
      <p:ext uri="{BB962C8B-B14F-4D97-AF65-F5344CB8AC3E}">
        <p14:creationId xmlns:p14="http://schemas.microsoft.com/office/powerpoint/2010/main" val="39248309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8.2: Wildcard Masking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dirty="0"/>
          </a:p>
        </p:txBody>
      </p:sp>
    </p:spTree>
    <p:extLst>
      <p:ext uri="{BB962C8B-B14F-4D97-AF65-F5344CB8AC3E}">
        <p14:creationId xmlns:p14="http://schemas.microsoft.com/office/powerpoint/2010/main" val="28579906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8.2: Wildcard Masking
8.2.1: Wildcard Mask Overview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dirty="0"/>
          </a:p>
        </p:txBody>
      </p:sp>
    </p:spTree>
    <p:extLst>
      <p:ext uri="{BB962C8B-B14F-4D97-AF65-F5344CB8AC3E}">
        <p14:creationId xmlns:p14="http://schemas.microsoft.com/office/powerpoint/2010/main" val="20224195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8.2: Wildcard Masking
8.2.2: Wildcard Mask Types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dirty="0"/>
          </a:p>
        </p:txBody>
      </p:sp>
    </p:spTree>
    <p:extLst>
      <p:ext uri="{BB962C8B-B14F-4D97-AF65-F5344CB8AC3E}">
        <p14:creationId xmlns:p14="http://schemas.microsoft.com/office/powerpoint/2010/main" val="11563897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8.2: Wildcard Masking
8.2.3: Wildcard Mask Calculation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dirty="0"/>
          </a:p>
        </p:txBody>
      </p:sp>
    </p:spTree>
    <p:extLst>
      <p:ext uri="{BB962C8B-B14F-4D97-AF65-F5344CB8AC3E}">
        <p14:creationId xmlns:p14="http://schemas.microsoft.com/office/powerpoint/2010/main" val="29598976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8.2: Wildcard Masking
8.2.4: Wildcard Mask Keywords</a:t>
            </a:r>
          </a:p>
          <a:p>
            <a:r>
              <a:rPr lang="en-US" dirty="0"/>
              <a:t>8.2.5: Check Your Understanding – Wildcard Masks in ACLs
</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dirty="0"/>
          </a:p>
        </p:txBody>
      </p:sp>
    </p:spTree>
    <p:extLst>
      <p:ext uri="{BB962C8B-B14F-4D97-AF65-F5344CB8AC3E}">
        <p14:creationId xmlns:p14="http://schemas.microsoft.com/office/powerpoint/2010/main" val="322723417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dirty="0"/>
          </a:p>
        </p:txBody>
      </p:sp>
    </p:spTree>
    <p:extLst>
      <p:ext uri="{BB962C8B-B14F-4D97-AF65-F5344CB8AC3E}">
        <p14:creationId xmlns:p14="http://schemas.microsoft.com/office/powerpoint/2010/main" val="2602675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8.3.1: Create an ACL
</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dirty="0"/>
          </a:p>
        </p:txBody>
      </p:sp>
    </p:spTree>
    <p:extLst>
      <p:ext uri="{BB962C8B-B14F-4D97-AF65-F5344CB8AC3E}">
        <p14:creationId xmlns:p14="http://schemas.microsoft.com/office/powerpoint/2010/main" val="33451119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8.3.2: Numbered Standard IPv4 ACL Syntax
</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dirty="0"/>
          </a:p>
        </p:txBody>
      </p:sp>
    </p:spTree>
    <p:extLst>
      <p:ext uri="{BB962C8B-B14F-4D97-AF65-F5344CB8AC3E}">
        <p14:creationId xmlns:p14="http://schemas.microsoft.com/office/powerpoint/2010/main" val="34512046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8.3.2: Numbered Standard IPv4 ACL Syntax (Cont.)
</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dirty="0"/>
          </a:p>
        </p:txBody>
      </p:sp>
    </p:spTree>
    <p:extLst>
      <p:ext uri="{BB962C8B-B14F-4D97-AF65-F5344CB8AC3E}">
        <p14:creationId xmlns:p14="http://schemas.microsoft.com/office/powerpoint/2010/main" val="28195492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8.3.3: Named Standard IPv4 ACL Syntax
</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dirty="0"/>
          </a:p>
        </p:txBody>
      </p:sp>
    </p:spTree>
    <p:extLst>
      <p:ext uri="{BB962C8B-B14F-4D97-AF65-F5344CB8AC3E}">
        <p14:creationId xmlns:p14="http://schemas.microsoft.com/office/powerpoint/2010/main" val="29289898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8.3.4: Numbered Extended IPv4 ACL Syntax
</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dirty="0"/>
          </a:p>
        </p:txBody>
      </p:sp>
    </p:spTree>
    <p:extLst>
      <p:ext uri="{BB962C8B-B14F-4D97-AF65-F5344CB8AC3E}">
        <p14:creationId xmlns:p14="http://schemas.microsoft.com/office/powerpoint/2010/main" val="118849277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8.3.4: Numbered Extended IPv4 ACL Syntax (Cont.)
</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dirty="0"/>
          </a:p>
        </p:txBody>
      </p:sp>
    </p:spTree>
    <p:extLst>
      <p:ext uri="{BB962C8B-B14F-4D97-AF65-F5344CB8AC3E}">
        <p14:creationId xmlns:p14="http://schemas.microsoft.com/office/powerpoint/2010/main" val="116517811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8.3.4: Numbered Extended IPv4 ACL Syntax (Cont.)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dirty="0"/>
          </a:p>
        </p:txBody>
      </p:sp>
    </p:spTree>
    <p:extLst>
      <p:ext uri="{BB962C8B-B14F-4D97-AF65-F5344CB8AC3E}">
        <p14:creationId xmlns:p14="http://schemas.microsoft.com/office/powerpoint/2010/main" val="253954889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8.3.5: Protocols and Port Numbers
</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dirty="0"/>
          </a:p>
        </p:txBody>
      </p:sp>
    </p:spTree>
    <p:extLst>
      <p:ext uri="{BB962C8B-B14F-4D97-AF65-F5344CB8AC3E}">
        <p14:creationId xmlns:p14="http://schemas.microsoft.com/office/powerpoint/2010/main" val="266145442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8.3.5: Protocols and Port Numbers (Cont.)
</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dirty="0"/>
          </a:p>
        </p:txBody>
      </p:sp>
    </p:spTree>
    <p:extLst>
      <p:ext uri="{BB962C8B-B14F-4D97-AF65-F5344CB8AC3E}">
        <p14:creationId xmlns:p14="http://schemas.microsoft.com/office/powerpoint/2010/main" val="155802743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8.3.6: Protocols and Port Numbers Configuration Examples
</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dirty="0"/>
          </a:p>
        </p:txBody>
      </p:sp>
    </p:spTree>
    <p:extLst>
      <p:ext uri="{BB962C8B-B14F-4D97-AF65-F5344CB8AC3E}">
        <p14:creationId xmlns:p14="http://schemas.microsoft.com/office/powerpoint/2010/main" val="197206084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8.3.7: TCP Established Extended ACL
</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dirty="0"/>
          </a:p>
        </p:txBody>
      </p:sp>
    </p:spTree>
    <p:extLst>
      <p:ext uri="{BB962C8B-B14F-4D97-AF65-F5344CB8AC3E}">
        <p14:creationId xmlns:p14="http://schemas.microsoft.com/office/powerpoint/2010/main" val="171384335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8.3.7: TCP Established Extended ACL
</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dirty="0"/>
          </a:p>
        </p:txBody>
      </p:sp>
    </p:spTree>
    <p:extLst>
      <p:ext uri="{BB962C8B-B14F-4D97-AF65-F5344CB8AC3E}">
        <p14:creationId xmlns:p14="http://schemas.microsoft.com/office/powerpoint/2010/main" val="11720934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8.3.8: Named Extended IPv4 ACL Syntax
</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dirty="0"/>
          </a:p>
        </p:txBody>
      </p:sp>
    </p:spTree>
    <p:extLst>
      <p:ext uri="{BB962C8B-B14F-4D97-AF65-F5344CB8AC3E}">
        <p14:creationId xmlns:p14="http://schemas.microsoft.com/office/powerpoint/2010/main" val="112671527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8.3.9: Named Extended IPv4 ACL Example
</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dirty="0"/>
          </a:p>
        </p:txBody>
      </p:sp>
    </p:spTree>
    <p:extLst>
      <p:ext uri="{BB962C8B-B14F-4D97-AF65-F5344CB8AC3E}">
        <p14:creationId xmlns:p14="http://schemas.microsoft.com/office/powerpoint/2010/main" val="257196289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8.3.9: Named Extended IPv4 ACL Example (Cont.)
</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dirty="0"/>
          </a:p>
        </p:txBody>
      </p:sp>
    </p:spTree>
    <p:extLst>
      <p:ext uri="{BB962C8B-B14F-4D97-AF65-F5344CB8AC3E}">
        <p14:creationId xmlns:p14="http://schemas.microsoft.com/office/powerpoint/2010/main" val="358427242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8.4: Modify ACLs
</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dirty="0"/>
          </a:p>
        </p:txBody>
      </p:sp>
    </p:spTree>
    <p:extLst>
      <p:ext uri="{BB962C8B-B14F-4D97-AF65-F5344CB8AC3E}">
        <p14:creationId xmlns:p14="http://schemas.microsoft.com/office/powerpoint/2010/main" val="386242064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8.4: Modify ACLs
8.4.1: Two Methods to Modify an ACL
</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dirty="0"/>
          </a:p>
        </p:txBody>
      </p:sp>
    </p:spTree>
    <p:extLst>
      <p:ext uri="{BB962C8B-B14F-4D97-AF65-F5344CB8AC3E}">
        <p14:creationId xmlns:p14="http://schemas.microsoft.com/office/powerpoint/2010/main" val="68796415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8.4: Modify ACLs
8.4.2: Text Editor Method
</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dirty="0"/>
          </a:p>
        </p:txBody>
      </p:sp>
    </p:spTree>
    <p:extLst>
      <p:ext uri="{BB962C8B-B14F-4D97-AF65-F5344CB8AC3E}">
        <p14:creationId xmlns:p14="http://schemas.microsoft.com/office/powerpoint/2010/main" val="221574400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8.4: Modify ACLs
8.4.3: Sequence Number Method</a:t>
            </a:r>
          </a:p>
          <a:p>
            <a:r>
              <a:rPr lang="en-US" dirty="0"/>
              <a:t>8.4.4: Syntax Checker - Modify IPv4 ACLs
</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dirty="0"/>
          </a:p>
        </p:txBody>
      </p:sp>
    </p:spTree>
    <p:extLst>
      <p:ext uri="{BB962C8B-B14F-4D97-AF65-F5344CB8AC3E}">
        <p14:creationId xmlns:p14="http://schemas.microsoft.com/office/powerpoint/2010/main" val="101072704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dirty="0"/>
          </a:p>
        </p:txBody>
      </p:sp>
    </p:spTree>
    <p:extLst>
      <p:ext uri="{BB962C8B-B14F-4D97-AF65-F5344CB8AC3E}">
        <p14:creationId xmlns:p14="http://schemas.microsoft.com/office/powerpoint/2010/main" val="291407501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8.5.1: ACL Configuration Guidelines
</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dirty="0"/>
          </a:p>
        </p:txBody>
      </p:sp>
    </p:spTree>
    <p:extLst>
      <p:ext uri="{BB962C8B-B14F-4D97-AF65-F5344CB8AC3E}">
        <p14:creationId xmlns:p14="http://schemas.microsoft.com/office/powerpoint/2010/main" val="237292791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8.5.2: Apply an ACL
</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dirty="0"/>
          </a:p>
        </p:txBody>
      </p:sp>
    </p:spTree>
    <p:extLst>
      <p:ext uri="{BB962C8B-B14F-4D97-AF65-F5344CB8AC3E}">
        <p14:creationId xmlns:p14="http://schemas.microsoft.com/office/powerpoint/2010/main" val="297441695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8.5.2: Apply an ACL (Cont.)
</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dirty="0"/>
          </a:p>
        </p:txBody>
      </p:sp>
    </p:spTree>
    <p:extLst>
      <p:ext uri="{BB962C8B-B14F-4D97-AF65-F5344CB8AC3E}">
        <p14:creationId xmlns:p14="http://schemas.microsoft.com/office/powerpoint/2010/main" val="148956339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8.5.2: Apply an ACL (Cont.)
</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dirty="0"/>
          </a:p>
        </p:txBody>
      </p:sp>
    </p:spTree>
    <p:extLst>
      <p:ext uri="{BB962C8B-B14F-4D97-AF65-F5344CB8AC3E}">
        <p14:creationId xmlns:p14="http://schemas.microsoft.com/office/powerpoint/2010/main" val="245094337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8.5.2: Apply an ACL (Cont.)
</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dirty="0"/>
          </a:p>
        </p:txBody>
      </p:sp>
    </p:spTree>
    <p:extLst>
      <p:ext uri="{BB962C8B-B14F-4D97-AF65-F5344CB8AC3E}">
        <p14:creationId xmlns:p14="http://schemas.microsoft.com/office/powerpoint/2010/main" val="369465397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8.5.3: Where to Place ACLs
</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dirty="0"/>
          </a:p>
        </p:txBody>
      </p:sp>
    </p:spTree>
    <p:extLst>
      <p:ext uri="{BB962C8B-B14F-4D97-AF65-F5344CB8AC3E}">
        <p14:creationId xmlns:p14="http://schemas.microsoft.com/office/powerpoint/2010/main" val="37149874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8.5.3: Where to Place ACLs (Cont.)
</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dirty="0"/>
          </a:p>
        </p:txBody>
      </p:sp>
    </p:spTree>
    <p:extLst>
      <p:ext uri="{BB962C8B-B14F-4D97-AF65-F5344CB8AC3E}">
        <p14:creationId xmlns:p14="http://schemas.microsoft.com/office/powerpoint/2010/main" val="129595043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8.5.4: Standard ACL Placement Example
</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dirty="0"/>
          </a:p>
        </p:txBody>
      </p:sp>
    </p:spTree>
    <p:extLst>
      <p:ext uri="{BB962C8B-B14F-4D97-AF65-F5344CB8AC3E}">
        <p14:creationId xmlns:p14="http://schemas.microsoft.com/office/powerpoint/2010/main" val="310697762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8.5.7: Extended ACL Placement Example</a:t>
            </a:r>
          </a:p>
          <a:p>
            <a:r>
              <a:rPr lang="en-US" dirty="0"/>
              <a:t>8.5.8: Check Your Understanding - Guidelines for ACL Placement</a:t>
            </a:r>
          </a:p>
          <a:p>
            <a:r>
              <a:rPr lang="en-US" dirty="0"/>
              <a:t>8.5.9: Check Your Understanding- Configuring Standard ACLs</a:t>
            </a:r>
          </a:p>
          <a:p>
            <a:r>
              <a:rPr lang="en-US" dirty="0"/>
              <a:t>8.5.10: Check Your Understanding- Creating an Extended ACL Statement</a:t>
            </a:r>
          </a:p>
          <a:p>
            <a:r>
              <a:rPr lang="en-US" dirty="0"/>
              <a:t>8.5.11: Check Your Understanding- Evaluating Extended ACLs</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dirty="0"/>
          </a:p>
        </p:txBody>
      </p:sp>
    </p:spTree>
    <p:extLst>
      <p:ext uri="{BB962C8B-B14F-4D97-AF65-F5344CB8AC3E}">
        <p14:creationId xmlns:p14="http://schemas.microsoft.com/office/powerpoint/2010/main" val="215926075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8.6: Mitigate Attacks with ACLs
</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dirty="0"/>
          </a:p>
        </p:txBody>
      </p:sp>
    </p:spTree>
    <p:extLst>
      <p:ext uri="{BB962C8B-B14F-4D97-AF65-F5344CB8AC3E}">
        <p14:creationId xmlns:p14="http://schemas.microsoft.com/office/powerpoint/2010/main" val="366369242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8: Access Control Lists
8.6: Mitigate Attacks with ACLs
8.6.1: Mitigate Spoofing Attacks
</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dirty="0"/>
          </a:p>
        </p:txBody>
      </p:sp>
    </p:spTree>
    <p:extLst>
      <p:ext uri="{BB962C8B-B14F-4D97-AF65-F5344CB8AC3E}">
        <p14:creationId xmlns:p14="http://schemas.microsoft.com/office/powerpoint/2010/main" val="370487830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8.6: Mitigate Attacks with ACLs
8.6.2: Permit Necessary Traffic through a Firewall
</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dirty="0"/>
          </a:p>
        </p:txBody>
      </p:sp>
    </p:spTree>
    <p:extLst>
      <p:ext uri="{BB962C8B-B14F-4D97-AF65-F5344CB8AC3E}">
        <p14:creationId xmlns:p14="http://schemas.microsoft.com/office/powerpoint/2010/main" val="295117972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8.6: Mitigate Attacks with ACLs
8.6.3: Mitigate ICMP Attacks
</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dirty="0"/>
          </a:p>
        </p:txBody>
      </p:sp>
    </p:spTree>
    <p:extLst>
      <p:ext uri="{BB962C8B-B14F-4D97-AF65-F5344CB8AC3E}">
        <p14:creationId xmlns:p14="http://schemas.microsoft.com/office/powerpoint/2010/main" val="284030001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8.6: Mitigate Attacks with ACLs
8.6.3: Mitigate ICMP Attacks
</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dirty="0"/>
          </a:p>
        </p:txBody>
      </p:sp>
    </p:spTree>
    <p:extLst>
      <p:ext uri="{BB962C8B-B14F-4D97-AF65-F5344CB8AC3E}">
        <p14:creationId xmlns:p14="http://schemas.microsoft.com/office/powerpoint/2010/main" val="317058470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8.6: Mitigate Attacks with ACLs
8.6.4: Mitigate SNMP Attacks
</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dirty="0"/>
          </a:p>
        </p:txBody>
      </p:sp>
    </p:spTree>
    <p:extLst>
      <p:ext uri="{BB962C8B-B14F-4D97-AF65-F5344CB8AC3E}">
        <p14:creationId xmlns:p14="http://schemas.microsoft.com/office/powerpoint/2010/main" val="30127243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8.7: IPv6 ACLs
</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dirty="0"/>
          </a:p>
        </p:txBody>
      </p:sp>
    </p:spTree>
    <p:extLst>
      <p:ext uri="{BB962C8B-B14F-4D97-AF65-F5344CB8AC3E}">
        <p14:creationId xmlns:p14="http://schemas.microsoft.com/office/powerpoint/2010/main" val="212065681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8.7: IPv6 ACLs
8.7.1: IPv6 ACL Overview
</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dirty="0"/>
          </a:p>
        </p:txBody>
      </p:sp>
    </p:spTree>
    <p:extLst>
      <p:ext uri="{BB962C8B-B14F-4D97-AF65-F5344CB8AC3E}">
        <p14:creationId xmlns:p14="http://schemas.microsoft.com/office/powerpoint/2010/main" val="315315693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8.7: IPv6 ACLs
8.7.2: IPv6 ACL Syntax
</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dirty="0"/>
          </a:p>
        </p:txBody>
      </p:sp>
    </p:spTree>
    <p:extLst>
      <p:ext uri="{BB962C8B-B14F-4D97-AF65-F5344CB8AC3E}">
        <p14:creationId xmlns:p14="http://schemas.microsoft.com/office/powerpoint/2010/main" val="401000495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8.7: IPv6 ACLs
8.7.2: IPv6 ACL Syntax (Cont.)
</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dirty="0"/>
          </a:p>
        </p:txBody>
      </p:sp>
    </p:spTree>
    <p:extLst>
      <p:ext uri="{BB962C8B-B14F-4D97-AF65-F5344CB8AC3E}">
        <p14:creationId xmlns:p14="http://schemas.microsoft.com/office/powerpoint/2010/main" val="370001556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8.7: IPv6 ACLs
8.7.2: IPv6 ACL Syntax (Cont.)
</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dirty="0"/>
          </a:p>
        </p:txBody>
      </p:sp>
    </p:spTree>
    <p:extLst>
      <p:ext uri="{BB962C8B-B14F-4D97-AF65-F5344CB8AC3E}">
        <p14:creationId xmlns:p14="http://schemas.microsoft.com/office/powerpoint/2010/main" val="170478950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8.7: IPv6 ACLs
8.7.3: Configure IPv6 ACLs
</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dirty="0"/>
          </a:p>
        </p:txBody>
      </p:sp>
    </p:spTree>
    <p:extLst>
      <p:ext uri="{BB962C8B-B14F-4D97-AF65-F5344CB8AC3E}">
        <p14:creationId xmlns:p14="http://schemas.microsoft.com/office/powerpoint/2010/main" val="251091193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41018C-6CAF-B84E-B92C-ECB119457FBA}"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89</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5080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265554509"/>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129610341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a:t>Kliknite sem a upravte štýl predlohy nadpisov.</a:t>
            </a:r>
          </a:p>
        </p:txBody>
      </p:sp>
      <p:sp>
        <p:nvSpPr>
          <p:cNvPr id="3" name="Zástupný symbol obsahu 2"/>
          <p:cNvSpPr>
            <a:spLocks noGrp="1"/>
          </p:cNvSpPr>
          <p:nvPr>
            <p:ph idx="1"/>
          </p:nvPr>
        </p:nvSpPr>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symbol dátumu 3"/>
          <p:cNvSpPr>
            <a:spLocks noGrp="1"/>
          </p:cNvSpPr>
          <p:nvPr>
            <p:ph type="dt" sz="half" idx="10"/>
          </p:nvPr>
        </p:nvSpPr>
        <p:spPr/>
        <p:txBody>
          <a:bodyPr/>
          <a:lstStyle>
            <a:lvl1pPr>
              <a:defRPr/>
            </a:lvl1pPr>
          </a:lstStyle>
          <a:p>
            <a:pPr>
              <a:defRPr/>
            </a:pPr>
            <a:fld id="{3812039E-6F54-4BAD-83D3-ADD41ACE8187}" type="datetime1">
              <a:rPr lang="sk-SK" smtClean="0"/>
              <a:pPr>
                <a:defRPr/>
              </a:pPr>
              <a:t>10. 2. 2025</a:t>
            </a:fld>
            <a:endParaRPr lang="sk-SK"/>
          </a:p>
        </p:txBody>
      </p:sp>
      <p:sp>
        <p:nvSpPr>
          <p:cNvPr id="5" name="Zástupný symbol päty 4"/>
          <p:cNvSpPr>
            <a:spLocks noGrp="1"/>
          </p:cNvSpPr>
          <p:nvPr>
            <p:ph type="ftr" sz="quarter" idx="11"/>
          </p:nvPr>
        </p:nvSpPr>
        <p:spPr/>
        <p:txBody>
          <a:bodyPr/>
          <a:lstStyle>
            <a:lvl1pPr>
              <a:defRPr/>
            </a:lvl1pPr>
          </a:lstStyle>
          <a:p>
            <a:pPr>
              <a:defRPr/>
            </a:pPr>
            <a:endParaRPr lang="sk-SK"/>
          </a:p>
        </p:txBody>
      </p:sp>
      <p:sp>
        <p:nvSpPr>
          <p:cNvPr id="6" name="Zástupný symbol čísla snímky 5"/>
          <p:cNvSpPr>
            <a:spLocks noGrp="1"/>
          </p:cNvSpPr>
          <p:nvPr>
            <p:ph type="sldNum" sz="quarter" idx="12"/>
          </p:nvPr>
        </p:nvSpPr>
        <p:spPr/>
        <p:txBody>
          <a:bodyPr/>
          <a:lstStyle>
            <a:lvl1pPr>
              <a:defRPr/>
            </a:lvl1pPr>
          </a:lstStyle>
          <a:p>
            <a:pPr>
              <a:defRPr/>
            </a:pPr>
            <a:fld id="{A46BFD4F-F7F6-43AF-A73B-899C80D0823A}" type="slidenum">
              <a:rPr lang="sk-SK"/>
              <a:pPr>
                <a:defRPr/>
              </a:pPr>
              <a:t>‹#›</a:t>
            </a:fld>
            <a:endParaRPr lang="sk-SK"/>
          </a:p>
        </p:txBody>
      </p:sp>
    </p:spTree>
    <p:extLst>
      <p:ext uri="{BB962C8B-B14F-4D97-AF65-F5344CB8AC3E}">
        <p14:creationId xmlns:p14="http://schemas.microsoft.com/office/powerpoint/2010/main" val="4152633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Bulle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03" y="4121"/>
            <a:ext cx="8588861" cy="628650"/>
          </a:xfrm>
        </p:spPr>
        <p:txBody>
          <a:bodyPr/>
          <a:lstStyle>
            <a:lvl1pPr>
              <a:defRPr/>
            </a:lvl1pPr>
          </a:lstStyle>
          <a:p>
            <a:r>
              <a:rPr lang="en-US" dirty="0"/>
              <a:t>Slide Title Goes Here</a:t>
            </a:r>
          </a:p>
        </p:txBody>
      </p:sp>
      <p:sp>
        <p:nvSpPr>
          <p:cNvPr id="4" name="Text Placeholder 3"/>
          <p:cNvSpPr>
            <a:spLocks noGrp="1"/>
          </p:cNvSpPr>
          <p:nvPr>
            <p:ph type="body" sz="quarter" idx="10" hasCustomPrompt="1"/>
          </p:nvPr>
        </p:nvSpPr>
        <p:spPr>
          <a:xfrm>
            <a:off x="228600" y="1008126"/>
            <a:ext cx="8577072" cy="3723894"/>
          </a:xfrm>
        </p:spPr>
        <p:txBody>
          <a:bodyPr vert="horz" lIns="91440" tIns="45720" rIns="91440" bIns="4572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9437010"/>
      </p:ext>
    </p:extLst>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657689418"/>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24507505"/>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437905670"/>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58895217"/>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3284112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4730799"/>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2561742921"/>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374704788"/>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767928972"/>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52152280"/>
      </p:ext>
    </p:extLst>
  </p:cSld>
  <p:clrMapOvr>
    <a:masterClrMapping/>
  </p:clrMapOvr>
  <p:transition spd="slow">
    <p:wip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037752560"/>
      </p:ext>
    </p:extLst>
  </p:cSld>
  <p:clrMapOvr>
    <a:masterClrMapping/>
  </p:clrMapOvr>
  <p:transition spd="slow">
    <p:wip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4016531544"/>
      </p:ext>
    </p:extLst>
  </p:cSld>
  <p:clrMapOvr>
    <a:masterClrMapping/>
  </p:clrMapOvr>
  <p:transition spd="slow">
    <p:wip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300277115"/>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67857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theme" Target="../theme/theme2.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0" r:id="rId7"/>
    <p:sldLayoutId id="2147483671" r:id="rId8"/>
    <p:sldLayoutId id="2147483672" r:id="rId9"/>
    <p:sldLayoutId id="2147483673"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197962486"/>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3.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8.xml"/><Relationship Id="rId1" Type="http://schemas.openxmlformats.org/officeDocument/2006/relationships/tags" Target="../tags/tag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6.xml"/><Relationship Id="rId5" Type="http://schemas.openxmlformats.org/officeDocument/2006/relationships/image" Target="../media/image32.png"/><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6.xml"/><Relationship Id="rId4" Type="http://schemas.openxmlformats.org/officeDocument/2006/relationships/image" Target="../media/image35.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9.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6.xml"/><Relationship Id="rId4" Type="http://schemas.openxmlformats.org/officeDocument/2006/relationships/image" Target="../media/image40.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5.xml"/><Relationship Id="rId1" Type="http://schemas.openxmlformats.org/officeDocument/2006/relationships/slideLayout" Target="../slideLayouts/slideLayout6.xml"/><Relationship Id="rId4" Type="http://schemas.openxmlformats.org/officeDocument/2006/relationships/image" Target="../media/image44.png"/></Relationships>
</file>

<file path=ppt/slides/_rels/slide5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8.xml"/><Relationship Id="rId1" Type="http://schemas.openxmlformats.org/officeDocument/2006/relationships/slideLayout" Target="../slideLayouts/slideLayout6.xml"/><Relationship Id="rId4" Type="http://schemas.openxmlformats.org/officeDocument/2006/relationships/image" Target="../media/image48.png"/></Relationships>
</file>

<file path=ppt/slides/_rels/slide5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8.xml"/><Relationship Id="rId1" Type="http://schemas.openxmlformats.org/officeDocument/2006/relationships/slideLayout" Target="../slideLayouts/slideLayout6.xml"/><Relationship Id="rId4" Type="http://schemas.openxmlformats.org/officeDocument/2006/relationships/image" Target="../media/image54.png"/></Relationships>
</file>

<file path=ppt/slides/_rels/slide7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9.xml"/><Relationship Id="rId1" Type="http://schemas.openxmlformats.org/officeDocument/2006/relationships/slideLayout" Target="../slideLayouts/slideLayout6.xml"/><Relationship Id="rId4" Type="http://schemas.openxmlformats.org/officeDocument/2006/relationships/image" Target="../media/image56.png"/></Relationships>
</file>

<file path=ppt/slides/_rels/slide7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0.xml"/><Relationship Id="rId1" Type="http://schemas.openxmlformats.org/officeDocument/2006/relationships/slideLayout" Target="../slideLayouts/slideLayout6.xml"/><Relationship Id="rId4" Type="http://schemas.openxmlformats.org/officeDocument/2006/relationships/image" Target="../media/image58.png"/></Relationships>
</file>

<file path=ppt/slides/_rels/slide7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0.xml"/><Relationship Id="rId1" Type="http://schemas.openxmlformats.org/officeDocument/2006/relationships/slideLayout" Target="../slideLayouts/slideLayout6.xml"/><Relationship Id="rId4" Type="http://schemas.openxmlformats.org/officeDocument/2006/relationships/image" Target="../media/image66.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6.xml"/><Relationship Id="rId1" Type="http://schemas.openxmlformats.org/officeDocument/2006/relationships/slideLayout" Target="../slideLayouts/slideLayout6.xml"/><Relationship Id="rId4" Type="http://schemas.openxmlformats.org/officeDocument/2006/relationships/image" Target="../media/image70.pn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7.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7: Authentication, Authorization, and Accounting (AAA)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Authentication, Authorization, and Accounting (AAA)</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Configure AAA to secure a network.</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293232382"/>
              </p:ext>
            </p:extLst>
          </p:nvPr>
        </p:nvGraphicFramePr>
        <p:xfrm>
          <a:off x="423333" y="1625600"/>
          <a:ext cx="8263467" cy="1985588"/>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200" dirty="0">
                          <a:effectLst/>
                          <a:latin typeface="+mn-lt"/>
                        </a:rPr>
                        <a:t>Topic Title</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dirty="0">
                          <a:effectLst/>
                          <a:latin typeface="+mn-lt"/>
                        </a:rPr>
                        <a:t>Topic Objective</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200" b="1" i="0" u="none" strike="noStrike" kern="1200" dirty="0">
                          <a:solidFill>
                            <a:schemeClr val="lt1"/>
                          </a:solidFill>
                          <a:effectLst/>
                          <a:latin typeface="+mn-lt"/>
                          <a:ea typeface="+mn-ea"/>
                          <a:cs typeface="+mn-cs"/>
                        </a:rPr>
                        <a:t>AAA Characteristics</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b="0" i="0" u="none" strike="noStrike" kern="1200" dirty="0">
                          <a:solidFill>
                            <a:schemeClr val="dk1"/>
                          </a:solidFill>
                          <a:effectLst/>
                          <a:latin typeface="+mn-lt"/>
                          <a:ea typeface="+mn-ea"/>
                          <a:cs typeface="+mn-cs"/>
                        </a:rPr>
                        <a:t>Describe AAA.</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200" b="1" i="0" u="none" strike="noStrike" kern="1200" dirty="0">
                          <a:solidFill>
                            <a:schemeClr val="lt1"/>
                          </a:solidFill>
                          <a:effectLst/>
                          <a:latin typeface="+mn-lt"/>
                          <a:ea typeface="+mn-ea"/>
                          <a:cs typeface="+mn-cs"/>
                        </a:rPr>
                        <a:t>Configure Local AAA Authentication</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b="0" i="0" u="none" strike="noStrike" kern="1200" dirty="0">
                          <a:solidFill>
                            <a:schemeClr val="dk1"/>
                          </a:solidFill>
                          <a:effectLst/>
                          <a:latin typeface="+mn-lt"/>
                          <a:ea typeface="+mn-ea"/>
                          <a:cs typeface="+mn-cs"/>
                        </a:rPr>
                        <a:t>Configure AAA authentication to validate users against a local database.</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662892947"/>
                  </a:ext>
                </a:extLst>
              </a:tr>
              <a:tr h="254659">
                <a:tc>
                  <a:txBody>
                    <a:bodyPr/>
                    <a:lstStyle/>
                    <a:p>
                      <a:pPr marL="0" marR="0">
                        <a:lnSpc>
                          <a:spcPct val="107000"/>
                        </a:lnSpc>
                        <a:spcBef>
                          <a:spcPts val="0"/>
                        </a:spcBef>
                        <a:spcAft>
                          <a:spcPts val="0"/>
                        </a:spcAft>
                      </a:pPr>
                      <a:r>
                        <a:rPr lang="en-US" sz="1200" b="1" i="0" u="none" strike="noStrike" kern="1200" dirty="0">
                          <a:solidFill>
                            <a:schemeClr val="lt1"/>
                          </a:solidFill>
                          <a:effectLst/>
                          <a:latin typeface="+mn-lt"/>
                          <a:ea typeface="+mn-ea"/>
                          <a:cs typeface="+mn-cs"/>
                        </a:rPr>
                        <a:t>Server-Based AAA Characteristics and Protocols</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b="0" i="0" u="none" strike="noStrike" kern="1200" dirty="0">
                          <a:solidFill>
                            <a:schemeClr val="dk1"/>
                          </a:solidFill>
                          <a:effectLst/>
                          <a:latin typeface="+mn-lt"/>
                          <a:ea typeface="+mn-ea"/>
                          <a:cs typeface="+mn-cs"/>
                        </a:rPr>
                        <a:t>Describe the server-based AAA protocols.</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1283686363"/>
                  </a:ext>
                </a:extLst>
              </a:tr>
              <a:tr h="428385">
                <a:tc>
                  <a:txBody>
                    <a:bodyPr/>
                    <a:lstStyle/>
                    <a:p>
                      <a:pPr marL="0" marR="0">
                        <a:lnSpc>
                          <a:spcPct val="107000"/>
                        </a:lnSpc>
                        <a:spcBef>
                          <a:spcPts val="0"/>
                        </a:spcBef>
                        <a:spcAft>
                          <a:spcPts val="0"/>
                        </a:spcAft>
                      </a:pPr>
                      <a:r>
                        <a:rPr lang="en-US" sz="1200" b="1" i="0" u="none" strike="noStrike" kern="1200" dirty="0">
                          <a:solidFill>
                            <a:schemeClr val="lt1"/>
                          </a:solidFill>
                          <a:effectLst/>
                          <a:latin typeface="+mn-lt"/>
                          <a:ea typeface="+mn-ea"/>
                          <a:cs typeface="+mn-cs"/>
                        </a:rPr>
                        <a:t>Configure Server-Based Authentication</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i="0" kern="1200" dirty="0">
                          <a:solidFill>
                            <a:schemeClr val="dk1"/>
                          </a:solidFill>
                          <a:effectLst/>
                          <a:latin typeface="+mn-lt"/>
                          <a:ea typeface="+mn-ea"/>
                          <a:cs typeface="+mn-cs"/>
                        </a:rPr>
                        <a:t>Configure server-based AAA authentication on Cisco routers. </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2466644772"/>
                  </a:ext>
                </a:extLst>
              </a:tr>
              <a:tr h="428385">
                <a:tc>
                  <a:txBody>
                    <a:bodyPr/>
                    <a:lstStyle/>
                    <a:p>
                      <a:pPr marL="0" marR="0">
                        <a:lnSpc>
                          <a:spcPct val="107000"/>
                        </a:lnSpc>
                        <a:spcBef>
                          <a:spcPts val="0"/>
                        </a:spcBef>
                        <a:spcAft>
                          <a:spcPts val="0"/>
                        </a:spcAft>
                      </a:pPr>
                      <a:r>
                        <a:rPr lang="en-US" sz="1200" b="1" i="0" dirty="0">
                          <a:solidFill>
                            <a:schemeClr val="bg1"/>
                          </a:solidFill>
                          <a:effectLst/>
                          <a:latin typeface="+mn-lt"/>
                        </a:rPr>
                        <a:t>Configure Server-Based Authorization and Accounting</a:t>
                      </a:r>
                      <a:endParaRPr lang="en-US" sz="1200" dirty="0">
                        <a:solidFill>
                          <a:schemeClr val="bg1"/>
                        </a:solidFill>
                        <a:effectLst/>
                        <a:latin typeface="+mn-lt"/>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b="0" i="0" dirty="0">
                          <a:solidFill>
                            <a:srgbClr val="000000"/>
                          </a:solidFill>
                          <a:effectLst/>
                          <a:latin typeface="+mn-lt"/>
                        </a:rPr>
                        <a:t>Use the correct command to configure server-based AAA authorization and Accounting</a:t>
                      </a:r>
                      <a:endParaRPr lang="en-US" sz="1200" b="0" dirty="0">
                        <a:effectLst/>
                        <a:latin typeface="+mn-lt"/>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2141991180"/>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7.1 AAA Characteristics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AAA Characteristics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Authentication without AAA</a:t>
            </a:r>
          </a:p>
        </p:txBody>
      </p:sp>
      <p:sp>
        <p:nvSpPr>
          <p:cNvPr id="5" name="Object4"/>
          <p:cNvSpPr/>
          <p:nvPr/>
        </p:nvSpPr>
        <p:spPr>
          <a:xfrm>
            <a:off x="0" y="914400"/>
            <a:ext cx="3827158"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simplest method of remote access authentication is to configure a login and password combination on console, vty lines, and aux ports, as shown in the figure.</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This method provides no accountability. Anyone with the password can gain entry to the device and alter the configuration.</a:t>
            </a:r>
          </a:p>
          <a:p>
            <a:endParaRPr lang="en-US" sz="1400" dirty="0"/>
          </a:p>
          <a:p>
            <a:pPr>
              <a:lnSpc>
                <a:spcPts val="2000"/>
              </a:lnSpc>
            </a:pPr>
            <a:endParaRPr lang="en-US" sz="1400" dirty="0"/>
          </a:p>
        </p:txBody>
      </p:sp>
      <p:sp>
        <p:nvSpPr>
          <p:cNvPr id="8" name="TextBox 7">
            <a:extLst>
              <a:ext uri="{FF2B5EF4-FFF2-40B4-BE49-F238E27FC236}">
                <a16:creationId xmlns:a16="http://schemas.microsoft.com/office/drawing/2014/main" id="{BAF1DAA8-717D-4E84-8C28-BEF6A653F0C9}"/>
              </a:ext>
            </a:extLst>
          </p:cNvPr>
          <p:cNvSpPr txBox="1"/>
          <p:nvPr/>
        </p:nvSpPr>
        <p:spPr>
          <a:xfrm>
            <a:off x="-1" y="3568649"/>
            <a:ext cx="8897257" cy="923330"/>
          </a:xfrm>
          <a:prstGeom prst="rect">
            <a:avLst/>
          </a:prstGeom>
          <a:noFill/>
        </p:spPr>
        <p:txBody>
          <a:bodyPr wrap="square">
            <a:spAutoFit/>
          </a:bodyPr>
          <a:lstStyle/>
          <a:p>
            <a:r>
              <a:rPr lang="en-US" sz="1800" dirty="0"/>
              <a:t>SSH is a more secure form of remote access. It requires both a username and a password, both of which are encrypted during transmissions. The local database method has some limitations. The user accounts must be configured locally on each device. </a:t>
            </a:r>
          </a:p>
        </p:txBody>
      </p:sp>
      <p:pic>
        <p:nvPicPr>
          <p:cNvPr id="4" name="Picture 3">
            <a:extLst>
              <a:ext uri="{FF2B5EF4-FFF2-40B4-BE49-F238E27FC236}">
                <a16:creationId xmlns:a16="http://schemas.microsoft.com/office/drawing/2014/main" id="{70E48F64-5C39-468B-9390-F716427222AC}"/>
              </a:ext>
            </a:extLst>
          </p:cNvPr>
          <p:cNvPicPr>
            <a:picLocks noChangeAspect="1"/>
          </p:cNvPicPr>
          <p:nvPr/>
        </p:nvPicPr>
        <p:blipFill>
          <a:blip r:embed="rId3"/>
          <a:stretch>
            <a:fillRect/>
          </a:stretch>
        </p:blipFill>
        <p:spPr>
          <a:xfrm>
            <a:off x="4002740" y="672175"/>
            <a:ext cx="4965677" cy="249676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AAA Characteristics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AAA Components</a:t>
            </a:r>
          </a:p>
        </p:txBody>
      </p:sp>
      <p:sp>
        <p:nvSpPr>
          <p:cNvPr id="5" name="Object4"/>
          <p:cNvSpPr/>
          <p:nvPr/>
        </p:nvSpPr>
        <p:spPr>
          <a:xfrm>
            <a:off x="-1" y="708660"/>
            <a:ext cx="9143999"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Network and administrative AAA security in the Cisco environment has three functional components:</a:t>
            </a:r>
          </a:p>
          <a:p>
            <a:pPr>
              <a:lnSpc>
                <a:spcPts val="2000"/>
              </a:lnSpc>
            </a:pPr>
            <a:endParaRPr lang="en-US" sz="1600" dirty="0">
              <a:latin typeface="Arial" panose="020B0604020202020204" pitchFamily="34" charset="0"/>
              <a:cs typeface="Arial" panose="020B0604020202020204" pitchFamily="34" charset="0"/>
            </a:endParaRPr>
          </a:p>
          <a:p>
            <a:pPr marL="742950" lvl="1"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Authentication </a:t>
            </a:r>
            <a:r>
              <a:rPr lang="en-US" sz="1600" dirty="0">
                <a:latin typeface="Arial" panose="020B0604020202020204" pitchFamily="34" charset="0"/>
                <a:cs typeface="Arial" panose="020B0604020202020204" pitchFamily="34" charset="0"/>
              </a:rPr>
              <a:t>- Users and administrators must prove their identity before accessing the network and network resources. Authentication can be established using username and password combinations, challenge and response questions, token cards, and other methods. For example: “I am user ‘student’ and I know the password to prove it.”</a:t>
            </a:r>
          </a:p>
          <a:p>
            <a:pPr lvl="1">
              <a:lnSpc>
                <a:spcPts val="2000"/>
              </a:lnSpc>
            </a:pPr>
            <a:endParaRPr lang="en-US" sz="1600" dirty="0">
              <a:latin typeface="Arial" panose="020B0604020202020204" pitchFamily="34" charset="0"/>
              <a:cs typeface="Arial" panose="020B0604020202020204" pitchFamily="34" charset="0"/>
            </a:endParaRPr>
          </a:p>
          <a:p>
            <a:pPr marL="742950" lvl="1"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Authorization</a:t>
            </a:r>
            <a:r>
              <a:rPr lang="en-US" sz="1600" dirty="0">
                <a:latin typeface="Arial" panose="020B0604020202020204" pitchFamily="34" charset="0"/>
                <a:cs typeface="Arial" panose="020B0604020202020204" pitchFamily="34" charset="0"/>
              </a:rPr>
              <a:t> - After the user is authenticated, authorization services determine which resources the user can access and which operations the user is allowed to perform. An example is “User ‘student’ can access host serverXYZ using SSH only.”</a:t>
            </a:r>
          </a:p>
          <a:p>
            <a:pPr lvl="1">
              <a:lnSpc>
                <a:spcPts val="2000"/>
              </a:lnSpc>
            </a:pPr>
            <a:endParaRPr lang="en-US" sz="1600" dirty="0">
              <a:latin typeface="Arial" panose="020B0604020202020204" pitchFamily="34" charset="0"/>
              <a:cs typeface="Arial" panose="020B0604020202020204" pitchFamily="34" charset="0"/>
            </a:endParaRPr>
          </a:p>
          <a:p>
            <a:pPr marL="742950" lvl="1"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Accounting and auditing </a:t>
            </a:r>
            <a:r>
              <a:rPr lang="en-US" sz="1600" dirty="0">
                <a:latin typeface="Arial" panose="020B0604020202020204" pitchFamily="34" charset="0"/>
                <a:cs typeface="Arial" panose="020B0604020202020204" pitchFamily="34" charset="0"/>
              </a:rPr>
              <a:t>- Accounting records what the user does, including what is accessed, the amount of time the resource is accessed, and any changes that were made. Accounting keeps track of how network resources are used. An example is "User 'student' accessed host serverXYZ using SSH for 15 minutes."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AAA Characteristics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Authentication Modes</a:t>
            </a:r>
          </a:p>
        </p:txBody>
      </p:sp>
      <p:sp>
        <p:nvSpPr>
          <p:cNvPr id="5" name="Object4"/>
          <p:cNvSpPr/>
          <p:nvPr/>
        </p:nvSpPr>
        <p:spPr>
          <a:xfrm>
            <a:off x="66612" y="731519"/>
            <a:ext cx="4723391" cy="3684363"/>
          </a:xfrm>
          <a:prstGeom prst="rect">
            <a:avLst/>
          </a:prstGeom>
          <a:noFill/>
          <a:ln/>
        </p:spPr>
        <p:txBody>
          <a:bodyPr wrap="square" rtlCol="0" anchor="t"/>
          <a:lstStyle/>
          <a:p>
            <a:r>
              <a:rPr lang="en-US" sz="1400" dirty="0">
                <a:latin typeface="Arial" panose="020B0604020202020204" pitchFamily="34" charset="0"/>
                <a:cs typeface="Arial" panose="020B0604020202020204" pitchFamily="34" charset="0"/>
              </a:rPr>
              <a:t>Cisco provides two common methods of implementing AAA services:</a:t>
            </a:r>
          </a:p>
          <a:p>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Local AAA Authentication</a:t>
            </a:r>
            <a:r>
              <a:rPr lang="en-US" sz="1400" dirty="0">
                <a:latin typeface="Arial" panose="020B0604020202020204" pitchFamily="34" charset="0"/>
                <a:cs typeface="Arial" panose="020B0604020202020204" pitchFamily="34" charset="0"/>
              </a:rPr>
              <a:t> -Local AAA uses a local database for authentication. This method is sometimes known as self-contained authentication. In this course, it will be referred to as local AAA authentication.</a:t>
            </a: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Server-Based AAA Authentication</a:t>
            </a:r>
            <a:r>
              <a:rPr lang="en-US" sz="1400" dirty="0">
                <a:latin typeface="Arial" panose="020B0604020202020204" pitchFamily="34" charset="0"/>
                <a:cs typeface="Arial" panose="020B0604020202020204" pitchFamily="34" charset="0"/>
              </a:rPr>
              <a:t> - With the server-based method, the router accesses a central AAA server, such as the Cisco Secure Access Control System (ACS) for Windows, which is shown in the figure. The central AAA server contains the usernames and password for all users. The router uses either the Remote Authentication Dial-In User Service (RADIUS) or Terminal Access Controller Access Control System (TACACS+) protocols to communicate with the AAA server. </a:t>
            </a:r>
          </a:p>
        </p:txBody>
      </p:sp>
      <p:pic>
        <p:nvPicPr>
          <p:cNvPr id="6" name="Picture 5">
            <a:extLst>
              <a:ext uri="{FF2B5EF4-FFF2-40B4-BE49-F238E27FC236}">
                <a16:creationId xmlns:a16="http://schemas.microsoft.com/office/drawing/2014/main" id="{FB77A67D-2220-4221-B859-EC0AA58EA349}"/>
              </a:ext>
            </a:extLst>
          </p:cNvPr>
          <p:cNvPicPr>
            <a:picLocks noChangeAspect="1"/>
          </p:cNvPicPr>
          <p:nvPr/>
        </p:nvPicPr>
        <p:blipFill>
          <a:blip r:embed="rId3"/>
          <a:stretch>
            <a:fillRect/>
          </a:stretch>
        </p:blipFill>
        <p:spPr>
          <a:xfrm>
            <a:off x="4687056" y="2613790"/>
            <a:ext cx="4456943" cy="1628498"/>
          </a:xfrm>
          <a:prstGeom prst="rect">
            <a:avLst/>
          </a:prstGeom>
        </p:spPr>
      </p:pic>
      <p:pic>
        <p:nvPicPr>
          <p:cNvPr id="4" name="Picture 3">
            <a:extLst>
              <a:ext uri="{FF2B5EF4-FFF2-40B4-BE49-F238E27FC236}">
                <a16:creationId xmlns:a16="http://schemas.microsoft.com/office/drawing/2014/main" id="{BDDBB6F1-2A97-41A8-A393-86B20CB1A603}"/>
              </a:ext>
            </a:extLst>
          </p:cNvPr>
          <p:cNvPicPr>
            <a:picLocks noChangeAspect="1"/>
          </p:cNvPicPr>
          <p:nvPr/>
        </p:nvPicPr>
        <p:blipFill>
          <a:blip r:embed="rId4"/>
          <a:stretch>
            <a:fillRect/>
          </a:stretch>
        </p:blipFill>
        <p:spPr>
          <a:xfrm>
            <a:off x="4737015" y="1037329"/>
            <a:ext cx="4087550" cy="141414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AAA Characteristics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Authorization</a:t>
            </a:r>
          </a:p>
        </p:txBody>
      </p:sp>
      <p:sp>
        <p:nvSpPr>
          <p:cNvPr id="5" name="Object4"/>
          <p:cNvSpPr/>
          <p:nvPr/>
        </p:nvSpPr>
        <p:spPr>
          <a:xfrm>
            <a:off x="-1" y="914400"/>
            <a:ext cx="8962571" cy="548640"/>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After users are successfully authenticated against the selected AAA data source, either local or server-based, they are then authorized for specific network resources, as shown in the figure.</a:t>
            </a:r>
          </a:p>
        </p:txBody>
      </p:sp>
      <p:pic>
        <p:nvPicPr>
          <p:cNvPr id="4" name="Picture 3">
            <a:extLst>
              <a:ext uri="{FF2B5EF4-FFF2-40B4-BE49-F238E27FC236}">
                <a16:creationId xmlns:a16="http://schemas.microsoft.com/office/drawing/2014/main" id="{56C4D207-B468-4613-8813-81481E9B1E24}"/>
              </a:ext>
            </a:extLst>
          </p:cNvPr>
          <p:cNvPicPr>
            <a:picLocks noChangeAspect="1"/>
          </p:cNvPicPr>
          <p:nvPr/>
        </p:nvPicPr>
        <p:blipFill>
          <a:blip r:embed="rId3"/>
          <a:stretch>
            <a:fillRect/>
          </a:stretch>
        </p:blipFill>
        <p:spPr>
          <a:xfrm>
            <a:off x="551062" y="1828800"/>
            <a:ext cx="7224366" cy="249794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AAA Characteristics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Accounting</a:t>
            </a:r>
          </a:p>
        </p:txBody>
      </p:sp>
      <p:sp>
        <p:nvSpPr>
          <p:cNvPr id="5" name="Object4"/>
          <p:cNvSpPr/>
          <p:nvPr/>
        </p:nvSpPr>
        <p:spPr>
          <a:xfrm>
            <a:off x="239485" y="914400"/>
            <a:ext cx="8802914" cy="2571750"/>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Accounting is implemented using a AAA server. This service reports usage statistics back to the ACS server. These statistics can be extracted to create detailed reports about the configuration of the network.</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dirty="0">
                <a:latin typeface="Arial" panose="020B0604020202020204" pitchFamily="34" charset="0"/>
                <a:cs typeface="Arial" panose="020B0604020202020204" pitchFamily="34" charset="0"/>
              </a:rPr>
              <a:t>The types of accounting information that can be collected are as follows:</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Network accounting</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Connection accounting</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EXEC accounting</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System accounting</a:t>
            </a:r>
          </a:p>
          <a:p>
            <a:pPr marL="742950" lvl="1" indent="-285750">
              <a:lnSpc>
                <a:spcPts val="2000"/>
              </a:lnSpc>
              <a:buFont typeface="Arial" panose="020B0604020202020204" pitchFamily="34" charset="0"/>
              <a:buChar char="•"/>
            </a:pPr>
            <a:r>
              <a:rPr lang="en-US" dirty="0">
                <a:latin typeface="Arial" panose="020B0604020202020204" pitchFamily="34" charset="0"/>
                <a:cs typeface="Arial" panose="020B0604020202020204" pitchFamily="34" charset="0"/>
              </a:rPr>
              <a:t>Command accounting</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7.2 Configure Local AAA Authentication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Local AAA Authentication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Authenticate Administrative Access</a:t>
            </a:r>
          </a:p>
        </p:txBody>
      </p:sp>
      <p:sp>
        <p:nvSpPr>
          <p:cNvPr id="5" name="Object4"/>
          <p:cNvSpPr/>
          <p:nvPr/>
        </p:nvSpPr>
        <p:spPr>
          <a:xfrm>
            <a:off x="0" y="914400"/>
            <a:ext cx="8926286" cy="2571750"/>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The Local AAA Authentication method is similar to using the </a:t>
            </a:r>
            <a:r>
              <a:rPr lang="en-US" b="1" dirty="0">
                <a:latin typeface="Arial" panose="020B0604020202020204" pitchFamily="34" charset="0"/>
                <a:cs typeface="Arial" panose="020B0604020202020204" pitchFamily="34" charset="0"/>
              </a:rPr>
              <a:t>login local</a:t>
            </a:r>
            <a:r>
              <a:rPr lang="en-US" dirty="0">
                <a:latin typeface="Arial" panose="020B0604020202020204" pitchFamily="34" charset="0"/>
                <a:cs typeface="Arial" panose="020B0604020202020204" pitchFamily="34" charset="0"/>
              </a:rPr>
              <a:t> command with one exception. AAA also provides a way to configure </a:t>
            </a:r>
            <a:r>
              <a:rPr lang="en-US" u="sng" dirty="0">
                <a:latin typeface="Arial" panose="020B0604020202020204" pitchFamily="34" charset="0"/>
                <a:cs typeface="Arial" panose="020B0604020202020204" pitchFamily="34" charset="0"/>
              </a:rPr>
              <a:t>backup methods of authentication.</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Configuring local AAA services to authenticate administrator access requires a few basic steps:</a:t>
            </a:r>
          </a:p>
          <a:p>
            <a:endParaRPr lang="en-US" dirty="0">
              <a:latin typeface="Arial" panose="020B0604020202020204" pitchFamily="34" charset="0"/>
              <a:cs typeface="Arial" panose="020B0604020202020204" pitchFamily="34" charset="0"/>
            </a:endParaRPr>
          </a:p>
          <a:p>
            <a:pPr lvl="1"/>
            <a:r>
              <a:rPr lang="en-US" b="1" dirty="0">
                <a:latin typeface="Arial" panose="020B0604020202020204" pitchFamily="34" charset="0"/>
                <a:cs typeface="Arial" panose="020B0604020202020204" pitchFamily="34" charset="0"/>
              </a:rPr>
              <a:t>Step 1</a:t>
            </a:r>
            <a:r>
              <a:rPr lang="en-US" dirty="0">
                <a:latin typeface="Arial" panose="020B0604020202020204" pitchFamily="34" charset="0"/>
                <a:cs typeface="Arial" panose="020B0604020202020204" pitchFamily="34" charset="0"/>
              </a:rPr>
              <a:t>. Add usernames and passwords to the local router database for users that need administrative access to the router.</a:t>
            </a:r>
          </a:p>
          <a:p>
            <a:pPr lvl="1"/>
            <a:r>
              <a:rPr lang="en-US" b="1" dirty="0">
                <a:latin typeface="Arial" panose="020B0604020202020204" pitchFamily="34" charset="0"/>
                <a:cs typeface="Arial" panose="020B0604020202020204" pitchFamily="34" charset="0"/>
              </a:rPr>
              <a:t>Step 2</a:t>
            </a:r>
            <a:r>
              <a:rPr lang="en-US" dirty="0">
                <a:latin typeface="Arial" panose="020B0604020202020204" pitchFamily="34" charset="0"/>
                <a:cs typeface="Arial" panose="020B0604020202020204" pitchFamily="34" charset="0"/>
              </a:rPr>
              <a:t>. Enable AAA globally on the router.</a:t>
            </a:r>
          </a:p>
          <a:p>
            <a:pPr lvl="1"/>
            <a:r>
              <a:rPr lang="en-US" b="1" dirty="0">
                <a:latin typeface="Arial" panose="020B0604020202020204" pitchFamily="34" charset="0"/>
                <a:cs typeface="Arial" panose="020B0604020202020204" pitchFamily="34" charset="0"/>
              </a:rPr>
              <a:t>Step 3</a:t>
            </a:r>
            <a:r>
              <a:rPr lang="en-US" dirty="0">
                <a:latin typeface="Arial" panose="020B0604020202020204" pitchFamily="34" charset="0"/>
                <a:cs typeface="Arial" panose="020B0604020202020204" pitchFamily="34" charset="0"/>
              </a:rPr>
              <a:t>. Configure AAA parameters on the router.</a:t>
            </a:r>
          </a:p>
          <a:p>
            <a:pPr lvl="1"/>
            <a:r>
              <a:rPr lang="en-US" b="1" dirty="0">
                <a:latin typeface="Arial" panose="020B0604020202020204" pitchFamily="34" charset="0"/>
                <a:cs typeface="Arial" panose="020B0604020202020204" pitchFamily="34" charset="0"/>
              </a:rPr>
              <a:t>Step 4</a:t>
            </a:r>
            <a:r>
              <a:rPr lang="en-US" dirty="0">
                <a:latin typeface="Arial" panose="020B0604020202020204" pitchFamily="34" charset="0"/>
                <a:cs typeface="Arial" panose="020B0604020202020204" pitchFamily="34" charset="0"/>
              </a:rPr>
              <a:t>. Confirm and troubleshoot the AAA configuration.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Local AAA Authentication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Authentication Methods</a:t>
            </a:r>
          </a:p>
        </p:txBody>
      </p:sp>
      <p:sp>
        <p:nvSpPr>
          <p:cNvPr id="11" name="TextBox 10">
            <a:extLst>
              <a:ext uri="{FF2B5EF4-FFF2-40B4-BE49-F238E27FC236}">
                <a16:creationId xmlns:a16="http://schemas.microsoft.com/office/drawing/2014/main" id="{CA93FFE2-908F-4DA9-9535-D1B71111F289}"/>
              </a:ext>
            </a:extLst>
          </p:cNvPr>
          <p:cNvSpPr txBox="1"/>
          <p:nvPr/>
        </p:nvSpPr>
        <p:spPr>
          <a:xfrm>
            <a:off x="91440" y="828681"/>
            <a:ext cx="8867833" cy="923330"/>
          </a:xfrm>
          <a:prstGeom prst="rect">
            <a:avLst/>
          </a:prstGeom>
          <a:noFill/>
        </p:spPr>
        <p:txBody>
          <a:bodyPr wrap="square">
            <a:spAutoFit/>
          </a:bodyPr>
          <a:lstStyle/>
          <a:p>
            <a:r>
              <a:rPr lang="en-US" dirty="0"/>
              <a:t>Use the </a:t>
            </a:r>
            <a:r>
              <a:rPr lang="en-US" b="1" dirty="0" err="1"/>
              <a:t>aaa</a:t>
            </a:r>
            <a:r>
              <a:rPr lang="en-US" b="1" dirty="0"/>
              <a:t> authentication login </a:t>
            </a:r>
            <a:r>
              <a:rPr lang="en-US" dirty="0"/>
              <a:t>command, shown below, to enable authentication of the console, aux, and </a:t>
            </a:r>
            <a:r>
              <a:rPr lang="en-US" dirty="0" err="1"/>
              <a:t>vty</a:t>
            </a:r>
            <a:r>
              <a:rPr lang="en-US" dirty="0"/>
              <a:t> lines. The </a:t>
            </a:r>
            <a:r>
              <a:rPr lang="en-US" b="1" dirty="0"/>
              <a:t>default</a:t>
            </a:r>
            <a:r>
              <a:rPr lang="en-US" dirty="0"/>
              <a:t> keyword applies authentication to all lines. Alternatively, a custom authentication method can be configured using a </a:t>
            </a:r>
            <a:r>
              <a:rPr lang="en-US" i="1" dirty="0"/>
              <a:t>list-name</a:t>
            </a:r>
            <a:r>
              <a:rPr lang="en-US" dirty="0"/>
              <a:t>.</a:t>
            </a:r>
          </a:p>
        </p:txBody>
      </p:sp>
      <p:graphicFrame>
        <p:nvGraphicFramePr>
          <p:cNvPr id="18" name="Table 17"/>
          <p:cNvGraphicFramePr>
            <a:graphicFrameLocks noGrp="1"/>
          </p:cNvGraphicFramePr>
          <p:nvPr>
            <p:extLst>
              <p:ext uri="{D42A27DB-BD31-4B8C-83A1-F6EECF244321}">
                <p14:modId xmlns:p14="http://schemas.microsoft.com/office/powerpoint/2010/main" val="1774563426"/>
              </p:ext>
            </p:extLst>
          </p:nvPr>
        </p:nvGraphicFramePr>
        <p:xfrm>
          <a:off x="91440" y="2335493"/>
          <a:ext cx="8961120" cy="1402080"/>
        </p:xfrm>
        <a:graphic>
          <a:graphicData uri="http://schemas.openxmlformats.org/drawingml/2006/table">
            <a:tbl>
              <a:tblPr/>
              <a:tblGrid>
                <a:gridCol w="2439324">
                  <a:extLst>
                    <a:ext uri="{9D8B030D-6E8A-4147-A177-3AD203B41FA5}">
                      <a16:colId xmlns:a16="http://schemas.microsoft.com/office/drawing/2014/main" val="20000"/>
                    </a:ext>
                  </a:extLst>
                </a:gridCol>
                <a:gridCol w="6521796">
                  <a:extLst>
                    <a:ext uri="{9D8B030D-6E8A-4147-A177-3AD203B41FA5}">
                      <a16:colId xmlns:a16="http://schemas.microsoft.com/office/drawing/2014/main" val="20001"/>
                    </a:ext>
                  </a:extLst>
                </a:gridCol>
              </a:tblGrid>
              <a:tr h="0">
                <a:tc>
                  <a:txBody>
                    <a:bodyPr/>
                    <a:lstStyle/>
                    <a:p>
                      <a:r>
                        <a:rPr lang="en-US" sz="1200" dirty="0">
                          <a:solidFill>
                            <a:srgbClr val="FFFFFF"/>
                          </a:solidFill>
                        </a:rPr>
                        <a:t>Command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default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Uses the listed authentication methods that follow this keyword as the default list of methods when a user logs in.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list-name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Character string used to name the list of authentication methods activated when a user logs in.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method1...[method4]</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Identifies the list of methods that the AAA authentication process will query in the given sequence. At least one method must be specified. A maximum of four methods may be specified.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pic>
        <p:nvPicPr>
          <p:cNvPr id="5" name="Picture 4">
            <a:extLst>
              <a:ext uri="{FF2B5EF4-FFF2-40B4-BE49-F238E27FC236}">
                <a16:creationId xmlns:a16="http://schemas.microsoft.com/office/drawing/2014/main" id="{6B37A511-BB61-44B5-9356-302F93C71D78}"/>
              </a:ext>
            </a:extLst>
          </p:cNvPr>
          <p:cNvPicPr>
            <a:picLocks noChangeAspect="1"/>
          </p:cNvPicPr>
          <p:nvPr/>
        </p:nvPicPr>
        <p:blipFill>
          <a:blip r:embed="rId3"/>
          <a:stretch>
            <a:fillRect/>
          </a:stretch>
        </p:blipFill>
        <p:spPr>
          <a:xfrm>
            <a:off x="418602" y="1752011"/>
            <a:ext cx="8122067" cy="50802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11</a:t>
            </a:fld>
            <a:endParaRPr lang="en-US" dirty="0"/>
          </a:p>
        </p:txBody>
      </p:sp>
    </p:spTree>
    <p:extLst>
      <p:ext uri="{BB962C8B-B14F-4D97-AF65-F5344CB8AC3E}">
        <p14:creationId xmlns:p14="http://schemas.microsoft.com/office/powerpoint/2010/main" val="2062927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Local AAA Authentication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Authentication Methods (Cont.)</a:t>
            </a:r>
          </a:p>
        </p:txBody>
      </p:sp>
      <p:sp>
        <p:nvSpPr>
          <p:cNvPr id="10" name="TextBox 9">
            <a:extLst>
              <a:ext uri="{FF2B5EF4-FFF2-40B4-BE49-F238E27FC236}">
                <a16:creationId xmlns:a16="http://schemas.microsoft.com/office/drawing/2014/main" id="{FD556ACA-AD7D-4CB9-A906-0820594EE0B6}"/>
              </a:ext>
            </a:extLst>
          </p:cNvPr>
          <p:cNvSpPr txBox="1"/>
          <p:nvPr/>
        </p:nvSpPr>
        <p:spPr>
          <a:xfrm>
            <a:off x="91440" y="719330"/>
            <a:ext cx="8867833" cy="1323439"/>
          </a:xfrm>
          <a:prstGeom prst="rect">
            <a:avLst/>
          </a:prstGeom>
          <a:solidFill>
            <a:schemeClr val="bg1"/>
          </a:solidFill>
        </p:spPr>
        <p:txBody>
          <a:bodyPr wrap="square">
            <a:spAutoFit/>
          </a:bodyPr>
          <a:lstStyle/>
          <a:p>
            <a:r>
              <a:rPr lang="en-US" sz="1600" dirty="0">
                <a:effectLst/>
                <a:latin typeface="Arial" panose="020B0604020202020204" pitchFamily="34" charset="0"/>
                <a:cs typeface="Arial" panose="020B0604020202020204" pitchFamily="34" charset="0"/>
              </a:rPr>
              <a:t>Up to four methods can be defined to authenticate users, providing fallback methods should one method not be available. To enable local authentication using a preconfigured local database, use the keyword </a:t>
            </a:r>
            <a:r>
              <a:rPr lang="en-US" sz="1600" b="1" dirty="0">
                <a:effectLst/>
                <a:latin typeface="Arial" panose="020B0604020202020204" pitchFamily="34" charset="0"/>
                <a:cs typeface="Arial" panose="020B0604020202020204" pitchFamily="34" charset="0"/>
              </a:rPr>
              <a:t>local</a:t>
            </a:r>
            <a:r>
              <a:rPr lang="en-US" sz="1600" dirty="0">
                <a:effectLst/>
                <a:latin typeface="Arial" panose="020B0604020202020204" pitchFamily="34" charset="0"/>
                <a:cs typeface="Arial" panose="020B0604020202020204" pitchFamily="34" charset="0"/>
              </a:rPr>
              <a:t> or </a:t>
            </a:r>
            <a:r>
              <a:rPr lang="en-US" sz="1600" b="1" dirty="0">
                <a:effectLst/>
                <a:latin typeface="Arial" panose="020B0604020202020204" pitchFamily="34" charset="0"/>
                <a:cs typeface="Arial" panose="020B0604020202020204" pitchFamily="34" charset="0"/>
              </a:rPr>
              <a:t>local-case</a:t>
            </a:r>
            <a:r>
              <a:rPr lang="en-US" sz="1600" dirty="0">
                <a:effectLst/>
                <a:latin typeface="Arial" panose="020B0604020202020204" pitchFamily="34" charset="0"/>
                <a:cs typeface="Arial" panose="020B0604020202020204" pitchFamily="34" charset="0"/>
              </a:rPr>
              <a:t>. To specify that a user can authenticate using the enable password, use the </a:t>
            </a:r>
            <a:r>
              <a:rPr lang="en-US" sz="1600" b="1" dirty="0">
                <a:effectLst/>
                <a:latin typeface="Arial" panose="020B0604020202020204" pitchFamily="34" charset="0"/>
                <a:cs typeface="Arial" panose="020B0604020202020204" pitchFamily="34" charset="0"/>
              </a:rPr>
              <a:t>enable</a:t>
            </a:r>
            <a:r>
              <a:rPr lang="en-US" sz="1600" dirty="0">
                <a:effectLst/>
                <a:latin typeface="Arial" panose="020B0604020202020204" pitchFamily="34" charset="0"/>
                <a:cs typeface="Arial" panose="020B0604020202020204" pitchFamily="34" charset="0"/>
              </a:rPr>
              <a:t> keyword. </a:t>
            </a:r>
          </a:p>
          <a:p>
            <a:r>
              <a:rPr lang="en-US" sz="1600" dirty="0">
                <a:effectLst/>
                <a:latin typeface="Arial" panose="020B0604020202020204" pitchFamily="34" charset="0"/>
                <a:cs typeface="Arial" panose="020B0604020202020204" pitchFamily="34" charset="0"/>
              </a:rPr>
              <a:t>The table displays common methods that can be specified. </a:t>
            </a:r>
          </a:p>
        </p:txBody>
      </p:sp>
      <p:graphicFrame>
        <p:nvGraphicFramePr>
          <p:cNvPr id="35" name="Table 34"/>
          <p:cNvGraphicFramePr>
            <a:graphicFrameLocks noGrp="1"/>
          </p:cNvGraphicFramePr>
          <p:nvPr>
            <p:extLst>
              <p:ext uri="{D42A27DB-BD31-4B8C-83A1-F6EECF244321}">
                <p14:modId xmlns:p14="http://schemas.microsoft.com/office/powerpoint/2010/main" val="3704581700"/>
              </p:ext>
            </p:extLst>
          </p:nvPr>
        </p:nvGraphicFramePr>
        <p:xfrm>
          <a:off x="182880" y="2613660"/>
          <a:ext cx="8503920" cy="2255520"/>
        </p:xfrm>
        <a:graphic>
          <a:graphicData uri="http://schemas.openxmlformats.org/drawingml/2006/table">
            <a:tbl>
              <a:tblPr/>
              <a:tblGrid>
                <a:gridCol w="1921315">
                  <a:extLst>
                    <a:ext uri="{9D8B030D-6E8A-4147-A177-3AD203B41FA5}">
                      <a16:colId xmlns:a16="http://schemas.microsoft.com/office/drawing/2014/main" val="20000"/>
                    </a:ext>
                  </a:extLst>
                </a:gridCol>
                <a:gridCol w="6582605">
                  <a:extLst>
                    <a:ext uri="{9D8B030D-6E8A-4147-A177-3AD203B41FA5}">
                      <a16:colId xmlns:a16="http://schemas.microsoft.com/office/drawing/2014/main" val="20001"/>
                    </a:ext>
                  </a:extLst>
                </a:gridCol>
              </a:tblGrid>
              <a:tr h="0">
                <a:tc>
                  <a:txBody>
                    <a:bodyPr/>
                    <a:lstStyle/>
                    <a:p>
                      <a:r>
                        <a:rPr lang="en-US" sz="1200" dirty="0">
                          <a:solidFill>
                            <a:srgbClr val="FFFFFF"/>
                          </a:solidFill>
                        </a:rPr>
                        <a:t>Method Type Keywords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enable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Uses the enable password for authentication.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local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Uses the local username database for authentication.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local-case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Uses case-sensitive local username authentication.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none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Uses no authentication.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group radius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Uses the list of all RADIUS servers for authentication.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rgbClr val="58585B"/>
                          </a:solidFill>
                        </a:rPr>
                        <a:t>group tacacs+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Uses the list of all TACACS+ servers for authentication.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200" dirty="0">
                          <a:solidFill>
                            <a:srgbClr val="58585B"/>
                          </a:solidFill>
                        </a:rPr>
                        <a:t>group group-name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Uses a subset of RADIUS or TACACS+ servers for authentication as defined by the aaa group server radius or aaa group server tacacs+ command.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bl>
          </a:graphicData>
        </a:graphic>
      </p:graphicFrame>
      <p:pic>
        <p:nvPicPr>
          <p:cNvPr id="9" name="Picture 8">
            <a:extLst>
              <a:ext uri="{FF2B5EF4-FFF2-40B4-BE49-F238E27FC236}">
                <a16:creationId xmlns:a16="http://schemas.microsoft.com/office/drawing/2014/main" id="{08BB37CE-8128-40AF-8E6D-C39C0B9D8C87}"/>
              </a:ext>
            </a:extLst>
          </p:cNvPr>
          <p:cNvPicPr>
            <a:picLocks noChangeAspect="1"/>
          </p:cNvPicPr>
          <p:nvPr/>
        </p:nvPicPr>
        <p:blipFill>
          <a:blip r:embed="rId3"/>
          <a:stretch>
            <a:fillRect/>
          </a:stretch>
        </p:blipFill>
        <p:spPr>
          <a:xfrm>
            <a:off x="418602" y="2063724"/>
            <a:ext cx="8122067" cy="50802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Local AAA Authentication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Default and Named Methods</a:t>
            </a:r>
          </a:p>
        </p:txBody>
      </p:sp>
      <p:sp>
        <p:nvSpPr>
          <p:cNvPr id="5" name="Object4"/>
          <p:cNvSpPr/>
          <p:nvPr/>
        </p:nvSpPr>
        <p:spPr>
          <a:xfrm>
            <a:off x="0" y="753291"/>
            <a:ext cx="8817429"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For flexibility, different method lists can be applied to different interfaces and lines using the </a:t>
            </a:r>
            <a:r>
              <a:rPr lang="en-US" sz="1600" b="1" dirty="0">
                <a:latin typeface="Arial" panose="020B0604020202020204" pitchFamily="34" charset="0"/>
                <a:cs typeface="Arial" panose="020B0604020202020204" pitchFamily="34" charset="0"/>
              </a:rPr>
              <a:t>aaa authentication login</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list-name</a:t>
            </a:r>
            <a:r>
              <a:rPr lang="en-US" sz="1600" dirty="0">
                <a:latin typeface="Arial" panose="020B0604020202020204" pitchFamily="34" charset="0"/>
                <a:cs typeface="Arial" panose="020B0604020202020204" pitchFamily="34" charset="0"/>
              </a:rPr>
              <a:t> command.</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named list must be explicitly enabled on the line using the </a:t>
            </a:r>
            <a:r>
              <a:rPr lang="en-US" sz="1600" b="1" dirty="0">
                <a:latin typeface="Arial" panose="020B0604020202020204" pitchFamily="34" charset="0"/>
                <a:cs typeface="Arial" panose="020B0604020202020204" pitchFamily="34" charset="0"/>
              </a:rPr>
              <a:t>login authentication</a:t>
            </a:r>
            <a:r>
              <a:rPr lang="en-US" sz="1600" dirty="0">
                <a:latin typeface="Arial" panose="020B0604020202020204" pitchFamily="34" charset="0"/>
                <a:cs typeface="Arial" panose="020B0604020202020204" pitchFamily="34" charset="0"/>
              </a:rPr>
              <a:t> line configuration command. If a line has a custom authentication method list applied to it, that method list overrides the default method list for that interface.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When a custom authentication method list is applied to an interface, it is possible to return to the default method list by using the </a:t>
            </a:r>
            <a:r>
              <a:rPr lang="en-US" sz="1600" b="1" dirty="0">
                <a:latin typeface="Arial" panose="020B0604020202020204" pitchFamily="34" charset="0"/>
                <a:cs typeface="Arial" panose="020B0604020202020204" pitchFamily="34" charset="0"/>
              </a:rPr>
              <a:t>no authentication login</a:t>
            </a:r>
            <a:r>
              <a:rPr lang="en-US" sz="1600" dirty="0">
                <a:latin typeface="Arial" panose="020B0604020202020204" pitchFamily="34" charset="0"/>
                <a:cs typeface="Arial" panose="020B0604020202020204" pitchFamily="34" charset="0"/>
              </a:rPr>
              <a:t> command.</a:t>
            </a:r>
          </a:p>
          <a:p>
            <a:pPr>
              <a:lnSpc>
                <a:spcPts val="2000"/>
              </a:lnSpc>
            </a:pPr>
            <a:endParaRPr lang="en-US" sz="1400" dirty="0"/>
          </a:p>
          <a:p>
            <a:pPr>
              <a:lnSpc>
                <a:spcPts val="2000"/>
              </a:lnSpc>
            </a:pPr>
            <a:endParaRPr lang="en-US" sz="1400" dirty="0"/>
          </a:p>
          <a:p>
            <a:pPr>
              <a:lnSpc>
                <a:spcPts val="2000"/>
              </a:lnSpc>
            </a:pPr>
            <a:endParaRPr lang="en-US" sz="1400" dirty="0"/>
          </a:p>
        </p:txBody>
      </p:sp>
      <p:pic>
        <p:nvPicPr>
          <p:cNvPr id="4" name="Picture 3">
            <a:extLst>
              <a:ext uri="{FF2B5EF4-FFF2-40B4-BE49-F238E27FC236}">
                <a16:creationId xmlns:a16="http://schemas.microsoft.com/office/drawing/2014/main" id="{F52C2636-035C-4FA6-B22B-9A5F6A879E99}"/>
              </a:ext>
            </a:extLst>
          </p:cNvPr>
          <p:cNvPicPr>
            <a:picLocks noChangeAspect="1"/>
          </p:cNvPicPr>
          <p:nvPr/>
        </p:nvPicPr>
        <p:blipFill>
          <a:blip r:embed="rId3"/>
          <a:stretch>
            <a:fillRect/>
          </a:stretch>
        </p:blipFill>
        <p:spPr>
          <a:xfrm>
            <a:off x="812800" y="3166864"/>
            <a:ext cx="6901544" cy="137592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Local AAA Authentication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Fine-Tuning the Authentication Configuration</a:t>
            </a:r>
          </a:p>
        </p:txBody>
      </p:sp>
      <p:sp>
        <p:nvSpPr>
          <p:cNvPr id="7" name="TextBox 6">
            <a:extLst>
              <a:ext uri="{FF2B5EF4-FFF2-40B4-BE49-F238E27FC236}">
                <a16:creationId xmlns:a16="http://schemas.microsoft.com/office/drawing/2014/main" id="{DFB340B8-8390-4CDD-B6A3-F32DF982E40E}"/>
              </a:ext>
            </a:extLst>
          </p:cNvPr>
          <p:cNvSpPr txBox="1"/>
          <p:nvPr/>
        </p:nvSpPr>
        <p:spPr>
          <a:xfrm>
            <a:off x="0" y="781235"/>
            <a:ext cx="8752115" cy="1107996"/>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Additional security can be implemented on the line using the </a:t>
            </a:r>
            <a:r>
              <a:rPr lang="en-US" sz="1600" b="1" dirty="0">
                <a:latin typeface="Arial" panose="020B0604020202020204" pitchFamily="34" charset="0"/>
                <a:cs typeface="Arial" panose="020B0604020202020204" pitchFamily="34" charset="0"/>
              </a:rPr>
              <a:t>aaa local authentication attempts max-fail</a:t>
            </a:r>
            <a:r>
              <a:rPr lang="en-US" sz="1600" dirty="0">
                <a:latin typeface="Arial" panose="020B0604020202020204" pitchFamily="34" charset="0"/>
                <a:cs typeface="Arial" panose="020B0604020202020204" pitchFamily="34" charset="0"/>
              </a:rPr>
              <a:t> global configuration mode command. This command secures AAA user accounts by locking out accounts that have excessive failed attempts.</a:t>
            </a:r>
          </a:p>
          <a:p>
            <a:endParaRPr lang="en-US" dirty="0"/>
          </a:p>
        </p:txBody>
      </p:sp>
      <p:graphicFrame>
        <p:nvGraphicFramePr>
          <p:cNvPr id="20" name="Table 19"/>
          <p:cNvGraphicFramePr>
            <a:graphicFrameLocks noGrp="1"/>
          </p:cNvGraphicFramePr>
          <p:nvPr>
            <p:extLst>
              <p:ext uri="{D42A27DB-BD31-4B8C-83A1-F6EECF244321}">
                <p14:modId xmlns:p14="http://schemas.microsoft.com/office/powerpoint/2010/main" val="1044173448"/>
              </p:ext>
            </p:extLst>
          </p:nvPr>
        </p:nvGraphicFramePr>
        <p:xfrm>
          <a:off x="91440" y="2322543"/>
          <a:ext cx="8961120" cy="701040"/>
        </p:xfrm>
        <a:graphic>
          <a:graphicData uri="http://schemas.openxmlformats.org/drawingml/2006/table">
            <a:tbl>
              <a:tblPr/>
              <a:tblGrid>
                <a:gridCol w="4480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0">
                <a:tc>
                  <a:txBody>
                    <a:bodyPr/>
                    <a:lstStyle/>
                    <a:p>
                      <a:r>
                        <a:rPr lang="en-US" sz="1200" dirty="0">
                          <a:solidFill>
                            <a:srgbClr val="FFFFFF"/>
                          </a:solidFill>
                        </a:rPr>
                        <a:t>Command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i="1" dirty="0">
                          <a:solidFill>
                            <a:srgbClr val="58585B"/>
                          </a:solidFill>
                        </a:rPr>
                        <a:t>number-of-unsuccessful-attempts</a:t>
                      </a:r>
                      <a:endParaRPr lang="en-US" sz="1200" i="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Number of unsuccessful authentication attempts before a connection is dropped and the user account is locked.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bl>
          </a:graphicData>
        </a:graphic>
      </p:graphicFrame>
      <p:sp>
        <p:nvSpPr>
          <p:cNvPr id="9" name="TextBox 8">
            <a:extLst>
              <a:ext uri="{FF2B5EF4-FFF2-40B4-BE49-F238E27FC236}">
                <a16:creationId xmlns:a16="http://schemas.microsoft.com/office/drawing/2014/main" id="{67C08516-2885-4F20-A9C6-DA3E5ABF26DF}"/>
              </a:ext>
            </a:extLst>
          </p:cNvPr>
          <p:cNvSpPr txBox="1"/>
          <p:nvPr/>
        </p:nvSpPr>
        <p:spPr>
          <a:xfrm>
            <a:off x="-1" y="3254270"/>
            <a:ext cx="8897257" cy="1323439"/>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locked out user account remains locked until it is manually cleared by an administrator using the </a:t>
            </a:r>
            <a:r>
              <a:rPr lang="en-US" sz="1600" b="1" dirty="0">
                <a:latin typeface="Arial" panose="020B0604020202020204" pitchFamily="34" charset="0"/>
                <a:cs typeface="Arial" panose="020B0604020202020204" pitchFamily="34" charset="0"/>
              </a:rPr>
              <a:t>clear aaa local user lockout</a:t>
            </a:r>
            <a:r>
              <a:rPr lang="en-US" sz="1600" dirty="0">
                <a:latin typeface="Arial" panose="020B0604020202020204" pitchFamily="34" charset="0"/>
                <a:cs typeface="Arial" panose="020B0604020202020204" pitchFamily="34" charset="0"/>
              </a:rPr>
              <a:t> privileged EXEC mode command.</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To display the attributes that are collected for one AAA session, use the </a:t>
            </a:r>
            <a:r>
              <a:rPr lang="en-US" sz="1600" b="1" dirty="0">
                <a:latin typeface="Arial" panose="020B0604020202020204" pitchFamily="34" charset="0"/>
                <a:cs typeface="Arial" panose="020B0604020202020204" pitchFamily="34" charset="0"/>
              </a:rPr>
              <a:t>show aaa user</a:t>
            </a:r>
            <a:r>
              <a:rPr lang="en-US" sz="1600" dirty="0">
                <a:latin typeface="Arial" panose="020B0604020202020204" pitchFamily="34" charset="0"/>
                <a:cs typeface="Arial" panose="020B0604020202020204" pitchFamily="34" charset="0"/>
              </a:rPr>
              <a:t> command in privileged EXEC mode. </a:t>
            </a:r>
          </a:p>
        </p:txBody>
      </p:sp>
      <p:pic>
        <p:nvPicPr>
          <p:cNvPr id="5" name="Picture 4">
            <a:extLst>
              <a:ext uri="{FF2B5EF4-FFF2-40B4-BE49-F238E27FC236}">
                <a16:creationId xmlns:a16="http://schemas.microsoft.com/office/drawing/2014/main" id="{7684F8FA-F422-449F-B7F1-06F976560690}"/>
              </a:ext>
            </a:extLst>
          </p:cNvPr>
          <p:cNvPicPr>
            <a:picLocks noChangeAspect="1"/>
          </p:cNvPicPr>
          <p:nvPr/>
        </p:nvPicPr>
        <p:blipFill>
          <a:blip r:embed="rId3"/>
          <a:stretch>
            <a:fillRect/>
          </a:stretch>
        </p:blipFill>
        <p:spPr>
          <a:xfrm>
            <a:off x="321373" y="1726198"/>
            <a:ext cx="8109367" cy="39372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7.3 Server-Based AAA Characteristics and Protocols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Server-Based AAA Characteristics and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Compare Local AAA and Server-Based AAA Implementations</a:t>
            </a:r>
          </a:p>
        </p:txBody>
      </p:sp>
      <p:sp>
        <p:nvSpPr>
          <p:cNvPr id="5" name="Object4"/>
          <p:cNvSpPr/>
          <p:nvPr/>
        </p:nvSpPr>
        <p:spPr>
          <a:xfrm>
            <a:off x="-1" y="914400"/>
            <a:ext cx="8795657" cy="1937657"/>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One or more AAA servers can be used to manage the user and administrative access needs for an entire corporate network. AAA server software can create a central user and administrative access database to which all devices in the network can refer. It may also work with many external databases, including Active Directory and Lightweight Directory Access Protocol (LDAP). These databases store user account information and passwords, allowing for central administration of user accounts. For increased redundancy, multiple servers can be implemented. </a:t>
            </a:r>
          </a:p>
          <a:p>
            <a:pPr>
              <a:lnSpc>
                <a:spcPts val="2000"/>
              </a:lnSpc>
            </a:pPr>
            <a:endParaRPr lang="en-US" sz="16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56E0A3E2-5398-4EEB-ABAB-14909A86D245}"/>
              </a:ext>
            </a:extLst>
          </p:cNvPr>
          <p:cNvSpPr txBox="1"/>
          <p:nvPr/>
        </p:nvSpPr>
        <p:spPr>
          <a:xfrm>
            <a:off x="-1" y="2973987"/>
            <a:ext cx="2859314" cy="830997"/>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figure shows the process of authenticating router administrator users. </a:t>
            </a:r>
            <a:endParaRPr lang="en-US" sz="1600" dirty="0"/>
          </a:p>
        </p:txBody>
      </p:sp>
      <p:pic>
        <p:nvPicPr>
          <p:cNvPr id="4" name="Picture 3">
            <a:extLst>
              <a:ext uri="{FF2B5EF4-FFF2-40B4-BE49-F238E27FC236}">
                <a16:creationId xmlns:a16="http://schemas.microsoft.com/office/drawing/2014/main" id="{AE753225-EB70-4466-92B7-FDB2FED053A8}"/>
              </a:ext>
            </a:extLst>
          </p:cNvPr>
          <p:cNvPicPr>
            <a:picLocks noChangeAspect="1"/>
          </p:cNvPicPr>
          <p:nvPr/>
        </p:nvPicPr>
        <p:blipFill>
          <a:blip r:embed="rId3"/>
          <a:stretch>
            <a:fillRect/>
          </a:stretch>
        </p:blipFill>
        <p:spPr>
          <a:xfrm>
            <a:off x="3334657" y="2493951"/>
            <a:ext cx="4724400" cy="236379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Server-Based AAA Characteristics and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Cisco Identity Services Engine (ISE)</a:t>
            </a:r>
          </a:p>
        </p:txBody>
      </p:sp>
      <p:sp>
        <p:nvSpPr>
          <p:cNvPr id="5" name="Object4"/>
          <p:cNvSpPr/>
          <p:nvPr/>
        </p:nvSpPr>
        <p:spPr>
          <a:xfrm>
            <a:off x="-1" y="914400"/>
            <a:ext cx="8781143" cy="2571750"/>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Cisco Identity Services Engine (ISE) is an identity and access control policy platform that enables enterprises to enforce compliance, enhance infrastructure security, and streamline their service operations. Cisco ISE combines policy definition, control, and reporting in one appliance.  Cisco ISE defines fair access policies and enforces compliance for all end devices including BYOD. </a:t>
            </a:r>
          </a:p>
          <a:p>
            <a:pPr>
              <a:lnSpc>
                <a:spcPts val="2000"/>
              </a:lnSpc>
            </a:pP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Several features of ISE are:</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Asset Visibility</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Posture assessment </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Segmentation</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Guest management and secure wireless </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Threat Containment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Server-Based AAA Characteristics and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TACACS+ and RADIUS Protocols</a:t>
            </a:r>
          </a:p>
        </p:txBody>
      </p:sp>
      <p:sp>
        <p:nvSpPr>
          <p:cNvPr id="7" name="TextBox 6">
            <a:extLst>
              <a:ext uri="{FF2B5EF4-FFF2-40B4-BE49-F238E27FC236}">
                <a16:creationId xmlns:a16="http://schemas.microsoft.com/office/drawing/2014/main" id="{CDA87DF0-93B4-4F5E-BD02-B5E483E1C9F3}"/>
              </a:ext>
            </a:extLst>
          </p:cNvPr>
          <p:cNvSpPr txBox="1"/>
          <p:nvPr/>
        </p:nvSpPr>
        <p:spPr>
          <a:xfrm>
            <a:off x="91440" y="784860"/>
            <a:ext cx="8961120" cy="646331"/>
          </a:xfrm>
          <a:prstGeom prst="rect">
            <a:avLst/>
          </a:prstGeom>
          <a:noFill/>
        </p:spPr>
        <p:txBody>
          <a:bodyPr wrap="square">
            <a:spAutoFit/>
          </a:bodyPr>
          <a:lstStyle/>
          <a:p>
            <a:r>
              <a:rPr lang="en-US" dirty="0"/>
              <a:t>TACACS+ and RADIUS are both authentication protocols that are used to communicate with AAA servers. As shown in the table, each supports different capabilities and functionality. </a:t>
            </a:r>
          </a:p>
        </p:txBody>
      </p:sp>
      <p:graphicFrame>
        <p:nvGraphicFramePr>
          <p:cNvPr id="26" name="Table 25"/>
          <p:cNvGraphicFramePr>
            <a:graphicFrameLocks noGrp="1"/>
          </p:cNvGraphicFramePr>
          <p:nvPr>
            <p:extLst>
              <p:ext uri="{D42A27DB-BD31-4B8C-83A1-F6EECF244321}">
                <p14:modId xmlns:p14="http://schemas.microsoft.com/office/powerpoint/2010/main" val="3657913497"/>
              </p:ext>
            </p:extLst>
          </p:nvPr>
        </p:nvGraphicFramePr>
        <p:xfrm>
          <a:off x="91440" y="1371600"/>
          <a:ext cx="8961120" cy="2987040"/>
        </p:xfrm>
        <a:graphic>
          <a:graphicData uri="http://schemas.openxmlformats.org/drawingml/2006/table">
            <a:tbl>
              <a:tblPr/>
              <a:tblGrid>
                <a:gridCol w="2987040">
                  <a:extLst>
                    <a:ext uri="{9D8B030D-6E8A-4147-A177-3AD203B41FA5}">
                      <a16:colId xmlns:a16="http://schemas.microsoft.com/office/drawing/2014/main" val="20000"/>
                    </a:ext>
                  </a:extLst>
                </a:gridCol>
                <a:gridCol w="2987040">
                  <a:extLst>
                    <a:ext uri="{9D8B030D-6E8A-4147-A177-3AD203B41FA5}">
                      <a16:colId xmlns:a16="http://schemas.microsoft.com/office/drawing/2014/main" val="20001"/>
                    </a:ext>
                  </a:extLst>
                </a:gridCol>
                <a:gridCol w="2987040">
                  <a:extLst>
                    <a:ext uri="{9D8B030D-6E8A-4147-A177-3AD203B41FA5}">
                      <a16:colId xmlns:a16="http://schemas.microsoft.com/office/drawing/2014/main" val="20002"/>
                    </a:ext>
                  </a:extLst>
                </a:gridCol>
              </a:tblGrid>
              <a:tr h="0">
                <a:tc>
                  <a:txBody>
                    <a:bodyPr/>
                    <a:lstStyle/>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TACACS+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RADIUS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Functionality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Separates AAA according to the AAA architecture, allowing modularity of the security server implementation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Combines authentication and authorization but separates accounting, allowing less flexibility in implementation than TACACS+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Standard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Mostly Cisco supported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Open/RFC standard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Transport Protocol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TCP/49</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a:solidFill>
                            <a:srgbClr val="58585B"/>
                          </a:solidFill>
                        </a:rPr>
                        <a:t>UDP/1645/1646 and 1812/1813</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CHAP</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Bidirectional challenge and response as used in Challenge Handshake Authentication Protocol (CHAP)</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Unidirectional challenge and response from the RADIUS security server to the RADIUS client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Confidentiality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Entire packet encrypted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Password encrypted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rgbClr val="58585B"/>
                          </a:solidFill>
                        </a:rPr>
                        <a:t>Customization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Provides authorization of router commands on a per-user or per-group basis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Has no option to authorize router commands on a per-user or per-group basis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200" dirty="0">
                          <a:solidFill>
                            <a:srgbClr val="58585B"/>
                          </a:solidFill>
                        </a:rPr>
                        <a:t>Accounting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Limited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Extensive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Server-Based AAA Characteristics and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TACACS+ Authentication</a:t>
            </a:r>
          </a:p>
        </p:txBody>
      </p:sp>
      <p:sp>
        <p:nvSpPr>
          <p:cNvPr id="5" name="Object4"/>
          <p:cNvSpPr/>
          <p:nvPr/>
        </p:nvSpPr>
        <p:spPr>
          <a:xfrm>
            <a:off x="0" y="914400"/>
            <a:ext cx="3360057"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TACACS+ is a Cisco enhancement to the original TACACS protocol.</a:t>
            </a:r>
          </a:p>
          <a:p>
            <a:pPr marL="285750" indent="-285750">
              <a:lnSpc>
                <a:spcPts val="2000"/>
              </a:lnSpc>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TACACS+ provides separate AAA services. It is possible to use TACACS+ for authorization and accounting while using another method of authentication.</a:t>
            </a:r>
          </a:p>
          <a:p>
            <a:pPr marL="285750" indent="-285750">
              <a:lnSpc>
                <a:spcPts val="2000"/>
              </a:lnSpc>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The TACACS+ authentication process is shown in the figure.</a:t>
            </a:r>
          </a:p>
          <a:p>
            <a:pPr>
              <a:lnSpc>
                <a:spcPts val="2000"/>
              </a:lnSpc>
            </a:pPr>
            <a:endParaRPr lang="en-US" sz="1400" dirty="0"/>
          </a:p>
          <a:p>
            <a:pPr>
              <a:lnSpc>
                <a:spcPts val="2000"/>
              </a:lnSpc>
            </a:pPr>
            <a:endParaRPr lang="en-US" sz="1400" dirty="0"/>
          </a:p>
        </p:txBody>
      </p:sp>
      <p:pic>
        <p:nvPicPr>
          <p:cNvPr id="4" name="Picture 3">
            <a:extLst>
              <a:ext uri="{FF2B5EF4-FFF2-40B4-BE49-F238E27FC236}">
                <a16:creationId xmlns:a16="http://schemas.microsoft.com/office/drawing/2014/main" id="{96E1C29A-91DB-40BC-B465-D74BF311BE0A}"/>
              </a:ext>
            </a:extLst>
          </p:cNvPr>
          <p:cNvPicPr>
            <a:picLocks noChangeAspect="1"/>
          </p:cNvPicPr>
          <p:nvPr/>
        </p:nvPicPr>
        <p:blipFill>
          <a:blip r:embed="rId3"/>
          <a:stretch>
            <a:fillRect/>
          </a:stretch>
        </p:blipFill>
        <p:spPr>
          <a:xfrm>
            <a:off x="3287486" y="731520"/>
            <a:ext cx="5491710" cy="359905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Server-Based AAA Characteristics and Protocols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RADIUS Authentication</a:t>
            </a:r>
          </a:p>
        </p:txBody>
      </p:sp>
      <p:sp>
        <p:nvSpPr>
          <p:cNvPr id="5" name="Object4"/>
          <p:cNvSpPr/>
          <p:nvPr/>
        </p:nvSpPr>
        <p:spPr>
          <a:xfrm>
            <a:off x="0" y="708659"/>
            <a:ext cx="5029200" cy="3729525"/>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RADIUS is an open IETF standard AAA protocol for applications such as network access or IP mobility. RADIUS works in both local and roaming situations and is commonly used for accounting purposes.</a:t>
            </a:r>
          </a:p>
          <a:p>
            <a:pPr>
              <a:lnSpc>
                <a:spcPts val="2000"/>
              </a:lnSpc>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 RADIUS protocol hides passwords during transmission, even with the Password Authentication Protocol (PAP), using a rather complex operation that involves Message Digest 5 (MD5) hashing and a shared secret. However, the rest of the packet is sent in plaintext.</a:t>
            </a:r>
          </a:p>
          <a:p>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RADIUS combines authentication and authorization as one process.</a:t>
            </a:r>
          </a:p>
          <a:p>
            <a:pPr>
              <a:lnSpc>
                <a:spcPts val="2000"/>
              </a:lnSpc>
            </a:pPr>
            <a:endParaRPr lang="en-US" sz="1400" dirty="0"/>
          </a:p>
        </p:txBody>
      </p:sp>
      <p:sp>
        <p:nvSpPr>
          <p:cNvPr id="6" name="TextBox 5">
            <a:extLst>
              <a:ext uri="{FF2B5EF4-FFF2-40B4-BE49-F238E27FC236}">
                <a16:creationId xmlns:a16="http://schemas.microsoft.com/office/drawing/2014/main" id="{AC9D4F06-A3B4-4B62-B4EF-D49D5495CEE3}"/>
              </a:ext>
            </a:extLst>
          </p:cNvPr>
          <p:cNvSpPr txBox="1"/>
          <p:nvPr/>
        </p:nvSpPr>
        <p:spPr>
          <a:xfrm>
            <a:off x="5842000" y="3171371"/>
            <a:ext cx="3062514"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The figure shows the RADIUS authentication process.</a:t>
            </a:r>
          </a:p>
        </p:txBody>
      </p:sp>
      <p:pic>
        <p:nvPicPr>
          <p:cNvPr id="4" name="Picture 3">
            <a:extLst>
              <a:ext uri="{FF2B5EF4-FFF2-40B4-BE49-F238E27FC236}">
                <a16:creationId xmlns:a16="http://schemas.microsoft.com/office/drawing/2014/main" id="{6607C269-3CF6-483D-8B77-0B90946CFC8F}"/>
              </a:ext>
            </a:extLst>
          </p:cNvPr>
          <p:cNvPicPr>
            <a:picLocks noChangeAspect="1"/>
          </p:cNvPicPr>
          <p:nvPr/>
        </p:nvPicPr>
        <p:blipFill>
          <a:blip r:embed="rId3"/>
          <a:stretch>
            <a:fillRect/>
          </a:stretch>
        </p:blipFill>
        <p:spPr>
          <a:xfrm>
            <a:off x="5109029" y="929561"/>
            <a:ext cx="3955142" cy="197937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7.4 Configure Server-Based Authentication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Steps to Configure Server-Based AAA Authentication</a:t>
            </a:r>
          </a:p>
        </p:txBody>
      </p:sp>
      <p:sp>
        <p:nvSpPr>
          <p:cNvPr id="5" name="Object4"/>
          <p:cNvSpPr/>
          <p:nvPr/>
        </p:nvSpPr>
        <p:spPr>
          <a:xfrm>
            <a:off x="0" y="914399"/>
            <a:ext cx="8229600" cy="3494049"/>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There are four basic steps to configure server-based authentication:</a:t>
            </a:r>
          </a:p>
          <a:p>
            <a:pPr lvl="1"/>
            <a:endParaRPr lang="en-US" sz="1600" dirty="0">
              <a:latin typeface="Arial" panose="020B0604020202020204" pitchFamily="34" charset="0"/>
              <a:cs typeface="Arial" panose="020B0604020202020204" pitchFamily="34" charset="0"/>
            </a:endParaRPr>
          </a:p>
          <a:p>
            <a:pPr lvl="1"/>
            <a:r>
              <a:rPr lang="en-US" sz="1600" b="1" dirty="0">
                <a:latin typeface="Arial" panose="020B0604020202020204" pitchFamily="34" charset="0"/>
                <a:cs typeface="Arial" panose="020B0604020202020204" pitchFamily="34" charset="0"/>
              </a:rPr>
              <a:t>Step 1. </a:t>
            </a:r>
            <a:r>
              <a:rPr lang="en-US" sz="1600" dirty="0">
                <a:latin typeface="Arial" panose="020B0604020202020204" pitchFamily="34" charset="0"/>
                <a:cs typeface="Arial" panose="020B0604020202020204" pitchFamily="34" charset="0"/>
              </a:rPr>
              <a:t>Globally enable AAA to allow the use of all AAA elements. This step is a prerequisite for all   other AAA commands.</a:t>
            </a:r>
          </a:p>
          <a:p>
            <a:pPr lvl="1"/>
            <a:endParaRPr lang="en-US" sz="1600" dirty="0">
              <a:latin typeface="Arial" panose="020B0604020202020204" pitchFamily="34" charset="0"/>
              <a:cs typeface="Arial" panose="020B0604020202020204" pitchFamily="34" charset="0"/>
            </a:endParaRPr>
          </a:p>
          <a:p>
            <a:pPr lvl="1"/>
            <a:r>
              <a:rPr lang="en-US" sz="1600" b="1" dirty="0">
                <a:latin typeface="Arial" panose="020B0604020202020204" pitchFamily="34" charset="0"/>
                <a:cs typeface="Arial" panose="020B0604020202020204" pitchFamily="34" charset="0"/>
              </a:rPr>
              <a:t>Step 2. </a:t>
            </a:r>
            <a:r>
              <a:rPr lang="en-US" sz="1600" dirty="0">
                <a:latin typeface="Arial" panose="020B0604020202020204" pitchFamily="34" charset="0"/>
                <a:cs typeface="Arial" panose="020B0604020202020204" pitchFamily="34" charset="0"/>
              </a:rPr>
              <a:t>Specify the server that will provide AAA services for the router. This can be a TACACS+ or RADIUS server.</a:t>
            </a:r>
          </a:p>
          <a:p>
            <a:pPr lvl="1"/>
            <a:endParaRPr lang="en-US" sz="1600" dirty="0">
              <a:latin typeface="Arial" panose="020B0604020202020204" pitchFamily="34" charset="0"/>
              <a:cs typeface="Arial" panose="020B0604020202020204" pitchFamily="34" charset="0"/>
            </a:endParaRPr>
          </a:p>
          <a:p>
            <a:pPr lvl="1"/>
            <a:r>
              <a:rPr lang="en-US" sz="1600" b="1" dirty="0">
                <a:latin typeface="Arial" panose="020B0604020202020204" pitchFamily="34" charset="0"/>
                <a:cs typeface="Arial" panose="020B0604020202020204" pitchFamily="34" charset="0"/>
              </a:rPr>
              <a:t>Step 3. </a:t>
            </a:r>
            <a:r>
              <a:rPr lang="en-US" sz="1600" dirty="0">
                <a:latin typeface="Arial" panose="020B0604020202020204" pitchFamily="34" charset="0"/>
                <a:cs typeface="Arial" panose="020B0604020202020204" pitchFamily="34" charset="0"/>
              </a:rPr>
              <a:t>Configure the encryption key needed to encrypt the data transfer between the network device and AAA server.</a:t>
            </a:r>
          </a:p>
          <a:p>
            <a:pPr lvl="1"/>
            <a:endParaRPr lang="en-US" sz="1600" dirty="0">
              <a:latin typeface="Arial" panose="020B0604020202020204" pitchFamily="34" charset="0"/>
              <a:cs typeface="Arial" panose="020B0604020202020204" pitchFamily="34" charset="0"/>
            </a:endParaRPr>
          </a:p>
          <a:p>
            <a:pPr lvl="1"/>
            <a:r>
              <a:rPr lang="en-US" sz="1600" b="1" dirty="0">
                <a:latin typeface="Arial" panose="020B0604020202020204" pitchFamily="34" charset="0"/>
                <a:cs typeface="Arial" panose="020B0604020202020204" pitchFamily="34" charset="0"/>
              </a:rPr>
              <a:t>Step 4. </a:t>
            </a:r>
            <a:r>
              <a:rPr lang="en-US" sz="1600" dirty="0">
                <a:latin typeface="Arial" panose="020B0604020202020204" pitchFamily="34" charset="0"/>
                <a:cs typeface="Arial" panose="020B0604020202020204" pitchFamily="34" charset="0"/>
              </a:rPr>
              <a:t>Configure the AAA authentication method list to refer to the TACACS+ or RADIUS server. For redundancy, it is possible to configure more than one server.</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TACACS+ Servers</a:t>
            </a:r>
          </a:p>
        </p:txBody>
      </p:sp>
      <p:sp>
        <p:nvSpPr>
          <p:cNvPr id="5" name="Object4"/>
          <p:cNvSpPr/>
          <p:nvPr/>
        </p:nvSpPr>
        <p:spPr>
          <a:xfrm>
            <a:off x="0" y="753291"/>
            <a:ext cx="5035544" cy="2571750"/>
          </a:xfrm>
          <a:prstGeom prst="rect">
            <a:avLst/>
          </a:prstGeom>
          <a:noFill/>
          <a:ln/>
        </p:spPr>
        <p:txBody>
          <a:bodyPr wrap="square" rtlCol="0" anchor="t"/>
          <a:lstStyle/>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To configure a TACACS+ server, globally enable AAA using the </a:t>
            </a:r>
            <a:r>
              <a:rPr lang="en-US" sz="1500" b="1" dirty="0">
                <a:latin typeface="Arial" panose="020B0604020202020204" pitchFamily="34" charset="0"/>
                <a:cs typeface="Arial" panose="020B0604020202020204" pitchFamily="34" charset="0"/>
              </a:rPr>
              <a:t>aaa new-model</a:t>
            </a:r>
            <a:r>
              <a:rPr lang="en-US" sz="1500" dirty="0">
                <a:latin typeface="Arial" panose="020B0604020202020204" pitchFamily="34" charset="0"/>
                <a:cs typeface="Arial" panose="020B0604020202020204" pitchFamily="34" charset="0"/>
              </a:rPr>
              <a:t> command. </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Use the </a:t>
            </a:r>
            <a:r>
              <a:rPr lang="en-US" sz="1500" b="1" dirty="0">
                <a:latin typeface="Arial" panose="020B0604020202020204" pitchFamily="34" charset="0"/>
                <a:cs typeface="Arial" panose="020B0604020202020204" pitchFamily="34" charset="0"/>
              </a:rPr>
              <a:t>tacacs server</a:t>
            </a:r>
            <a:r>
              <a:rPr lang="en-US" sz="1500" dirty="0">
                <a:latin typeface="Arial" panose="020B0604020202020204" pitchFamily="34" charset="0"/>
                <a:cs typeface="Arial" panose="020B0604020202020204" pitchFamily="34" charset="0"/>
              </a:rPr>
              <a:t> </a:t>
            </a:r>
            <a:r>
              <a:rPr lang="en-US" sz="1500" i="1" dirty="0">
                <a:latin typeface="Arial" panose="020B0604020202020204" pitchFamily="34" charset="0"/>
                <a:cs typeface="Arial" panose="020B0604020202020204" pitchFamily="34" charset="0"/>
              </a:rPr>
              <a:t>name</a:t>
            </a:r>
            <a:r>
              <a:rPr lang="en-US" sz="1500" dirty="0">
                <a:latin typeface="Arial" panose="020B0604020202020204" pitchFamily="34" charset="0"/>
                <a:cs typeface="Arial" panose="020B0604020202020204" pitchFamily="34" charset="0"/>
              </a:rPr>
              <a:t> command. </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In TACACS+ server configuration mode, configure the IPv4 address of the TACACS+ server using the </a:t>
            </a:r>
            <a:r>
              <a:rPr lang="en-US" sz="1500" b="1" dirty="0">
                <a:latin typeface="Arial" panose="020B0604020202020204" pitchFamily="34" charset="0"/>
                <a:cs typeface="Arial" panose="020B0604020202020204" pitchFamily="34" charset="0"/>
              </a:rPr>
              <a:t>address ipv4</a:t>
            </a:r>
            <a:r>
              <a:rPr lang="en-US" sz="1500" dirty="0">
                <a:latin typeface="Arial" panose="020B0604020202020204" pitchFamily="34" charset="0"/>
                <a:cs typeface="Arial" panose="020B0604020202020204" pitchFamily="34" charset="0"/>
              </a:rPr>
              <a:t> command. The </a:t>
            </a:r>
            <a:r>
              <a:rPr lang="en-US" sz="1500" b="1" dirty="0">
                <a:latin typeface="Arial" panose="020B0604020202020204" pitchFamily="34" charset="0"/>
                <a:cs typeface="Arial" panose="020B0604020202020204" pitchFamily="34" charset="0"/>
              </a:rPr>
              <a:t>address ipv4</a:t>
            </a:r>
            <a:r>
              <a:rPr lang="en-US" sz="1500" dirty="0">
                <a:latin typeface="Arial" panose="020B0604020202020204" pitchFamily="34" charset="0"/>
                <a:cs typeface="Arial" panose="020B0604020202020204" pitchFamily="34" charset="0"/>
              </a:rPr>
              <a:t> command allows the option to modify the authentication port and the accounting port.</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Use the </a:t>
            </a:r>
            <a:r>
              <a:rPr lang="en-US" sz="1500" b="1" dirty="0">
                <a:latin typeface="Arial" panose="020B0604020202020204" pitchFamily="34" charset="0"/>
                <a:cs typeface="Arial" panose="020B0604020202020204" pitchFamily="34" charset="0"/>
              </a:rPr>
              <a:t>single-connection</a:t>
            </a:r>
            <a:r>
              <a:rPr lang="en-US" sz="1500" dirty="0">
                <a:latin typeface="Arial" panose="020B0604020202020204" pitchFamily="34" charset="0"/>
                <a:cs typeface="Arial" panose="020B0604020202020204" pitchFamily="34" charset="0"/>
              </a:rPr>
              <a:t> command to enhance TCP performance. If required, multiple TACACS+ servers can be identified by entering their respective IPv4 addresses using the </a:t>
            </a:r>
            <a:r>
              <a:rPr lang="en-US" sz="1500" b="1" dirty="0">
                <a:latin typeface="Arial" panose="020B0604020202020204" pitchFamily="34" charset="0"/>
                <a:cs typeface="Arial" panose="020B0604020202020204" pitchFamily="34" charset="0"/>
              </a:rPr>
              <a:t>tacacs server</a:t>
            </a:r>
            <a:r>
              <a:rPr lang="en-US" sz="1500" dirty="0">
                <a:latin typeface="Arial" panose="020B0604020202020204" pitchFamily="34" charset="0"/>
                <a:cs typeface="Arial" panose="020B0604020202020204" pitchFamily="34" charset="0"/>
              </a:rPr>
              <a:t> </a:t>
            </a:r>
            <a:r>
              <a:rPr lang="en-US" sz="1500" i="1" dirty="0">
                <a:latin typeface="Arial" panose="020B0604020202020204" pitchFamily="34" charset="0"/>
                <a:cs typeface="Arial" panose="020B0604020202020204" pitchFamily="34" charset="0"/>
              </a:rPr>
              <a:t>name</a:t>
            </a:r>
            <a:r>
              <a:rPr lang="en-US" sz="1500" dirty="0">
                <a:latin typeface="Arial" panose="020B0604020202020204" pitchFamily="34" charset="0"/>
                <a:cs typeface="Arial" panose="020B0604020202020204" pitchFamily="34" charset="0"/>
              </a:rPr>
              <a:t> command.</a:t>
            </a:r>
          </a:p>
          <a:p>
            <a:pPr marL="285750" indent="-285750">
              <a:buFont typeface="Arial" panose="020B0604020202020204" pitchFamily="34" charset="0"/>
              <a:buChar char="•"/>
            </a:pPr>
            <a:r>
              <a:rPr lang="en-US" sz="1500" dirty="0">
                <a:latin typeface="Arial" panose="020B0604020202020204" pitchFamily="34" charset="0"/>
                <a:cs typeface="Arial" panose="020B0604020202020204" pitchFamily="34" charset="0"/>
              </a:rPr>
              <a:t>The </a:t>
            </a:r>
            <a:r>
              <a:rPr lang="en-US" sz="1500" b="1" dirty="0">
                <a:latin typeface="Arial" panose="020B0604020202020204" pitchFamily="34" charset="0"/>
                <a:cs typeface="Arial" panose="020B0604020202020204" pitchFamily="34" charset="0"/>
              </a:rPr>
              <a:t>key</a:t>
            </a:r>
            <a:r>
              <a:rPr lang="en-US" sz="1500" dirty="0">
                <a:latin typeface="Arial" panose="020B0604020202020204" pitchFamily="34" charset="0"/>
                <a:cs typeface="Arial" panose="020B0604020202020204" pitchFamily="34" charset="0"/>
              </a:rPr>
              <a:t> </a:t>
            </a:r>
            <a:r>
              <a:rPr lang="en-US" sz="1500" i="1" dirty="0">
                <a:latin typeface="Arial" panose="020B0604020202020204" pitchFamily="34" charset="0"/>
                <a:cs typeface="Arial" panose="020B0604020202020204" pitchFamily="34" charset="0"/>
              </a:rPr>
              <a:t>key</a:t>
            </a:r>
            <a:r>
              <a:rPr lang="en-US" sz="1500" dirty="0">
                <a:latin typeface="Arial" panose="020B0604020202020204" pitchFamily="34" charset="0"/>
                <a:cs typeface="Arial" panose="020B0604020202020204" pitchFamily="34" charset="0"/>
              </a:rPr>
              <a:t> command is used to configure the shared secret key to encrypt the data transfer between the TACACS+ server and AAA-enabled router. </a:t>
            </a:r>
          </a:p>
        </p:txBody>
      </p:sp>
      <p:pic>
        <p:nvPicPr>
          <p:cNvPr id="6" name="Picture 5">
            <a:extLst>
              <a:ext uri="{FF2B5EF4-FFF2-40B4-BE49-F238E27FC236}">
                <a16:creationId xmlns:a16="http://schemas.microsoft.com/office/drawing/2014/main" id="{F180D6EF-C839-4A0C-B644-9D1E2DFD5F5C}"/>
              </a:ext>
            </a:extLst>
          </p:cNvPr>
          <p:cNvPicPr>
            <a:picLocks noChangeAspect="1"/>
          </p:cNvPicPr>
          <p:nvPr/>
        </p:nvPicPr>
        <p:blipFill>
          <a:blip r:embed="rId3"/>
          <a:stretch>
            <a:fillRect/>
          </a:stretch>
        </p:blipFill>
        <p:spPr>
          <a:xfrm>
            <a:off x="4888758" y="2778085"/>
            <a:ext cx="4255242" cy="1620787"/>
          </a:xfrm>
          <a:prstGeom prst="rect">
            <a:avLst/>
          </a:prstGeom>
        </p:spPr>
      </p:pic>
      <p:pic>
        <p:nvPicPr>
          <p:cNvPr id="4" name="Picture 3">
            <a:extLst>
              <a:ext uri="{FF2B5EF4-FFF2-40B4-BE49-F238E27FC236}">
                <a16:creationId xmlns:a16="http://schemas.microsoft.com/office/drawing/2014/main" id="{480DB185-0F91-4B24-9E1F-0667DE77D322}"/>
              </a:ext>
            </a:extLst>
          </p:cNvPr>
          <p:cNvPicPr>
            <a:picLocks noChangeAspect="1"/>
          </p:cNvPicPr>
          <p:nvPr/>
        </p:nvPicPr>
        <p:blipFill>
          <a:blip r:embed="rId4"/>
          <a:stretch>
            <a:fillRect/>
          </a:stretch>
        </p:blipFill>
        <p:spPr>
          <a:xfrm>
            <a:off x="5159120" y="306070"/>
            <a:ext cx="2881080" cy="247287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RADIUS Servers</a:t>
            </a:r>
          </a:p>
        </p:txBody>
      </p:sp>
      <p:sp>
        <p:nvSpPr>
          <p:cNvPr id="5" name="Object4"/>
          <p:cNvSpPr/>
          <p:nvPr/>
        </p:nvSpPr>
        <p:spPr>
          <a:xfrm>
            <a:off x="0" y="914400"/>
            <a:ext cx="8686800" cy="1567543"/>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600" dirty="0">
                <a:latin typeface="Arial" panose="020B0604020202020204" pitchFamily="34" charset="0"/>
                <a:cs typeface="Arial" panose="020B0604020202020204" pitchFamily="34" charset="0"/>
              </a:rPr>
              <a:t>To configure a RADIUS server, use the </a:t>
            </a:r>
            <a:r>
              <a:rPr lang="en-US" sz="1600" b="1" dirty="0">
                <a:latin typeface="Arial" panose="020B0604020202020204" pitchFamily="34" charset="0"/>
                <a:cs typeface="Arial" panose="020B0604020202020204" pitchFamily="34" charset="0"/>
              </a:rPr>
              <a:t>radius server</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name</a:t>
            </a:r>
            <a:r>
              <a:rPr lang="en-US" sz="1600" dirty="0">
                <a:latin typeface="Arial" panose="020B0604020202020204" pitchFamily="34" charset="0"/>
                <a:cs typeface="Arial" panose="020B0604020202020204" pitchFamily="34" charset="0"/>
              </a:rPr>
              <a:t> command.</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If required, multiple RADIUS servers can be identified by entering a </a:t>
            </a:r>
            <a:r>
              <a:rPr lang="en-US" sz="1600" b="1" dirty="0">
                <a:latin typeface="Arial" panose="020B0604020202020204" pitchFamily="34" charset="0"/>
                <a:cs typeface="Arial" panose="020B0604020202020204" pitchFamily="34" charset="0"/>
              </a:rPr>
              <a:t>radius server</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name</a:t>
            </a:r>
            <a:r>
              <a:rPr lang="en-US" sz="1600" dirty="0">
                <a:latin typeface="Arial" panose="020B0604020202020204" pitchFamily="34" charset="0"/>
                <a:cs typeface="Arial" panose="020B0604020202020204" pitchFamily="34" charset="0"/>
              </a:rPr>
              <a:t> command for each server.</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In RADIUS server configuration mode, configure the IPv4 address of the RADIUS server using the </a:t>
            </a:r>
            <a:r>
              <a:rPr lang="en-US" sz="1600" b="1" dirty="0">
                <a:latin typeface="Arial" panose="020B0604020202020204" pitchFamily="34" charset="0"/>
                <a:cs typeface="Arial" panose="020B0604020202020204" pitchFamily="34" charset="0"/>
              </a:rPr>
              <a:t>address ipv4</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ipv4-address</a:t>
            </a:r>
            <a:r>
              <a:rPr lang="en-US" sz="1600" dirty="0">
                <a:latin typeface="Arial" panose="020B0604020202020204" pitchFamily="34" charset="0"/>
                <a:cs typeface="Arial" panose="020B0604020202020204" pitchFamily="34" charset="0"/>
              </a:rPr>
              <a:t> command.</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To configure the shared secret key for encrypting the password, use the </a:t>
            </a:r>
            <a:r>
              <a:rPr lang="en-US" sz="1600" b="1" dirty="0">
                <a:latin typeface="Arial" panose="020B0604020202020204" pitchFamily="34" charset="0"/>
                <a:cs typeface="Arial" panose="020B0604020202020204" pitchFamily="34" charset="0"/>
              </a:rPr>
              <a:t>key </a:t>
            </a:r>
            <a:r>
              <a:rPr lang="en-US" sz="1600" dirty="0">
                <a:latin typeface="Arial" panose="020B0604020202020204" pitchFamily="34" charset="0"/>
                <a:cs typeface="Arial" panose="020B0604020202020204" pitchFamily="34" charset="0"/>
              </a:rPr>
              <a:t>command. </a:t>
            </a:r>
          </a:p>
          <a:p>
            <a:pPr>
              <a:lnSpc>
                <a:spcPts val="2000"/>
              </a:lnSpc>
            </a:pPr>
            <a:endParaRPr lang="en-US" sz="1400" dirty="0"/>
          </a:p>
          <a:p>
            <a:pPr>
              <a:lnSpc>
                <a:spcPts val="2000"/>
              </a:lnSpc>
            </a:pPr>
            <a:endParaRPr lang="en-US" sz="1400" dirty="0"/>
          </a:p>
        </p:txBody>
      </p:sp>
      <p:pic>
        <p:nvPicPr>
          <p:cNvPr id="4" name="Picture 3">
            <a:extLst>
              <a:ext uri="{FF2B5EF4-FFF2-40B4-BE49-F238E27FC236}">
                <a16:creationId xmlns:a16="http://schemas.microsoft.com/office/drawing/2014/main" id="{FB2273C4-FD83-4E7B-BC62-D4688C986929}"/>
              </a:ext>
            </a:extLst>
          </p:cNvPr>
          <p:cNvPicPr>
            <a:picLocks noChangeAspect="1"/>
          </p:cNvPicPr>
          <p:nvPr/>
        </p:nvPicPr>
        <p:blipFill>
          <a:blip r:embed="rId3"/>
          <a:stretch>
            <a:fillRect/>
          </a:stretch>
        </p:blipFill>
        <p:spPr>
          <a:xfrm>
            <a:off x="0" y="2481943"/>
            <a:ext cx="9144000" cy="165080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24</a:t>
            </a:fld>
            <a:endParaRPr lang="en-US" dirty="0"/>
          </a:p>
        </p:txBody>
      </p:sp>
      <p:sp>
        <p:nvSpPr>
          <p:cNvPr id="7" name="BlokTextu 6">
            <a:extLst>
              <a:ext uri="{FF2B5EF4-FFF2-40B4-BE49-F238E27FC236}">
                <a16:creationId xmlns:a16="http://schemas.microsoft.com/office/drawing/2014/main" id="{B46BAE51-53F8-E93E-99FE-8C09ECF6DBF1}"/>
              </a:ext>
            </a:extLst>
          </p:cNvPr>
          <p:cNvSpPr txBox="1"/>
          <p:nvPr/>
        </p:nvSpPr>
        <p:spPr>
          <a:xfrm>
            <a:off x="1247651" y="4097119"/>
            <a:ext cx="6648698" cy="646331"/>
          </a:xfrm>
          <a:prstGeom prst="rect">
            <a:avLst/>
          </a:prstGeom>
          <a:noFill/>
        </p:spPr>
        <p:txBody>
          <a:bodyPr wrap="square" lIns="91440" tIns="45720" rIns="91440" bIns="45720" anchor="t">
            <a:spAutoFit/>
          </a:bodyPr>
          <a:lstStyle/>
          <a:p>
            <a:r>
              <a:rPr lang="sk-SK" b="0" i="0" u="none" strike="noStrike" dirty="0">
                <a:solidFill>
                  <a:srgbClr val="171717"/>
                </a:solidFill>
                <a:effectLst/>
                <a:latin typeface="Segoe UI"/>
                <a:cs typeface="Segoe UI"/>
              </a:rPr>
              <a:t>RADIUS </a:t>
            </a:r>
            <a:r>
              <a:rPr lang="sk-SK" b="0" i="0" u="none" strike="noStrike" err="1">
                <a:solidFill>
                  <a:srgbClr val="171717"/>
                </a:solidFill>
                <a:effectLst/>
                <a:latin typeface="Segoe UI"/>
                <a:cs typeface="Segoe UI"/>
              </a:rPr>
              <a:t>traffic</a:t>
            </a:r>
            <a:r>
              <a:rPr lang="sk-SK" b="0" i="0" u="none" strike="noStrike" dirty="0">
                <a:solidFill>
                  <a:srgbClr val="171717"/>
                </a:solidFill>
                <a:effectLst/>
                <a:latin typeface="Segoe UI"/>
                <a:cs typeface="Segoe UI"/>
              </a:rPr>
              <a:t> </a:t>
            </a:r>
            <a:r>
              <a:rPr lang="sk-SK" b="0" i="0" u="none" strike="noStrike" err="1">
                <a:solidFill>
                  <a:srgbClr val="171717"/>
                </a:solidFill>
                <a:effectLst/>
                <a:latin typeface="Segoe UI"/>
                <a:cs typeface="Segoe UI"/>
              </a:rPr>
              <a:t>is</a:t>
            </a:r>
            <a:r>
              <a:rPr lang="sk-SK" b="0" i="0" u="none" strike="noStrike" dirty="0">
                <a:solidFill>
                  <a:srgbClr val="171717"/>
                </a:solidFill>
                <a:effectLst/>
                <a:latin typeface="Segoe UI"/>
                <a:cs typeface="Segoe UI"/>
              </a:rPr>
              <a:t> </a:t>
            </a:r>
            <a:r>
              <a:rPr lang="sk-SK" b="0" i="0" u="none" strike="noStrike" err="1">
                <a:solidFill>
                  <a:srgbClr val="171717"/>
                </a:solidFill>
                <a:effectLst/>
                <a:latin typeface="Segoe UI"/>
                <a:cs typeface="Segoe UI"/>
              </a:rPr>
              <a:t>using</a:t>
            </a:r>
            <a:r>
              <a:rPr lang="sk-SK" b="0" i="0" u="none" strike="noStrike" dirty="0">
                <a:solidFill>
                  <a:srgbClr val="171717"/>
                </a:solidFill>
                <a:effectLst/>
                <a:latin typeface="Segoe UI"/>
                <a:cs typeface="Segoe UI"/>
              </a:rPr>
              <a:t> User Datagram </a:t>
            </a:r>
            <a:r>
              <a:rPr lang="sk-SK" b="0" i="0" u="none" strike="noStrike" err="1">
                <a:solidFill>
                  <a:srgbClr val="171717"/>
                </a:solidFill>
                <a:effectLst/>
                <a:latin typeface="Segoe UI"/>
                <a:cs typeface="Segoe UI"/>
              </a:rPr>
              <a:t>Protocol</a:t>
            </a:r>
            <a:r>
              <a:rPr lang="sk-SK" b="0" i="0" u="none" strike="noStrike" dirty="0">
                <a:solidFill>
                  <a:srgbClr val="171717"/>
                </a:solidFill>
                <a:effectLst/>
                <a:latin typeface="Segoe UI"/>
                <a:cs typeface="Segoe UI"/>
              </a:rPr>
              <a:t> (UDP) </a:t>
            </a:r>
            <a:r>
              <a:rPr lang="sk-SK" b="0" i="0" u="none" strike="noStrike" err="1">
                <a:solidFill>
                  <a:srgbClr val="171717"/>
                </a:solidFill>
                <a:effectLst/>
                <a:latin typeface="Segoe UI"/>
                <a:cs typeface="Segoe UI"/>
              </a:rPr>
              <a:t>ports</a:t>
            </a:r>
            <a:r>
              <a:rPr lang="sk-SK" b="0" i="0" u="none" strike="noStrike" dirty="0">
                <a:solidFill>
                  <a:srgbClr val="171717"/>
                </a:solidFill>
                <a:effectLst/>
                <a:latin typeface="Segoe UI"/>
                <a:cs typeface="Segoe UI"/>
              </a:rPr>
              <a:t> 1812, 1813 or </a:t>
            </a:r>
            <a:r>
              <a:rPr lang="sk-SK" b="1" i="0" u="none" strike="noStrike" dirty="0">
                <a:solidFill>
                  <a:srgbClr val="171717"/>
                </a:solidFill>
                <a:effectLst/>
                <a:latin typeface="Segoe UI"/>
                <a:cs typeface="Segoe UI"/>
              </a:rPr>
              <a:t>1645</a:t>
            </a:r>
            <a:r>
              <a:rPr lang="sk-SK" b="0" i="0" u="none" strike="noStrike" dirty="0">
                <a:solidFill>
                  <a:srgbClr val="171717"/>
                </a:solidFill>
                <a:effectLst/>
                <a:latin typeface="Segoe UI"/>
                <a:cs typeface="Segoe UI"/>
              </a:rPr>
              <a:t>, and </a:t>
            </a:r>
            <a:r>
              <a:rPr lang="sk-SK" b="1" i="0" u="none" strike="noStrike" dirty="0">
                <a:solidFill>
                  <a:srgbClr val="171717"/>
                </a:solidFill>
                <a:effectLst/>
                <a:latin typeface="Segoe UI"/>
                <a:cs typeface="Segoe UI"/>
              </a:rPr>
              <a:t>1646</a:t>
            </a:r>
            <a:r>
              <a:rPr lang="sk-SK" b="0" i="0" u="none" strike="noStrike" dirty="0">
                <a:solidFill>
                  <a:srgbClr val="171717"/>
                </a:solidFill>
                <a:effectLst/>
                <a:latin typeface="Segoe UI"/>
                <a:cs typeface="Segoe UI"/>
              </a:rPr>
              <a:t>.</a:t>
            </a:r>
            <a:endParaRPr lang="sk-SK" dirty="0">
              <a:latin typeface="Segoe UI"/>
              <a:cs typeface="Segoe U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Authenticate to the AAA Server Configuration Commands</a:t>
            </a:r>
          </a:p>
        </p:txBody>
      </p:sp>
      <p:sp>
        <p:nvSpPr>
          <p:cNvPr id="5" name="Object4"/>
          <p:cNvSpPr/>
          <p:nvPr/>
        </p:nvSpPr>
        <p:spPr>
          <a:xfrm>
            <a:off x="0" y="914400"/>
            <a:ext cx="9027886" cy="841829"/>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When the AAA security servers have been identified, the servers must be included in the method list of the </a:t>
            </a:r>
            <a:r>
              <a:rPr lang="en-US" sz="1600" b="1" dirty="0">
                <a:latin typeface="Arial" panose="020B0604020202020204" pitchFamily="34" charset="0"/>
                <a:cs typeface="Arial" panose="020B0604020202020204" pitchFamily="34" charset="0"/>
              </a:rPr>
              <a:t>aaa authentication login</a:t>
            </a:r>
            <a:r>
              <a:rPr lang="en-US" sz="1600" dirty="0">
                <a:latin typeface="Arial" panose="020B0604020202020204" pitchFamily="34" charset="0"/>
                <a:cs typeface="Arial" panose="020B0604020202020204" pitchFamily="34" charset="0"/>
              </a:rPr>
              <a:t> command. AAA servers are identified using the </a:t>
            </a:r>
            <a:r>
              <a:rPr lang="en-US" sz="1600" b="1" dirty="0">
                <a:latin typeface="Arial" panose="020B0604020202020204" pitchFamily="34" charset="0"/>
                <a:cs typeface="Arial" panose="020B0604020202020204" pitchFamily="34" charset="0"/>
              </a:rPr>
              <a:t>group tacacs+</a:t>
            </a:r>
            <a:r>
              <a:rPr lang="en-US" sz="1600" dirty="0">
                <a:latin typeface="Arial" panose="020B0604020202020204" pitchFamily="34" charset="0"/>
                <a:cs typeface="Arial" panose="020B0604020202020204" pitchFamily="34" charset="0"/>
              </a:rPr>
              <a:t> or </a:t>
            </a:r>
            <a:r>
              <a:rPr lang="en-US" sz="1600" b="1" dirty="0">
                <a:latin typeface="Arial" panose="020B0604020202020204" pitchFamily="34" charset="0"/>
                <a:cs typeface="Arial" panose="020B0604020202020204" pitchFamily="34" charset="0"/>
              </a:rPr>
              <a:t>group radius</a:t>
            </a:r>
            <a:r>
              <a:rPr lang="en-US" sz="1600" dirty="0">
                <a:latin typeface="Arial" panose="020B0604020202020204" pitchFamily="34" charset="0"/>
                <a:cs typeface="Arial" panose="020B0604020202020204" pitchFamily="34" charset="0"/>
              </a:rPr>
              <a:t> keywords. Refer to the figure to see command syntax options available with the </a:t>
            </a:r>
            <a:r>
              <a:rPr lang="en-US" sz="1600" b="1" dirty="0">
                <a:latin typeface="Arial" panose="020B0604020202020204" pitchFamily="34" charset="0"/>
                <a:cs typeface="Arial" panose="020B0604020202020204" pitchFamily="34" charset="0"/>
              </a:rPr>
              <a:t>aaa authentication login</a:t>
            </a:r>
            <a:r>
              <a:rPr lang="en-US" sz="1600" dirty="0">
                <a:latin typeface="Arial" panose="020B0604020202020204" pitchFamily="34" charset="0"/>
                <a:cs typeface="Arial" panose="020B0604020202020204" pitchFamily="34" charset="0"/>
              </a:rPr>
              <a:t> command.</a:t>
            </a:r>
          </a:p>
          <a:p>
            <a:pPr>
              <a:lnSpc>
                <a:spcPts val="2000"/>
              </a:lnSpc>
            </a:pPr>
            <a:endParaRPr lang="en-US" sz="1400" dirty="0"/>
          </a:p>
        </p:txBody>
      </p:sp>
      <p:pic>
        <p:nvPicPr>
          <p:cNvPr id="4" name="Picture 3">
            <a:extLst>
              <a:ext uri="{FF2B5EF4-FFF2-40B4-BE49-F238E27FC236}">
                <a16:creationId xmlns:a16="http://schemas.microsoft.com/office/drawing/2014/main" id="{9B9EE47C-54B3-4579-AF1A-9535BB4C6D7B}"/>
              </a:ext>
            </a:extLst>
          </p:cNvPr>
          <p:cNvPicPr>
            <a:picLocks noChangeAspect="1"/>
          </p:cNvPicPr>
          <p:nvPr/>
        </p:nvPicPr>
        <p:blipFill>
          <a:blip r:embed="rId3"/>
          <a:stretch>
            <a:fillRect/>
          </a:stretch>
        </p:blipFill>
        <p:spPr>
          <a:xfrm>
            <a:off x="1545772" y="1969281"/>
            <a:ext cx="5768335" cy="265986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Authentication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Authenticate to the AAA Server Configuration Commands (Cont.)</a:t>
            </a:r>
          </a:p>
        </p:txBody>
      </p:sp>
      <p:sp>
        <p:nvSpPr>
          <p:cNvPr id="5" name="Object4"/>
          <p:cNvSpPr/>
          <p:nvPr/>
        </p:nvSpPr>
        <p:spPr>
          <a:xfrm>
            <a:off x="0" y="914400"/>
            <a:ext cx="9027886" cy="841829"/>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To configure a method list for the default login to authenticate first using a TACACS+ server, second with a RADIUS server, and finally with a local username database, specify the order with the </a:t>
            </a:r>
            <a:r>
              <a:rPr lang="en-US" sz="1600" b="1" dirty="0">
                <a:latin typeface="Arial" panose="020B0604020202020204" pitchFamily="34" charset="0"/>
                <a:cs typeface="Arial" panose="020B0604020202020204" pitchFamily="34" charset="0"/>
              </a:rPr>
              <a:t>aaa authentication login default</a:t>
            </a:r>
            <a:r>
              <a:rPr lang="en-US" sz="1600" dirty="0">
                <a:latin typeface="Arial" panose="020B0604020202020204" pitchFamily="34" charset="0"/>
                <a:cs typeface="Arial" panose="020B0604020202020204" pitchFamily="34" charset="0"/>
              </a:rPr>
              <a:t> command, as highlighted in the example.</a:t>
            </a:r>
            <a:endParaRPr lang="en-US" sz="14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2E80DC55-1C97-4A0E-B5B3-5C980C51E2EE}"/>
              </a:ext>
            </a:extLst>
          </p:cNvPr>
          <p:cNvPicPr>
            <a:picLocks noChangeAspect="1"/>
          </p:cNvPicPr>
          <p:nvPr/>
        </p:nvPicPr>
        <p:blipFill>
          <a:blip r:embed="rId3"/>
          <a:stretch>
            <a:fillRect/>
          </a:stretch>
        </p:blipFill>
        <p:spPr>
          <a:xfrm>
            <a:off x="805542" y="1864006"/>
            <a:ext cx="7497794" cy="276514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26</a:t>
            </a:fld>
            <a:endParaRPr lang="en-US" dirty="0"/>
          </a:p>
        </p:txBody>
      </p:sp>
    </p:spTree>
    <p:extLst>
      <p:ext uri="{BB962C8B-B14F-4D97-AF65-F5344CB8AC3E}">
        <p14:creationId xmlns:p14="http://schemas.microsoft.com/office/powerpoint/2010/main" val="36000075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7.5 Configure Server-Based Authorization and Accounting</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Authorization and Accounting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Introduction to Server-Based AAA Authorization</a:t>
            </a:r>
          </a:p>
        </p:txBody>
      </p:sp>
      <p:sp>
        <p:nvSpPr>
          <p:cNvPr id="5" name="Object4"/>
          <p:cNvSpPr/>
          <p:nvPr/>
        </p:nvSpPr>
        <p:spPr>
          <a:xfrm>
            <a:off x="0" y="791028"/>
            <a:ext cx="9078686" cy="1625601"/>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Authorization is concerned with allowing and disallowing authenticated users access to functions of the network device interface. The TACACS+ protocol allows the separation of authentication from authorization. A router can be configured to restrict the user to performing only certain functions after successful authentication. Keep in mind that RADIUS does not separate the authentication from the authorization process.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Another important aspect of authorization is the ability to control user access to specific services.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By default, TACACS+ establishes a new TCP session for every authorization request, which can lead to delays when users enter commands. To improve performance, AAA supports persistent TCP sessions that are configured with the </a:t>
            </a:r>
            <a:r>
              <a:rPr lang="en-US" b="1" dirty="0">
                <a:latin typeface="Arial" panose="020B0604020202020204" pitchFamily="34" charset="0"/>
                <a:cs typeface="Arial" panose="020B0604020202020204" pitchFamily="34" charset="0"/>
              </a:rPr>
              <a:t>single-connection</a:t>
            </a:r>
            <a:r>
              <a:rPr lang="en-US" dirty="0">
                <a:latin typeface="Arial" panose="020B0604020202020204" pitchFamily="34" charset="0"/>
                <a:cs typeface="Arial" panose="020B0604020202020204" pitchFamily="34" charset="0"/>
              </a:rPr>
              <a:t> tacacs server configuration mode command.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Authorization and Accounting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AAA Authorization Configuration</a:t>
            </a:r>
          </a:p>
        </p:txBody>
      </p:sp>
      <p:sp>
        <p:nvSpPr>
          <p:cNvPr id="7" name="TextBox 6">
            <a:extLst>
              <a:ext uri="{FF2B5EF4-FFF2-40B4-BE49-F238E27FC236}">
                <a16:creationId xmlns:a16="http://schemas.microsoft.com/office/drawing/2014/main" id="{B2E5F84B-80C3-4863-A15C-76271FEF3D20}"/>
              </a:ext>
            </a:extLst>
          </p:cNvPr>
          <p:cNvSpPr txBox="1"/>
          <p:nvPr/>
        </p:nvSpPr>
        <p:spPr>
          <a:xfrm>
            <a:off x="56243" y="731520"/>
            <a:ext cx="3315833" cy="3939540"/>
          </a:xfrm>
          <a:prstGeom prst="rect">
            <a:avLst/>
          </a:prstGeom>
          <a:noFill/>
        </p:spPr>
        <p:txBody>
          <a:bodyPr wrap="square">
            <a:spAutoFit/>
          </a:bodyPr>
          <a:lstStyle/>
          <a:p>
            <a:r>
              <a:rPr lang="en-US" sz="1600" dirty="0">
                <a:effectLst/>
                <a:latin typeface="Arial" panose="020B0604020202020204" pitchFamily="34" charset="0"/>
                <a:cs typeface="Arial" panose="020B0604020202020204" pitchFamily="34" charset="0"/>
              </a:rPr>
              <a:t>To configure authorization, use the </a:t>
            </a:r>
            <a:r>
              <a:rPr lang="en-US" sz="1600" b="1" dirty="0">
                <a:effectLst/>
                <a:latin typeface="Arial" panose="020B0604020202020204" pitchFamily="34" charset="0"/>
                <a:cs typeface="Arial" panose="020B0604020202020204" pitchFamily="34" charset="0"/>
              </a:rPr>
              <a:t>aaa authorization</a:t>
            </a:r>
            <a:r>
              <a:rPr lang="en-US" sz="1600" dirty="0">
                <a:effectLst/>
                <a:latin typeface="Arial" panose="020B0604020202020204" pitchFamily="34" charset="0"/>
                <a:cs typeface="Arial" panose="020B0604020202020204" pitchFamily="34" charset="0"/>
              </a:rPr>
              <a:t> command, as shown in the examples below. The authorization type can specify the types of commands or services:</a:t>
            </a:r>
          </a:p>
          <a:p>
            <a:endParaRPr lang="en-US" sz="1600" dirty="0">
              <a:effectLst/>
              <a:latin typeface="Arial" panose="020B0604020202020204" pitchFamily="34" charset="0"/>
              <a:cs typeface="Arial" panose="020B0604020202020204" pitchFamily="34" charset="0"/>
            </a:endParaRPr>
          </a:p>
          <a:p>
            <a:pPr lvl="1">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network</a:t>
            </a:r>
            <a:r>
              <a:rPr lang="en-US" sz="1400" dirty="0">
                <a:effectLst/>
                <a:latin typeface="Arial" panose="020B0604020202020204" pitchFamily="34" charset="0"/>
                <a:cs typeface="Arial" panose="020B0604020202020204" pitchFamily="34" charset="0"/>
              </a:rPr>
              <a:t> - for network services such as PPP and SLIP</a:t>
            </a:r>
          </a:p>
          <a:p>
            <a:pPr lvl="1">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exec</a:t>
            </a:r>
            <a:r>
              <a:rPr lang="en-US" sz="1400" dirty="0">
                <a:effectLst/>
                <a:latin typeface="Arial" panose="020B0604020202020204" pitchFamily="34" charset="0"/>
                <a:cs typeface="Arial" panose="020B0604020202020204" pitchFamily="34" charset="0"/>
              </a:rPr>
              <a:t> - for User EXEC terminal sessions</a:t>
            </a:r>
          </a:p>
          <a:p>
            <a:pPr lvl="1">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commands</a:t>
            </a:r>
            <a:r>
              <a:rPr lang="en-US" sz="1400" dirty="0">
                <a:effectLst/>
                <a:latin typeface="Arial" panose="020B0604020202020204" pitchFamily="34" charset="0"/>
                <a:cs typeface="Arial" panose="020B0604020202020204" pitchFamily="34" charset="0"/>
              </a:rPr>
              <a:t> </a:t>
            </a:r>
            <a:r>
              <a:rPr lang="en-US" sz="1400" i="1" dirty="0">
                <a:effectLst/>
                <a:latin typeface="Arial" panose="020B0604020202020204" pitchFamily="34" charset="0"/>
                <a:cs typeface="Arial" panose="020B0604020202020204" pitchFamily="34" charset="0"/>
              </a:rPr>
              <a:t>level</a:t>
            </a:r>
            <a:r>
              <a:rPr lang="en-US" sz="1400" dirty="0">
                <a:effectLst/>
                <a:latin typeface="Arial" panose="020B0604020202020204" pitchFamily="34" charset="0"/>
                <a:cs typeface="Arial" panose="020B0604020202020204" pitchFamily="34" charset="0"/>
              </a:rPr>
              <a:t> - command authorization attempts authorization for all EXEC mode commands, including global configuration commands, associated with a specific privilege level</a:t>
            </a:r>
          </a:p>
        </p:txBody>
      </p:sp>
      <p:pic>
        <p:nvPicPr>
          <p:cNvPr id="9" name="Picture 8">
            <a:extLst>
              <a:ext uri="{FF2B5EF4-FFF2-40B4-BE49-F238E27FC236}">
                <a16:creationId xmlns:a16="http://schemas.microsoft.com/office/drawing/2014/main" id="{85123CDD-C7F0-4D47-AAE5-B01ECC6D716A}"/>
              </a:ext>
            </a:extLst>
          </p:cNvPr>
          <p:cNvPicPr>
            <a:picLocks noChangeAspect="1"/>
          </p:cNvPicPr>
          <p:nvPr/>
        </p:nvPicPr>
        <p:blipFill>
          <a:blip r:embed="rId3"/>
          <a:stretch>
            <a:fillRect/>
          </a:stretch>
        </p:blipFill>
        <p:spPr>
          <a:xfrm>
            <a:off x="3362325" y="1139650"/>
            <a:ext cx="5781675" cy="512415"/>
          </a:xfrm>
          <a:prstGeom prst="rect">
            <a:avLst/>
          </a:prstGeom>
        </p:spPr>
      </p:pic>
      <p:pic>
        <p:nvPicPr>
          <p:cNvPr id="10" name="Picture 9">
            <a:extLst>
              <a:ext uri="{FF2B5EF4-FFF2-40B4-BE49-F238E27FC236}">
                <a16:creationId xmlns:a16="http://schemas.microsoft.com/office/drawing/2014/main" id="{FCAA3C50-1430-4602-9EA2-5DE240033B83}"/>
              </a:ext>
            </a:extLst>
          </p:cNvPr>
          <p:cNvPicPr>
            <a:picLocks noChangeAspect="1"/>
          </p:cNvPicPr>
          <p:nvPr/>
        </p:nvPicPr>
        <p:blipFill>
          <a:blip r:embed="rId4"/>
          <a:stretch>
            <a:fillRect/>
          </a:stretch>
        </p:blipFill>
        <p:spPr>
          <a:xfrm>
            <a:off x="4274893" y="3091644"/>
            <a:ext cx="2994066" cy="1584859"/>
          </a:xfrm>
          <a:prstGeom prst="rect">
            <a:avLst/>
          </a:prstGeom>
        </p:spPr>
      </p:pic>
      <p:pic>
        <p:nvPicPr>
          <p:cNvPr id="11" name="Picture 10">
            <a:extLst>
              <a:ext uri="{FF2B5EF4-FFF2-40B4-BE49-F238E27FC236}">
                <a16:creationId xmlns:a16="http://schemas.microsoft.com/office/drawing/2014/main" id="{77F10021-5E40-4140-8412-7A8CC11A3D97}"/>
              </a:ext>
            </a:extLst>
          </p:cNvPr>
          <p:cNvPicPr>
            <a:picLocks noChangeAspect="1"/>
          </p:cNvPicPr>
          <p:nvPr/>
        </p:nvPicPr>
        <p:blipFill>
          <a:blip r:embed="rId5"/>
          <a:stretch>
            <a:fillRect/>
          </a:stretch>
        </p:blipFill>
        <p:spPr>
          <a:xfrm>
            <a:off x="3372077" y="1876242"/>
            <a:ext cx="5575980" cy="128605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Authorization and Accounting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Introduction to Server-Based AAA Accounting</a:t>
            </a:r>
          </a:p>
        </p:txBody>
      </p:sp>
      <p:sp>
        <p:nvSpPr>
          <p:cNvPr id="5" name="Object4"/>
          <p:cNvSpPr/>
          <p:nvPr/>
        </p:nvSpPr>
        <p:spPr>
          <a:xfrm>
            <a:off x="-1" y="914400"/>
            <a:ext cx="8795657"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AAA accounting enables usage tracking. </a:t>
            </a:r>
          </a:p>
          <a:p>
            <a:pPr>
              <a:lnSpc>
                <a:spcPts val="2000"/>
              </a:lnSpc>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When accounting is configured on a AAA server it functions as a central repository for accounting information. </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Each session that is established through Cisco Secure ACS can be fully accounted for and stored on the server. </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Like authentication and authorization method lists, method lists for accounting define the way accounting is performed and the sequence in which these methods are performed. After it is enabled, the default accounting method list is automatically applied to all interfaces, except those that have a user-defined, or custom, accounting method list that has been explicitly defined.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Authorization and Accounting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AAA Accounting Configuration</a:t>
            </a:r>
          </a:p>
          <a:p>
            <a:pPr marL="0" indent="0">
              <a:buNone/>
            </a:pPr>
            <a:endParaRPr lang="en-US" dirty="0"/>
          </a:p>
        </p:txBody>
      </p:sp>
      <p:sp>
        <p:nvSpPr>
          <p:cNvPr id="5" name="Object4"/>
          <p:cNvSpPr/>
          <p:nvPr/>
        </p:nvSpPr>
        <p:spPr>
          <a:xfrm>
            <a:off x="-50800" y="738777"/>
            <a:ext cx="9310914" cy="2571750"/>
          </a:xfrm>
          <a:prstGeom prst="rect">
            <a:avLst/>
          </a:prstGeom>
          <a:noFill/>
          <a:ln/>
        </p:spPr>
        <p:txBody>
          <a:bodyPr wrap="square" rtlCol="0" anchor="t"/>
          <a:lstStyle/>
          <a:p>
            <a:r>
              <a:rPr lang="en-US" sz="1400" dirty="0">
                <a:effectLst/>
                <a:latin typeface="Arial" panose="020B0604020202020204" pitchFamily="34" charset="0"/>
                <a:cs typeface="Arial" panose="020B0604020202020204" pitchFamily="34" charset="0"/>
              </a:rPr>
              <a:t>To configure AAA accounting, use the </a:t>
            </a:r>
            <a:r>
              <a:rPr lang="en-US" sz="1400" b="1" dirty="0">
                <a:effectLst/>
                <a:latin typeface="Arial" panose="020B0604020202020204" pitchFamily="34" charset="0"/>
                <a:cs typeface="Arial" panose="020B0604020202020204" pitchFamily="34" charset="0"/>
              </a:rPr>
              <a:t>aaa accounting</a:t>
            </a:r>
            <a:r>
              <a:rPr lang="en-US" sz="1400" dirty="0">
                <a:effectLst/>
                <a:latin typeface="Arial" panose="020B0604020202020204" pitchFamily="34" charset="0"/>
                <a:cs typeface="Arial" panose="020B0604020202020204" pitchFamily="34" charset="0"/>
              </a:rPr>
              <a:t> command that is shown in the figure.</a:t>
            </a:r>
          </a:p>
          <a:p>
            <a:endParaRPr lang="en-US" sz="1400" dirty="0">
              <a:effectLst/>
              <a:latin typeface="Arial" panose="020B0604020202020204" pitchFamily="34" charset="0"/>
              <a:cs typeface="Arial" panose="020B0604020202020204" pitchFamily="34" charset="0"/>
            </a:endParaRPr>
          </a:p>
          <a:p>
            <a:r>
              <a:rPr lang="en-US" sz="1400" dirty="0">
                <a:effectLst/>
                <a:latin typeface="Arial" panose="020B0604020202020204" pitchFamily="34" charset="0"/>
                <a:cs typeface="Arial" panose="020B0604020202020204" pitchFamily="34" charset="0"/>
              </a:rPr>
              <a:t>The following three parameters are commonly used </a:t>
            </a:r>
            <a:r>
              <a:rPr lang="en-US" sz="1400" b="1" dirty="0">
                <a:effectLst/>
                <a:latin typeface="Arial" panose="020B0604020202020204" pitchFamily="34" charset="0"/>
                <a:cs typeface="Arial" panose="020B0604020202020204" pitchFamily="34" charset="0"/>
              </a:rPr>
              <a:t>aaa accounting</a:t>
            </a:r>
            <a:r>
              <a:rPr lang="en-US" sz="1400" dirty="0">
                <a:effectLst/>
                <a:latin typeface="Arial" panose="020B0604020202020204" pitchFamily="34" charset="0"/>
                <a:cs typeface="Arial" panose="020B0604020202020204" pitchFamily="34" charset="0"/>
              </a:rPr>
              <a:t> keywords:</a:t>
            </a:r>
          </a:p>
          <a:p>
            <a:pPr lvl="1">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network</a:t>
            </a:r>
            <a:r>
              <a:rPr lang="en-US" sz="1400" dirty="0">
                <a:effectLst/>
                <a:latin typeface="Arial" panose="020B0604020202020204" pitchFamily="34" charset="0"/>
                <a:cs typeface="Arial" panose="020B0604020202020204" pitchFamily="34" charset="0"/>
              </a:rPr>
              <a:t> - Runs accounting for all network-related service requests, including PPP.</a:t>
            </a:r>
          </a:p>
          <a:p>
            <a:pPr lvl="1">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exec</a:t>
            </a:r>
            <a:r>
              <a:rPr lang="en-US" sz="1400" dirty="0">
                <a:effectLst/>
                <a:latin typeface="Arial" panose="020B0604020202020204" pitchFamily="34" charset="0"/>
                <a:cs typeface="Arial" panose="020B0604020202020204" pitchFamily="34" charset="0"/>
              </a:rPr>
              <a:t> - Runs accounting for the EXEC shell session.</a:t>
            </a:r>
          </a:p>
          <a:p>
            <a:pPr lvl="1">
              <a:buFont typeface="Arial" panose="020B0604020202020204" pitchFamily="34" charset="0"/>
              <a:buChar char="•"/>
            </a:pPr>
            <a:r>
              <a:rPr lang="en-US" sz="1400" b="1" dirty="0">
                <a:effectLst/>
                <a:latin typeface="Arial" panose="020B0604020202020204" pitchFamily="34" charset="0"/>
                <a:cs typeface="Arial" panose="020B0604020202020204" pitchFamily="34" charset="0"/>
              </a:rPr>
              <a:t>connection</a:t>
            </a:r>
            <a:r>
              <a:rPr lang="en-US" sz="1400" dirty="0">
                <a:effectLst/>
                <a:latin typeface="Arial" panose="020B0604020202020204" pitchFamily="34" charset="0"/>
                <a:cs typeface="Arial" panose="020B0604020202020204" pitchFamily="34" charset="0"/>
              </a:rPr>
              <a:t> - Runs accounting on all outbound connections such as SSH and Telnet.</a:t>
            </a:r>
          </a:p>
        </p:txBody>
      </p:sp>
      <p:pic>
        <p:nvPicPr>
          <p:cNvPr id="4" name="Picture 3">
            <a:extLst>
              <a:ext uri="{FF2B5EF4-FFF2-40B4-BE49-F238E27FC236}">
                <a16:creationId xmlns:a16="http://schemas.microsoft.com/office/drawing/2014/main" id="{E0119A7C-16AB-491A-832C-09A690277E01}"/>
              </a:ext>
            </a:extLst>
          </p:cNvPr>
          <p:cNvPicPr>
            <a:picLocks noChangeAspect="1"/>
          </p:cNvPicPr>
          <p:nvPr/>
        </p:nvPicPr>
        <p:blipFill>
          <a:blip r:embed="rId3"/>
          <a:stretch>
            <a:fillRect/>
          </a:stretch>
        </p:blipFill>
        <p:spPr>
          <a:xfrm>
            <a:off x="333829" y="2123674"/>
            <a:ext cx="7765143" cy="237370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Server-Based Authorization and Accounting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AAA Accounting Configuration (Cont.)</a:t>
            </a:r>
          </a:p>
          <a:p>
            <a:pPr marL="0" indent="0">
              <a:buNone/>
            </a:pPr>
            <a:endParaRPr lang="en-US" dirty="0"/>
          </a:p>
        </p:txBody>
      </p:sp>
      <p:sp>
        <p:nvSpPr>
          <p:cNvPr id="8" name="TextBox 7">
            <a:extLst>
              <a:ext uri="{FF2B5EF4-FFF2-40B4-BE49-F238E27FC236}">
                <a16:creationId xmlns:a16="http://schemas.microsoft.com/office/drawing/2014/main" id="{ABEFD914-B9EC-4ADC-AA0B-07935107385A}"/>
              </a:ext>
            </a:extLst>
          </p:cNvPr>
          <p:cNvSpPr txBox="1"/>
          <p:nvPr/>
        </p:nvSpPr>
        <p:spPr>
          <a:xfrm>
            <a:off x="-50800" y="693533"/>
            <a:ext cx="9194800" cy="2308324"/>
          </a:xfrm>
          <a:prstGeom prst="rect">
            <a:avLst/>
          </a:prstGeom>
          <a:noFill/>
        </p:spPr>
        <p:txBody>
          <a:bodyPr wrap="square">
            <a:spAutoFit/>
          </a:bodyPr>
          <a:lstStyle/>
          <a:p>
            <a:r>
              <a:rPr lang="en-US" sz="1600" dirty="0">
                <a:effectLst/>
                <a:latin typeface="Arial" panose="020B0604020202020204" pitchFamily="34" charset="0"/>
                <a:cs typeface="Arial" panose="020B0604020202020204" pitchFamily="34" charset="0"/>
              </a:rPr>
              <a:t>As with AAA authentication, either the keyword </a:t>
            </a:r>
            <a:r>
              <a:rPr lang="en-US" sz="1600" b="1" dirty="0">
                <a:effectLst/>
                <a:latin typeface="Arial" panose="020B0604020202020204" pitchFamily="34" charset="0"/>
                <a:cs typeface="Arial" panose="020B0604020202020204" pitchFamily="34" charset="0"/>
              </a:rPr>
              <a:t>default</a:t>
            </a:r>
            <a:r>
              <a:rPr lang="en-US" sz="1600" dirty="0">
                <a:effectLst/>
                <a:latin typeface="Arial" panose="020B0604020202020204" pitchFamily="34" charset="0"/>
                <a:cs typeface="Arial" panose="020B0604020202020204" pitchFamily="34" charset="0"/>
              </a:rPr>
              <a:t> or a </a:t>
            </a:r>
            <a:r>
              <a:rPr lang="en-US" sz="1600" i="1" dirty="0">
                <a:effectLst/>
                <a:latin typeface="Arial" panose="020B0604020202020204" pitchFamily="34" charset="0"/>
                <a:cs typeface="Arial" panose="020B0604020202020204" pitchFamily="34" charset="0"/>
              </a:rPr>
              <a:t>list-name</a:t>
            </a:r>
            <a:r>
              <a:rPr lang="en-US" sz="1600" dirty="0">
                <a:effectLst/>
                <a:latin typeface="Arial" panose="020B0604020202020204" pitchFamily="34" charset="0"/>
                <a:cs typeface="Arial" panose="020B0604020202020204" pitchFamily="34" charset="0"/>
              </a:rPr>
              <a:t> can be used. Next, the record type, or trigger, is configured. The trigger specifies what actions cause accounting records to be updated. </a:t>
            </a:r>
          </a:p>
          <a:p>
            <a:endParaRPr lang="en-US" sz="1600" dirty="0">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Possible triggers include:</a:t>
            </a:r>
          </a:p>
          <a:p>
            <a:pPr lvl="1">
              <a:buFont typeface="Arial" panose="020B0604020202020204" pitchFamily="34" charset="0"/>
              <a:buChar char="•"/>
            </a:pPr>
            <a:r>
              <a:rPr lang="en-US" sz="1500" b="1" dirty="0">
                <a:effectLst/>
                <a:latin typeface="Arial" panose="020B0604020202020204" pitchFamily="34" charset="0"/>
                <a:cs typeface="Arial" panose="020B0604020202020204" pitchFamily="34" charset="0"/>
              </a:rPr>
              <a:t>start-stop</a:t>
            </a:r>
            <a:r>
              <a:rPr lang="en-US" sz="1500" dirty="0">
                <a:effectLst/>
                <a:latin typeface="Arial" panose="020B0604020202020204" pitchFamily="34" charset="0"/>
                <a:cs typeface="Arial" panose="020B0604020202020204" pitchFamily="34" charset="0"/>
              </a:rPr>
              <a:t> - Sends a "start" accounting notice at the beginning of a process and a "stop" accounting notice at the end of a process.</a:t>
            </a:r>
          </a:p>
          <a:p>
            <a:pPr lvl="1">
              <a:buFont typeface="Arial" panose="020B0604020202020204" pitchFamily="34" charset="0"/>
              <a:buChar char="•"/>
            </a:pPr>
            <a:r>
              <a:rPr lang="en-US" sz="1500" b="1" dirty="0">
                <a:effectLst/>
                <a:latin typeface="Arial" panose="020B0604020202020204" pitchFamily="34" charset="0"/>
                <a:cs typeface="Arial" panose="020B0604020202020204" pitchFamily="34" charset="0"/>
              </a:rPr>
              <a:t>stop-only</a:t>
            </a:r>
            <a:r>
              <a:rPr lang="en-US" sz="1500" dirty="0">
                <a:effectLst/>
                <a:latin typeface="Arial" panose="020B0604020202020204" pitchFamily="34" charset="0"/>
                <a:cs typeface="Arial" panose="020B0604020202020204" pitchFamily="34" charset="0"/>
              </a:rPr>
              <a:t> - Sends a "stop" accounting record for all cases including authentication failures.</a:t>
            </a:r>
          </a:p>
          <a:p>
            <a:pPr lvl="1">
              <a:buFont typeface="Arial" panose="020B0604020202020204" pitchFamily="34" charset="0"/>
              <a:buChar char="•"/>
            </a:pPr>
            <a:r>
              <a:rPr lang="en-US" sz="1500" b="1" dirty="0">
                <a:effectLst/>
                <a:latin typeface="Arial" panose="020B0604020202020204" pitchFamily="34" charset="0"/>
                <a:cs typeface="Arial" panose="020B0604020202020204" pitchFamily="34" charset="0"/>
              </a:rPr>
              <a:t>none</a:t>
            </a:r>
            <a:r>
              <a:rPr lang="en-US" sz="1500" dirty="0">
                <a:effectLst/>
                <a:latin typeface="Arial" panose="020B0604020202020204" pitchFamily="34" charset="0"/>
                <a:cs typeface="Arial" panose="020B0604020202020204" pitchFamily="34" charset="0"/>
              </a:rPr>
              <a:t> - Disables accounting services on a line or interface. </a:t>
            </a:r>
          </a:p>
        </p:txBody>
      </p:sp>
      <p:sp>
        <p:nvSpPr>
          <p:cNvPr id="11" name="TextBox 10">
            <a:extLst>
              <a:ext uri="{FF2B5EF4-FFF2-40B4-BE49-F238E27FC236}">
                <a16:creationId xmlns:a16="http://schemas.microsoft.com/office/drawing/2014/main" id="{9E815615-7DB6-4B33-AF91-74365EEB9BE0}"/>
              </a:ext>
            </a:extLst>
          </p:cNvPr>
          <p:cNvSpPr txBox="1"/>
          <p:nvPr/>
        </p:nvSpPr>
        <p:spPr>
          <a:xfrm>
            <a:off x="226786" y="3209638"/>
            <a:ext cx="2697843" cy="107721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figures show the command syntax and method list options available.</a:t>
            </a:r>
          </a:p>
        </p:txBody>
      </p:sp>
      <p:pic>
        <p:nvPicPr>
          <p:cNvPr id="7" name="Picture 6">
            <a:extLst>
              <a:ext uri="{FF2B5EF4-FFF2-40B4-BE49-F238E27FC236}">
                <a16:creationId xmlns:a16="http://schemas.microsoft.com/office/drawing/2014/main" id="{B67E5013-08EE-4B7D-B85A-DFC3270B1F2D}"/>
              </a:ext>
            </a:extLst>
          </p:cNvPr>
          <p:cNvPicPr>
            <a:picLocks noChangeAspect="1"/>
          </p:cNvPicPr>
          <p:nvPr/>
        </p:nvPicPr>
        <p:blipFill>
          <a:blip r:embed="rId3"/>
          <a:stretch>
            <a:fillRect/>
          </a:stretch>
        </p:blipFill>
        <p:spPr>
          <a:xfrm>
            <a:off x="2997200" y="2870250"/>
            <a:ext cx="5522685" cy="199893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32</a:t>
            </a:fld>
            <a:endParaRPr lang="en-US" dirty="0"/>
          </a:p>
        </p:txBody>
      </p:sp>
    </p:spTree>
    <p:extLst>
      <p:ext uri="{BB962C8B-B14F-4D97-AF65-F5344CB8AC3E}">
        <p14:creationId xmlns:p14="http://schemas.microsoft.com/office/powerpoint/2010/main" val="40129254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8: Access Control Lists</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extLst>
      <p:ext uri="{BB962C8B-B14F-4D97-AF65-F5344CB8AC3E}">
        <p14:creationId xmlns:p14="http://schemas.microsoft.com/office/powerpoint/2010/main" val="14669988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Access Control Lists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Implement access control lists (ACLs) to filter traffic and mitigate network attacks on a network.</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3553279300"/>
              </p:ext>
            </p:extLst>
          </p:nvPr>
        </p:nvGraphicFramePr>
        <p:xfrm>
          <a:off x="314325" y="1692275"/>
          <a:ext cx="8372475" cy="2070184"/>
        </p:xfrm>
        <a:graphic>
          <a:graphicData uri="http://schemas.openxmlformats.org/drawingml/2006/table">
            <a:tbl>
              <a:tblPr firstRow="1" firstCol="1" bandRow="1">
                <a:tableStyleId>{5C22544A-7EE6-4342-B048-85BDC9FD1C3A}</a:tableStyleId>
              </a:tblPr>
              <a:tblGrid>
                <a:gridCol w="2798261">
                  <a:extLst>
                    <a:ext uri="{9D8B030D-6E8A-4147-A177-3AD203B41FA5}">
                      <a16:colId xmlns:a16="http://schemas.microsoft.com/office/drawing/2014/main" val="399010295"/>
                    </a:ext>
                  </a:extLst>
                </a:gridCol>
                <a:gridCol w="5574214">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rtl="0" fontAlgn="b"/>
                      <a:r>
                        <a:rPr lang="en-US" sz="1100" dirty="0">
                          <a:effectLst/>
                          <a:latin typeface="+mj-lt"/>
                        </a:rPr>
                        <a:t>Introduction to Access Control Lists</a:t>
                      </a:r>
                    </a:p>
                  </a:txBody>
                  <a:tcPr marL="0" marR="0" marT="12700" marB="12700" anchor="b"/>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Describe standard and extended ACLs.</a:t>
                      </a:r>
                    </a:p>
                  </a:txBody>
                  <a:tcPr marL="60168" marR="60168" marT="0" marB="0"/>
                </a:tc>
                <a:extLst>
                  <a:ext uri="{0D108BD9-81ED-4DB2-BD59-A6C34878D82A}">
                    <a16:rowId xmlns:a16="http://schemas.microsoft.com/office/drawing/2014/main" val="3530891527"/>
                  </a:ext>
                </a:extLst>
              </a:tr>
              <a:tr h="263724">
                <a:tc>
                  <a:txBody>
                    <a:bodyPr/>
                    <a:lstStyle/>
                    <a:p>
                      <a:pPr rtl="0" fontAlgn="b"/>
                      <a:r>
                        <a:rPr lang="en-US" sz="1100" dirty="0">
                          <a:effectLst/>
                          <a:latin typeface="+mj-lt"/>
                        </a:rPr>
                        <a:t>Wildcard Masks</a:t>
                      </a:r>
                    </a:p>
                  </a:txBody>
                  <a:tcPr marL="0" marR="0" marT="12700" marB="12700" anchor="b"/>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Explain how ACLs use wildcard masks.</a:t>
                      </a:r>
                    </a:p>
                  </a:txBody>
                  <a:tcPr marL="60168" marR="60168" marT="0" marB="0"/>
                </a:tc>
                <a:extLst>
                  <a:ext uri="{0D108BD9-81ED-4DB2-BD59-A6C34878D82A}">
                    <a16:rowId xmlns:a16="http://schemas.microsoft.com/office/drawing/2014/main" val="662892947"/>
                  </a:ext>
                </a:extLst>
              </a:tr>
              <a:tr h="263724">
                <a:tc>
                  <a:txBody>
                    <a:bodyPr/>
                    <a:lstStyle/>
                    <a:p>
                      <a:pPr rtl="0" fontAlgn="b"/>
                      <a:r>
                        <a:rPr lang="en-US" sz="1100" dirty="0">
                          <a:effectLst/>
                          <a:latin typeface="+mj-lt"/>
                        </a:rPr>
                        <a:t>Configure ACLs</a:t>
                      </a:r>
                    </a:p>
                  </a:txBody>
                  <a:tcPr marL="0" marR="0" marT="12700" marB="12700" anchor="b"/>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Explain how to configure ACLs.</a:t>
                      </a:r>
                    </a:p>
                  </a:txBody>
                  <a:tcPr marL="60168" marR="60168" marT="0" marB="0"/>
                </a:tc>
                <a:extLst>
                  <a:ext uri="{0D108BD9-81ED-4DB2-BD59-A6C34878D82A}">
                    <a16:rowId xmlns:a16="http://schemas.microsoft.com/office/drawing/2014/main" val="724516786"/>
                  </a:ext>
                </a:extLst>
              </a:tr>
              <a:tr h="263724">
                <a:tc>
                  <a:txBody>
                    <a:bodyPr/>
                    <a:lstStyle/>
                    <a:p>
                      <a:pPr rtl="0" fontAlgn="b"/>
                      <a:r>
                        <a:rPr lang="en-US" sz="1100" dirty="0">
                          <a:effectLst/>
                          <a:latin typeface="+mj-lt"/>
                        </a:rPr>
                        <a:t>Modify ACLs</a:t>
                      </a:r>
                    </a:p>
                  </a:txBody>
                  <a:tcPr marL="0" marR="0" marT="12700" marB="12700" anchor="b"/>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Use sequence numbers to edit existing standard IPv4 ACLs.</a:t>
                      </a:r>
                    </a:p>
                  </a:txBody>
                  <a:tcPr marL="60168" marR="60168" marT="0" marB="0"/>
                </a:tc>
                <a:extLst>
                  <a:ext uri="{0D108BD9-81ED-4DB2-BD59-A6C34878D82A}">
                    <a16:rowId xmlns:a16="http://schemas.microsoft.com/office/drawing/2014/main" val="298268992"/>
                  </a:ext>
                </a:extLst>
              </a:tr>
              <a:tr h="263724">
                <a:tc>
                  <a:txBody>
                    <a:bodyPr/>
                    <a:lstStyle/>
                    <a:p>
                      <a:pPr rtl="0" fontAlgn="b"/>
                      <a:r>
                        <a:rPr lang="en-US" sz="1100" dirty="0">
                          <a:effectLst/>
                          <a:latin typeface="+mj-lt"/>
                        </a:rPr>
                        <a:t>Implement ACLs</a:t>
                      </a:r>
                    </a:p>
                  </a:txBody>
                  <a:tcPr marL="0" marR="0" marT="12700" marB="12700" anchor="b"/>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Implement ACLs.</a:t>
                      </a:r>
                    </a:p>
                  </a:txBody>
                  <a:tcPr marL="60168" marR="60168" marT="0" marB="0"/>
                </a:tc>
                <a:extLst>
                  <a:ext uri="{0D108BD9-81ED-4DB2-BD59-A6C34878D82A}">
                    <a16:rowId xmlns:a16="http://schemas.microsoft.com/office/drawing/2014/main" val="4083633728"/>
                  </a:ext>
                </a:extLst>
              </a:tr>
              <a:tr h="263724">
                <a:tc>
                  <a:txBody>
                    <a:bodyPr/>
                    <a:lstStyle/>
                    <a:p>
                      <a:pPr rtl="0" fontAlgn="b"/>
                      <a:r>
                        <a:rPr lang="en-US" sz="1100" dirty="0">
                          <a:effectLst/>
                          <a:latin typeface="+mj-lt"/>
                        </a:rPr>
                        <a:t>Mitigate Attacks with ACLs</a:t>
                      </a:r>
                    </a:p>
                  </a:txBody>
                  <a:tcPr marL="0" marR="0" marT="12700" marB="12700" anchor="b"/>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Use ACLs to mitigate common network attacks.</a:t>
                      </a:r>
                    </a:p>
                  </a:txBody>
                  <a:tcPr marL="60168" marR="60168" marT="0" marB="0"/>
                </a:tc>
                <a:extLst>
                  <a:ext uri="{0D108BD9-81ED-4DB2-BD59-A6C34878D82A}">
                    <a16:rowId xmlns:a16="http://schemas.microsoft.com/office/drawing/2014/main" val="3920562962"/>
                  </a:ext>
                </a:extLst>
              </a:tr>
              <a:tr h="263724">
                <a:tc>
                  <a:txBody>
                    <a:bodyPr/>
                    <a:lstStyle/>
                    <a:p>
                      <a:pPr rtl="0" fontAlgn="b"/>
                      <a:r>
                        <a:rPr lang="en-US" sz="1100" dirty="0">
                          <a:effectLst/>
                          <a:latin typeface="+mj-lt"/>
                        </a:rPr>
                        <a:t>IPv6 ACLs</a:t>
                      </a:r>
                    </a:p>
                  </a:txBody>
                  <a:tcPr marL="0" marR="0" marT="12700" marB="12700" anchor="b"/>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Configure IPv6 ACLs using CLI.</a:t>
                      </a:r>
                    </a:p>
                  </a:txBody>
                  <a:tcPr marL="60168" marR="60168" marT="0" marB="0"/>
                </a:tc>
                <a:extLst>
                  <a:ext uri="{0D108BD9-81ED-4DB2-BD59-A6C34878D82A}">
                    <a16:rowId xmlns:a16="http://schemas.microsoft.com/office/drawing/2014/main" val="499927037"/>
                  </a:ext>
                </a:extLst>
              </a:tr>
            </a:tbl>
          </a:graphicData>
        </a:graphic>
      </p:graphicFrame>
    </p:spTree>
    <p:custDataLst>
      <p:tags r:id="rId1"/>
    </p:custDataLst>
    <p:extLst>
      <p:ext uri="{BB962C8B-B14F-4D97-AF65-F5344CB8AC3E}">
        <p14:creationId xmlns:p14="http://schemas.microsoft.com/office/powerpoint/2010/main" val="3392630962"/>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8.1 Introduction to Access Control Lists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35</a:t>
            </a:fld>
            <a:endParaRPr lang="en-US" dirty="0"/>
          </a:p>
        </p:txBody>
      </p:sp>
    </p:spTree>
    <p:extLst>
      <p:ext uri="{BB962C8B-B14F-4D97-AF65-F5344CB8AC3E}">
        <p14:creationId xmlns:p14="http://schemas.microsoft.com/office/powerpoint/2010/main" val="34270496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Introduction to Access Control Lists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What is an ACL?</a:t>
            </a:r>
          </a:p>
        </p:txBody>
      </p:sp>
      <p:graphicFrame>
        <p:nvGraphicFramePr>
          <p:cNvPr id="10" name="Table 9"/>
          <p:cNvGraphicFramePr>
            <a:graphicFrameLocks noGrp="1"/>
          </p:cNvGraphicFramePr>
          <p:nvPr>
            <p:extLst>
              <p:ext uri="{D42A27DB-BD31-4B8C-83A1-F6EECF244321}">
                <p14:modId xmlns:p14="http://schemas.microsoft.com/office/powerpoint/2010/main" val="648881398"/>
              </p:ext>
            </p:extLst>
          </p:nvPr>
        </p:nvGraphicFramePr>
        <p:xfrm>
          <a:off x="91440" y="1169670"/>
          <a:ext cx="8961120" cy="3642360"/>
        </p:xfrm>
        <a:graphic>
          <a:graphicData uri="http://schemas.openxmlformats.org/drawingml/2006/table">
            <a:tbl>
              <a:tblPr/>
              <a:tblGrid>
                <a:gridCol w="2261235">
                  <a:extLst>
                    <a:ext uri="{9D8B030D-6E8A-4147-A177-3AD203B41FA5}">
                      <a16:colId xmlns:a16="http://schemas.microsoft.com/office/drawing/2014/main" val="20000"/>
                    </a:ext>
                  </a:extLst>
                </a:gridCol>
                <a:gridCol w="6699885">
                  <a:extLst>
                    <a:ext uri="{9D8B030D-6E8A-4147-A177-3AD203B41FA5}">
                      <a16:colId xmlns:a16="http://schemas.microsoft.com/office/drawing/2014/main" val="20001"/>
                    </a:ext>
                  </a:extLst>
                </a:gridCol>
              </a:tblGrid>
              <a:tr h="0">
                <a:tc>
                  <a:txBody>
                    <a:bodyPr/>
                    <a:lstStyle/>
                    <a:p>
                      <a:r>
                        <a:rPr lang="en-US" sz="1200" dirty="0">
                          <a:solidFill>
                            <a:srgbClr val="FFFFFF"/>
                          </a:solidFill>
                        </a:rPr>
                        <a:t>Task</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Example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Limit network traffic to increase network performance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A corporate policy prohibits video traffic on the network to reduce the network load.</a:t>
                      </a:r>
                      <a:endParaRPr lang="en-US" sz="1200" dirty="0"/>
                    </a:p>
                    <a:p>
                      <a:pPr marL="171450" indent="-171450">
                        <a:buFont typeface="Arial" panose="020B0604020202020204" pitchFamily="34" charset="0"/>
                        <a:buChar char="•"/>
                      </a:pPr>
                      <a:r>
                        <a:rPr lang="en-US" sz="1200" dirty="0">
                          <a:solidFill>
                            <a:srgbClr val="58585B"/>
                          </a:solidFill>
                        </a:rPr>
                        <a:t>A policy can be enforced using ACLs to block video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Provide traffic flow control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A corporate policy requires that routing protocol traffic be limited to certain links only. </a:t>
                      </a:r>
                      <a:endParaRPr lang="en-US" sz="1200" dirty="0"/>
                    </a:p>
                    <a:p>
                      <a:pPr marL="171450" indent="-171450">
                        <a:buFont typeface="Arial" panose="020B0604020202020204" pitchFamily="34" charset="0"/>
                        <a:buChar char="•"/>
                      </a:pPr>
                      <a:r>
                        <a:rPr lang="en-US" sz="1200" dirty="0">
                          <a:solidFill>
                            <a:srgbClr val="58585B"/>
                          </a:solidFill>
                        </a:rPr>
                        <a:t>A policy can be implemented using ACLs to restrict the delivery of routing updates to only those that come from a known source.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Provide a basic level of security for network access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Corporate policy demands that access to the Human Resources network be restricted to authorized users only. </a:t>
                      </a:r>
                      <a:endParaRPr lang="en-US" sz="1200" dirty="0"/>
                    </a:p>
                    <a:p>
                      <a:pPr marL="171450" indent="-171450">
                        <a:buFont typeface="Arial" panose="020B0604020202020204" pitchFamily="34" charset="0"/>
                        <a:buChar char="•"/>
                      </a:pPr>
                      <a:r>
                        <a:rPr lang="en-US" sz="1200" dirty="0">
                          <a:solidFill>
                            <a:srgbClr val="58585B"/>
                          </a:solidFill>
                        </a:rPr>
                        <a:t>A policy can be enforced using ACLs to limit access to specified networks.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Filter traffic based on traffic type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Corporate policy requires that email traffic be permitted into a network, but that Telnet access be denied. </a:t>
                      </a:r>
                      <a:endParaRPr lang="en-US" sz="1200" dirty="0"/>
                    </a:p>
                    <a:p>
                      <a:pPr marL="171450" indent="-171450">
                        <a:buFont typeface="Arial" panose="020B0604020202020204" pitchFamily="34" charset="0"/>
                        <a:buChar char="•"/>
                      </a:pPr>
                      <a:r>
                        <a:rPr lang="en-US" sz="1200" dirty="0">
                          <a:solidFill>
                            <a:srgbClr val="58585B"/>
                          </a:solidFill>
                        </a:rPr>
                        <a:t>A policy can be implemented using ACLs to filter traffic by type.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Screen hosts to permit or deny access to network services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Corporate policy requires that access to some file types (e.g., FTP or HTTP) be limited to user groups. </a:t>
                      </a:r>
                      <a:endParaRPr lang="en-US" sz="1200" dirty="0"/>
                    </a:p>
                    <a:p>
                      <a:pPr marL="171450" indent="-171450">
                        <a:buFont typeface="Arial" panose="020B0604020202020204" pitchFamily="34" charset="0"/>
                        <a:buChar char="•"/>
                      </a:pPr>
                      <a:r>
                        <a:rPr lang="en-US" sz="1200" dirty="0">
                          <a:solidFill>
                            <a:srgbClr val="58585B"/>
                          </a:solidFill>
                        </a:rPr>
                        <a:t>A policy can be implemented using ACLs to filter user access to services.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rgbClr val="58585B"/>
                          </a:solidFill>
                        </a:rPr>
                        <a:t>Provide priority to certain classes of network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Corporate traffic specifies that voice traffic be forwarded as fast as possible to avoid any interruption. </a:t>
                      </a:r>
                      <a:endParaRPr lang="en-US" sz="1200" dirty="0"/>
                    </a:p>
                    <a:p>
                      <a:pPr marL="171450" indent="-171450">
                        <a:buFont typeface="Arial" panose="020B0604020202020204" pitchFamily="34" charset="0"/>
                        <a:buChar char="•"/>
                      </a:pPr>
                      <a:r>
                        <a:rPr lang="en-US" sz="1200" dirty="0">
                          <a:solidFill>
                            <a:srgbClr val="58585B"/>
                          </a:solidFill>
                        </a:rPr>
                        <a:t>A policy can be implemented using ACLs and QoS services to identify voice traffic and process it immediately.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36</a:t>
            </a:fld>
            <a:endParaRPr lang="en-US" dirty="0"/>
          </a:p>
        </p:txBody>
      </p:sp>
      <p:sp>
        <p:nvSpPr>
          <p:cNvPr id="4" name="TextBox 3">
            <a:extLst>
              <a:ext uri="{FF2B5EF4-FFF2-40B4-BE49-F238E27FC236}">
                <a16:creationId xmlns:a16="http://schemas.microsoft.com/office/drawing/2014/main" id="{8C03F3B6-B449-47F8-A311-4E47A27416CE}"/>
              </a:ext>
            </a:extLst>
          </p:cNvPr>
          <p:cNvSpPr txBox="1"/>
          <p:nvPr/>
        </p:nvSpPr>
        <p:spPr>
          <a:xfrm>
            <a:off x="0" y="688122"/>
            <a:ext cx="8226419" cy="523220"/>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An ACL is a series of IOS commands that are used to filter packets based on information found in the </a:t>
            </a:r>
          </a:p>
          <a:p>
            <a:r>
              <a:rPr lang="en-US" sz="1400" dirty="0">
                <a:latin typeface="Arial" panose="020B0604020202020204" pitchFamily="34" charset="0"/>
                <a:cs typeface="Arial" panose="020B0604020202020204" pitchFamily="34" charset="0"/>
              </a:rPr>
              <a:t>packet header. </a:t>
            </a:r>
          </a:p>
        </p:txBody>
      </p:sp>
    </p:spTree>
    <p:extLst>
      <p:ext uri="{BB962C8B-B14F-4D97-AF65-F5344CB8AC3E}">
        <p14:creationId xmlns:p14="http://schemas.microsoft.com/office/powerpoint/2010/main" val="30141190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Introduction to Access Control Lists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Packet Filtering</a:t>
            </a:r>
          </a:p>
        </p:txBody>
      </p:sp>
      <p:sp>
        <p:nvSpPr>
          <p:cNvPr id="5" name="Object4"/>
          <p:cNvSpPr/>
          <p:nvPr/>
        </p:nvSpPr>
        <p:spPr>
          <a:xfrm>
            <a:off x="104112" y="960120"/>
            <a:ext cx="3476625" cy="2571750"/>
          </a:xfrm>
          <a:prstGeom prst="rect">
            <a:avLst/>
          </a:prstGeom>
          <a:noFill/>
          <a:ln/>
        </p:spPr>
        <p:txBody>
          <a:bodyPr wrap="square" rtlCol="0" anchor="t"/>
          <a:lstStyle/>
          <a:p>
            <a:pPr>
              <a:lnSpc>
                <a:spcPts val="2000"/>
              </a:lnSpc>
            </a:pPr>
            <a:r>
              <a:rPr lang="en-US" dirty="0">
                <a:solidFill>
                  <a:srgbClr val="000000"/>
                </a:solidFill>
                <a:latin typeface="Arial" pitchFamily="34" charset="0"/>
                <a:ea typeface="Arial" pitchFamily="34" charset="-122"/>
                <a:cs typeface="Arial" pitchFamily="34" charset="-120"/>
              </a:rPr>
              <a:t>Packet filtering controls access to a network by analyzing the incoming and/or outgoing packets and forwarding them or discarding them based on given criteria. Packet filtering can occur at Layer 3 or Layer 4. Cisco routers support standard and extended ACLs.</a:t>
            </a:r>
            <a:endParaRPr lang="en-US"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37</a:t>
            </a:fld>
            <a:endParaRPr lang="en-US" dirty="0"/>
          </a:p>
        </p:txBody>
      </p:sp>
      <p:pic>
        <p:nvPicPr>
          <p:cNvPr id="4" name="Picture 3">
            <a:extLst>
              <a:ext uri="{FF2B5EF4-FFF2-40B4-BE49-F238E27FC236}">
                <a16:creationId xmlns:a16="http://schemas.microsoft.com/office/drawing/2014/main" id="{ACA111D8-C134-45EB-99A5-76F573F0E967}"/>
              </a:ext>
            </a:extLst>
          </p:cNvPr>
          <p:cNvPicPr>
            <a:picLocks noChangeAspect="1"/>
          </p:cNvPicPr>
          <p:nvPr/>
        </p:nvPicPr>
        <p:blipFill>
          <a:blip r:embed="rId3"/>
          <a:stretch>
            <a:fillRect/>
          </a:stretch>
        </p:blipFill>
        <p:spPr>
          <a:xfrm>
            <a:off x="3684848" y="792382"/>
            <a:ext cx="4851722" cy="3558735"/>
          </a:xfrm>
          <a:prstGeom prst="rect">
            <a:avLst/>
          </a:prstGeom>
        </p:spPr>
      </p:pic>
    </p:spTree>
    <p:extLst>
      <p:ext uri="{BB962C8B-B14F-4D97-AF65-F5344CB8AC3E}">
        <p14:creationId xmlns:p14="http://schemas.microsoft.com/office/powerpoint/2010/main" val="38373284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Introduction to Access Control Lists</a:t>
            </a:r>
          </a:p>
        </p:txBody>
      </p:sp>
      <p:sp>
        <p:nvSpPr>
          <p:cNvPr id="3" name="Object2"/>
          <p:cNvSpPr>
            <a:spLocks noGrp="1"/>
          </p:cNvSpPr>
          <p:nvPr>
            <p:ph type="body" idx="100" hasCustomPrompt="1"/>
          </p:nvPr>
        </p:nvSpPr>
        <p:spPr>
          <a:xfrm>
            <a:off x="0" y="274320"/>
            <a:ext cx="9144000" cy="487680"/>
          </a:xfrm>
          <a:prstGeom prst="rect">
            <a:avLst/>
          </a:prstGeom>
          <a:noFill/>
          <a:ln/>
        </p:spPr>
        <p:txBody>
          <a:bodyPr wrap="square" rtlCol="0"/>
          <a:lstStyle/>
          <a:p>
            <a:pPr marL="0" indent="0">
              <a:buNone/>
            </a:pPr>
            <a:r>
              <a:rPr lang="en-US" dirty="0"/>
              <a:t>Numbered and Named ACLs</a:t>
            </a:r>
          </a:p>
        </p:txBody>
      </p:sp>
      <p:sp>
        <p:nvSpPr>
          <p:cNvPr id="5" name="Object4"/>
          <p:cNvSpPr/>
          <p:nvPr/>
        </p:nvSpPr>
        <p:spPr>
          <a:xfrm>
            <a:off x="153733" y="1036320"/>
            <a:ext cx="4124325" cy="152400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Numbered ACLs - ACLs number 1 to 99, or 1300 to 1999 are standard ACLs while ACLs number 100 to 199, or 2000 to 2699 are extended ACLs, as shown in the output.</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38</a:t>
            </a:fld>
            <a:endParaRPr lang="en-US" dirty="0"/>
          </a:p>
        </p:txBody>
      </p:sp>
      <p:pic>
        <p:nvPicPr>
          <p:cNvPr id="4" name="Picture 3">
            <a:extLst>
              <a:ext uri="{FF2B5EF4-FFF2-40B4-BE49-F238E27FC236}">
                <a16:creationId xmlns:a16="http://schemas.microsoft.com/office/drawing/2014/main" id="{ADE08E4F-4809-4338-96DF-C0FBAF67A9F2}"/>
              </a:ext>
            </a:extLst>
          </p:cNvPr>
          <p:cNvPicPr>
            <a:picLocks noChangeAspect="1"/>
          </p:cNvPicPr>
          <p:nvPr/>
        </p:nvPicPr>
        <p:blipFill>
          <a:blip r:embed="rId3"/>
          <a:stretch>
            <a:fillRect/>
          </a:stretch>
        </p:blipFill>
        <p:spPr>
          <a:xfrm>
            <a:off x="4431791" y="762000"/>
            <a:ext cx="4404742" cy="1684166"/>
          </a:xfrm>
          <a:prstGeom prst="rect">
            <a:avLst/>
          </a:prstGeom>
        </p:spPr>
      </p:pic>
      <p:sp>
        <p:nvSpPr>
          <p:cNvPr id="6" name="TextBox 5">
            <a:extLst>
              <a:ext uri="{FF2B5EF4-FFF2-40B4-BE49-F238E27FC236}">
                <a16:creationId xmlns:a16="http://schemas.microsoft.com/office/drawing/2014/main" id="{E3F87F43-E367-4815-AE65-2DB6363D7C07}"/>
              </a:ext>
            </a:extLst>
          </p:cNvPr>
          <p:cNvSpPr txBox="1"/>
          <p:nvPr/>
        </p:nvSpPr>
        <p:spPr>
          <a:xfrm>
            <a:off x="114300" y="2698045"/>
            <a:ext cx="3705225" cy="1600438"/>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Named ACLs - Named ACLs is the preferred method to use when configuring ACLs. Specifically, standard and extended ACLs can be named to provide information about the purpose of the ACL. The </a:t>
            </a:r>
            <a:r>
              <a:rPr lang="en-US" sz="1400" b="1" dirty="0">
                <a:latin typeface="Arial" panose="020B0604020202020204" pitchFamily="34" charset="0"/>
                <a:cs typeface="Arial" panose="020B0604020202020204" pitchFamily="34" charset="0"/>
              </a:rPr>
              <a:t>ip access-list </a:t>
            </a:r>
            <a:r>
              <a:rPr lang="en-US" sz="1400" dirty="0">
                <a:latin typeface="Arial" panose="020B0604020202020204" pitchFamily="34" charset="0"/>
                <a:cs typeface="Arial" panose="020B0604020202020204" pitchFamily="34" charset="0"/>
              </a:rPr>
              <a:t>global configuration command is used to create a named ACL.</a:t>
            </a:r>
          </a:p>
        </p:txBody>
      </p:sp>
      <p:pic>
        <p:nvPicPr>
          <p:cNvPr id="7" name="Picture 6">
            <a:extLst>
              <a:ext uri="{FF2B5EF4-FFF2-40B4-BE49-F238E27FC236}">
                <a16:creationId xmlns:a16="http://schemas.microsoft.com/office/drawing/2014/main" id="{6DF4E8E1-C1DB-4C3E-AD8C-2437A187F54F}"/>
              </a:ext>
            </a:extLst>
          </p:cNvPr>
          <p:cNvPicPr>
            <a:picLocks noChangeAspect="1"/>
          </p:cNvPicPr>
          <p:nvPr/>
        </p:nvPicPr>
        <p:blipFill>
          <a:blip r:embed="rId4"/>
          <a:stretch>
            <a:fillRect/>
          </a:stretch>
        </p:blipFill>
        <p:spPr>
          <a:xfrm>
            <a:off x="4431791" y="2865172"/>
            <a:ext cx="4351397" cy="617273"/>
          </a:xfrm>
          <a:prstGeom prst="rect">
            <a:avLst/>
          </a:prstGeom>
        </p:spPr>
      </p:pic>
    </p:spTree>
    <p:extLst>
      <p:ext uri="{BB962C8B-B14F-4D97-AF65-F5344CB8AC3E}">
        <p14:creationId xmlns:p14="http://schemas.microsoft.com/office/powerpoint/2010/main" val="38627202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Introduction to Access Control Lists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ACL Operation</a:t>
            </a:r>
          </a:p>
        </p:txBody>
      </p:sp>
      <p:sp>
        <p:nvSpPr>
          <p:cNvPr id="5" name="Object4"/>
          <p:cNvSpPr/>
          <p:nvPr/>
        </p:nvSpPr>
        <p:spPr>
          <a:xfrm>
            <a:off x="152400" y="731520"/>
            <a:ext cx="8610600" cy="250698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ACLs define the set of rules that give added control for packets that enter inbound interfaces, packets that relay through the router, and packets that exit outbound interfaces of the router. </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An inbound ACL filters packets before they are routed to the outbound interface. If the packet is permitted by the ACL, it is then processed for routing. Inbound ACLs are best used to filter packets when the network attached to an inbound interface is the only source of packets that need to be examined.</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An outbound ACL filters packets after being routed, regardless of the inbound interface. Incoming packets are routed to the outbound interface and then they are processed through the outbound ACL. Outbound ACLs are best used when the same filter will be applied to packets coming from multiple inbound interfaces before exiting the same outbound interface.</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39</a:t>
            </a:fld>
            <a:endParaRPr lang="en-US" dirty="0"/>
          </a:p>
        </p:txBody>
      </p:sp>
      <p:pic>
        <p:nvPicPr>
          <p:cNvPr id="6" name="Picture 5">
            <a:extLst>
              <a:ext uri="{FF2B5EF4-FFF2-40B4-BE49-F238E27FC236}">
                <a16:creationId xmlns:a16="http://schemas.microsoft.com/office/drawing/2014/main" id="{6DF8561C-5310-4226-AF78-CE4D30CA74CA}"/>
              </a:ext>
            </a:extLst>
          </p:cNvPr>
          <p:cNvPicPr>
            <a:picLocks noChangeAspect="1"/>
          </p:cNvPicPr>
          <p:nvPr/>
        </p:nvPicPr>
        <p:blipFill>
          <a:blip r:embed="rId3"/>
          <a:stretch>
            <a:fillRect/>
          </a:stretch>
        </p:blipFill>
        <p:spPr>
          <a:xfrm>
            <a:off x="914400" y="1379187"/>
            <a:ext cx="6582818" cy="1059365"/>
          </a:xfrm>
          <a:prstGeom prst="rect">
            <a:avLst/>
          </a:prstGeom>
        </p:spPr>
      </p:pic>
    </p:spTree>
    <p:extLst>
      <p:ext uri="{BB962C8B-B14F-4D97-AF65-F5344CB8AC3E}">
        <p14:creationId xmlns:p14="http://schemas.microsoft.com/office/powerpoint/2010/main" val="9336304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8.2 Wildcard Masking</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40</a:t>
            </a:fld>
            <a:endParaRPr lang="en-US" dirty="0"/>
          </a:p>
        </p:txBody>
      </p:sp>
    </p:spTree>
    <p:extLst>
      <p:ext uri="{BB962C8B-B14F-4D97-AF65-F5344CB8AC3E}">
        <p14:creationId xmlns:p14="http://schemas.microsoft.com/office/powerpoint/2010/main" val="32005008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Wildcard Masking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Wildcard Mask Overview</a:t>
            </a:r>
          </a:p>
        </p:txBody>
      </p:sp>
      <p:graphicFrame>
        <p:nvGraphicFramePr>
          <p:cNvPr id="16" name="Table 15"/>
          <p:cNvGraphicFramePr>
            <a:graphicFrameLocks noGrp="1"/>
          </p:cNvGraphicFramePr>
          <p:nvPr>
            <p:extLst>
              <p:ext uri="{D42A27DB-BD31-4B8C-83A1-F6EECF244321}">
                <p14:modId xmlns:p14="http://schemas.microsoft.com/office/powerpoint/2010/main" val="3363092331"/>
              </p:ext>
            </p:extLst>
          </p:nvPr>
        </p:nvGraphicFramePr>
        <p:xfrm>
          <a:off x="962892" y="1503854"/>
          <a:ext cx="7259782" cy="3032760"/>
        </p:xfrm>
        <a:graphic>
          <a:graphicData uri="http://schemas.openxmlformats.org/drawingml/2006/table">
            <a:tbl>
              <a:tblPr/>
              <a:tblGrid>
                <a:gridCol w="1274163">
                  <a:extLst>
                    <a:ext uri="{9D8B030D-6E8A-4147-A177-3AD203B41FA5}">
                      <a16:colId xmlns:a16="http://schemas.microsoft.com/office/drawing/2014/main" val="20000"/>
                    </a:ext>
                  </a:extLst>
                </a:gridCol>
                <a:gridCol w="1351572">
                  <a:extLst>
                    <a:ext uri="{9D8B030D-6E8A-4147-A177-3AD203B41FA5}">
                      <a16:colId xmlns:a16="http://schemas.microsoft.com/office/drawing/2014/main" val="20001"/>
                    </a:ext>
                  </a:extLst>
                </a:gridCol>
                <a:gridCol w="4634047">
                  <a:extLst>
                    <a:ext uri="{9D8B030D-6E8A-4147-A177-3AD203B41FA5}">
                      <a16:colId xmlns:a16="http://schemas.microsoft.com/office/drawing/2014/main" val="20002"/>
                    </a:ext>
                  </a:extLst>
                </a:gridCol>
              </a:tblGrid>
              <a:tr h="376884">
                <a:tc>
                  <a:txBody>
                    <a:bodyPr/>
                    <a:lstStyle/>
                    <a:p>
                      <a:r>
                        <a:rPr lang="en-US" sz="1200" b="1" dirty="0">
                          <a:solidFill>
                            <a:schemeClr val="bg1"/>
                          </a:solidFill>
                          <a:effectLst/>
                        </a:rPr>
                        <a:t>Wildcard Mask</a:t>
                      </a:r>
                      <a:endParaRPr lang="en-US" sz="1200" dirty="0">
                        <a:solidFill>
                          <a:schemeClr val="bg1"/>
                        </a:solidFill>
                        <a:effectLst/>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b="1" dirty="0">
                          <a:solidFill>
                            <a:schemeClr val="bg1"/>
                          </a:solidFill>
                          <a:effectLst/>
                        </a:rPr>
                        <a:t>Last Octet </a:t>
                      </a:r>
                      <a:br>
                        <a:rPr lang="en-US" sz="1200" b="1" dirty="0">
                          <a:solidFill>
                            <a:schemeClr val="bg1"/>
                          </a:solidFill>
                          <a:effectLst/>
                        </a:rPr>
                      </a:br>
                      <a:r>
                        <a:rPr lang="en-US" sz="1200" b="1" dirty="0">
                          <a:solidFill>
                            <a:schemeClr val="bg1"/>
                          </a:solidFill>
                          <a:effectLst/>
                        </a:rPr>
                        <a:t>(in Binary)</a:t>
                      </a:r>
                      <a:endParaRPr lang="en-US" sz="1200" dirty="0">
                        <a:solidFill>
                          <a:schemeClr val="bg1"/>
                        </a:solidFill>
                        <a:effectLst/>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b="1" dirty="0">
                          <a:solidFill>
                            <a:schemeClr val="bg1"/>
                          </a:solidFill>
                        </a:rPr>
                        <a:t>Meaning (0 - match, 1 - ignore)</a:t>
                      </a:r>
                      <a:endParaRPr lang="en-US" sz="1200" dirty="0">
                        <a:solidFill>
                          <a:schemeClr val="bg1"/>
                        </a:solidFill>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213567">
                <a:tc>
                  <a:txBody>
                    <a:bodyPr/>
                    <a:lstStyle/>
                    <a:p>
                      <a:r>
                        <a:rPr lang="en-US" sz="1200" b="1" dirty="0">
                          <a:solidFill>
                            <a:srgbClr val="58585B"/>
                          </a:solidFill>
                          <a:latin typeface="Courier New" panose="02070309020205020404" pitchFamily="49" charset="0"/>
                          <a:cs typeface="Courier New" panose="02070309020205020404" pitchFamily="49" charset="0"/>
                        </a:rPr>
                        <a:t>0.0.0.0</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latin typeface="Courier New" panose="02070309020205020404" pitchFamily="49" charset="0"/>
                          <a:cs typeface="Courier New" panose="02070309020205020404" pitchFamily="49" charset="0"/>
                        </a:rPr>
                        <a:t>00000000</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Match all octets.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515075">
                <a:tc>
                  <a:txBody>
                    <a:bodyPr/>
                    <a:lstStyle/>
                    <a:p>
                      <a:r>
                        <a:rPr lang="en-US" sz="1200" b="1" dirty="0">
                          <a:solidFill>
                            <a:srgbClr val="58585B"/>
                          </a:solidFill>
                          <a:latin typeface="Courier New" panose="02070309020205020404" pitchFamily="49" charset="0"/>
                          <a:cs typeface="Courier New" panose="02070309020205020404" pitchFamily="49" charset="0"/>
                        </a:rPr>
                        <a:t>0.0.0.63</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b="1" dirty="0">
                          <a:solidFill>
                            <a:srgbClr val="58585B"/>
                          </a:solidFill>
                          <a:latin typeface="Courier New" panose="02070309020205020404" pitchFamily="49" charset="0"/>
                          <a:cs typeface="Courier New" panose="02070309020205020404" pitchFamily="49" charset="0"/>
                        </a:rPr>
                        <a:t>00111111</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Match the first three octets</a:t>
                      </a:r>
                      <a:endParaRPr lang="en-US" sz="1200" dirty="0"/>
                    </a:p>
                    <a:p>
                      <a:pPr marL="171450" indent="-171450">
                        <a:buFont typeface="Arial" panose="020B0604020202020204" pitchFamily="34" charset="0"/>
                        <a:buChar char="•"/>
                      </a:pPr>
                      <a:r>
                        <a:rPr lang="en-US" sz="1200" dirty="0">
                          <a:solidFill>
                            <a:srgbClr val="58585B"/>
                          </a:solidFill>
                        </a:rPr>
                        <a:t>Match the two left most bits of the last octet</a:t>
                      </a:r>
                      <a:endParaRPr lang="en-US" sz="1200" dirty="0"/>
                    </a:p>
                    <a:p>
                      <a:pPr marL="171450" indent="-171450">
                        <a:buFont typeface="Arial" panose="020B0604020202020204" pitchFamily="34" charset="0"/>
                        <a:buChar char="•"/>
                      </a:pPr>
                      <a:r>
                        <a:rPr lang="en-US" sz="1200" dirty="0">
                          <a:solidFill>
                            <a:srgbClr val="58585B"/>
                          </a:solidFill>
                        </a:rPr>
                        <a:t>Ignore the last 6 bits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515075">
                <a:tc>
                  <a:txBody>
                    <a:bodyPr/>
                    <a:lstStyle/>
                    <a:p>
                      <a:r>
                        <a:rPr lang="en-US" sz="1200" b="1" dirty="0">
                          <a:solidFill>
                            <a:srgbClr val="58585B"/>
                          </a:solidFill>
                          <a:latin typeface="Courier New" panose="02070309020205020404" pitchFamily="49" charset="0"/>
                          <a:cs typeface="Courier New" panose="02070309020205020404" pitchFamily="49" charset="0"/>
                        </a:rPr>
                        <a:t>0.0.0.15</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latin typeface="Courier New" panose="02070309020205020404" pitchFamily="49" charset="0"/>
                          <a:cs typeface="Courier New" panose="02070309020205020404" pitchFamily="49" charset="0"/>
                        </a:rPr>
                        <a:t>00001111</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Match the first three octets</a:t>
                      </a:r>
                      <a:endParaRPr lang="en-US" sz="1200" dirty="0"/>
                    </a:p>
                    <a:p>
                      <a:pPr marL="171450" indent="-171450">
                        <a:buFont typeface="Arial" panose="020B0604020202020204" pitchFamily="34" charset="0"/>
                        <a:buChar char="•"/>
                      </a:pPr>
                      <a:r>
                        <a:rPr lang="en-US" sz="1200" dirty="0">
                          <a:solidFill>
                            <a:srgbClr val="58585B"/>
                          </a:solidFill>
                        </a:rPr>
                        <a:t>Match the four left most bits of the last octet</a:t>
                      </a:r>
                      <a:endParaRPr lang="en-US" sz="1200" dirty="0"/>
                    </a:p>
                    <a:p>
                      <a:pPr marL="171450" indent="-171450">
                        <a:buFont typeface="Arial" panose="020B0604020202020204" pitchFamily="34" charset="0"/>
                        <a:buChar char="•"/>
                      </a:pPr>
                      <a:r>
                        <a:rPr lang="en-US" sz="1200" dirty="0">
                          <a:solidFill>
                            <a:srgbClr val="58585B"/>
                          </a:solidFill>
                        </a:rPr>
                        <a:t>Ignore the last 4 bits of the last octet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515075">
                <a:tc>
                  <a:txBody>
                    <a:bodyPr/>
                    <a:lstStyle/>
                    <a:p>
                      <a:r>
                        <a:rPr lang="en-US" sz="1200" b="1" dirty="0">
                          <a:solidFill>
                            <a:srgbClr val="58585B"/>
                          </a:solidFill>
                          <a:latin typeface="Courier New" panose="02070309020205020404" pitchFamily="49" charset="0"/>
                          <a:cs typeface="Courier New" panose="02070309020205020404" pitchFamily="49" charset="0"/>
                        </a:rPr>
                        <a:t>0.0.0.252</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b="1" dirty="0">
                          <a:solidFill>
                            <a:srgbClr val="58585B"/>
                          </a:solidFill>
                          <a:latin typeface="Courier New" panose="02070309020205020404" pitchFamily="49" charset="0"/>
                          <a:cs typeface="Courier New" panose="02070309020205020404" pitchFamily="49" charset="0"/>
                        </a:rPr>
                        <a:t>11111100</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Match the first three octets</a:t>
                      </a:r>
                      <a:endParaRPr lang="en-US" sz="1200" dirty="0"/>
                    </a:p>
                    <a:p>
                      <a:pPr marL="171450" indent="-171450">
                        <a:buFont typeface="Arial" panose="020B0604020202020204" pitchFamily="34" charset="0"/>
                        <a:buChar char="•"/>
                      </a:pPr>
                      <a:r>
                        <a:rPr lang="en-US" sz="1200" dirty="0">
                          <a:solidFill>
                            <a:srgbClr val="58585B"/>
                          </a:solidFill>
                        </a:rPr>
                        <a:t>Ignore the six left most bits of the last octet</a:t>
                      </a:r>
                      <a:endParaRPr lang="en-US" sz="1200" dirty="0"/>
                    </a:p>
                    <a:p>
                      <a:pPr marL="171450" indent="-171450">
                        <a:buFont typeface="Arial" panose="020B0604020202020204" pitchFamily="34" charset="0"/>
                        <a:buChar char="•"/>
                      </a:pPr>
                      <a:r>
                        <a:rPr lang="en-US" sz="1200" dirty="0">
                          <a:solidFill>
                            <a:srgbClr val="58585B"/>
                          </a:solidFill>
                        </a:rPr>
                        <a:t>Match the last two bits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364321">
                <a:tc>
                  <a:txBody>
                    <a:bodyPr/>
                    <a:lstStyle/>
                    <a:p>
                      <a:r>
                        <a:rPr lang="en-US" sz="1200" b="1" dirty="0">
                          <a:solidFill>
                            <a:srgbClr val="58585B"/>
                          </a:solidFill>
                          <a:latin typeface="Courier New" panose="02070309020205020404" pitchFamily="49" charset="0"/>
                          <a:cs typeface="Courier New" panose="02070309020205020404" pitchFamily="49" charset="0"/>
                        </a:rPr>
                        <a:t>0.0.0.255</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latin typeface="Courier New" panose="02070309020205020404" pitchFamily="49" charset="0"/>
                          <a:cs typeface="Courier New" panose="02070309020205020404" pitchFamily="49" charset="0"/>
                        </a:rPr>
                        <a:t>11111111</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Match the first three octet</a:t>
                      </a:r>
                      <a:endParaRPr lang="en-US" sz="1200" dirty="0"/>
                    </a:p>
                    <a:p>
                      <a:pPr marL="171450" indent="-171450">
                        <a:buFont typeface="Arial" panose="020B0604020202020204" pitchFamily="34" charset="0"/>
                        <a:buChar char="•"/>
                      </a:pPr>
                      <a:r>
                        <a:rPr lang="en-US" sz="1200" dirty="0">
                          <a:solidFill>
                            <a:srgbClr val="58585B"/>
                          </a:solidFill>
                        </a:rPr>
                        <a:t>Ignore the last octet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41</a:t>
            </a:fld>
            <a:endParaRPr lang="en-US" dirty="0"/>
          </a:p>
        </p:txBody>
      </p:sp>
      <p:sp>
        <p:nvSpPr>
          <p:cNvPr id="4" name="TextBox 3">
            <a:extLst>
              <a:ext uri="{FF2B5EF4-FFF2-40B4-BE49-F238E27FC236}">
                <a16:creationId xmlns:a16="http://schemas.microsoft.com/office/drawing/2014/main" id="{CEC5881A-2C20-4EE6-A057-0A19AB0E9F9B}"/>
              </a:ext>
            </a:extLst>
          </p:cNvPr>
          <p:cNvSpPr txBox="1"/>
          <p:nvPr/>
        </p:nvSpPr>
        <p:spPr>
          <a:xfrm>
            <a:off x="0" y="672655"/>
            <a:ext cx="9052560"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 wildcard mask is like a subnet mask in that it uses the ANDing process to identify which bits in an IPv4 address to match. However, they differ in the way they match binary 1s and 0s. Unlike a subnet mask, in which binary 1 is equal to a match and binary 0 is not a match, in a wildcard mask, the reverse is true.</a:t>
            </a:r>
          </a:p>
        </p:txBody>
      </p:sp>
    </p:spTree>
    <p:extLst>
      <p:ext uri="{BB962C8B-B14F-4D97-AF65-F5344CB8AC3E}">
        <p14:creationId xmlns:p14="http://schemas.microsoft.com/office/powerpoint/2010/main" val="3266921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Wildcard Masking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Wildcard Mask Types</a:t>
            </a:r>
          </a:p>
        </p:txBody>
      </p:sp>
      <p:sp>
        <p:nvSpPr>
          <p:cNvPr id="5" name="Object4"/>
          <p:cNvSpPr/>
          <p:nvPr/>
        </p:nvSpPr>
        <p:spPr>
          <a:xfrm>
            <a:off x="400050" y="895350"/>
            <a:ext cx="2209800" cy="34290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Wildcard Mask to Match a Host  </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42</a:t>
            </a:fld>
            <a:endParaRPr lang="en-US" dirty="0"/>
          </a:p>
        </p:txBody>
      </p:sp>
      <p:pic>
        <p:nvPicPr>
          <p:cNvPr id="4" name="Picture 3">
            <a:extLst>
              <a:ext uri="{FF2B5EF4-FFF2-40B4-BE49-F238E27FC236}">
                <a16:creationId xmlns:a16="http://schemas.microsoft.com/office/drawing/2014/main" id="{6BFDD49C-FAE2-4436-82F3-7D16B7F4595F}"/>
              </a:ext>
            </a:extLst>
          </p:cNvPr>
          <p:cNvPicPr>
            <a:picLocks noChangeAspect="1"/>
          </p:cNvPicPr>
          <p:nvPr/>
        </p:nvPicPr>
        <p:blipFill>
          <a:blip r:embed="rId3"/>
          <a:stretch>
            <a:fillRect/>
          </a:stretch>
        </p:blipFill>
        <p:spPr>
          <a:xfrm>
            <a:off x="3981252" y="909567"/>
            <a:ext cx="4572396" cy="967824"/>
          </a:xfrm>
          <a:prstGeom prst="rect">
            <a:avLst/>
          </a:prstGeom>
        </p:spPr>
      </p:pic>
      <p:sp>
        <p:nvSpPr>
          <p:cNvPr id="7" name="Object4">
            <a:extLst>
              <a:ext uri="{FF2B5EF4-FFF2-40B4-BE49-F238E27FC236}">
                <a16:creationId xmlns:a16="http://schemas.microsoft.com/office/drawing/2014/main" id="{22F84606-7BF7-46BB-B322-79DF0B936F63}"/>
              </a:ext>
            </a:extLst>
          </p:cNvPr>
          <p:cNvSpPr/>
          <p:nvPr/>
        </p:nvSpPr>
        <p:spPr>
          <a:xfrm>
            <a:off x="400050" y="2143125"/>
            <a:ext cx="2209800" cy="34290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Wildcard Mask to Match an IPv4 Subnet  </a:t>
            </a:r>
            <a:endParaRPr lang="en-US" sz="1400" dirty="0"/>
          </a:p>
        </p:txBody>
      </p:sp>
      <p:pic>
        <p:nvPicPr>
          <p:cNvPr id="6" name="Picture 5">
            <a:extLst>
              <a:ext uri="{FF2B5EF4-FFF2-40B4-BE49-F238E27FC236}">
                <a16:creationId xmlns:a16="http://schemas.microsoft.com/office/drawing/2014/main" id="{865DB182-6267-4FCB-BF6F-64F8E1B92246}"/>
              </a:ext>
            </a:extLst>
          </p:cNvPr>
          <p:cNvPicPr>
            <a:picLocks noChangeAspect="1"/>
          </p:cNvPicPr>
          <p:nvPr/>
        </p:nvPicPr>
        <p:blipFill>
          <a:blip r:embed="rId4"/>
          <a:stretch>
            <a:fillRect/>
          </a:stretch>
        </p:blipFill>
        <p:spPr>
          <a:xfrm>
            <a:off x="3988872" y="2162175"/>
            <a:ext cx="4557155" cy="960203"/>
          </a:xfrm>
          <a:prstGeom prst="rect">
            <a:avLst/>
          </a:prstGeom>
        </p:spPr>
      </p:pic>
      <p:sp>
        <p:nvSpPr>
          <p:cNvPr id="9" name="Object4">
            <a:extLst>
              <a:ext uri="{FF2B5EF4-FFF2-40B4-BE49-F238E27FC236}">
                <a16:creationId xmlns:a16="http://schemas.microsoft.com/office/drawing/2014/main" id="{C1E3580C-DBD4-47FF-8513-1D2AA5BE6EFA}"/>
              </a:ext>
            </a:extLst>
          </p:cNvPr>
          <p:cNvSpPr/>
          <p:nvPr/>
        </p:nvSpPr>
        <p:spPr>
          <a:xfrm>
            <a:off x="400050" y="3305175"/>
            <a:ext cx="2209800" cy="34290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Wildcard Mask to Match an IPv4 Address Range  </a:t>
            </a:r>
            <a:endParaRPr lang="en-US" sz="1400" dirty="0"/>
          </a:p>
        </p:txBody>
      </p:sp>
      <p:pic>
        <p:nvPicPr>
          <p:cNvPr id="8" name="Picture 7">
            <a:extLst>
              <a:ext uri="{FF2B5EF4-FFF2-40B4-BE49-F238E27FC236}">
                <a16:creationId xmlns:a16="http://schemas.microsoft.com/office/drawing/2014/main" id="{68719A92-A305-4110-988D-6673B1E2C1A9}"/>
              </a:ext>
            </a:extLst>
          </p:cNvPr>
          <p:cNvPicPr>
            <a:picLocks noChangeAspect="1"/>
          </p:cNvPicPr>
          <p:nvPr/>
        </p:nvPicPr>
        <p:blipFill>
          <a:blip r:embed="rId5"/>
          <a:stretch>
            <a:fillRect/>
          </a:stretch>
        </p:blipFill>
        <p:spPr>
          <a:xfrm>
            <a:off x="3988872" y="3305175"/>
            <a:ext cx="4564776" cy="1257409"/>
          </a:xfrm>
          <a:prstGeom prst="rect">
            <a:avLst/>
          </a:prstGeom>
        </p:spPr>
      </p:pic>
    </p:spTree>
    <p:extLst>
      <p:ext uri="{BB962C8B-B14F-4D97-AF65-F5344CB8AC3E}">
        <p14:creationId xmlns:p14="http://schemas.microsoft.com/office/powerpoint/2010/main" val="39159427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Wildcard Masking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Wildcard Mask Calculation</a:t>
            </a:r>
          </a:p>
        </p:txBody>
      </p:sp>
      <p:sp>
        <p:nvSpPr>
          <p:cNvPr id="5" name="Object4"/>
          <p:cNvSpPr/>
          <p:nvPr/>
        </p:nvSpPr>
        <p:spPr>
          <a:xfrm>
            <a:off x="180975" y="731520"/>
            <a:ext cx="8229600" cy="64008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Calculating wildcard masks can be challenging. One shortcut method is to subtract the subnet mask from 255.255.255.255.</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43</a:t>
            </a:fld>
            <a:endParaRPr lang="en-US" dirty="0"/>
          </a:p>
        </p:txBody>
      </p:sp>
      <p:sp>
        <p:nvSpPr>
          <p:cNvPr id="4" name="TextBox 3">
            <a:extLst>
              <a:ext uri="{FF2B5EF4-FFF2-40B4-BE49-F238E27FC236}">
                <a16:creationId xmlns:a16="http://schemas.microsoft.com/office/drawing/2014/main" id="{85728F69-E618-4384-91A4-CCF8BC5C0D4E}"/>
              </a:ext>
            </a:extLst>
          </p:cNvPr>
          <p:cNvSpPr txBox="1"/>
          <p:nvPr/>
        </p:nvSpPr>
        <p:spPr>
          <a:xfrm>
            <a:off x="285750" y="1533525"/>
            <a:ext cx="3086100" cy="2893100"/>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Assume you wanted an ACE in ACL 10 to permit access to all users in the 192.168.3.0/24 network. To calculate the wildcard mask, subtract the subnet mask (i.e., 255.255.255.0) from 255.255.255.255, as shown in the table.</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 solution produces the wildcard mask 0.0.0.255. Therefore, the ACE would be </a:t>
            </a:r>
            <a:r>
              <a:rPr lang="en-US" sz="1400" b="1" dirty="0">
                <a:latin typeface="Arial" panose="020B0604020202020204" pitchFamily="34" charset="0"/>
                <a:cs typeface="Arial" panose="020B0604020202020204" pitchFamily="34" charset="0"/>
              </a:rPr>
              <a:t>access-list 10 permit 192.168.3.0 0.0.0.255</a:t>
            </a:r>
            <a:r>
              <a:rPr lang="en-US" sz="1400" dirty="0">
                <a:latin typeface="Arial" panose="020B0604020202020204" pitchFamily="34" charset="0"/>
                <a:cs typeface="Arial" panose="020B0604020202020204" pitchFamily="34" charset="0"/>
              </a:rPr>
              <a:t>.</a:t>
            </a:r>
          </a:p>
        </p:txBody>
      </p:sp>
      <p:pic>
        <p:nvPicPr>
          <p:cNvPr id="6" name="Picture 5">
            <a:extLst>
              <a:ext uri="{FF2B5EF4-FFF2-40B4-BE49-F238E27FC236}">
                <a16:creationId xmlns:a16="http://schemas.microsoft.com/office/drawing/2014/main" id="{BC0E8050-167B-40C9-8CC2-593D630C28DB}"/>
              </a:ext>
            </a:extLst>
          </p:cNvPr>
          <p:cNvPicPr>
            <a:picLocks noChangeAspect="1"/>
          </p:cNvPicPr>
          <p:nvPr/>
        </p:nvPicPr>
        <p:blipFill>
          <a:blip r:embed="rId3"/>
          <a:stretch>
            <a:fillRect/>
          </a:stretch>
        </p:blipFill>
        <p:spPr>
          <a:xfrm>
            <a:off x="4059272" y="1996112"/>
            <a:ext cx="4514806" cy="1151275"/>
          </a:xfrm>
          <a:prstGeom prst="rect">
            <a:avLst/>
          </a:prstGeom>
        </p:spPr>
      </p:pic>
    </p:spTree>
    <p:extLst>
      <p:ext uri="{BB962C8B-B14F-4D97-AF65-F5344CB8AC3E}">
        <p14:creationId xmlns:p14="http://schemas.microsoft.com/office/powerpoint/2010/main" val="24928710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Wildcard Masking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Wildcard Mask Keywords</a:t>
            </a:r>
          </a:p>
        </p:txBody>
      </p:sp>
      <p:sp>
        <p:nvSpPr>
          <p:cNvPr id="5" name="Object4"/>
          <p:cNvSpPr/>
          <p:nvPr/>
        </p:nvSpPr>
        <p:spPr>
          <a:xfrm>
            <a:off x="-1" y="784860"/>
            <a:ext cx="9001125" cy="192786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Keywords reduce ACL keystrokes and make it easier to read the ACE:</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host</a:t>
            </a:r>
            <a:r>
              <a:rPr lang="en-US" sz="1400" dirty="0">
                <a:solidFill>
                  <a:srgbClr val="000000"/>
                </a:solidFill>
                <a:latin typeface="Arial" pitchFamily="34" charset="0"/>
                <a:ea typeface="Arial" pitchFamily="34" charset="-122"/>
                <a:cs typeface="Arial" pitchFamily="34" charset="-120"/>
              </a:rPr>
              <a:t> - This keyword substitutes for the 0.0.0.0 mask. This mask states that all IPv4 address bits must match to filter just one host address.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any</a:t>
            </a:r>
            <a:r>
              <a:rPr lang="en-US" sz="1400" dirty="0">
                <a:solidFill>
                  <a:srgbClr val="000000"/>
                </a:solidFill>
                <a:latin typeface="Arial" pitchFamily="34" charset="0"/>
                <a:ea typeface="Arial" pitchFamily="34" charset="-122"/>
                <a:cs typeface="Arial" pitchFamily="34" charset="-120"/>
              </a:rPr>
              <a:t> - This keyword substitutes for the 255.255.255.255 mask. This mask says to ignore the entire IPv4 address or to accept any addresses.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For example, these ACL commands…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…can be rewritten as follows: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44</a:t>
            </a:fld>
            <a:endParaRPr lang="en-US" dirty="0"/>
          </a:p>
        </p:txBody>
      </p:sp>
      <p:pic>
        <p:nvPicPr>
          <p:cNvPr id="7" name="Picture 6">
            <a:extLst>
              <a:ext uri="{FF2B5EF4-FFF2-40B4-BE49-F238E27FC236}">
                <a16:creationId xmlns:a16="http://schemas.microsoft.com/office/drawing/2014/main" id="{3B5D73C8-0D27-402A-A3B5-0813E2F853BF}"/>
              </a:ext>
            </a:extLst>
          </p:cNvPr>
          <p:cNvPicPr>
            <a:picLocks noChangeAspect="1"/>
          </p:cNvPicPr>
          <p:nvPr/>
        </p:nvPicPr>
        <p:blipFill>
          <a:blip r:embed="rId3"/>
          <a:stretch>
            <a:fillRect/>
          </a:stretch>
        </p:blipFill>
        <p:spPr>
          <a:xfrm>
            <a:off x="1988959" y="4037948"/>
            <a:ext cx="4877051" cy="641383"/>
          </a:xfrm>
          <a:prstGeom prst="rect">
            <a:avLst/>
          </a:prstGeom>
        </p:spPr>
      </p:pic>
      <p:pic>
        <p:nvPicPr>
          <p:cNvPr id="9" name="Picture 8">
            <a:extLst>
              <a:ext uri="{FF2B5EF4-FFF2-40B4-BE49-F238E27FC236}">
                <a16:creationId xmlns:a16="http://schemas.microsoft.com/office/drawing/2014/main" id="{A3179B13-E5C9-472C-9ACD-00C82AF1A8BE}"/>
              </a:ext>
            </a:extLst>
          </p:cNvPr>
          <p:cNvPicPr>
            <a:picLocks noChangeAspect="1"/>
          </p:cNvPicPr>
          <p:nvPr/>
        </p:nvPicPr>
        <p:blipFill>
          <a:blip r:embed="rId4"/>
          <a:stretch>
            <a:fillRect/>
          </a:stretch>
        </p:blipFill>
        <p:spPr>
          <a:xfrm>
            <a:off x="1988958" y="2746651"/>
            <a:ext cx="4878401" cy="641383"/>
          </a:xfrm>
          <a:prstGeom prst="rect">
            <a:avLst/>
          </a:prstGeom>
        </p:spPr>
      </p:pic>
    </p:spTree>
    <p:extLst>
      <p:ext uri="{BB962C8B-B14F-4D97-AF65-F5344CB8AC3E}">
        <p14:creationId xmlns:p14="http://schemas.microsoft.com/office/powerpoint/2010/main" val="15018473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8.3 Configure ACLs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45</a:t>
            </a:fld>
            <a:endParaRPr lang="en-US" dirty="0"/>
          </a:p>
        </p:txBody>
      </p:sp>
    </p:spTree>
    <p:extLst>
      <p:ext uri="{BB962C8B-B14F-4D97-AF65-F5344CB8AC3E}">
        <p14:creationId xmlns:p14="http://schemas.microsoft.com/office/powerpoint/2010/main" val="29388103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481818"/>
          </a:xfrm>
          <a:prstGeom prst="rect">
            <a:avLst/>
          </a:prstGeom>
          <a:noFill/>
          <a:ln/>
        </p:spPr>
        <p:txBody>
          <a:bodyPr wrap="square" rtlCol="0"/>
          <a:lstStyle/>
          <a:p>
            <a:pPr marL="0" indent="0">
              <a:buNone/>
            </a:pPr>
            <a:r>
              <a:rPr lang="en-US" dirty="0"/>
              <a:t>Create an ACL</a:t>
            </a:r>
          </a:p>
        </p:txBody>
      </p:sp>
      <p:sp>
        <p:nvSpPr>
          <p:cNvPr id="5" name="Object4"/>
          <p:cNvSpPr/>
          <p:nvPr/>
        </p:nvSpPr>
        <p:spPr>
          <a:xfrm>
            <a:off x="159328" y="914400"/>
            <a:ext cx="8669362"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When configuring a complex ACL, it is suggested that you:</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Use a text editor and write out the specifics of the policy to be implemented.</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Add the IOS configuration commands to accomplish those tasks.</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Include remarks to document the ACL.</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Copy and paste the commands onto the device.</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Always thoroughly test an ACL to ensure that it correctly applies the desired policy</a:t>
            </a: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46</a:t>
            </a:fld>
            <a:endParaRPr lang="en-US" dirty="0"/>
          </a:p>
        </p:txBody>
      </p:sp>
    </p:spTree>
    <p:extLst>
      <p:ext uri="{BB962C8B-B14F-4D97-AF65-F5344CB8AC3E}">
        <p14:creationId xmlns:p14="http://schemas.microsoft.com/office/powerpoint/2010/main" val="6952175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Numbered Standard IPv4 ACL Syntax</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47</a:t>
            </a:fld>
            <a:endParaRPr lang="en-US" dirty="0"/>
          </a:p>
        </p:txBody>
      </p:sp>
      <p:sp>
        <p:nvSpPr>
          <p:cNvPr id="7" name="TextBox 6">
            <a:extLst>
              <a:ext uri="{FF2B5EF4-FFF2-40B4-BE49-F238E27FC236}">
                <a16:creationId xmlns:a16="http://schemas.microsoft.com/office/drawing/2014/main" id="{CC13B745-A7F9-4A9D-AADE-939E3678F708}"/>
              </a:ext>
            </a:extLst>
          </p:cNvPr>
          <p:cNvSpPr txBox="1"/>
          <p:nvPr/>
        </p:nvSpPr>
        <p:spPr>
          <a:xfrm>
            <a:off x="155330" y="880943"/>
            <a:ext cx="7973208"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To create a numbered standard ACL, use the following global configuration command:</a:t>
            </a:r>
          </a:p>
        </p:txBody>
      </p:sp>
      <p:pic>
        <p:nvPicPr>
          <p:cNvPr id="5" name="Picture 4">
            <a:extLst>
              <a:ext uri="{FF2B5EF4-FFF2-40B4-BE49-F238E27FC236}">
                <a16:creationId xmlns:a16="http://schemas.microsoft.com/office/drawing/2014/main" id="{EA896461-C369-4212-B9D4-1456D94E49D2}"/>
              </a:ext>
            </a:extLst>
          </p:cNvPr>
          <p:cNvPicPr>
            <a:picLocks noChangeAspect="1"/>
          </p:cNvPicPr>
          <p:nvPr/>
        </p:nvPicPr>
        <p:blipFill>
          <a:blip r:embed="rId3"/>
          <a:stretch>
            <a:fillRect/>
          </a:stretch>
        </p:blipFill>
        <p:spPr>
          <a:xfrm>
            <a:off x="208104" y="1415637"/>
            <a:ext cx="8727791" cy="503306"/>
          </a:xfrm>
          <a:prstGeom prst="rect">
            <a:avLst/>
          </a:prstGeom>
        </p:spPr>
      </p:pic>
      <p:sp>
        <p:nvSpPr>
          <p:cNvPr id="10" name="TextBox 9">
            <a:extLst>
              <a:ext uri="{FF2B5EF4-FFF2-40B4-BE49-F238E27FC236}">
                <a16:creationId xmlns:a16="http://schemas.microsoft.com/office/drawing/2014/main" id="{C381A680-C656-41C6-806E-CCF85628B68F}"/>
              </a:ext>
            </a:extLst>
          </p:cNvPr>
          <p:cNvSpPr txBox="1"/>
          <p:nvPr/>
        </p:nvSpPr>
        <p:spPr>
          <a:xfrm>
            <a:off x="208104" y="2124105"/>
            <a:ext cx="8273562"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Use the </a:t>
            </a:r>
            <a:r>
              <a:rPr lang="en-US" sz="1600" b="1" dirty="0">
                <a:latin typeface="Arial" panose="020B0604020202020204" pitchFamily="34" charset="0"/>
                <a:cs typeface="Arial" panose="020B0604020202020204" pitchFamily="34" charset="0"/>
              </a:rPr>
              <a:t>no access-list </a:t>
            </a:r>
            <a:r>
              <a:rPr lang="en-US" sz="1600" i="1" dirty="0">
                <a:latin typeface="Arial" panose="020B0604020202020204" pitchFamily="34" charset="0"/>
                <a:cs typeface="Arial" panose="020B0604020202020204" pitchFamily="34" charset="0"/>
              </a:rPr>
              <a:t>access-list-number</a:t>
            </a:r>
            <a:r>
              <a:rPr lang="en-US" sz="1600" dirty="0">
                <a:latin typeface="Arial" panose="020B0604020202020204" pitchFamily="34" charset="0"/>
                <a:cs typeface="Arial" panose="020B0604020202020204" pitchFamily="34" charset="0"/>
              </a:rPr>
              <a:t> global configuration command to remove a numbered standard ACL.</a:t>
            </a:r>
          </a:p>
        </p:txBody>
      </p:sp>
    </p:spTree>
    <p:extLst>
      <p:ext uri="{BB962C8B-B14F-4D97-AF65-F5344CB8AC3E}">
        <p14:creationId xmlns:p14="http://schemas.microsoft.com/office/powerpoint/2010/main" val="6414253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Numbered Standard IPv4 ACL Syntax (Cont.)</a:t>
            </a:r>
          </a:p>
        </p:txBody>
      </p:sp>
      <p:graphicFrame>
        <p:nvGraphicFramePr>
          <p:cNvPr id="23" name="Table 22"/>
          <p:cNvGraphicFramePr>
            <a:graphicFrameLocks noGrp="1"/>
          </p:cNvGraphicFramePr>
          <p:nvPr>
            <p:extLst>
              <p:ext uri="{D42A27DB-BD31-4B8C-83A1-F6EECF244321}">
                <p14:modId xmlns:p14="http://schemas.microsoft.com/office/powerpoint/2010/main" val="767000649"/>
              </p:ext>
            </p:extLst>
          </p:nvPr>
        </p:nvGraphicFramePr>
        <p:xfrm>
          <a:off x="91440" y="1010373"/>
          <a:ext cx="8961120" cy="3718560"/>
        </p:xfrm>
        <a:graphic>
          <a:graphicData uri="http://schemas.openxmlformats.org/drawingml/2006/table">
            <a:tbl>
              <a:tblPr/>
              <a:tblGrid>
                <a:gridCol w="1959302">
                  <a:extLst>
                    <a:ext uri="{9D8B030D-6E8A-4147-A177-3AD203B41FA5}">
                      <a16:colId xmlns:a16="http://schemas.microsoft.com/office/drawing/2014/main" val="20000"/>
                    </a:ext>
                  </a:extLst>
                </a:gridCol>
                <a:gridCol w="7001818">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access-list-number</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This is the decimal number of the ACL. </a:t>
                      </a:r>
                      <a:endParaRPr lang="en-US" sz="1200" dirty="0"/>
                    </a:p>
                    <a:p>
                      <a:pPr marL="171450" indent="-171450">
                        <a:buFont typeface="Arial" panose="020B0604020202020204" pitchFamily="34" charset="0"/>
                        <a:buChar char="•"/>
                      </a:pPr>
                      <a:r>
                        <a:rPr lang="en-US" sz="1200" dirty="0">
                          <a:solidFill>
                            <a:srgbClr val="58585B"/>
                          </a:solidFill>
                        </a:rPr>
                        <a:t> Standard ACL number range is 1 to 99 or 1300 to 1999.</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deny</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This denies access if the condition is matched.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permit</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permits access if the condition is matched.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remark</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text</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(Optional) This adds a text entry for documentation purposes.</a:t>
                      </a:r>
                      <a:endParaRPr lang="en-US" sz="1200" dirty="0"/>
                    </a:p>
                    <a:p>
                      <a:pPr marL="171450" indent="-171450">
                        <a:buFont typeface="Arial" panose="020B0604020202020204" pitchFamily="34" charset="0"/>
                        <a:buChar char="•"/>
                      </a:pPr>
                      <a:r>
                        <a:rPr lang="en-US" sz="1200" dirty="0">
                          <a:solidFill>
                            <a:srgbClr val="58585B"/>
                          </a:solidFill>
                        </a:rPr>
                        <a:t> Each remark is limited to 100 characters.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source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This identifies the source network or host address to filter.</a:t>
                      </a:r>
                      <a:endParaRPr lang="en-US" sz="1200" dirty="0"/>
                    </a:p>
                    <a:p>
                      <a:pPr marL="171450" indent="-171450">
                        <a:buFont typeface="Arial" panose="020B0604020202020204" pitchFamily="34" charset="0"/>
                        <a:buChar char="•"/>
                      </a:pPr>
                      <a:r>
                        <a:rPr lang="en-US" sz="1200" dirty="0">
                          <a:solidFill>
                            <a:srgbClr val="58585B"/>
                          </a:solidFill>
                        </a:rPr>
                        <a:t> Use the </a:t>
                      </a:r>
                      <a:r>
                        <a:rPr lang="en-US" sz="1200" b="1" dirty="0">
                          <a:solidFill>
                            <a:srgbClr val="58585B"/>
                          </a:solidFill>
                        </a:rPr>
                        <a:t>any</a:t>
                      </a:r>
                      <a:r>
                        <a:rPr lang="en-US" sz="1200" dirty="0">
                          <a:solidFill>
                            <a:srgbClr val="58585B"/>
                          </a:solidFill>
                        </a:rPr>
                        <a:t> keyword to specify all networks. </a:t>
                      </a:r>
                      <a:endParaRPr lang="en-US" sz="1200" dirty="0"/>
                    </a:p>
                    <a:p>
                      <a:pPr marL="171450" indent="-171450">
                        <a:buFont typeface="Arial" panose="020B0604020202020204" pitchFamily="34" charset="0"/>
                        <a:buChar char="•"/>
                      </a:pPr>
                      <a:r>
                        <a:rPr lang="en-US" sz="1200" dirty="0">
                          <a:solidFill>
                            <a:srgbClr val="58585B"/>
                          </a:solidFill>
                        </a:rPr>
                        <a:t> Use the </a:t>
                      </a:r>
                      <a:r>
                        <a:rPr lang="en-US" sz="1200" b="1" dirty="0">
                          <a:solidFill>
                            <a:srgbClr val="58585B"/>
                          </a:solidFill>
                        </a:rPr>
                        <a:t>host</a:t>
                      </a:r>
                      <a:r>
                        <a:rPr lang="en-US" sz="1200" dirty="0">
                          <a:solidFill>
                            <a:srgbClr val="58585B"/>
                          </a:solidFill>
                        </a:rPr>
                        <a:t> </a:t>
                      </a:r>
                      <a:r>
                        <a:rPr lang="en-US" sz="1200" i="1" dirty="0">
                          <a:solidFill>
                            <a:srgbClr val="58585B"/>
                          </a:solidFill>
                        </a:rPr>
                        <a:t>ip-address</a:t>
                      </a:r>
                      <a:r>
                        <a:rPr lang="en-US" sz="1200" dirty="0">
                          <a:solidFill>
                            <a:srgbClr val="58585B"/>
                          </a:solidFill>
                        </a:rPr>
                        <a:t> keyword or simply enter an ip-address (without the host  keyword) to identify a specific IP address.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source-wildcard</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(Optional) This is a 32-bit wildcard mask that is applied to the . If omitted, a default 0.0.0.0 mask is assumed.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log</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(Optional) This keyword generates and sends an informational message whenever the ACE is matched. </a:t>
                      </a:r>
                      <a:endParaRPr lang="en-US" sz="1200" dirty="0"/>
                    </a:p>
                    <a:p>
                      <a:pPr marL="171450" indent="-171450">
                        <a:buFont typeface="Arial" panose="020B0604020202020204" pitchFamily="34" charset="0"/>
                        <a:buChar char="•"/>
                      </a:pPr>
                      <a:r>
                        <a:rPr lang="en-US" sz="1200" dirty="0">
                          <a:solidFill>
                            <a:srgbClr val="58585B"/>
                          </a:solidFill>
                        </a:rPr>
                        <a:t> Message includes ACL number, matched condition (i.e., permitted or denied), source address, and number of packets.{`{" "}`} </a:t>
                      </a:r>
                      <a:endParaRPr lang="en-US" sz="1200" dirty="0"/>
                    </a:p>
                    <a:p>
                      <a:pPr marL="171450" indent="-171450">
                        <a:buFont typeface="Arial" panose="020B0604020202020204" pitchFamily="34" charset="0"/>
                        <a:buChar char="•"/>
                      </a:pPr>
                      <a:r>
                        <a:rPr lang="en-US" sz="1200" dirty="0">
                          <a:solidFill>
                            <a:srgbClr val="58585B"/>
                          </a:solidFill>
                        </a:rPr>
                        <a:t>This message is generated for the first matched packet.</a:t>
                      </a:r>
                      <a:endParaRPr lang="en-US" sz="1200" dirty="0"/>
                    </a:p>
                    <a:p>
                      <a:pPr marL="171450" indent="-171450">
                        <a:buFont typeface="Arial" panose="020B0604020202020204" pitchFamily="34" charset="0"/>
                        <a:buChar char="•"/>
                      </a:pPr>
                      <a:r>
                        <a:rPr lang="en-US" sz="1200" dirty="0">
                          <a:solidFill>
                            <a:srgbClr val="58585B"/>
                          </a:solidFill>
                        </a:rPr>
                        <a:t>This keyword should only be implemented for troubleshooting or security reasons.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48</a:t>
            </a:fld>
            <a:endParaRPr lang="en-US" dirty="0"/>
          </a:p>
        </p:txBody>
      </p:sp>
      <p:sp>
        <p:nvSpPr>
          <p:cNvPr id="4" name="TextBox 3">
            <a:extLst>
              <a:ext uri="{FF2B5EF4-FFF2-40B4-BE49-F238E27FC236}">
                <a16:creationId xmlns:a16="http://schemas.microsoft.com/office/drawing/2014/main" id="{56EA16DA-91EA-40F2-BDC2-703B54C9A2FB}"/>
              </a:ext>
            </a:extLst>
          </p:cNvPr>
          <p:cNvSpPr txBox="1"/>
          <p:nvPr/>
        </p:nvSpPr>
        <p:spPr>
          <a:xfrm>
            <a:off x="91440" y="680323"/>
            <a:ext cx="6083460"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This table provides a detailed explanation of the syntax for a standard ACL.</a:t>
            </a:r>
          </a:p>
        </p:txBody>
      </p:sp>
    </p:spTree>
    <p:extLst>
      <p:ext uri="{BB962C8B-B14F-4D97-AF65-F5344CB8AC3E}">
        <p14:creationId xmlns:p14="http://schemas.microsoft.com/office/powerpoint/2010/main" val="20097391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Named Standard IPv4 ACL Syntax</a:t>
            </a:r>
          </a:p>
        </p:txBody>
      </p:sp>
      <p:sp>
        <p:nvSpPr>
          <p:cNvPr id="5" name="Object4"/>
          <p:cNvSpPr/>
          <p:nvPr/>
        </p:nvSpPr>
        <p:spPr>
          <a:xfrm>
            <a:off x="0" y="865163"/>
            <a:ext cx="8959362" cy="692889"/>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ACL names are alphanumeric, case sensitive, and must be unique. Capitalizing ACL names is recommended. To create a named standard ACL, use the following global configuration command:</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49</a:t>
            </a:fld>
            <a:endParaRPr lang="en-US" dirty="0"/>
          </a:p>
        </p:txBody>
      </p:sp>
      <p:sp>
        <p:nvSpPr>
          <p:cNvPr id="10" name="TextBox 9">
            <a:extLst>
              <a:ext uri="{FF2B5EF4-FFF2-40B4-BE49-F238E27FC236}">
                <a16:creationId xmlns:a16="http://schemas.microsoft.com/office/drawing/2014/main" id="{F3EBC5FE-D090-4E9F-A3FB-432AD2E5C92E}"/>
              </a:ext>
            </a:extLst>
          </p:cNvPr>
          <p:cNvSpPr txBox="1"/>
          <p:nvPr/>
        </p:nvSpPr>
        <p:spPr>
          <a:xfrm>
            <a:off x="0" y="2019672"/>
            <a:ext cx="8625253"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In the example, a named standard IPv4 ACL called </a:t>
            </a:r>
            <a:r>
              <a:rPr lang="en-US" sz="1400" b="1" dirty="0">
                <a:latin typeface="Arial" panose="020B0604020202020204" pitchFamily="34" charset="0"/>
                <a:cs typeface="Arial" panose="020B0604020202020204" pitchFamily="34" charset="0"/>
              </a:rPr>
              <a:t>NO-ACCESS</a:t>
            </a:r>
            <a:r>
              <a:rPr lang="en-US" sz="1400" dirty="0">
                <a:latin typeface="Arial" panose="020B0604020202020204" pitchFamily="34" charset="0"/>
                <a:cs typeface="Arial" panose="020B0604020202020204" pitchFamily="34" charset="0"/>
              </a:rPr>
              <a:t> is created. Notice that the prompt changes to named standard ACL configuration mode. Use the help facility to view all the named standard ACL ACE options.</a:t>
            </a:r>
          </a:p>
        </p:txBody>
      </p:sp>
      <p:pic>
        <p:nvPicPr>
          <p:cNvPr id="7" name="Picture 6">
            <a:extLst>
              <a:ext uri="{FF2B5EF4-FFF2-40B4-BE49-F238E27FC236}">
                <a16:creationId xmlns:a16="http://schemas.microsoft.com/office/drawing/2014/main" id="{B8C58D86-2D40-4B90-9B37-ED7B0186572A}"/>
              </a:ext>
            </a:extLst>
          </p:cNvPr>
          <p:cNvPicPr>
            <a:picLocks noChangeAspect="1"/>
          </p:cNvPicPr>
          <p:nvPr/>
        </p:nvPicPr>
        <p:blipFill>
          <a:blip r:embed="rId3"/>
          <a:stretch>
            <a:fillRect/>
          </a:stretch>
        </p:blipFill>
        <p:spPr>
          <a:xfrm>
            <a:off x="1525148" y="1623054"/>
            <a:ext cx="4737343" cy="273064"/>
          </a:xfrm>
          <a:prstGeom prst="rect">
            <a:avLst/>
          </a:prstGeom>
        </p:spPr>
      </p:pic>
      <p:pic>
        <p:nvPicPr>
          <p:cNvPr id="9" name="Picture 8">
            <a:extLst>
              <a:ext uri="{FF2B5EF4-FFF2-40B4-BE49-F238E27FC236}">
                <a16:creationId xmlns:a16="http://schemas.microsoft.com/office/drawing/2014/main" id="{1259CC7D-6DA3-4CAA-AD8E-E3AA4827022B}"/>
              </a:ext>
            </a:extLst>
          </p:cNvPr>
          <p:cNvPicPr>
            <a:picLocks noChangeAspect="1"/>
          </p:cNvPicPr>
          <p:nvPr/>
        </p:nvPicPr>
        <p:blipFill>
          <a:blip r:embed="rId4"/>
          <a:stretch>
            <a:fillRect/>
          </a:stretch>
        </p:blipFill>
        <p:spPr>
          <a:xfrm>
            <a:off x="1502288" y="2818939"/>
            <a:ext cx="4730993" cy="2114659"/>
          </a:xfrm>
          <a:prstGeom prst="rect">
            <a:avLst/>
          </a:prstGeom>
        </p:spPr>
      </p:pic>
    </p:spTree>
    <p:extLst>
      <p:ext uri="{BB962C8B-B14F-4D97-AF65-F5344CB8AC3E}">
        <p14:creationId xmlns:p14="http://schemas.microsoft.com/office/powerpoint/2010/main" val="32616264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Numbered Extended IPv4 ACL Syntax</a:t>
            </a:r>
          </a:p>
        </p:txBody>
      </p:sp>
      <p:sp>
        <p:nvSpPr>
          <p:cNvPr id="4"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50</a:t>
            </a:fld>
            <a:endParaRPr lang="en-US" dirty="0"/>
          </a:p>
        </p:txBody>
      </p:sp>
      <p:sp>
        <p:nvSpPr>
          <p:cNvPr id="7" name="TextBox 6">
            <a:extLst>
              <a:ext uri="{FF2B5EF4-FFF2-40B4-BE49-F238E27FC236}">
                <a16:creationId xmlns:a16="http://schemas.microsoft.com/office/drawing/2014/main" id="{CDAEFD8F-D04A-446B-A9E3-D4FBA7CA09D7}"/>
              </a:ext>
            </a:extLst>
          </p:cNvPr>
          <p:cNvSpPr txBox="1"/>
          <p:nvPr/>
        </p:nvSpPr>
        <p:spPr>
          <a:xfrm>
            <a:off x="171450" y="755485"/>
            <a:ext cx="8801100" cy="1169551"/>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The procedural steps for configuring extended ACLs are the same as for standard ACLs. The extended ACL is first configured, and then it is activated on an interface. However, the command syntax and parameters are more complex to support the additional features provided by extended ACLs.</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To create a numbered extended ACL, use the following global configuration command:</a:t>
            </a:r>
          </a:p>
        </p:txBody>
      </p:sp>
      <p:sp>
        <p:nvSpPr>
          <p:cNvPr id="10" name="TextBox 9">
            <a:extLst>
              <a:ext uri="{FF2B5EF4-FFF2-40B4-BE49-F238E27FC236}">
                <a16:creationId xmlns:a16="http://schemas.microsoft.com/office/drawing/2014/main" id="{FC92D0C0-75AA-4C7B-BD40-51B3B8CA7F1D}"/>
              </a:ext>
            </a:extLst>
          </p:cNvPr>
          <p:cNvSpPr txBox="1"/>
          <p:nvPr/>
        </p:nvSpPr>
        <p:spPr>
          <a:xfrm>
            <a:off x="237392" y="2789200"/>
            <a:ext cx="8326315" cy="107721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parameters are reviewed on the next two slides.</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command to apply an extended IPv4 ACL to an interface is the same as the command used for standard IPv4 ACLs.</a:t>
            </a:r>
          </a:p>
        </p:txBody>
      </p:sp>
      <p:pic>
        <p:nvPicPr>
          <p:cNvPr id="8" name="Picture 7">
            <a:extLst>
              <a:ext uri="{FF2B5EF4-FFF2-40B4-BE49-F238E27FC236}">
                <a16:creationId xmlns:a16="http://schemas.microsoft.com/office/drawing/2014/main" id="{E13EDA61-6A67-48E1-92AD-E6C6420E6669}"/>
              </a:ext>
            </a:extLst>
          </p:cNvPr>
          <p:cNvPicPr>
            <a:picLocks noChangeAspect="1"/>
          </p:cNvPicPr>
          <p:nvPr/>
        </p:nvPicPr>
        <p:blipFill>
          <a:blip r:embed="rId3"/>
          <a:stretch>
            <a:fillRect/>
          </a:stretch>
        </p:blipFill>
        <p:spPr>
          <a:xfrm>
            <a:off x="237392" y="1925036"/>
            <a:ext cx="8096666" cy="736638"/>
          </a:xfrm>
          <a:prstGeom prst="rect">
            <a:avLst/>
          </a:prstGeom>
        </p:spPr>
      </p:pic>
      <p:pic>
        <p:nvPicPr>
          <p:cNvPr id="11" name="Picture 10">
            <a:extLst>
              <a:ext uri="{FF2B5EF4-FFF2-40B4-BE49-F238E27FC236}">
                <a16:creationId xmlns:a16="http://schemas.microsoft.com/office/drawing/2014/main" id="{CC6FF3E8-75AB-4621-A5A0-584494DE3C26}"/>
              </a:ext>
            </a:extLst>
          </p:cNvPr>
          <p:cNvPicPr>
            <a:picLocks noChangeAspect="1"/>
          </p:cNvPicPr>
          <p:nvPr/>
        </p:nvPicPr>
        <p:blipFill>
          <a:blip r:embed="rId4"/>
          <a:stretch>
            <a:fillRect/>
          </a:stretch>
        </p:blipFill>
        <p:spPr>
          <a:xfrm>
            <a:off x="319860" y="3993944"/>
            <a:ext cx="7010760" cy="273064"/>
          </a:xfrm>
          <a:prstGeom prst="rect">
            <a:avLst/>
          </a:prstGeom>
        </p:spPr>
      </p:pic>
    </p:spTree>
    <p:extLst>
      <p:ext uri="{BB962C8B-B14F-4D97-AF65-F5344CB8AC3E}">
        <p14:creationId xmlns:p14="http://schemas.microsoft.com/office/powerpoint/2010/main" val="13010185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Numbered Extended IPv4 ACL Syntax (Cont.)</a:t>
            </a:r>
          </a:p>
        </p:txBody>
      </p:sp>
      <p:graphicFrame>
        <p:nvGraphicFramePr>
          <p:cNvPr id="25" name="Table 24"/>
          <p:cNvGraphicFramePr>
            <a:graphicFrameLocks noGrp="1"/>
          </p:cNvGraphicFramePr>
          <p:nvPr>
            <p:extLst>
              <p:ext uri="{D42A27DB-BD31-4B8C-83A1-F6EECF244321}">
                <p14:modId xmlns:p14="http://schemas.microsoft.com/office/powerpoint/2010/main" val="2444697180"/>
              </p:ext>
            </p:extLst>
          </p:nvPr>
        </p:nvGraphicFramePr>
        <p:xfrm>
          <a:off x="91440" y="1225501"/>
          <a:ext cx="8961120" cy="3352800"/>
        </p:xfrm>
        <a:graphic>
          <a:graphicData uri="http://schemas.openxmlformats.org/drawingml/2006/table">
            <a:tbl>
              <a:tblPr/>
              <a:tblGrid>
                <a:gridCol w="1861647">
                  <a:extLst>
                    <a:ext uri="{9D8B030D-6E8A-4147-A177-3AD203B41FA5}">
                      <a16:colId xmlns:a16="http://schemas.microsoft.com/office/drawing/2014/main" val="20000"/>
                    </a:ext>
                  </a:extLst>
                </a:gridCol>
                <a:gridCol w="7099473">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access-list-number</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is the decimal number of the ACL. </a:t>
                      </a:r>
                      <a:endParaRPr lang="en-US" sz="1200" dirty="0"/>
                    </a:p>
                    <a:p>
                      <a:r>
                        <a:rPr lang="en-US" sz="1200" dirty="0">
                          <a:solidFill>
                            <a:srgbClr val="58585B"/>
                          </a:solidFill>
                        </a:rPr>
                        <a:t>Extended ACL number range is 100 to 199 and 2000 to 2699.</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deny</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This denies access if the condition is matched.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permit</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permits access if the condition is matched.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remark</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text</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(Optional) Adds a text entry for documentation purposes.</a:t>
                      </a:r>
                      <a:endParaRPr lang="en-US" sz="1200" dirty="0"/>
                    </a:p>
                    <a:p>
                      <a:pPr marL="171450" indent="-171450">
                        <a:buFont typeface="Arial" panose="020B0604020202020204" pitchFamily="34" charset="0"/>
                        <a:buChar char="•"/>
                      </a:pPr>
                      <a:r>
                        <a:rPr lang="en-US" sz="1200" dirty="0">
                          <a:solidFill>
                            <a:srgbClr val="58585B"/>
                          </a:solidFill>
                        </a:rPr>
                        <a:t>Each remark is limited to 100 characters.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protocol</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Name or number of an internet protocol. </a:t>
                      </a:r>
                      <a:endParaRPr lang="en-US" sz="1200" dirty="0"/>
                    </a:p>
                    <a:p>
                      <a:pPr marL="171450" indent="-171450">
                        <a:buFont typeface="Arial" panose="020B0604020202020204" pitchFamily="34" charset="0"/>
                        <a:buChar char="•"/>
                      </a:pPr>
                      <a:r>
                        <a:rPr lang="en-US" sz="1200" dirty="0">
                          <a:solidFill>
                            <a:srgbClr val="58585B"/>
                          </a:solidFill>
                        </a:rPr>
                        <a:t>Common keywords include </a:t>
                      </a:r>
                      <a:r>
                        <a:rPr lang="en-US" sz="1200" b="1" dirty="0">
                          <a:solidFill>
                            <a:srgbClr val="58585B"/>
                          </a:solidFill>
                        </a:rPr>
                        <a:t>ip</a:t>
                      </a:r>
                      <a:r>
                        <a:rPr lang="en-US" sz="1200" dirty="0">
                          <a:solidFill>
                            <a:srgbClr val="58585B"/>
                          </a:solidFill>
                        </a:rPr>
                        <a:t>, </a:t>
                      </a:r>
                      <a:r>
                        <a:rPr lang="en-US" sz="1200" b="1" dirty="0">
                          <a:solidFill>
                            <a:srgbClr val="58585B"/>
                          </a:solidFill>
                        </a:rPr>
                        <a:t>tcp</a:t>
                      </a:r>
                      <a:r>
                        <a:rPr lang="en-US" sz="1200" dirty="0">
                          <a:solidFill>
                            <a:srgbClr val="58585B"/>
                          </a:solidFill>
                        </a:rPr>
                        <a:t>, </a:t>
                      </a:r>
                      <a:r>
                        <a:rPr lang="en-US" sz="1200" b="1" dirty="0">
                          <a:solidFill>
                            <a:srgbClr val="58585B"/>
                          </a:solidFill>
                        </a:rPr>
                        <a:t>udp</a:t>
                      </a:r>
                      <a:r>
                        <a:rPr lang="en-US" sz="1200" dirty="0">
                          <a:solidFill>
                            <a:srgbClr val="58585B"/>
                          </a:solidFill>
                        </a:rPr>
                        <a:t>, and </a:t>
                      </a:r>
                      <a:r>
                        <a:rPr lang="en-US" sz="1200" b="1" dirty="0">
                          <a:solidFill>
                            <a:srgbClr val="58585B"/>
                          </a:solidFill>
                        </a:rPr>
                        <a:t>icmp</a:t>
                      </a:r>
                      <a:r>
                        <a:rPr lang="en-US" sz="1200" dirty="0">
                          <a:solidFill>
                            <a:srgbClr val="58585B"/>
                          </a:solidFill>
                        </a:rPr>
                        <a:t>.</a:t>
                      </a:r>
                      <a:endParaRPr lang="en-US" sz="1200" dirty="0"/>
                    </a:p>
                    <a:p>
                      <a:pPr marL="171450" indent="-171450">
                        <a:buFont typeface="Arial" panose="020B0604020202020204" pitchFamily="34" charset="0"/>
                        <a:buChar char="•"/>
                      </a:pPr>
                      <a:r>
                        <a:rPr lang="en-US" sz="1200" dirty="0">
                          <a:solidFill>
                            <a:srgbClr val="58585B"/>
                          </a:solidFill>
                        </a:rPr>
                        <a:t>The </a:t>
                      </a:r>
                      <a:r>
                        <a:rPr lang="en-US" sz="1200" b="1" dirty="0">
                          <a:solidFill>
                            <a:srgbClr val="58585B"/>
                          </a:solidFill>
                        </a:rPr>
                        <a:t>ip</a:t>
                      </a:r>
                      <a:r>
                        <a:rPr lang="en-US" sz="1200" dirty="0">
                          <a:solidFill>
                            <a:srgbClr val="58585B"/>
                          </a:solidFill>
                        </a:rPr>
                        <a:t> keyword matches all IP protocols.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source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This identifies the source network or host address to filter.</a:t>
                      </a:r>
                      <a:endParaRPr lang="en-US" sz="1200" dirty="0"/>
                    </a:p>
                    <a:p>
                      <a:pPr marL="171450" indent="-171450">
                        <a:buFont typeface="Arial" panose="020B0604020202020204" pitchFamily="34" charset="0"/>
                        <a:buChar char="•"/>
                      </a:pPr>
                      <a:r>
                        <a:rPr lang="en-US" sz="1200" dirty="0">
                          <a:solidFill>
                            <a:srgbClr val="58585B"/>
                          </a:solidFill>
                        </a:rPr>
                        <a:t>Use the </a:t>
                      </a:r>
                      <a:r>
                        <a:rPr lang="en-US" sz="1200" b="1" dirty="0">
                          <a:solidFill>
                            <a:srgbClr val="58585B"/>
                          </a:solidFill>
                        </a:rPr>
                        <a:t>any</a:t>
                      </a:r>
                      <a:r>
                        <a:rPr lang="en-US" sz="1200" dirty="0">
                          <a:solidFill>
                            <a:srgbClr val="58585B"/>
                          </a:solidFill>
                        </a:rPr>
                        <a:t> keyword to specify all networks.</a:t>
                      </a:r>
                      <a:endParaRPr lang="en-US" sz="1200" dirty="0"/>
                    </a:p>
                    <a:p>
                      <a:pPr marL="171450" indent="-171450">
                        <a:buFont typeface="Arial" panose="020B0604020202020204" pitchFamily="34" charset="0"/>
                        <a:buChar char="•"/>
                      </a:pPr>
                      <a:r>
                        <a:rPr lang="en-US" sz="1200" dirty="0">
                          <a:solidFill>
                            <a:srgbClr val="58585B"/>
                          </a:solidFill>
                        </a:rPr>
                        <a:t>Use the </a:t>
                      </a:r>
                      <a:r>
                        <a:rPr lang="en-US" sz="1200" b="1" dirty="0">
                          <a:solidFill>
                            <a:srgbClr val="58585B"/>
                          </a:solidFill>
                        </a:rPr>
                        <a:t>host</a:t>
                      </a:r>
                      <a:r>
                        <a:rPr lang="en-US" sz="1200" dirty="0">
                          <a:solidFill>
                            <a:srgbClr val="58585B"/>
                          </a:solidFill>
                        </a:rPr>
                        <a:t> </a:t>
                      </a:r>
                      <a:r>
                        <a:rPr lang="en-US" sz="1200" i="1" dirty="0">
                          <a:solidFill>
                            <a:srgbClr val="58585B"/>
                          </a:solidFill>
                        </a:rPr>
                        <a:t>ip-address</a:t>
                      </a:r>
                      <a:r>
                        <a:rPr lang="en-US" sz="1200" dirty="0">
                          <a:solidFill>
                            <a:srgbClr val="58585B"/>
                          </a:solidFill>
                        </a:rPr>
                        <a:t> keyword or simply enter an </a:t>
                      </a:r>
                      <a:r>
                        <a:rPr lang="en-US" sz="1200" i="1" dirty="0">
                          <a:solidFill>
                            <a:srgbClr val="58585B"/>
                          </a:solidFill>
                        </a:rPr>
                        <a:t>ip-address</a:t>
                      </a:r>
                      <a:r>
                        <a:rPr lang="en-US" sz="1200" dirty="0">
                          <a:solidFill>
                            <a:srgbClr val="58585B"/>
                          </a:solidFill>
                        </a:rPr>
                        <a:t> (without the </a:t>
                      </a:r>
                      <a:r>
                        <a:rPr lang="en-US" sz="1200" b="1" dirty="0">
                          <a:solidFill>
                            <a:srgbClr val="58585B"/>
                          </a:solidFill>
                        </a:rPr>
                        <a:t>host</a:t>
                      </a:r>
                      <a:r>
                        <a:rPr lang="en-US" sz="1200" dirty="0">
                          <a:solidFill>
                            <a:srgbClr val="58585B"/>
                          </a:solidFill>
                        </a:rPr>
                        <a:t>  keyword) to identify a specific IP address.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source-wildcard</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(Optional) A 32-bit wildcard mask that is applied to the source.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bl>
          </a:graphicData>
        </a:graphic>
      </p:graphicFrame>
      <p:sp>
        <p:nvSpPr>
          <p:cNvPr id="4"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51</a:t>
            </a:fld>
            <a:endParaRPr lang="en-US" dirty="0"/>
          </a:p>
        </p:txBody>
      </p:sp>
      <p:sp>
        <p:nvSpPr>
          <p:cNvPr id="7" name="TextBox 6">
            <a:extLst>
              <a:ext uri="{FF2B5EF4-FFF2-40B4-BE49-F238E27FC236}">
                <a16:creationId xmlns:a16="http://schemas.microsoft.com/office/drawing/2014/main" id="{064470E5-1FF9-4A1F-96B8-5D6CFC3DE809}"/>
              </a:ext>
            </a:extLst>
          </p:cNvPr>
          <p:cNvSpPr txBox="1"/>
          <p:nvPr/>
        </p:nvSpPr>
        <p:spPr>
          <a:xfrm>
            <a:off x="0" y="565199"/>
            <a:ext cx="8739554"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Although there are many keywords and parameters for extended ACLs, it is not necessary to use all of them when configuring an extended ACL. The table provides a detailed explanation of the syntax for an extended ACL.</a:t>
            </a:r>
          </a:p>
        </p:txBody>
      </p:sp>
      <p:sp>
        <p:nvSpPr>
          <p:cNvPr id="5" name="TextBox 4">
            <a:extLst>
              <a:ext uri="{FF2B5EF4-FFF2-40B4-BE49-F238E27FC236}">
                <a16:creationId xmlns:a16="http://schemas.microsoft.com/office/drawing/2014/main" id="{CD187249-67E1-445C-8F96-9ABA9F71674F}"/>
              </a:ext>
            </a:extLst>
          </p:cNvPr>
          <p:cNvSpPr txBox="1"/>
          <p:nvPr/>
        </p:nvSpPr>
        <p:spPr>
          <a:xfrm>
            <a:off x="2785113" y="4629150"/>
            <a:ext cx="3169328" cy="307777"/>
          </a:xfrm>
          <a:prstGeom prst="rect">
            <a:avLst/>
          </a:prstGeom>
          <a:noFill/>
        </p:spPr>
        <p:txBody>
          <a:bodyPr wrap="square" rtlCol="0">
            <a:spAutoFit/>
          </a:bodyPr>
          <a:lstStyle/>
          <a:p>
            <a:pPr algn="ctr"/>
            <a:r>
              <a:rPr lang="en-US" sz="1400" dirty="0"/>
              <a:t>(table continued on next slide)</a:t>
            </a:r>
          </a:p>
        </p:txBody>
      </p:sp>
    </p:spTree>
    <p:extLst>
      <p:ext uri="{BB962C8B-B14F-4D97-AF65-F5344CB8AC3E}">
        <p14:creationId xmlns:p14="http://schemas.microsoft.com/office/powerpoint/2010/main" val="10006847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Numbered Extended IPv4 ACL Syntax (Cont.)</a:t>
            </a:r>
          </a:p>
        </p:txBody>
      </p:sp>
      <p:graphicFrame>
        <p:nvGraphicFramePr>
          <p:cNvPr id="25" name="Table 24"/>
          <p:cNvGraphicFramePr>
            <a:graphicFrameLocks noGrp="1"/>
          </p:cNvGraphicFramePr>
          <p:nvPr>
            <p:extLst>
              <p:ext uri="{D42A27DB-BD31-4B8C-83A1-F6EECF244321}">
                <p14:modId xmlns:p14="http://schemas.microsoft.com/office/powerpoint/2010/main" val="3366020940"/>
              </p:ext>
            </p:extLst>
          </p:nvPr>
        </p:nvGraphicFramePr>
        <p:xfrm>
          <a:off x="91440" y="933450"/>
          <a:ext cx="8961120" cy="3276600"/>
        </p:xfrm>
        <a:graphic>
          <a:graphicData uri="http://schemas.openxmlformats.org/drawingml/2006/table">
            <a:tbl>
              <a:tblPr/>
              <a:tblGrid>
                <a:gridCol w="2021445">
                  <a:extLst>
                    <a:ext uri="{9D8B030D-6E8A-4147-A177-3AD203B41FA5}">
                      <a16:colId xmlns:a16="http://schemas.microsoft.com/office/drawing/2014/main" val="20000"/>
                    </a:ext>
                  </a:extLst>
                </a:gridCol>
                <a:gridCol w="6939675">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destination</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This identifies the destination network or host address to filter.</a:t>
                      </a:r>
                      <a:endParaRPr lang="en-US" sz="1200" dirty="0"/>
                    </a:p>
                    <a:p>
                      <a:pPr marL="171450" indent="-171450">
                        <a:buFont typeface="Arial" panose="020B0604020202020204" pitchFamily="34" charset="0"/>
                        <a:buChar char="•"/>
                      </a:pPr>
                      <a:r>
                        <a:rPr lang="en-US" sz="1200" dirty="0">
                          <a:solidFill>
                            <a:srgbClr val="58585B"/>
                          </a:solidFill>
                        </a:rPr>
                        <a:t>Use the </a:t>
                      </a:r>
                      <a:r>
                        <a:rPr lang="en-US" sz="1200" b="1" dirty="0">
                          <a:solidFill>
                            <a:srgbClr val="58585B"/>
                          </a:solidFill>
                        </a:rPr>
                        <a:t>any</a:t>
                      </a:r>
                      <a:r>
                        <a:rPr lang="en-US" sz="1200" dirty="0">
                          <a:solidFill>
                            <a:srgbClr val="58585B"/>
                          </a:solidFill>
                        </a:rPr>
                        <a:t> keyword to specify all networks.</a:t>
                      </a:r>
                      <a:endParaRPr lang="en-US" sz="1200" dirty="0"/>
                    </a:p>
                    <a:p>
                      <a:pPr marL="171450" indent="-171450">
                        <a:buFont typeface="Arial" panose="020B0604020202020204" pitchFamily="34" charset="0"/>
                        <a:buChar char="•"/>
                      </a:pPr>
                      <a:r>
                        <a:rPr lang="en-US" sz="1200" dirty="0">
                          <a:solidFill>
                            <a:srgbClr val="58585B"/>
                          </a:solidFill>
                        </a:rPr>
                        <a:t>Use the </a:t>
                      </a:r>
                      <a:r>
                        <a:rPr lang="en-US" sz="1200" b="1" dirty="0">
                          <a:solidFill>
                            <a:srgbClr val="58585B"/>
                          </a:solidFill>
                        </a:rPr>
                        <a:t>host</a:t>
                      </a:r>
                      <a:r>
                        <a:rPr lang="en-US" sz="1200" dirty="0">
                          <a:solidFill>
                            <a:srgbClr val="58585B"/>
                          </a:solidFill>
                        </a:rPr>
                        <a:t> </a:t>
                      </a:r>
                      <a:r>
                        <a:rPr lang="en-US" sz="1200" i="1" dirty="0">
                          <a:solidFill>
                            <a:srgbClr val="58585B"/>
                          </a:solidFill>
                        </a:rPr>
                        <a:t>ip-address</a:t>
                      </a:r>
                      <a:r>
                        <a:rPr lang="en-US" sz="1200" dirty="0">
                          <a:solidFill>
                            <a:srgbClr val="58585B"/>
                          </a:solidFill>
                        </a:rPr>
                        <a:t> keyword or </a:t>
                      </a:r>
                      <a:r>
                        <a:rPr lang="en-US" sz="1200" i="1" dirty="0">
                          <a:solidFill>
                            <a:srgbClr val="58585B"/>
                          </a:solidFill>
                        </a:rPr>
                        <a:t>ip-address</a:t>
                      </a:r>
                      <a:r>
                        <a:rPr lang="en-US" sz="1200" dirty="0">
                          <a:solidFill>
                            <a:srgbClr val="58585B"/>
                          </a:solidFill>
                        </a:rPr>
                        <a: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8"/>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destination-wildcard</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(Optional) This is a 32-bit wildcard mask that is applied to the destination.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9"/>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operator</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(Optional) This compares source or destination ports. </a:t>
                      </a:r>
                      <a:endParaRPr lang="en-US" sz="1200" dirty="0"/>
                    </a:p>
                    <a:p>
                      <a:pPr marL="171450" indent="-171450">
                        <a:buFont typeface="Arial" panose="020B0604020202020204" pitchFamily="34" charset="0"/>
                        <a:buChar char="•"/>
                      </a:pPr>
                      <a:r>
                        <a:rPr lang="en-US" sz="1200" dirty="0">
                          <a:solidFill>
                            <a:srgbClr val="58585B"/>
                          </a:solidFill>
                        </a:rPr>
                        <a:t>Some operators include </a:t>
                      </a:r>
                      <a:r>
                        <a:rPr lang="en-US" sz="1200" b="1" dirty="0">
                          <a:solidFill>
                            <a:srgbClr val="58585B"/>
                          </a:solidFill>
                        </a:rPr>
                        <a:t>lt</a:t>
                      </a:r>
                      <a:r>
                        <a:rPr lang="en-US" sz="1200" dirty="0">
                          <a:solidFill>
                            <a:srgbClr val="58585B"/>
                          </a:solidFill>
                        </a:rPr>
                        <a:t> (less than), </a:t>
                      </a:r>
                      <a:r>
                        <a:rPr lang="en-US" sz="1200" b="1" dirty="0">
                          <a:solidFill>
                            <a:srgbClr val="58585B"/>
                          </a:solidFill>
                        </a:rPr>
                        <a:t>gt</a:t>
                      </a:r>
                      <a:r>
                        <a:rPr lang="en-US" sz="1200" dirty="0">
                          <a:solidFill>
                            <a:srgbClr val="58585B"/>
                          </a:solidFill>
                        </a:rPr>
                        <a:t> (greater than), </a:t>
                      </a:r>
                      <a:r>
                        <a:rPr lang="en-US" sz="1200" b="1" dirty="0">
                          <a:solidFill>
                            <a:srgbClr val="58585B"/>
                          </a:solidFill>
                        </a:rPr>
                        <a:t>eq</a:t>
                      </a:r>
                      <a:r>
                        <a:rPr lang="en-US" sz="1200" dirty="0">
                          <a:solidFill>
                            <a:srgbClr val="58585B"/>
                          </a:solidFill>
                        </a:rPr>
                        <a:t> (equal), and </a:t>
                      </a:r>
                      <a:r>
                        <a:rPr lang="en-US" sz="1200" b="1" dirty="0">
                          <a:solidFill>
                            <a:srgbClr val="58585B"/>
                          </a:solidFill>
                        </a:rPr>
                        <a:t>neq</a:t>
                      </a:r>
                      <a:r>
                        <a:rPr lang="en-US" sz="1200" dirty="0">
                          <a:solidFill>
                            <a:srgbClr val="58585B"/>
                          </a:solidFill>
                        </a:rPr>
                        <a:t> (not equal).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0"/>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port</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(Optional) The decimal number or name of a TCP or UDP port.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established</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(Optional) For the TCP protocol only.</a:t>
                      </a:r>
                      <a:endParaRPr lang="en-US" sz="1200" dirty="0"/>
                    </a:p>
                    <a:p>
                      <a:pPr marL="171450" indent="-171450">
                        <a:buFont typeface="Arial" panose="020B0604020202020204" pitchFamily="34" charset="0"/>
                        <a:buChar char="•"/>
                      </a:pPr>
                      <a:r>
                        <a:rPr lang="en-US" sz="1200" dirty="0">
                          <a:solidFill>
                            <a:srgbClr val="58585B"/>
                          </a:solidFill>
                        </a:rPr>
                        <a:t>This is a 1</a:t>
                      </a:r>
                      <a:r>
                        <a:rPr lang="en-US" sz="1200" baseline="30000" dirty="0">
                          <a:solidFill>
                            <a:srgbClr val="58585B"/>
                          </a:solidFill>
                        </a:rPr>
                        <a:t>st</a:t>
                      </a:r>
                      <a:r>
                        <a:rPr lang="en-US" sz="1200" dirty="0">
                          <a:solidFill>
                            <a:srgbClr val="58585B"/>
                          </a:solidFill>
                        </a:rPr>
                        <a:t> generation firewall feature.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log</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(Optional) This keyword generates and sends an informational message whenever the ACE is matched. </a:t>
                      </a:r>
                      <a:endParaRPr lang="en-US" sz="1200" dirty="0"/>
                    </a:p>
                    <a:p>
                      <a:pPr marL="171450" indent="-171450">
                        <a:buFont typeface="Arial" panose="020B0604020202020204" pitchFamily="34" charset="0"/>
                        <a:buChar char="•"/>
                      </a:pPr>
                      <a:r>
                        <a:rPr lang="en-US" sz="1200" dirty="0">
                          <a:solidFill>
                            <a:srgbClr val="58585B"/>
                          </a:solidFill>
                        </a:rPr>
                        <a:t>This message includes ACL number, matched condition (i.e., permitted or denied), source address, and number of packets. </a:t>
                      </a:r>
                      <a:endParaRPr lang="en-US" sz="1200" dirty="0"/>
                    </a:p>
                    <a:p>
                      <a:pPr marL="171450" indent="-171450">
                        <a:buFont typeface="Arial" panose="020B0604020202020204" pitchFamily="34" charset="0"/>
                        <a:buChar char="•"/>
                      </a:pPr>
                      <a:r>
                        <a:rPr lang="en-US" sz="1200" dirty="0">
                          <a:solidFill>
                            <a:srgbClr val="58585B"/>
                          </a:solidFill>
                        </a:rPr>
                        <a:t>This message is generated for the first matched packet.</a:t>
                      </a:r>
                      <a:endParaRPr lang="en-US" sz="1200" dirty="0"/>
                    </a:p>
                    <a:p>
                      <a:pPr marL="171450" indent="-171450">
                        <a:buFont typeface="Arial" panose="020B0604020202020204" pitchFamily="34" charset="0"/>
                        <a:buChar char="•"/>
                      </a:pPr>
                      <a:r>
                        <a:rPr lang="en-US" sz="1200" dirty="0">
                          <a:solidFill>
                            <a:srgbClr val="58585B"/>
                          </a:solidFill>
                        </a:rPr>
                        <a:t>This keyword should only be implemented for troubleshooting or security reasons.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3"/>
                  </a:ext>
                </a:extLst>
              </a:tr>
            </a:tbl>
          </a:graphicData>
        </a:graphic>
      </p:graphicFrame>
      <p:sp>
        <p:nvSpPr>
          <p:cNvPr id="4"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52</a:t>
            </a:fld>
            <a:endParaRPr lang="en-US" dirty="0"/>
          </a:p>
        </p:txBody>
      </p:sp>
    </p:spTree>
    <p:extLst>
      <p:ext uri="{BB962C8B-B14F-4D97-AF65-F5344CB8AC3E}">
        <p14:creationId xmlns:p14="http://schemas.microsoft.com/office/powerpoint/2010/main" val="25043181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Protocols and Port Numbers</a:t>
            </a:r>
          </a:p>
        </p:txBody>
      </p:sp>
      <p:sp>
        <p:nvSpPr>
          <p:cNvPr id="5" name="Object4"/>
          <p:cNvSpPr/>
          <p:nvPr/>
        </p:nvSpPr>
        <p:spPr>
          <a:xfrm>
            <a:off x="0" y="914400"/>
            <a:ext cx="3455377" cy="2571750"/>
          </a:xfrm>
          <a:prstGeom prst="rect">
            <a:avLst/>
          </a:prstGeom>
          <a:noFill/>
          <a:ln/>
        </p:spPr>
        <p:txBody>
          <a:bodyPr wrap="square" rtlCol="0" anchor="t"/>
          <a:lstStyle/>
          <a:p>
            <a:pPr>
              <a:lnSpc>
                <a:spcPts val="2000"/>
              </a:lnSpc>
            </a:pPr>
            <a:r>
              <a:rPr lang="en-US" sz="1400" b="1" dirty="0">
                <a:solidFill>
                  <a:srgbClr val="000000"/>
                </a:solidFill>
                <a:latin typeface="Arial" pitchFamily="34" charset="0"/>
                <a:ea typeface="Arial" pitchFamily="34" charset="-122"/>
                <a:cs typeface="Arial" pitchFamily="34" charset="-120"/>
              </a:rPr>
              <a:t>Protocol Options </a:t>
            </a:r>
            <a:r>
              <a:rPr lang="en-US" sz="1400" dirty="0">
                <a:solidFill>
                  <a:srgbClr val="000000"/>
                </a:solidFill>
                <a:latin typeface="Arial" pitchFamily="34" charset="0"/>
                <a:ea typeface="Arial" pitchFamily="34" charset="-122"/>
                <a:cs typeface="Arial" pitchFamily="34" charset="-120"/>
              </a:rPr>
              <a:t>- The four highlighted protocols are the most popular options. Use the </a:t>
            </a:r>
            <a:r>
              <a:rPr lang="en-US" sz="1400" b="1" dirty="0">
                <a:solidFill>
                  <a:srgbClr val="000000"/>
                </a:solidFill>
                <a:latin typeface="Arial" pitchFamily="34" charset="0"/>
                <a:ea typeface="Arial" pitchFamily="34" charset="-122"/>
                <a:cs typeface="Arial" pitchFamily="34" charset="-120"/>
              </a:rPr>
              <a:t>?</a:t>
            </a:r>
            <a:r>
              <a:rPr lang="en-US" sz="1400" dirty="0">
                <a:solidFill>
                  <a:srgbClr val="000000"/>
                </a:solidFill>
                <a:latin typeface="Arial" pitchFamily="34" charset="0"/>
                <a:ea typeface="Arial" pitchFamily="34" charset="-122"/>
                <a:cs typeface="Arial" pitchFamily="34" charset="-120"/>
              </a:rPr>
              <a:t> to get help when entering a complex ACE. If an internet protocol is not listed, then the IP protocol number could be specified. For instance, the ICMP protocol number 1, TCP is 6, and UDP is 17.</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53</a:t>
            </a:fld>
            <a:endParaRPr lang="en-US" dirty="0"/>
          </a:p>
        </p:txBody>
      </p:sp>
      <p:pic>
        <p:nvPicPr>
          <p:cNvPr id="4" name="Picture 3">
            <a:extLst>
              <a:ext uri="{FF2B5EF4-FFF2-40B4-BE49-F238E27FC236}">
                <a16:creationId xmlns:a16="http://schemas.microsoft.com/office/drawing/2014/main" id="{6C23EF5D-2FB5-4DD3-AF1B-D856B62C0B23}"/>
              </a:ext>
            </a:extLst>
          </p:cNvPr>
          <p:cNvPicPr>
            <a:picLocks noChangeAspect="1"/>
          </p:cNvPicPr>
          <p:nvPr/>
        </p:nvPicPr>
        <p:blipFill>
          <a:blip r:embed="rId3"/>
          <a:stretch>
            <a:fillRect/>
          </a:stretch>
        </p:blipFill>
        <p:spPr>
          <a:xfrm>
            <a:off x="4167555" y="914400"/>
            <a:ext cx="4519246" cy="3308889"/>
          </a:xfrm>
          <a:prstGeom prst="rect">
            <a:avLst/>
          </a:prstGeom>
        </p:spPr>
      </p:pic>
    </p:spTree>
    <p:extLst>
      <p:ext uri="{BB962C8B-B14F-4D97-AF65-F5344CB8AC3E}">
        <p14:creationId xmlns:p14="http://schemas.microsoft.com/office/powerpoint/2010/main" val="19311569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Protocols and Port Numbers (Cont.)</a:t>
            </a:r>
          </a:p>
        </p:txBody>
      </p:sp>
      <p:sp>
        <p:nvSpPr>
          <p:cNvPr id="5" name="Object4"/>
          <p:cNvSpPr/>
          <p:nvPr/>
        </p:nvSpPr>
        <p:spPr>
          <a:xfrm>
            <a:off x="-1" y="731520"/>
            <a:ext cx="5265683" cy="2571750"/>
          </a:xfrm>
          <a:prstGeom prst="rect">
            <a:avLst/>
          </a:prstGeom>
          <a:noFill/>
          <a:ln/>
        </p:spPr>
        <p:txBody>
          <a:bodyPr wrap="square" rtlCol="0" anchor="t"/>
          <a:lstStyle/>
          <a:p>
            <a:pPr>
              <a:lnSpc>
                <a:spcPts val="2000"/>
              </a:lnSpc>
            </a:pPr>
            <a:r>
              <a:rPr lang="en-US" sz="1400" b="1" dirty="0">
                <a:solidFill>
                  <a:srgbClr val="000000"/>
                </a:solidFill>
                <a:latin typeface="Arial" pitchFamily="34" charset="0"/>
                <a:ea typeface="Arial" pitchFamily="34" charset="-122"/>
                <a:cs typeface="Arial" pitchFamily="34" charset="-120"/>
              </a:rPr>
              <a:t>Port Keyword Options</a:t>
            </a:r>
            <a:r>
              <a:rPr lang="en-US" sz="1400" dirty="0">
                <a:solidFill>
                  <a:srgbClr val="000000"/>
                </a:solidFill>
                <a:latin typeface="Arial" pitchFamily="34" charset="0"/>
                <a:ea typeface="Arial" pitchFamily="34" charset="-122"/>
                <a:cs typeface="Arial" pitchFamily="34" charset="-120"/>
              </a:rPr>
              <a:t> - Selecting a protocol influences port options. For instance, selecting the:</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tcp</a:t>
            </a:r>
            <a:r>
              <a:rPr lang="en-US" sz="1400" dirty="0">
                <a:solidFill>
                  <a:srgbClr val="000000"/>
                </a:solidFill>
                <a:latin typeface="Arial" pitchFamily="34" charset="0"/>
                <a:ea typeface="Arial" pitchFamily="34" charset="-122"/>
                <a:cs typeface="Arial" pitchFamily="34" charset="-120"/>
              </a:rPr>
              <a:t> protocol would provide TCP related ports options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udp</a:t>
            </a:r>
            <a:r>
              <a:rPr lang="en-US" sz="1400" dirty="0">
                <a:solidFill>
                  <a:srgbClr val="000000"/>
                </a:solidFill>
                <a:latin typeface="Arial" pitchFamily="34" charset="0"/>
                <a:ea typeface="Arial" pitchFamily="34" charset="-122"/>
                <a:cs typeface="Arial" pitchFamily="34" charset="-120"/>
              </a:rPr>
              <a:t> protocol would provide UDP specific ports options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icmp</a:t>
            </a:r>
            <a:r>
              <a:rPr lang="en-US" sz="1400" dirty="0">
                <a:solidFill>
                  <a:srgbClr val="000000"/>
                </a:solidFill>
                <a:latin typeface="Arial" pitchFamily="34" charset="0"/>
                <a:ea typeface="Arial" pitchFamily="34" charset="-122"/>
                <a:cs typeface="Arial" pitchFamily="34" charset="-120"/>
              </a:rPr>
              <a:t> protocol would provide ICMP related ports (i.e., message) options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Notice how many TCP port options are available. The highlighted ports are popular options. Port names or number can be specified. However, port names make it easier to understand the purpose of an ACE. Notice how some common ports names (e.g., SSH and HTTPS) are not listed. For these protocols, port numbers will have to be specified.</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54</a:t>
            </a:fld>
            <a:endParaRPr lang="en-US" dirty="0"/>
          </a:p>
        </p:txBody>
      </p:sp>
      <p:pic>
        <p:nvPicPr>
          <p:cNvPr id="4" name="Picture 3">
            <a:extLst>
              <a:ext uri="{FF2B5EF4-FFF2-40B4-BE49-F238E27FC236}">
                <a16:creationId xmlns:a16="http://schemas.microsoft.com/office/drawing/2014/main" id="{6BE95C90-7C07-44BA-B49C-FD75F2095239}"/>
              </a:ext>
            </a:extLst>
          </p:cNvPr>
          <p:cNvPicPr>
            <a:picLocks noChangeAspect="1"/>
          </p:cNvPicPr>
          <p:nvPr/>
        </p:nvPicPr>
        <p:blipFill>
          <a:blip r:embed="rId3"/>
          <a:stretch>
            <a:fillRect/>
          </a:stretch>
        </p:blipFill>
        <p:spPr>
          <a:xfrm>
            <a:off x="5621464" y="0"/>
            <a:ext cx="2947856" cy="5143500"/>
          </a:xfrm>
          <a:prstGeom prst="rect">
            <a:avLst/>
          </a:prstGeom>
        </p:spPr>
      </p:pic>
    </p:spTree>
    <p:extLst>
      <p:ext uri="{BB962C8B-B14F-4D97-AF65-F5344CB8AC3E}">
        <p14:creationId xmlns:p14="http://schemas.microsoft.com/office/powerpoint/2010/main" val="31873583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Protocols and Port Numbers Configuration Examples</a:t>
            </a:r>
          </a:p>
        </p:txBody>
      </p:sp>
      <p:sp>
        <p:nvSpPr>
          <p:cNvPr id="5" name="Object4"/>
          <p:cNvSpPr/>
          <p:nvPr/>
        </p:nvSpPr>
        <p:spPr>
          <a:xfrm>
            <a:off x="-1" y="731520"/>
            <a:ext cx="8836269" cy="91440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Extended ACLs can filter on different port number and port name options. This example configures an extended ACL 100 to filter HTTP traffic. The first ACE uses the www port name. The second ACE uses the port number 80. Both ACEs achieve exactly the same result.</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55</a:t>
            </a:fld>
            <a:endParaRPr lang="en-US" dirty="0"/>
          </a:p>
        </p:txBody>
      </p:sp>
      <p:pic>
        <p:nvPicPr>
          <p:cNvPr id="4" name="Picture 3">
            <a:extLst>
              <a:ext uri="{FF2B5EF4-FFF2-40B4-BE49-F238E27FC236}">
                <a16:creationId xmlns:a16="http://schemas.microsoft.com/office/drawing/2014/main" id="{0BE219D3-A7ED-4B24-803C-2E0CB77273EF}"/>
              </a:ext>
            </a:extLst>
          </p:cNvPr>
          <p:cNvPicPr>
            <a:picLocks noChangeAspect="1"/>
          </p:cNvPicPr>
          <p:nvPr/>
        </p:nvPicPr>
        <p:blipFill>
          <a:blip r:embed="rId3"/>
          <a:stretch>
            <a:fillRect/>
          </a:stretch>
        </p:blipFill>
        <p:spPr>
          <a:xfrm>
            <a:off x="1248720" y="1650316"/>
            <a:ext cx="5958217" cy="472161"/>
          </a:xfrm>
          <a:prstGeom prst="rect">
            <a:avLst/>
          </a:prstGeom>
        </p:spPr>
      </p:pic>
      <p:sp>
        <p:nvSpPr>
          <p:cNvPr id="8" name="TextBox 7">
            <a:extLst>
              <a:ext uri="{FF2B5EF4-FFF2-40B4-BE49-F238E27FC236}">
                <a16:creationId xmlns:a16="http://schemas.microsoft.com/office/drawing/2014/main" id="{4D6F9D2A-D96C-4826-8178-077FE092BAFC}"/>
              </a:ext>
            </a:extLst>
          </p:cNvPr>
          <p:cNvSpPr txBox="1"/>
          <p:nvPr/>
        </p:nvSpPr>
        <p:spPr>
          <a:xfrm>
            <a:off x="0" y="2418725"/>
            <a:ext cx="8669214"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Configuring the port number is required when there is not a specific protocol name listed such as SSH (port number 22) or an HTTPS (port number 443)</a:t>
            </a:r>
          </a:p>
        </p:txBody>
      </p:sp>
      <p:pic>
        <p:nvPicPr>
          <p:cNvPr id="7" name="Picture 6">
            <a:extLst>
              <a:ext uri="{FF2B5EF4-FFF2-40B4-BE49-F238E27FC236}">
                <a16:creationId xmlns:a16="http://schemas.microsoft.com/office/drawing/2014/main" id="{B0E03662-7EAB-450E-AC12-4CF36E41F7F2}"/>
              </a:ext>
            </a:extLst>
          </p:cNvPr>
          <p:cNvPicPr>
            <a:picLocks noChangeAspect="1"/>
          </p:cNvPicPr>
          <p:nvPr/>
        </p:nvPicPr>
        <p:blipFill>
          <a:blip r:embed="rId4"/>
          <a:stretch>
            <a:fillRect/>
          </a:stretch>
        </p:blipFill>
        <p:spPr>
          <a:xfrm>
            <a:off x="1102449" y="3106828"/>
            <a:ext cx="6939102" cy="523220"/>
          </a:xfrm>
          <a:prstGeom prst="rect">
            <a:avLst/>
          </a:prstGeom>
        </p:spPr>
      </p:pic>
    </p:spTree>
    <p:extLst>
      <p:ext uri="{BB962C8B-B14F-4D97-AF65-F5344CB8AC3E}">
        <p14:creationId xmlns:p14="http://schemas.microsoft.com/office/powerpoint/2010/main" val="38797500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TCP Established Extended ACL</a:t>
            </a:r>
          </a:p>
        </p:txBody>
      </p:sp>
      <p:sp>
        <p:nvSpPr>
          <p:cNvPr id="5" name="Object4"/>
          <p:cNvSpPr/>
          <p:nvPr/>
        </p:nvSpPr>
        <p:spPr>
          <a:xfrm>
            <a:off x="0" y="914400"/>
            <a:ext cx="34290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TCP can also perform basic stateful firewall services using the TCP </a:t>
            </a:r>
            <a:r>
              <a:rPr lang="en-US" sz="1400" b="1" dirty="0">
                <a:solidFill>
                  <a:srgbClr val="000000"/>
                </a:solidFill>
                <a:latin typeface="Arial" pitchFamily="34" charset="0"/>
                <a:ea typeface="Arial" pitchFamily="34" charset="-122"/>
                <a:cs typeface="Arial" pitchFamily="34" charset="-120"/>
              </a:rPr>
              <a:t>established</a:t>
            </a:r>
            <a:r>
              <a:rPr lang="en-US" sz="1400" dirty="0">
                <a:solidFill>
                  <a:srgbClr val="000000"/>
                </a:solidFill>
                <a:latin typeface="Arial" pitchFamily="34" charset="0"/>
                <a:ea typeface="Arial" pitchFamily="34" charset="-122"/>
                <a:cs typeface="Arial" pitchFamily="34" charset="-120"/>
              </a:rPr>
              <a:t> keyword. The keyword enables inside traffic to exit the inside private network and permits the returning reply traffic to enter the inside private network. However, TCP traffic generated by an outside host and attempting to communicate with an inside host is denied. The established keyword can be used to permit only the return HTTP traffic from requested websites, while denying all other traffic.</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56</a:t>
            </a:fld>
            <a:endParaRPr lang="en-US" dirty="0"/>
          </a:p>
        </p:txBody>
      </p:sp>
      <p:pic>
        <p:nvPicPr>
          <p:cNvPr id="4" name="Picture 3">
            <a:extLst>
              <a:ext uri="{FF2B5EF4-FFF2-40B4-BE49-F238E27FC236}">
                <a16:creationId xmlns:a16="http://schemas.microsoft.com/office/drawing/2014/main" id="{8DE078B1-D553-4675-92E6-EAB74942FDE0}"/>
              </a:ext>
            </a:extLst>
          </p:cNvPr>
          <p:cNvPicPr>
            <a:picLocks noChangeAspect="1"/>
          </p:cNvPicPr>
          <p:nvPr/>
        </p:nvPicPr>
        <p:blipFill>
          <a:blip r:embed="rId3"/>
          <a:stretch>
            <a:fillRect/>
          </a:stretch>
        </p:blipFill>
        <p:spPr>
          <a:xfrm>
            <a:off x="3753470" y="1036767"/>
            <a:ext cx="5066060" cy="2796679"/>
          </a:xfrm>
          <a:prstGeom prst="rect">
            <a:avLst/>
          </a:prstGeom>
        </p:spPr>
      </p:pic>
    </p:spTree>
    <p:extLst>
      <p:ext uri="{BB962C8B-B14F-4D97-AF65-F5344CB8AC3E}">
        <p14:creationId xmlns:p14="http://schemas.microsoft.com/office/powerpoint/2010/main" val="37245960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TCP Established Extended ACL (Cont.)</a:t>
            </a:r>
          </a:p>
        </p:txBody>
      </p:sp>
      <p:sp>
        <p:nvSpPr>
          <p:cNvPr id="5" name="Object4"/>
          <p:cNvSpPr/>
          <p:nvPr/>
        </p:nvSpPr>
        <p:spPr>
          <a:xfrm>
            <a:off x="0" y="914400"/>
            <a:ext cx="8816340" cy="120396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In this example, ACL 120 is configured to only permit returning web traffic to the inside hosts. The new ACL is then applied outbound on the R1 G0/0/0 interface. The show access-lists command displays both ACLs. Notice from the match statistics that inside hosts have been accessing the secure web resources from the internet.</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57</a:t>
            </a:fld>
            <a:endParaRPr lang="en-US" dirty="0"/>
          </a:p>
        </p:txBody>
      </p:sp>
      <p:pic>
        <p:nvPicPr>
          <p:cNvPr id="7" name="Picture 6">
            <a:extLst>
              <a:ext uri="{FF2B5EF4-FFF2-40B4-BE49-F238E27FC236}">
                <a16:creationId xmlns:a16="http://schemas.microsoft.com/office/drawing/2014/main" id="{8AFF6DBF-BB57-4AB9-88E0-17581404A8CC}"/>
              </a:ext>
            </a:extLst>
          </p:cNvPr>
          <p:cNvPicPr>
            <a:picLocks noChangeAspect="1"/>
          </p:cNvPicPr>
          <p:nvPr/>
        </p:nvPicPr>
        <p:blipFill>
          <a:blip r:embed="rId3"/>
          <a:stretch>
            <a:fillRect/>
          </a:stretch>
        </p:blipFill>
        <p:spPr>
          <a:xfrm>
            <a:off x="1204430" y="2297374"/>
            <a:ext cx="6407479" cy="2152761"/>
          </a:xfrm>
          <a:prstGeom prst="rect">
            <a:avLst/>
          </a:prstGeom>
        </p:spPr>
      </p:pic>
    </p:spTree>
    <p:extLst>
      <p:ext uri="{BB962C8B-B14F-4D97-AF65-F5344CB8AC3E}">
        <p14:creationId xmlns:p14="http://schemas.microsoft.com/office/powerpoint/2010/main" val="1199609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Named Extended IPv4 ACL Syntax</a:t>
            </a:r>
          </a:p>
        </p:txBody>
      </p:sp>
      <p:sp>
        <p:nvSpPr>
          <p:cNvPr id="5" name="Object4"/>
          <p:cNvSpPr/>
          <p:nvPr/>
        </p:nvSpPr>
        <p:spPr>
          <a:xfrm>
            <a:off x="-1" y="914400"/>
            <a:ext cx="8941777" cy="54864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Naming an ACL makes it easier to understand its function. This command enters the named extended configuration mode. Recall that ACL names are alphanumeric, case sensitive, and must be unique. To create a named extended ACL, use the following global configuration command:</a:t>
            </a:r>
          </a:p>
          <a:p>
            <a:pPr>
              <a:lnSpc>
                <a:spcPts val="2000"/>
              </a:lnSpc>
            </a:pPr>
            <a:endParaRPr lang="en-US" sz="1400" dirty="0">
              <a:solidFill>
                <a:srgbClr val="000000"/>
              </a:solidFill>
              <a:latin typeface="Arial" pitchFamily="34" charset="0"/>
              <a:ea typeface="Arial" pitchFamily="34" charset="-122"/>
              <a:cs typeface="Arial" pitchFamily="34" charset="-12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58</a:t>
            </a:fld>
            <a:endParaRPr lang="en-US" dirty="0"/>
          </a:p>
        </p:txBody>
      </p:sp>
      <p:pic>
        <p:nvPicPr>
          <p:cNvPr id="4" name="Picture 3">
            <a:extLst>
              <a:ext uri="{FF2B5EF4-FFF2-40B4-BE49-F238E27FC236}">
                <a16:creationId xmlns:a16="http://schemas.microsoft.com/office/drawing/2014/main" id="{2B0765D5-999E-4C37-A20E-7387232189B9}"/>
              </a:ext>
            </a:extLst>
          </p:cNvPr>
          <p:cNvPicPr>
            <a:picLocks noChangeAspect="1"/>
          </p:cNvPicPr>
          <p:nvPr/>
        </p:nvPicPr>
        <p:blipFill>
          <a:blip r:embed="rId3"/>
          <a:stretch>
            <a:fillRect/>
          </a:stretch>
        </p:blipFill>
        <p:spPr>
          <a:xfrm>
            <a:off x="1629393" y="1976396"/>
            <a:ext cx="5345880" cy="300706"/>
          </a:xfrm>
          <a:prstGeom prst="rect">
            <a:avLst/>
          </a:prstGeom>
        </p:spPr>
      </p:pic>
      <p:sp>
        <p:nvSpPr>
          <p:cNvPr id="8" name="TextBox 7">
            <a:extLst>
              <a:ext uri="{FF2B5EF4-FFF2-40B4-BE49-F238E27FC236}">
                <a16:creationId xmlns:a16="http://schemas.microsoft.com/office/drawing/2014/main" id="{9453CD84-0369-4B95-A98A-C39D1F8615C5}"/>
              </a:ext>
            </a:extLst>
          </p:cNvPr>
          <p:cNvSpPr txBox="1"/>
          <p:nvPr/>
        </p:nvSpPr>
        <p:spPr>
          <a:xfrm>
            <a:off x="52755" y="2196145"/>
            <a:ext cx="8634045" cy="1077218"/>
          </a:xfrm>
          <a:prstGeom prst="rect">
            <a:avLst/>
          </a:prstGeom>
          <a:noFill/>
        </p:spPr>
        <p:txBody>
          <a:bodyPr wrap="square">
            <a:spAutoFit/>
          </a:bodyPr>
          <a:lstStyle/>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In the example, a named extended ACL called NO-FTP-ACCESS is created and the prompt changed to named extended ACL configuration mode. ACE statements are entered in the named extended ACL sub configuration mode.</a:t>
            </a:r>
          </a:p>
        </p:txBody>
      </p:sp>
      <p:pic>
        <p:nvPicPr>
          <p:cNvPr id="7" name="Picture 6">
            <a:extLst>
              <a:ext uri="{FF2B5EF4-FFF2-40B4-BE49-F238E27FC236}">
                <a16:creationId xmlns:a16="http://schemas.microsoft.com/office/drawing/2014/main" id="{AEAEAAD4-8C19-42AB-BDF9-3954131FBE49}"/>
              </a:ext>
            </a:extLst>
          </p:cNvPr>
          <p:cNvPicPr>
            <a:picLocks noChangeAspect="1"/>
          </p:cNvPicPr>
          <p:nvPr/>
        </p:nvPicPr>
        <p:blipFill>
          <a:blip r:embed="rId4"/>
          <a:stretch>
            <a:fillRect/>
          </a:stretch>
        </p:blipFill>
        <p:spPr>
          <a:xfrm>
            <a:off x="1873411" y="3342759"/>
            <a:ext cx="4857845" cy="405665"/>
          </a:xfrm>
          <a:prstGeom prst="rect">
            <a:avLst/>
          </a:prstGeom>
        </p:spPr>
      </p:pic>
    </p:spTree>
    <p:extLst>
      <p:ext uri="{BB962C8B-B14F-4D97-AF65-F5344CB8AC3E}">
        <p14:creationId xmlns:p14="http://schemas.microsoft.com/office/powerpoint/2010/main" val="31896820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Named Extended IPv4 ACL Example</a:t>
            </a:r>
          </a:p>
        </p:txBody>
      </p:sp>
      <p:sp>
        <p:nvSpPr>
          <p:cNvPr id="5" name="Object4"/>
          <p:cNvSpPr/>
          <p:nvPr/>
        </p:nvSpPr>
        <p:spPr>
          <a:xfrm>
            <a:off x="0" y="914400"/>
            <a:ext cx="3789485" cy="1723292"/>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Named extended ACLs are created in essentially the same way that named standard ACLs are created. The topology in the figure is used to demonstrate configuring and applying two named extended IPv4 ACLs to an interface:</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SURFING - This will permit inside HTTP and HTTPS traffic to exit to the internet.</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BROWSING - This will only permit returning web traffic to the inside hosts while all other traffic exiting the R1 G0/0/0 interface is implicitly denied.</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59</a:t>
            </a:fld>
            <a:endParaRPr lang="en-US" dirty="0"/>
          </a:p>
        </p:txBody>
      </p:sp>
      <p:pic>
        <p:nvPicPr>
          <p:cNvPr id="4" name="Picture 3">
            <a:extLst>
              <a:ext uri="{FF2B5EF4-FFF2-40B4-BE49-F238E27FC236}">
                <a16:creationId xmlns:a16="http://schemas.microsoft.com/office/drawing/2014/main" id="{271BC3E4-8FEF-4545-BC31-2342F1905F7D}"/>
              </a:ext>
            </a:extLst>
          </p:cNvPr>
          <p:cNvPicPr>
            <a:picLocks noChangeAspect="1"/>
          </p:cNvPicPr>
          <p:nvPr/>
        </p:nvPicPr>
        <p:blipFill>
          <a:blip r:embed="rId3"/>
          <a:stretch>
            <a:fillRect/>
          </a:stretch>
        </p:blipFill>
        <p:spPr>
          <a:xfrm>
            <a:off x="3893267" y="988256"/>
            <a:ext cx="5250733" cy="1344456"/>
          </a:xfrm>
          <a:prstGeom prst="rect">
            <a:avLst/>
          </a:prstGeom>
        </p:spPr>
      </p:pic>
    </p:spTree>
    <p:extLst>
      <p:ext uri="{BB962C8B-B14F-4D97-AF65-F5344CB8AC3E}">
        <p14:creationId xmlns:p14="http://schemas.microsoft.com/office/powerpoint/2010/main" val="11624214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2"/>
          <p:cNvSpPr>
            <a:spLocks noGrp="1"/>
          </p:cNvSpPr>
          <p:nvPr>
            <p:ph type="body" idx="100" hasCustomPrompt="1"/>
          </p:nvPr>
        </p:nvSpPr>
        <p:spPr/>
        <p:txBody>
          <a:bodyPr/>
          <a:lstStyle/>
          <a:p>
            <a:r>
              <a:rPr lang="en-US" dirty="0"/>
              <a:t>Named Extended IPv4 ACL Example (Cont.)</a:t>
            </a:r>
          </a:p>
        </p:txBody>
      </p:sp>
      <p:sp>
        <p:nvSpPr>
          <p:cNvPr id="2" name="Object1"/>
          <p:cNvSpPr>
            <a:spLocks noGrp="1"/>
          </p:cNvSpPr>
          <p:nvPr>
            <p:ph type="body" idx="101" hasCustomPrompt="1"/>
          </p:nvPr>
        </p:nvSpPr>
        <p:spPr>
          <a:xfrm>
            <a:off x="0" y="11430"/>
            <a:ext cx="9144000" cy="274320"/>
          </a:xfrm>
        </p:spPr>
        <p:txBody>
          <a:bodyPr/>
          <a:lstStyle/>
          <a:p>
            <a:r>
              <a:rPr lang="en-US" dirty="0"/>
              <a:t>Configure ACLs</a:t>
            </a:r>
          </a:p>
        </p:txBody>
      </p:sp>
      <p:sp>
        <p:nvSpPr>
          <p:cNvPr id="25" name="Slide Number Placeholder 24"/>
          <p:cNvSpPr>
            <a:spLocks noGrp="1"/>
          </p:cNvSpPr>
          <p:nvPr>
            <p:ph type="sldNum" sz="quarter" idx="4294967295"/>
          </p:nvPr>
        </p:nvSpPr>
        <p:spPr>
          <a:xfrm>
            <a:off x="8686800" y="4629150"/>
            <a:ext cx="457200" cy="228600"/>
          </a:xfrm>
        </p:spPr>
        <p:txBody>
          <a:bodyPr/>
          <a:lstStyle>
            <a:lvl1pPr>
              <a:defRPr sz="600">
                <a:solidFill>
                  <a:srgbClr val="D9D9D9"/>
                </a:solidFill>
              </a:defRPr>
            </a:lvl1pPr>
          </a:lstStyle>
          <a:p>
            <a:fld id="{F7021451-1387-4CA6-816F-3879F97B5CBC}" type="slidenum">
              <a:rPr lang="en-US"/>
              <a:pPr/>
              <a:t>60</a:t>
            </a:fld>
            <a:endParaRPr lang="en-US" dirty="0"/>
          </a:p>
        </p:txBody>
      </p:sp>
      <p:sp>
        <p:nvSpPr>
          <p:cNvPr id="5" name="Object4"/>
          <p:cNvSpPr/>
          <p:nvPr/>
        </p:nvSpPr>
        <p:spPr>
          <a:xfrm>
            <a:off x="0" y="914400"/>
            <a:ext cx="3789485" cy="1723292"/>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The SURFING ACL permits HTTP and HTTPS traffic from inside users to exit the G0/0/1 interface connected to the internet. Web traffic returning from the internet is permitted back into the inside private network by the BROWSING ACL. </a:t>
            </a:r>
          </a:p>
          <a:p>
            <a:pPr>
              <a:lnSpc>
                <a:spcPts val="2000"/>
              </a:lnSpc>
            </a:pPr>
            <a:r>
              <a:rPr lang="en-US" sz="1400" dirty="0">
                <a:solidFill>
                  <a:srgbClr val="000000"/>
                </a:solidFill>
                <a:latin typeface="Arial" pitchFamily="34" charset="0"/>
                <a:ea typeface="Arial" pitchFamily="34" charset="-122"/>
                <a:cs typeface="Arial" pitchFamily="34" charset="-120"/>
              </a:rPr>
              <a:t>The SURFING ACL is applied inbound and the BROWSING ACL applied outbound on the R1 G0/0/0 interface.</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Inside hosts have been accessing the secure web resources from the internet. The </a:t>
            </a:r>
            <a:r>
              <a:rPr lang="en-US" sz="1400" b="1" dirty="0">
                <a:solidFill>
                  <a:srgbClr val="000000"/>
                </a:solidFill>
                <a:latin typeface="Arial" pitchFamily="34" charset="0"/>
                <a:ea typeface="Arial" pitchFamily="34" charset="-122"/>
                <a:cs typeface="Arial" pitchFamily="34" charset="-120"/>
              </a:rPr>
              <a:t>show access-lists</a:t>
            </a:r>
            <a:r>
              <a:rPr lang="en-US" sz="1400" dirty="0">
                <a:solidFill>
                  <a:srgbClr val="000000"/>
                </a:solidFill>
                <a:latin typeface="Arial" pitchFamily="34" charset="0"/>
                <a:ea typeface="Arial" pitchFamily="34" charset="-122"/>
                <a:cs typeface="Arial" pitchFamily="34" charset="-120"/>
              </a:rPr>
              <a:t> command is used to verify the ACL statistics. </a:t>
            </a:r>
            <a:endParaRPr lang="en-US" sz="1400" dirty="0"/>
          </a:p>
        </p:txBody>
      </p:sp>
      <p:pic>
        <p:nvPicPr>
          <p:cNvPr id="6" name="Picture 5">
            <a:extLst>
              <a:ext uri="{FF2B5EF4-FFF2-40B4-BE49-F238E27FC236}">
                <a16:creationId xmlns:a16="http://schemas.microsoft.com/office/drawing/2014/main" id="{F5E47310-FD3E-4AA8-A8D3-12F17BDD4BAD}"/>
              </a:ext>
            </a:extLst>
          </p:cNvPr>
          <p:cNvPicPr>
            <a:picLocks noChangeAspect="1"/>
          </p:cNvPicPr>
          <p:nvPr/>
        </p:nvPicPr>
        <p:blipFill>
          <a:blip r:embed="rId3"/>
          <a:stretch>
            <a:fillRect/>
          </a:stretch>
        </p:blipFill>
        <p:spPr>
          <a:xfrm>
            <a:off x="4419408" y="1033543"/>
            <a:ext cx="4419983" cy="3208298"/>
          </a:xfrm>
          <a:prstGeom prst="rect">
            <a:avLst/>
          </a:prstGeom>
        </p:spPr>
      </p:pic>
    </p:spTree>
    <p:extLst>
      <p:ext uri="{BB962C8B-B14F-4D97-AF65-F5344CB8AC3E}">
        <p14:creationId xmlns:p14="http://schemas.microsoft.com/office/powerpoint/2010/main" val="20171357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obsahu 2"/>
          <p:cNvSpPr>
            <a:spLocks noGrp="1"/>
          </p:cNvSpPr>
          <p:nvPr>
            <p:ph type="body" idx="100"/>
          </p:nvPr>
        </p:nvSpPr>
        <p:spPr>
          <a:xfrm>
            <a:off x="0" y="285750"/>
            <a:ext cx="9144000" cy="411058"/>
          </a:xfrm>
        </p:spPr>
        <p:txBody>
          <a:bodyPr/>
          <a:lstStyle/>
          <a:p>
            <a:r>
              <a:rPr lang="sk-SK" dirty="0" err="1"/>
              <a:t>Time-based</a:t>
            </a:r>
            <a:r>
              <a:rPr lang="sk-SK" dirty="0"/>
              <a:t> </a:t>
            </a:r>
            <a:r>
              <a:rPr lang="sk-SK" dirty="0" err="1"/>
              <a:t>ACLs</a:t>
            </a:r>
            <a:endParaRPr lang="sk-SK" dirty="0"/>
          </a:p>
        </p:txBody>
      </p:sp>
      <p:sp>
        <p:nvSpPr>
          <p:cNvPr id="4" name="Zástupný symbol čísla snímky 3"/>
          <p:cNvSpPr>
            <a:spLocks noGrp="1"/>
          </p:cNvSpPr>
          <p:nvPr>
            <p:ph type="sldNum" sz="quarter" idx="4294967295"/>
          </p:nvPr>
        </p:nvSpPr>
        <p:spPr>
          <a:xfrm>
            <a:off x="8686800" y="4629150"/>
            <a:ext cx="457200" cy="228600"/>
          </a:xfrm>
        </p:spPr>
        <p:txBody>
          <a:bodyPr/>
          <a:lstStyle/>
          <a:p>
            <a:fld id="{A46BFD4F-F7F6-43AF-A73B-899C80D0823A}" type="slidenum">
              <a:rPr lang="sk-SK" smtClean="0"/>
              <a:pPr/>
              <a:t>61</a:t>
            </a:fld>
            <a:endParaRPr lang="sk-SK"/>
          </a:p>
        </p:txBody>
      </p:sp>
      <p:sp>
        <p:nvSpPr>
          <p:cNvPr id="12" name="BlokTextu 11">
            <a:extLst>
              <a:ext uri="{FF2B5EF4-FFF2-40B4-BE49-F238E27FC236}">
                <a16:creationId xmlns:a16="http://schemas.microsoft.com/office/drawing/2014/main" id="{BC993943-227B-C681-CE76-0D43747A71A5}"/>
              </a:ext>
            </a:extLst>
          </p:cNvPr>
          <p:cNvSpPr txBox="1"/>
          <p:nvPr/>
        </p:nvSpPr>
        <p:spPr>
          <a:xfrm>
            <a:off x="201881" y="773132"/>
            <a:ext cx="8538358" cy="3693319"/>
          </a:xfrm>
          <a:prstGeom prst="rect">
            <a:avLst/>
          </a:prstGeom>
          <a:noFill/>
        </p:spPr>
        <p:txBody>
          <a:bodyPr wrap="square" rtlCol="0">
            <a:spAutoFit/>
          </a:bodyPr>
          <a:lstStyle/>
          <a:p>
            <a:r>
              <a:rPr lang="sk-SK" dirty="0"/>
              <a:t>Works </a:t>
            </a:r>
            <a:r>
              <a:rPr lang="sk-SK" dirty="0" err="1"/>
              <a:t>with</a:t>
            </a:r>
            <a:r>
              <a:rPr lang="sk-SK" dirty="0"/>
              <a:t> </a:t>
            </a:r>
            <a:r>
              <a:rPr lang="en-US" dirty="0"/>
              <a:t>IP </a:t>
            </a:r>
            <a:r>
              <a:rPr lang="sk-SK" dirty="0"/>
              <a:t>and IPX </a:t>
            </a:r>
            <a:r>
              <a:rPr lang="en-US" dirty="0"/>
              <a:t>Extended Access List</a:t>
            </a:r>
            <a:r>
              <a:rPr lang="sk-SK" dirty="0"/>
              <a:t>s</a:t>
            </a:r>
          </a:p>
          <a:p>
            <a:r>
              <a:rPr lang="sk-SK" dirty="0" err="1"/>
              <a:t>Time</a:t>
            </a:r>
            <a:r>
              <a:rPr lang="sk-SK" dirty="0"/>
              <a:t> </a:t>
            </a:r>
            <a:r>
              <a:rPr lang="sk-SK" dirty="0" err="1"/>
              <a:t>Range</a:t>
            </a:r>
            <a:r>
              <a:rPr lang="sk-SK" dirty="0"/>
              <a:t> </a:t>
            </a:r>
            <a:r>
              <a:rPr lang="sk-SK" dirty="0" err="1"/>
              <a:t>Commands</a:t>
            </a:r>
            <a:endParaRPr lang="sk-SK" dirty="0"/>
          </a:p>
          <a:p>
            <a:pPr lvl="1"/>
            <a:r>
              <a:rPr lang="sk-SK" dirty="0" err="1"/>
              <a:t>Absolute</a:t>
            </a:r>
            <a:endParaRPr lang="sk-SK" dirty="0"/>
          </a:p>
          <a:p>
            <a:pPr lvl="2"/>
            <a:r>
              <a:rPr lang="en-US" dirty="0"/>
              <a:t>absolute [start time date] [end time date]</a:t>
            </a:r>
            <a:endParaRPr lang="sk-SK" dirty="0"/>
          </a:p>
          <a:p>
            <a:pPr lvl="2"/>
            <a:r>
              <a:rPr lang="en-US" dirty="0"/>
              <a:t>absolute start 8:00 1 January 1999 end 18:00 31 December 2001</a:t>
            </a:r>
            <a:endParaRPr lang="sk-SK" dirty="0"/>
          </a:p>
          <a:p>
            <a:pPr lvl="1"/>
            <a:r>
              <a:rPr lang="sk-SK" dirty="0" err="1"/>
              <a:t>Periodic</a:t>
            </a:r>
            <a:endParaRPr lang="sk-SK" dirty="0"/>
          </a:p>
          <a:p>
            <a:pPr lvl="2"/>
            <a:r>
              <a:rPr lang="en-US" dirty="0"/>
              <a:t>periodic days-of-the-week </a:t>
            </a:r>
            <a:r>
              <a:rPr lang="en-US" dirty="0" err="1"/>
              <a:t>hh:mm</a:t>
            </a:r>
            <a:r>
              <a:rPr lang="en-US" dirty="0"/>
              <a:t> to [days-of-the-week] </a:t>
            </a:r>
            <a:r>
              <a:rPr lang="en-US" dirty="0" err="1"/>
              <a:t>hh:mm</a:t>
            </a:r>
            <a:endParaRPr lang="sk-SK" dirty="0"/>
          </a:p>
          <a:p>
            <a:pPr lvl="2"/>
            <a:r>
              <a:rPr lang="en-US" dirty="0"/>
              <a:t>This argument can be any single day or combinations of days: Monday,</a:t>
            </a:r>
            <a:r>
              <a:rPr lang="sk-SK" dirty="0"/>
              <a:t> </a:t>
            </a:r>
            <a:r>
              <a:rPr lang="en-US" dirty="0"/>
              <a:t>Tuesday, Wednesday, Thursday, Friday, Saturday, Sunday. Other possible</a:t>
            </a:r>
            <a:r>
              <a:rPr lang="sk-SK" dirty="0"/>
              <a:t> </a:t>
            </a:r>
            <a:r>
              <a:rPr lang="sk-SK" dirty="0" err="1"/>
              <a:t>values</a:t>
            </a:r>
            <a:r>
              <a:rPr lang="sk-SK" dirty="0"/>
              <a:t> are:</a:t>
            </a:r>
          </a:p>
          <a:p>
            <a:pPr lvl="3"/>
            <a:r>
              <a:rPr lang="sk-SK" dirty="0" err="1"/>
              <a:t>daily</a:t>
            </a:r>
            <a:r>
              <a:rPr lang="sk-SK" dirty="0"/>
              <a:t> -- </a:t>
            </a:r>
            <a:r>
              <a:rPr lang="sk-SK" dirty="0" err="1"/>
              <a:t>Monday</a:t>
            </a:r>
            <a:r>
              <a:rPr lang="sk-SK" dirty="0"/>
              <a:t> </a:t>
            </a:r>
            <a:r>
              <a:rPr lang="sk-SK" dirty="0" err="1"/>
              <a:t>through</a:t>
            </a:r>
            <a:r>
              <a:rPr lang="sk-SK" dirty="0"/>
              <a:t> </a:t>
            </a:r>
            <a:r>
              <a:rPr lang="sk-SK" dirty="0" err="1"/>
              <a:t>Sunday</a:t>
            </a:r>
            <a:endParaRPr lang="sk-SK" dirty="0"/>
          </a:p>
          <a:p>
            <a:pPr lvl="3"/>
            <a:r>
              <a:rPr lang="sk-SK" dirty="0" err="1"/>
              <a:t>weekdays</a:t>
            </a:r>
            <a:r>
              <a:rPr lang="sk-SK" dirty="0"/>
              <a:t> -- </a:t>
            </a:r>
            <a:r>
              <a:rPr lang="sk-SK" dirty="0" err="1"/>
              <a:t>Monday</a:t>
            </a:r>
            <a:r>
              <a:rPr lang="sk-SK" dirty="0"/>
              <a:t> </a:t>
            </a:r>
            <a:r>
              <a:rPr lang="sk-SK" dirty="0" err="1"/>
              <a:t>through</a:t>
            </a:r>
            <a:r>
              <a:rPr lang="sk-SK" dirty="0"/>
              <a:t> </a:t>
            </a:r>
            <a:r>
              <a:rPr lang="sk-SK" dirty="0" err="1"/>
              <a:t>Friday</a:t>
            </a:r>
            <a:endParaRPr lang="sk-SK" dirty="0"/>
          </a:p>
          <a:p>
            <a:pPr lvl="3"/>
            <a:r>
              <a:rPr lang="sk-SK" dirty="0" err="1"/>
              <a:t>weekend</a:t>
            </a:r>
            <a:r>
              <a:rPr lang="sk-SK" dirty="0"/>
              <a:t> -- </a:t>
            </a:r>
            <a:r>
              <a:rPr lang="sk-SK" dirty="0" err="1"/>
              <a:t>Saturday</a:t>
            </a:r>
            <a:r>
              <a:rPr lang="sk-SK" dirty="0"/>
              <a:t> and </a:t>
            </a:r>
            <a:r>
              <a:rPr lang="sk-SK" dirty="0" err="1"/>
              <a:t>Sunday</a:t>
            </a:r>
            <a:endParaRPr lang="sk-SK" dirty="0"/>
          </a:p>
          <a:p>
            <a:pPr lvl="2"/>
            <a:r>
              <a:rPr lang="en-US" dirty="0"/>
              <a:t>periodic weekdays 8:00 to 18:00</a:t>
            </a:r>
            <a:endParaRPr lang="sk-SK" dirty="0"/>
          </a:p>
        </p:txBody>
      </p:sp>
      <p:sp>
        <p:nvSpPr>
          <p:cNvPr id="15" name="Object1">
            <a:extLst>
              <a:ext uri="{FF2B5EF4-FFF2-40B4-BE49-F238E27FC236}">
                <a16:creationId xmlns:a16="http://schemas.microsoft.com/office/drawing/2014/main" id="{92631CDA-1626-EA4F-68CD-B6487183862A}"/>
              </a:ext>
            </a:extLst>
          </p:cNvPr>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16" name="BlokTextu 15">
            <a:extLst>
              <a:ext uri="{FF2B5EF4-FFF2-40B4-BE49-F238E27FC236}">
                <a16:creationId xmlns:a16="http://schemas.microsoft.com/office/drawing/2014/main" id="{939BD3D1-72A1-A915-AC23-BF15E740DF9F}"/>
              </a:ext>
            </a:extLst>
          </p:cNvPr>
          <p:cNvSpPr txBox="1"/>
          <p:nvPr/>
        </p:nvSpPr>
        <p:spPr>
          <a:xfrm>
            <a:off x="5507095" y="950026"/>
            <a:ext cx="3408305" cy="369332"/>
          </a:xfrm>
          <a:prstGeom prst="rect">
            <a:avLst/>
          </a:prstGeom>
          <a:noFill/>
        </p:spPr>
        <p:txBody>
          <a:bodyPr wrap="none" rtlCol="0">
            <a:spAutoFit/>
          </a:bodyPr>
          <a:lstStyle/>
          <a:p>
            <a:r>
              <a:rPr lang="sk-SK" dirty="0"/>
              <a:t>Overiť na fyzických smerovačoch...</a:t>
            </a:r>
          </a:p>
        </p:txBody>
      </p:sp>
    </p:spTree>
    <p:extLst>
      <p:ext uri="{BB962C8B-B14F-4D97-AF65-F5344CB8AC3E}">
        <p14:creationId xmlns:p14="http://schemas.microsoft.com/office/powerpoint/2010/main" val="1625534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ástupný objekt pre text 5"/>
          <p:cNvSpPr>
            <a:spLocks noGrp="1"/>
          </p:cNvSpPr>
          <p:nvPr>
            <p:ph type="body" idx="100"/>
          </p:nvPr>
        </p:nvSpPr>
        <p:spPr>
          <a:xfrm>
            <a:off x="0" y="274320"/>
            <a:ext cx="9144000" cy="485701"/>
          </a:xfrm>
        </p:spPr>
        <p:txBody>
          <a:bodyPr/>
          <a:lstStyle/>
          <a:p>
            <a:r>
              <a:rPr lang="sk-SK" dirty="0" err="1"/>
              <a:t>Time</a:t>
            </a:r>
            <a:r>
              <a:rPr lang="sk-SK" dirty="0"/>
              <a:t> </a:t>
            </a:r>
            <a:r>
              <a:rPr lang="sk-SK" dirty="0" err="1"/>
              <a:t>based</a:t>
            </a:r>
            <a:r>
              <a:rPr lang="sk-SK" dirty="0"/>
              <a:t> ACL</a:t>
            </a:r>
          </a:p>
        </p:txBody>
      </p:sp>
      <p:sp>
        <p:nvSpPr>
          <p:cNvPr id="10" name="BlokTextu 9">
            <a:extLst>
              <a:ext uri="{FF2B5EF4-FFF2-40B4-BE49-F238E27FC236}">
                <a16:creationId xmlns:a16="http://schemas.microsoft.com/office/drawing/2014/main" id="{C319C233-77BD-6E0B-42F0-C1FE6A29871D}"/>
              </a:ext>
            </a:extLst>
          </p:cNvPr>
          <p:cNvSpPr txBox="1"/>
          <p:nvPr/>
        </p:nvSpPr>
        <p:spPr>
          <a:xfrm>
            <a:off x="170708" y="1034341"/>
            <a:ext cx="8916224" cy="2246769"/>
          </a:xfrm>
          <a:prstGeom prst="rect">
            <a:avLst/>
          </a:prstGeom>
          <a:noFill/>
        </p:spPr>
        <p:txBody>
          <a:bodyPr wrap="square" lIns="91440" tIns="45720" rIns="91440" bIns="45720" anchor="t">
            <a:spAutoFit/>
          </a:bodyPr>
          <a:lstStyle/>
          <a:p>
            <a:r>
              <a:rPr lang="sk-SK" sz="2000" dirty="0">
                <a:solidFill>
                  <a:srgbClr val="424242"/>
                </a:solidFill>
                <a:latin typeface="Arial"/>
                <a:ea typeface="Calibri" panose="020F0502020204030204"/>
                <a:cs typeface="Calibri" panose="020F0502020204030204"/>
              </a:rPr>
              <a:t>R1(config)# time-range WORK_HOURS
R1(</a:t>
            </a:r>
            <a:r>
              <a:rPr lang="sk-SK" sz="2000" dirty="0" err="1">
                <a:solidFill>
                  <a:srgbClr val="424242"/>
                </a:solidFill>
                <a:latin typeface="Arial"/>
                <a:ea typeface="Calibri" panose="020F0502020204030204"/>
                <a:cs typeface="Calibri" panose="020F0502020204030204"/>
              </a:rPr>
              <a:t>config-time-range</a:t>
            </a:r>
            <a:r>
              <a:rPr lang="sk-SK" sz="2000" dirty="0">
                <a:solidFill>
                  <a:srgbClr val="424242"/>
                </a:solidFill>
                <a:latin typeface="Arial"/>
                <a:ea typeface="Calibri" panose="020F0502020204030204"/>
                <a:cs typeface="Calibri" panose="020F0502020204030204"/>
              </a:rPr>
              <a:t>)# </a:t>
            </a:r>
            <a:r>
              <a:rPr lang="sk-SK" sz="2000" dirty="0" err="1">
                <a:solidFill>
                  <a:srgbClr val="424242"/>
                </a:solidFill>
                <a:latin typeface="Arial"/>
                <a:ea typeface="Calibri" panose="020F0502020204030204"/>
                <a:cs typeface="Calibri" panose="020F0502020204030204"/>
              </a:rPr>
              <a:t>periodic</a:t>
            </a:r>
            <a:r>
              <a:rPr lang="sk-SK" sz="2000" dirty="0">
                <a:solidFill>
                  <a:srgbClr val="424242"/>
                </a:solidFill>
                <a:latin typeface="Arial"/>
                <a:ea typeface="Calibri" panose="020F0502020204030204"/>
                <a:cs typeface="Calibri" panose="020F0502020204030204"/>
              </a:rPr>
              <a:t> </a:t>
            </a:r>
            <a:r>
              <a:rPr lang="sk-SK" sz="2000" dirty="0" err="1">
                <a:solidFill>
                  <a:srgbClr val="424242"/>
                </a:solidFill>
                <a:latin typeface="Arial"/>
                <a:ea typeface="Calibri" panose="020F0502020204030204"/>
                <a:cs typeface="Calibri" panose="020F0502020204030204"/>
              </a:rPr>
              <a:t>weekdays</a:t>
            </a:r>
            <a:r>
              <a:rPr lang="sk-SK" sz="2000" dirty="0">
                <a:solidFill>
                  <a:srgbClr val="424242"/>
                </a:solidFill>
                <a:latin typeface="Arial"/>
                <a:ea typeface="Calibri"/>
                <a:cs typeface="Calibri"/>
              </a:rPr>
              <a:t> 09:00 to 17:00</a:t>
            </a:r>
            <a:endParaRPr lang="en-US" sz="2000">
              <a:latin typeface="Arial"/>
              <a:ea typeface="Calibri"/>
              <a:cs typeface="Calibri"/>
            </a:endParaRPr>
          </a:p>
          <a:p>
            <a:r>
              <a:rPr lang="sk-SK" sz="2000" dirty="0">
                <a:solidFill>
                  <a:srgbClr val="424242"/>
                </a:solidFill>
                <a:latin typeface="Arial"/>
                <a:ea typeface="Calibri"/>
                <a:cs typeface="Calibri"/>
              </a:rPr>
              <a:t>R1(config)# ip access-list extended BLOCK_HTTP
R1(</a:t>
            </a:r>
            <a:r>
              <a:rPr lang="sk-SK" sz="2000" dirty="0" err="1">
                <a:solidFill>
                  <a:srgbClr val="424242"/>
                </a:solidFill>
                <a:latin typeface="Arial"/>
                <a:ea typeface="Calibri"/>
                <a:cs typeface="Calibri"/>
              </a:rPr>
              <a:t>config-ext-nacl</a:t>
            </a:r>
            <a:r>
              <a:rPr lang="sk-SK" sz="2000" dirty="0">
                <a:solidFill>
                  <a:srgbClr val="424242"/>
                </a:solidFill>
                <a:latin typeface="Arial"/>
                <a:ea typeface="Calibri"/>
                <a:cs typeface="Calibri"/>
              </a:rPr>
              <a:t>)# </a:t>
            </a:r>
            <a:r>
              <a:rPr lang="sk-SK" sz="2000" dirty="0" err="1">
                <a:solidFill>
                  <a:srgbClr val="424242"/>
                </a:solidFill>
                <a:latin typeface="Arial"/>
                <a:ea typeface="Calibri"/>
                <a:cs typeface="Calibri"/>
              </a:rPr>
              <a:t>deny</a:t>
            </a:r>
            <a:r>
              <a:rPr lang="sk-SK" sz="2000" dirty="0">
                <a:solidFill>
                  <a:srgbClr val="424242"/>
                </a:solidFill>
                <a:latin typeface="Arial"/>
                <a:ea typeface="Calibri"/>
                <a:cs typeface="Calibri"/>
              </a:rPr>
              <a:t> </a:t>
            </a:r>
            <a:r>
              <a:rPr lang="sk-SK" sz="2000" dirty="0" err="1">
                <a:solidFill>
                  <a:srgbClr val="424242"/>
                </a:solidFill>
                <a:latin typeface="Arial"/>
                <a:ea typeface="Calibri"/>
                <a:cs typeface="Calibri"/>
              </a:rPr>
              <a:t>tcp</a:t>
            </a:r>
            <a:r>
              <a:rPr lang="sk-SK" sz="2000" dirty="0">
                <a:solidFill>
                  <a:srgbClr val="424242"/>
                </a:solidFill>
                <a:latin typeface="Arial"/>
                <a:ea typeface="Calibri"/>
                <a:cs typeface="Calibri"/>
              </a:rPr>
              <a:t> </a:t>
            </a:r>
            <a:r>
              <a:rPr lang="sk-SK" sz="2000" dirty="0" err="1">
                <a:solidFill>
                  <a:srgbClr val="424242"/>
                </a:solidFill>
                <a:latin typeface="Arial"/>
                <a:ea typeface="Calibri"/>
                <a:cs typeface="Calibri"/>
              </a:rPr>
              <a:t>any</a:t>
            </a:r>
            <a:r>
              <a:rPr lang="sk-SK" sz="2000" dirty="0">
                <a:solidFill>
                  <a:srgbClr val="424242"/>
                </a:solidFill>
                <a:latin typeface="Arial"/>
                <a:ea typeface="Calibri"/>
                <a:cs typeface="Calibri"/>
              </a:rPr>
              <a:t> </a:t>
            </a:r>
            <a:r>
              <a:rPr lang="sk-SK" sz="2000" dirty="0" err="1">
                <a:solidFill>
                  <a:srgbClr val="424242"/>
                </a:solidFill>
                <a:latin typeface="Arial"/>
                <a:ea typeface="Calibri"/>
                <a:cs typeface="Calibri"/>
              </a:rPr>
              <a:t>any</a:t>
            </a:r>
            <a:r>
              <a:rPr lang="sk-SK" sz="2000" dirty="0">
                <a:solidFill>
                  <a:srgbClr val="424242"/>
                </a:solidFill>
                <a:latin typeface="Arial"/>
                <a:ea typeface="Calibri"/>
                <a:cs typeface="Calibri"/>
              </a:rPr>
              <a:t> </a:t>
            </a:r>
            <a:r>
              <a:rPr lang="sk-SK" sz="2000" dirty="0" err="1">
                <a:solidFill>
                  <a:srgbClr val="424242"/>
                </a:solidFill>
                <a:latin typeface="Arial"/>
                <a:ea typeface="Calibri"/>
                <a:cs typeface="Calibri"/>
              </a:rPr>
              <a:t>eq</a:t>
            </a:r>
            <a:r>
              <a:rPr lang="sk-SK" sz="2000" dirty="0">
                <a:solidFill>
                  <a:srgbClr val="424242"/>
                </a:solidFill>
                <a:latin typeface="Arial"/>
                <a:ea typeface="Calibri"/>
                <a:cs typeface="Calibri"/>
              </a:rPr>
              <a:t> 80 </a:t>
            </a:r>
            <a:r>
              <a:rPr lang="sk-SK" sz="2000" dirty="0" err="1">
                <a:solidFill>
                  <a:srgbClr val="424242"/>
                </a:solidFill>
                <a:latin typeface="Arial"/>
                <a:ea typeface="Calibri"/>
                <a:cs typeface="Calibri"/>
              </a:rPr>
              <a:t>time-range</a:t>
            </a:r>
            <a:r>
              <a:rPr lang="sk-SK" sz="2000" dirty="0">
                <a:solidFill>
                  <a:srgbClr val="424242"/>
                </a:solidFill>
                <a:latin typeface="Arial"/>
                <a:ea typeface="Calibri"/>
                <a:cs typeface="Calibri"/>
              </a:rPr>
              <a:t> WORK_HOURS
R1(</a:t>
            </a:r>
            <a:r>
              <a:rPr lang="sk-SK" sz="2000" dirty="0" err="1">
                <a:solidFill>
                  <a:srgbClr val="424242"/>
                </a:solidFill>
                <a:latin typeface="Arial"/>
                <a:ea typeface="Calibri"/>
                <a:cs typeface="Calibri"/>
              </a:rPr>
              <a:t>config-ext-nacl</a:t>
            </a:r>
            <a:r>
              <a:rPr lang="sk-SK" sz="2000" dirty="0">
                <a:solidFill>
                  <a:srgbClr val="424242"/>
                </a:solidFill>
                <a:latin typeface="Arial"/>
                <a:ea typeface="Calibri"/>
                <a:cs typeface="Calibri"/>
              </a:rPr>
              <a:t>)# </a:t>
            </a:r>
            <a:r>
              <a:rPr lang="sk-SK" sz="2000" dirty="0" err="1">
                <a:solidFill>
                  <a:srgbClr val="424242"/>
                </a:solidFill>
                <a:latin typeface="Arial"/>
                <a:ea typeface="Calibri"/>
                <a:cs typeface="Calibri"/>
              </a:rPr>
              <a:t>permit</a:t>
            </a:r>
            <a:r>
              <a:rPr lang="sk-SK" sz="2000" dirty="0">
                <a:solidFill>
                  <a:srgbClr val="424242"/>
                </a:solidFill>
                <a:latin typeface="Arial"/>
                <a:ea typeface="Calibri"/>
                <a:cs typeface="Calibri"/>
              </a:rPr>
              <a:t> </a:t>
            </a:r>
            <a:r>
              <a:rPr lang="sk-SK" sz="2000" dirty="0" err="1">
                <a:solidFill>
                  <a:srgbClr val="424242"/>
                </a:solidFill>
                <a:latin typeface="Arial"/>
                <a:ea typeface="Calibri"/>
                <a:cs typeface="Calibri"/>
              </a:rPr>
              <a:t>ip</a:t>
            </a:r>
            <a:r>
              <a:rPr lang="sk-SK" sz="2000" dirty="0">
                <a:solidFill>
                  <a:srgbClr val="424242"/>
                </a:solidFill>
                <a:latin typeface="Arial"/>
                <a:ea typeface="Calibri"/>
                <a:cs typeface="Calibri"/>
              </a:rPr>
              <a:t> </a:t>
            </a:r>
            <a:r>
              <a:rPr lang="sk-SK" sz="2000" dirty="0" err="1">
                <a:solidFill>
                  <a:srgbClr val="424242"/>
                </a:solidFill>
                <a:latin typeface="Arial"/>
                <a:ea typeface="Calibri"/>
                <a:cs typeface="Calibri"/>
              </a:rPr>
              <a:t>any</a:t>
            </a:r>
            <a:r>
              <a:rPr lang="sk-SK" sz="2000" dirty="0">
                <a:solidFill>
                  <a:srgbClr val="424242"/>
                </a:solidFill>
                <a:latin typeface="Arial"/>
                <a:ea typeface="Calibri"/>
                <a:cs typeface="Calibri"/>
              </a:rPr>
              <a:t> </a:t>
            </a:r>
            <a:r>
              <a:rPr lang="sk-SK" sz="2000" dirty="0" err="1">
                <a:solidFill>
                  <a:srgbClr val="424242"/>
                </a:solidFill>
                <a:latin typeface="Arial"/>
                <a:ea typeface="Calibri"/>
                <a:cs typeface="Calibri"/>
              </a:rPr>
              <a:t>any</a:t>
            </a:r>
            <a:endParaRPr lang="sk-SK" sz="2000">
              <a:solidFill>
                <a:srgbClr val="424242"/>
              </a:solidFill>
              <a:latin typeface="Arial"/>
              <a:ea typeface="Calibri"/>
              <a:cs typeface="Calibri"/>
            </a:endParaRPr>
          </a:p>
          <a:p>
            <a:r>
              <a:rPr lang="sk-SK" sz="2000" dirty="0">
                <a:solidFill>
                  <a:srgbClr val="424242"/>
                </a:solidFill>
                <a:latin typeface="Arial"/>
                <a:ea typeface="Calibri"/>
                <a:cs typeface="Calibri"/>
              </a:rPr>
              <a:t>R1(config)# interface FastEthernet 0/0
R1(</a:t>
            </a:r>
            <a:r>
              <a:rPr lang="sk-SK" sz="2000" dirty="0" err="1">
                <a:solidFill>
                  <a:srgbClr val="424242"/>
                </a:solidFill>
                <a:latin typeface="Arial"/>
                <a:ea typeface="Calibri"/>
                <a:cs typeface="Calibri"/>
              </a:rPr>
              <a:t>config-if</a:t>
            </a:r>
            <a:r>
              <a:rPr lang="sk-SK" sz="2000" dirty="0">
                <a:solidFill>
                  <a:srgbClr val="424242"/>
                </a:solidFill>
                <a:latin typeface="Arial"/>
                <a:ea typeface="Calibri"/>
                <a:cs typeface="Calibri"/>
              </a:rPr>
              <a:t>)# </a:t>
            </a:r>
            <a:r>
              <a:rPr lang="sk-SK" sz="2000" dirty="0" err="1">
                <a:solidFill>
                  <a:srgbClr val="424242"/>
                </a:solidFill>
                <a:latin typeface="Arial"/>
                <a:ea typeface="Calibri"/>
                <a:cs typeface="Calibri"/>
              </a:rPr>
              <a:t>ip</a:t>
            </a:r>
            <a:r>
              <a:rPr lang="sk-SK" sz="2000" dirty="0">
                <a:solidFill>
                  <a:srgbClr val="424242"/>
                </a:solidFill>
                <a:latin typeface="Arial"/>
                <a:ea typeface="Calibri"/>
                <a:cs typeface="Calibri"/>
              </a:rPr>
              <a:t> </a:t>
            </a:r>
            <a:r>
              <a:rPr lang="sk-SK" sz="2000" dirty="0" err="1">
                <a:solidFill>
                  <a:srgbClr val="424242"/>
                </a:solidFill>
                <a:latin typeface="Arial"/>
                <a:ea typeface="Calibri"/>
                <a:cs typeface="Calibri"/>
              </a:rPr>
              <a:t>access-group</a:t>
            </a:r>
            <a:r>
              <a:rPr lang="sk-SK" sz="2000" dirty="0">
                <a:solidFill>
                  <a:srgbClr val="424242"/>
                </a:solidFill>
                <a:latin typeface="Arial"/>
                <a:ea typeface="Calibri"/>
                <a:cs typeface="Calibri"/>
              </a:rPr>
              <a:t> BLOCK_HTTP in</a:t>
            </a:r>
            <a:endParaRPr lang="sk-SK" sz="2000" dirty="0">
              <a:latin typeface="Arial"/>
              <a:ea typeface="Calibri" panose="020F0502020204030204"/>
              <a:cs typeface="Calibri" panose="020F0502020204030204"/>
            </a:endParaRPr>
          </a:p>
        </p:txBody>
      </p:sp>
      <p:sp>
        <p:nvSpPr>
          <p:cNvPr id="11" name="Object1">
            <a:extLst>
              <a:ext uri="{FF2B5EF4-FFF2-40B4-BE49-F238E27FC236}">
                <a16:creationId xmlns:a16="http://schemas.microsoft.com/office/drawing/2014/main" id="{3368D3AB-ED3A-6E07-AC98-B36B4F0E58B0}"/>
              </a:ext>
            </a:extLst>
          </p:cNvPr>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12" name="BlokTextu 11">
            <a:extLst>
              <a:ext uri="{FF2B5EF4-FFF2-40B4-BE49-F238E27FC236}">
                <a16:creationId xmlns:a16="http://schemas.microsoft.com/office/drawing/2014/main" id="{0B6FFD24-A9A2-8FC5-D6BD-99567ABC7855}"/>
              </a:ext>
            </a:extLst>
          </p:cNvPr>
          <p:cNvSpPr txBox="1"/>
          <p:nvPr/>
        </p:nvSpPr>
        <p:spPr>
          <a:xfrm>
            <a:off x="5507095" y="950026"/>
            <a:ext cx="3408305" cy="369332"/>
          </a:xfrm>
          <a:prstGeom prst="rect">
            <a:avLst/>
          </a:prstGeom>
          <a:noFill/>
        </p:spPr>
        <p:txBody>
          <a:bodyPr wrap="none" rtlCol="0">
            <a:spAutoFit/>
          </a:bodyPr>
          <a:lstStyle/>
          <a:p>
            <a:r>
              <a:rPr lang="sk-SK" dirty="0"/>
              <a:t>Overiť na fyzických smerovačoch...</a:t>
            </a:r>
          </a:p>
        </p:txBody>
      </p:sp>
    </p:spTree>
    <p:extLst>
      <p:ext uri="{BB962C8B-B14F-4D97-AF65-F5344CB8AC3E}">
        <p14:creationId xmlns:p14="http://schemas.microsoft.com/office/powerpoint/2010/main" val="17579405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8.4 Modify ACLs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63</a:t>
            </a:fld>
            <a:endParaRPr lang="en-US" dirty="0"/>
          </a:p>
        </p:txBody>
      </p:sp>
    </p:spTree>
    <p:extLst>
      <p:ext uri="{BB962C8B-B14F-4D97-AF65-F5344CB8AC3E}">
        <p14:creationId xmlns:p14="http://schemas.microsoft.com/office/powerpoint/2010/main" val="30485497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Modify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Two Methods to Modify an ACL</a:t>
            </a:r>
          </a:p>
        </p:txBody>
      </p:sp>
      <p:sp>
        <p:nvSpPr>
          <p:cNvPr id="5" name="Object4"/>
          <p:cNvSpPr/>
          <p:nvPr/>
        </p:nvSpPr>
        <p:spPr>
          <a:xfrm>
            <a:off x="20782" y="914400"/>
            <a:ext cx="8894618"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After an ACL is configured, it may need to be modified. ACLs with multiple ACEs can be complex to configure. Sometimes the configured ACE does not yield the expected behaviors. For these reasons, ACLs may initially require a bit of trial and error to achieve the desired filtering result. There are two methods to use when modifying an ACL:</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Use a Text Editor</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Use Sequence Numbers</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64</a:t>
            </a:fld>
            <a:endParaRPr lang="en-US" dirty="0"/>
          </a:p>
        </p:txBody>
      </p:sp>
    </p:spTree>
    <p:extLst>
      <p:ext uri="{BB962C8B-B14F-4D97-AF65-F5344CB8AC3E}">
        <p14:creationId xmlns:p14="http://schemas.microsoft.com/office/powerpoint/2010/main" val="40070689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Modify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Text Editor Method</a:t>
            </a:r>
          </a:p>
        </p:txBody>
      </p:sp>
      <p:sp>
        <p:nvSpPr>
          <p:cNvPr id="5" name="Object4"/>
          <p:cNvSpPr/>
          <p:nvPr/>
        </p:nvSpPr>
        <p:spPr>
          <a:xfrm>
            <a:off x="249381" y="1011382"/>
            <a:ext cx="8658136"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ACLs with multiple ACEs should be created in a text editor. This allows you to plan the required ACEs, create the ACL, and then paste it into the router interface. It also simplifies the tasks to edit and fix an ACL. To modify an ACL using a text editor: </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Copy the ACL from the running configuration and paste it into the text editor.</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Make the necessary edits changes.</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Remove the previously configured ACL on the router otherwise, pasting the edited ACL commands will only append (i.e., add) to the existing ACL ACEs on the router.</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Copy and paste the edited ACL back to the router.</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65</a:t>
            </a:fld>
            <a:endParaRPr lang="en-US" dirty="0"/>
          </a:p>
        </p:txBody>
      </p:sp>
    </p:spTree>
    <p:extLst>
      <p:ext uri="{BB962C8B-B14F-4D97-AF65-F5344CB8AC3E}">
        <p14:creationId xmlns:p14="http://schemas.microsoft.com/office/powerpoint/2010/main" val="36575187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Modify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Sequence Number Method</a:t>
            </a:r>
          </a:p>
        </p:txBody>
      </p:sp>
      <p:sp>
        <p:nvSpPr>
          <p:cNvPr id="5" name="Object4"/>
          <p:cNvSpPr/>
          <p:nvPr/>
        </p:nvSpPr>
        <p:spPr>
          <a:xfrm>
            <a:off x="0" y="914400"/>
            <a:ext cx="9047018" cy="2136531"/>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An ACL ACE can also be deleted or added using the ACL sequence numbers. Sequence numbers are automatically assigned when an ACE is entered. These numbers are listed in the </a:t>
            </a:r>
            <a:r>
              <a:rPr lang="en-US" sz="1400" b="1" dirty="0">
                <a:solidFill>
                  <a:srgbClr val="000000"/>
                </a:solidFill>
                <a:latin typeface="Arial" pitchFamily="34" charset="0"/>
                <a:ea typeface="Arial" pitchFamily="34" charset="-122"/>
                <a:cs typeface="Arial" pitchFamily="34" charset="-120"/>
              </a:rPr>
              <a:t>show access-lists </a:t>
            </a:r>
            <a:r>
              <a:rPr lang="en-US" sz="1400" dirty="0">
                <a:solidFill>
                  <a:srgbClr val="000000"/>
                </a:solidFill>
                <a:latin typeface="Arial" pitchFamily="34" charset="0"/>
                <a:ea typeface="Arial" pitchFamily="34" charset="-122"/>
                <a:cs typeface="Arial" pitchFamily="34" charset="-120"/>
              </a:rPr>
              <a:t>command. The </a:t>
            </a:r>
            <a:r>
              <a:rPr lang="en-US" sz="1400" b="1" dirty="0">
                <a:solidFill>
                  <a:srgbClr val="000000"/>
                </a:solidFill>
                <a:latin typeface="Arial" pitchFamily="34" charset="0"/>
                <a:ea typeface="Arial" pitchFamily="34" charset="-122"/>
                <a:cs typeface="Arial" pitchFamily="34" charset="-120"/>
              </a:rPr>
              <a:t>show running-config </a:t>
            </a:r>
            <a:r>
              <a:rPr lang="en-US" sz="1400" dirty="0">
                <a:solidFill>
                  <a:srgbClr val="000000"/>
                </a:solidFill>
                <a:latin typeface="Arial" pitchFamily="34" charset="0"/>
                <a:ea typeface="Arial" pitchFamily="34" charset="-122"/>
                <a:cs typeface="Arial" pitchFamily="34" charset="-120"/>
              </a:rPr>
              <a:t>command does not display sequence numbers.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Use the </a:t>
            </a:r>
            <a:r>
              <a:rPr lang="en-US" sz="1400" b="1" dirty="0">
                <a:solidFill>
                  <a:srgbClr val="000000"/>
                </a:solidFill>
                <a:latin typeface="Arial" pitchFamily="34" charset="0"/>
                <a:ea typeface="Arial" pitchFamily="34" charset="-122"/>
                <a:cs typeface="Arial" pitchFamily="34" charset="-120"/>
              </a:rPr>
              <a:t>ip access-list standard </a:t>
            </a:r>
            <a:r>
              <a:rPr lang="en-US" sz="1400" dirty="0">
                <a:solidFill>
                  <a:srgbClr val="000000"/>
                </a:solidFill>
                <a:latin typeface="Arial" pitchFamily="34" charset="0"/>
                <a:ea typeface="Arial" pitchFamily="34" charset="-122"/>
                <a:cs typeface="Arial" pitchFamily="34" charset="-120"/>
              </a:rPr>
              <a:t>command to edit an ACL. Statements cannot be overwritten using the same sequence number as an existing statement. Therefore, the current statement must be deleted first with the </a:t>
            </a:r>
            <a:r>
              <a:rPr lang="en-US" sz="1400" b="1" dirty="0">
                <a:solidFill>
                  <a:srgbClr val="000000"/>
                </a:solidFill>
                <a:latin typeface="Arial" pitchFamily="34" charset="0"/>
                <a:ea typeface="Arial" pitchFamily="34" charset="-122"/>
                <a:cs typeface="Arial" pitchFamily="34" charset="-120"/>
              </a:rPr>
              <a:t>no 10 </a:t>
            </a:r>
            <a:r>
              <a:rPr lang="en-US" sz="1400" dirty="0">
                <a:solidFill>
                  <a:srgbClr val="000000"/>
                </a:solidFill>
                <a:latin typeface="Arial" pitchFamily="34" charset="0"/>
                <a:ea typeface="Arial" pitchFamily="34" charset="-122"/>
                <a:cs typeface="Arial" pitchFamily="34" charset="-120"/>
              </a:rPr>
              <a:t>command. Then the correct ACE can be added using sequence number 10 as configured. Verify the changes using the </a:t>
            </a:r>
            <a:r>
              <a:rPr lang="en-US" sz="1400" b="1" dirty="0">
                <a:solidFill>
                  <a:srgbClr val="000000"/>
                </a:solidFill>
                <a:latin typeface="Arial" pitchFamily="34" charset="0"/>
                <a:ea typeface="Arial" pitchFamily="34" charset="-122"/>
                <a:cs typeface="Arial" pitchFamily="34" charset="-120"/>
              </a:rPr>
              <a:t>show access-lists </a:t>
            </a:r>
            <a:r>
              <a:rPr lang="en-US" sz="1400" dirty="0">
                <a:solidFill>
                  <a:srgbClr val="000000"/>
                </a:solidFill>
                <a:latin typeface="Arial" pitchFamily="34" charset="0"/>
                <a:ea typeface="Arial" pitchFamily="34" charset="-122"/>
                <a:cs typeface="Arial" pitchFamily="34" charset="-120"/>
              </a:rPr>
              <a:t>command.</a:t>
            </a:r>
          </a:p>
          <a:p>
            <a:pPr>
              <a:lnSpc>
                <a:spcPts val="2000"/>
              </a:lnSpc>
            </a:pPr>
            <a:endParaRPr lang="en-US" sz="1400" dirty="0">
              <a:solidFill>
                <a:srgbClr val="000000"/>
              </a:solidFill>
              <a:latin typeface="Arial" pitchFamily="34" charset="0"/>
              <a:cs typeface="Arial" pitchFamily="34" charset="-120"/>
            </a:endParaRP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66</a:t>
            </a:fld>
            <a:endParaRPr lang="en-US" dirty="0"/>
          </a:p>
        </p:txBody>
      </p:sp>
      <p:pic>
        <p:nvPicPr>
          <p:cNvPr id="4" name="Picture 3">
            <a:extLst>
              <a:ext uri="{FF2B5EF4-FFF2-40B4-BE49-F238E27FC236}">
                <a16:creationId xmlns:a16="http://schemas.microsoft.com/office/drawing/2014/main" id="{CBEF092D-828D-43E0-B2C2-C98ECDB53A83}"/>
              </a:ext>
            </a:extLst>
          </p:cNvPr>
          <p:cNvPicPr>
            <a:picLocks noChangeAspect="1"/>
          </p:cNvPicPr>
          <p:nvPr/>
        </p:nvPicPr>
        <p:blipFill>
          <a:blip r:embed="rId3"/>
          <a:stretch>
            <a:fillRect/>
          </a:stretch>
        </p:blipFill>
        <p:spPr>
          <a:xfrm>
            <a:off x="2130484" y="3097397"/>
            <a:ext cx="4267570" cy="1531753"/>
          </a:xfrm>
          <a:prstGeom prst="rect">
            <a:avLst/>
          </a:prstGeom>
        </p:spPr>
      </p:pic>
      <p:sp>
        <p:nvSpPr>
          <p:cNvPr id="7" name="BlokTextu 6">
            <a:extLst>
              <a:ext uri="{FF2B5EF4-FFF2-40B4-BE49-F238E27FC236}">
                <a16:creationId xmlns:a16="http://schemas.microsoft.com/office/drawing/2014/main" id="{BFAF6C5B-8917-5264-CF45-E83799EECC22}"/>
              </a:ext>
            </a:extLst>
          </p:cNvPr>
          <p:cNvSpPr txBox="1"/>
          <p:nvPr/>
        </p:nvSpPr>
        <p:spPr>
          <a:xfrm>
            <a:off x="2055916" y="4629150"/>
            <a:ext cx="4610594" cy="369332"/>
          </a:xfrm>
          <a:prstGeom prst="rect">
            <a:avLst/>
          </a:prstGeom>
          <a:noFill/>
        </p:spPr>
        <p:txBody>
          <a:bodyPr wrap="square">
            <a:spAutoFit/>
          </a:bodyPr>
          <a:lstStyle/>
          <a:p>
            <a:pPr lvl="0"/>
            <a:r>
              <a:rPr lang="sk-SK" altLang="sk-SK" dirty="0" err="1"/>
              <a:t>ip</a:t>
            </a:r>
            <a:r>
              <a:rPr lang="sk-SK" altLang="sk-SK" dirty="0"/>
              <a:t> </a:t>
            </a:r>
            <a:r>
              <a:rPr lang="sk-SK" altLang="sk-SK" dirty="0" err="1"/>
              <a:t>access</a:t>
            </a:r>
            <a:r>
              <a:rPr lang="sk-SK" altLang="sk-SK" dirty="0"/>
              <a:t>-list </a:t>
            </a:r>
            <a:r>
              <a:rPr lang="sk-SK" altLang="sk-SK" dirty="0" err="1"/>
              <a:t>resequence</a:t>
            </a:r>
            <a:r>
              <a:rPr lang="sk-SK" altLang="sk-SK" dirty="0"/>
              <a:t> MENO 10 10 </a:t>
            </a:r>
          </a:p>
        </p:txBody>
      </p:sp>
    </p:spTree>
    <p:extLst>
      <p:ext uri="{BB962C8B-B14F-4D97-AF65-F5344CB8AC3E}">
        <p14:creationId xmlns:p14="http://schemas.microsoft.com/office/powerpoint/2010/main" val="5212331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8.5 Implement ACLs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67</a:t>
            </a:fld>
            <a:endParaRPr lang="en-US" dirty="0"/>
          </a:p>
        </p:txBody>
      </p:sp>
    </p:spTree>
    <p:extLst>
      <p:ext uri="{BB962C8B-B14F-4D97-AF65-F5344CB8AC3E}">
        <p14:creationId xmlns:p14="http://schemas.microsoft.com/office/powerpoint/2010/main" val="25980635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ACL Configuration Guidelines</a:t>
            </a:r>
          </a:p>
        </p:txBody>
      </p:sp>
      <p:sp>
        <p:nvSpPr>
          <p:cNvPr id="5" name="Object4"/>
          <p:cNvSpPr/>
          <p:nvPr/>
        </p:nvSpPr>
        <p:spPr>
          <a:xfrm>
            <a:off x="270163" y="914400"/>
            <a:ext cx="8229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An ACL is made up of one or more access control entries (ACEs) or statements. When configuring and applying an ACL, be aware of the guidelines summarized in this list:</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Create an ACL globally and then apply it.</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Ensure the last statement is an implicit </a:t>
            </a:r>
            <a:r>
              <a:rPr lang="en-US" sz="1400" b="1" dirty="0">
                <a:solidFill>
                  <a:srgbClr val="000000"/>
                </a:solidFill>
                <a:latin typeface="Arial" pitchFamily="34" charset="0"/>
                <a:ea typeface="Arial" pitchFamily="34" charset="-122"/>
                <a:cs typeface="Arial" pitchFamily="34" charset="-120"/>
              </a:rPr>
              <a:t>deny any </a:t>
            </a:r>
            <a:r>
              <a:rPr lang="en-US" sz="1400" dirty="0">
                <a:solidFill>
                  <a:srgbClr val="000000"/>
                </a:solidFill>
                <a:latin typeface="Arial" pitchFamily="34" charset="0"/>
                <a:ea typeface="Arial" pitchFamily="34" charset="-122"/>
                <a:cs typeface="Arial" pitchFamily="34" charset="-120"/>
              </a:rPr>
              <a:t>or </a:t>
            </a:r>
            <a:r>
              <a:rPr lang="en-US" sz="1400" b="1" dirty="0">
                <a:solidFill>
                  <a:srgbClr val="000000"/>
                </a:solidFill>
                <a:latin typeface="Arial" pitchFamily="34" charset="0"/>
                <a:ea typeface="Arial" pitchFamily="34" charset="-122"/>
                <a:cs typeface="Arial" pitchFamily="34" charset="-120"/>
              </a:rPr>
              <a:t>deny ip any any</a:t>
            </a:r>
            <a:r>
              <a:rPr lang="en-US" sz="1400" dirty="0">
                <a:solidFill>
                  <a:srgbClr val="000000"/>
                </a:solidFill>
                <a:latin typeface="Arial" pitchFamily="34" charset="0"/>
                <a:ea typeface="Arial" pitchFamily="34" charset="-122"/>
                <a:cs typeface="Arial" pitchFamily="34" charset="-120"/>
              </a:rPr>
              <a:t>.</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Remember that statement order is important because ACLs are processed top-down.</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As soon as a statement is matched the ACL is exited.</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Ensure that the most specific statements are at the top of the list.</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Remember that only one ACL is allowed per interface, per protocol, per direction.</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Remember that new statements for an existing ACL are added to the bottom of the ACL by default.</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Remember that router-generated packets are not filtered by outbound ACLs.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Place standard ACLs as close to the destination as possible.</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Place extended ACLs as close to the source as possible.</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68</a:t>
            </a:fld>
            <a:endParaRPr lang="en-US" dirty="0"/>
          </a:p>
        </p:txBody>
      </p:sp>
    </p:spTree>
    <p:extLst>
      <p:ext uri="{BB962C8B-B14F-4D97-AF65-F5344CB8AC3E}">
        <p14:creationId xmlns:p14="http://schemas.microsoft.com/office/powerpoint/2010/main" val="29198027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Apply an ACL</a:t>
            </a:r>
          </a:p>
        </p:txBody>
      </p:sp>
      <p:sp>
        <p:nvSpPr>
          <p:cNvPr id="5" name="Object4"/>
          <p:cNvSpPr/>
          <p:nvPr/>
        </p:nvSpPr>
        <p:spPr>
          <a:xfrm>
            <a:off x="0" y="766689"/>
            <a:ext cx="8959362" cy="54864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After creating an ACL, the administrator can apply it in a number of different ways. The following shows the command syntax to apply an ACL to an interface or to the vty lines.</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69</a:t>
            </a:fld>
            <a:endParaRPr lang="en-US" dirty="0"/>
          </a:p>
        </p:txBody>
      </p:sp>
      <p:pic>
        <p:nvPicPr>
          <p:cNvPr id="9" name="Picture 8">
            <a:extLst>
              <a:ext uri="{FF2B5EF4-FFF2-40B4-BE49-F238E27FC236}">
                <a16:creationId xmlns:a16="http://schemas.microsoft.com/office/drawing/2014/main" id="{A6ED6503-7D20-4E96-9B70-CCABC64B88D0}"/>
              </a:ext>
            </a:extLst>
          </p:cNvPr>
          <p:cNvPicPr>
            <a:picLocks noChangeAspect="1"/>
          </p:cNvPicPr>
          <p:nvPr/>
        </p:nvPicPr>
        <p:blipFill>
          <a:blip r:embed="rId3"/>
          <a:stretch>
            <a:fillRect/>
          </a:stretch>
        </p:blipFill>
        <p:spPr>
          <a:xfrm>
            <a:off x="1796907" y="1612851"/>
            <a:ext cx="5550185" cy="958899"/>
          </a:xfrm>
          <a:prstGeom prst="rect">
            <a:avLst/>
          </a:prstGeom>
        </p:spPr>
      </p:pic>
    </p:spTree>
    <p:extLst>
      <p:ext uri="{BB962C8B-B14F-4D97-AF65-F5344CB8AC3E}">
        <p14:creationId xmlns:p14="http://schemas.microsoft.com/office/powerpoint/2010/main" val="40124225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Apply an ACL (Cont.)</a:t>
            </a:r>
          </a:p>
        </p:txBody>
      </p:sp>
      <p:sp>
        <p:nvSpPr>
          <p:cNvPr id="5" name="Object4"/>
          <p:cNvSpPr/>
          <p:nvPr/>
        </p:nvSpPr>
        <p:spPr>
          <a:xfrm>
            <a:off x="0" y="749105"/>
            <a:ext cx="8229600" cy="439615"/>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The figure below shows a named standard ACL applied to outbound traffic.</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70</a:t>
            </a:fld>
            <a:endParaRPr lang="en-US" dirty="0"/>
          </a:p>
        </p:txBody>
      </p:sp>
      <p:pic>
        <p:nvPicPr>
          <p:cNvPr id="4" name="Picture 3">
            <a:extLst>
              <a:ext uri="{FF2B5EF4-FFF2-40B4-BE49-F238E27FC236}">
                <a16:creationId xmlns:a16="http://schemas.microsoft.com/office/drawing/2014/main" id="{1022F12D-5634-4F96-A3AD-6B856A5396A9}"/>
              </a:ext>
            </a:extLst>
          </p:cNvPr>
          <p:cNvPicPr>
            <a:picLocks noChangeAspect="1"/>
          </p:cNvPicPr>
          <p:nvPr/>
        </p:nvPicPr>
        <p:blipFill>
          <a:blip r:embed="rId3"/>
          <a:stretch>
            <a:fillRect/>
          </a:stretch>
        </p:blipFill>
        <p:spPr>
          <a:xfrm>
            <a:off x="5388045" y="1463040"/>
            <a:ext cx="3596318" cy="1108710"/>
          </a:xfrm>
          <a:prstGeom prst="rect">
            <a:avLst/>
          </a:prstGeom>
        </p:spPr>
      </p:pic>
      <p:pic>
        <p:nvPicPr>
          <p:cNvPr id="6" name="Picture 5">
            <a:extLst>
              <a:ext uri="{FF2B5EF4-FFF2-40B4-BE49-F238E27FC236}">
                <a16:creationId xmlns:a16="http://schemas.microsoft.com/office/drawing/2014/main" id="{89CF2448-E2AF-4C74-AE40-87007D4B5E6F}"/>
              </a:ext>
            </a:extLst>
          </p:cNvPr>
          <p:cNvPicPr>
            <a:picLocks noChangeAspect="1"/>
          </p:cNvPicPr>
          <p:nvPr/>
        </p:nvPicPr>
        <p:blipFill>
          <a:blip r:embed="rId4"/>
          <a:stretch>
            <a:fillRect/>
          </a:stretch>
        </p:blipFill>
        <p:spPr>
          <a:xfrm>
            <a:off x="624253" y="1146488"/>
            <a:ext cx="4518292" cy="3323880"/>
          </a:xfrm>
          <a:prstGeom prst="rect">
            <a:avLst/>
          </a:prstGeom>
        </p:spPr>
      </p:pic>
    </p:spTree>
    <p:extLst>
      <p:ext uri="{BB962C8B-B14F-4D97-AF65-F5344CB8AC3E}">
        <p14:creationId xmlns:p14="http://schemas.microsoft.com/office/powerpoint/2010/main" val="38196114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Apply an ACL (Cont.)</a:t>
            </a:r>
          </a:p>
        </p:txBody>
      </p:sp>
      <p:sp>
        <p:nvSpPr>
          <p:cNvPr id="5" name="Object4"/>
          <p:cNvSpPr/>
          <p:nvPr/>
        </p:nvSpPr>
        <p:spPr>
          <a:xfrm>
            <a:off x="-8792" y="766689"/>
            <a:ext cx="8924192" cy="54864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This figure shows two named extended ACLs. The SURFING ACL is applied to inbound traffic and the BROWSING ACL is applied to outbound traffic.</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71</a:t>
            </a:fld>
            <a:endParaRPr lang="en-US" dirty="0"/>
          </a:p>
        </p:txBody>
      </p:sp>
      <p:pic>
        <p:nvPicPr>
          <p:cNvPr id="4" name="Picture 3">
            <a:extLst>
              <a:ext uri="{FF2B5EF4-FFF2-40B4-BE49-F238E27FC236}">
                <a16:creationId xmlns:a16="http://schemas.microsoft.com/office/drawing/2014/main" id="{5C56557B-E7F3-47A7-A7E0-B80935612DB6}"/>
              </a:ext>
            </a:extLst>
          </p:cNvPr>
          <p:cNvPicPr>
            <a:picLocks noChangeAspect="1"/>
          </p:cNvPicPr>
          <p:nvPr/>
        </p:nvPicPr>
        <p:blipFill>
          <a:blip r:embed="rId3"/>
          <a:stretch>
            <a:fillRect/>
          </a:stretch>
        </p:blipFill>
        <p:spPr>
          <a:xfrm>
            <a:off x="4756638" y="2172380"/>
            <a:ext cx="4261442" cy="1437080"/>
          </a:xfrm>
          <a:prstGeom prst="rect">
            <a:avLst/>
          </a:prstGeom>
        </p:spPr>
      </p:pic>
      <p:pic>
        <p:nvPicPr>
          <p:cNvPr id="6" name="Picture 5">
            <a:extLst>
              <a:ext uri="{FF2B5EF4-FFF2-40B4-BE49-F238E27FC236}">
                <a16:creationId xmlns:a16="http://schemas.microsoft.com/office/drawing/2014/main" id="{A0887872-7C1D-4DD2-BBFA-336F6741CAC9}"/>
              </a:ext>
            </a:extLst>
          </p:cNvPr>
          <p:cNvPicPr>
            <a:picLocks noChangeAspect="1"/>
          </p:cNvPicPr>
          <p:nvPr/>
        </p:nvPicPr>
        <p:blipFill>
          <a:blip r:embed="rId4"/>
          <a:stretch>
            <a:fillRect/>
          </a:stretch>
        </p:blipFill>
        <p:spPr>
          <a:xfrm>
            <a:off x="7223" y="1534039"/>
            <a:ext cx="4564777" cy="2075421"/>
          </a:xfrm>
          <a:prstGeom prst="rect">
            <a:avLst/>
          </a:prstGeom>
        </p:spPr>
      </p:pic>
    </p:spTree>
    <p:extLst>
      <p:ext uri="{BB962C8B-B14F-4D97-AF65-F5344CB8AC3E}">
        <p14:creationId xmlns:p14="http://schemas.microsoft.com/office/powerpoint/2010/main" val="27795332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Apply an ACL (Cont.)</a:t>
            </a:r>
          </a:p>
        </p:txBody>
      </p:sp>
      <p:sp>
        <p:nvSpPr>
          <p:cNvPr id="5" name="Object4"/>
          <p:cNvSpPr/>
          <p:nvPr/>
        </p:nvSpPr>
        <p:spPr>
          <a:xfrm>
            <a:off x="0" y="945803"/>
            <a:ext cx="8924192" cy="54864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This example shows an ACL applied to the vty lines.</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72</a:t>
            </a:fld>
            <a:endParaRPr lang="en-US" dirty="0"/>
          </a:p>
        </p:txBody>
      </p:sp>
      <p:pic>
        <p:nvPicPr>
          <p:cNvPr id="8" name="Picture 7">
            <a:extLst>
              <a:ext uri="{FF2B5EF4-FFF2-40B4-BE49-F238E27FC236}">
                <a16:creationId xmlns:a16="http://schemas.microsoft.com/office/drawing/2014/main" id="{DF900BA6-6950-48F0-8B70-87C698878F2A}"/>
              </a:ext>
            </a:extLst>
          </p:cNvPr>
          <p:cNvPicPr>
            <a:picLocks noChangeAspect="1"/>
          </p:cNvPicPr>
          <p:nvPr/>
        </p:nvPicPr>
        <p:blipFill>
          <a:blip r:embed="rId3"/>
          <a:stretch>
            <a:fillRect/>
          </a:stretch>
        </p:blipFill>
        <p:spPr>
          <a:xfrm>
            <a:off x="4707693" y="137160"/>
            <a:ext cx="4207707" cy="1592669"/>
          </a:xfrm>
          <a:prstGeom prst="rect">
            <a:avLst/>
          </a:prstGeom>
        </p:spPr>
      </p:pic>
      <p:pic>
        <p:nvPicPr>
          <p:cNvPr id="10" name="Picture 9">
            <a:extLst>
              <a:ext uri="{FF2B5EF4-FFF2-40B4-BE49-F238E27FC236}">
                <a16:creationId xmlns:a16="http://schemas.microsoft.com/office/drawing/2014/main" id="{490CC54E-F82A-4DAE-8548-A24CE61D38EA}"/>
              </a:ext>
            </a:extLst>
          </p:cNvPr>
          <p:cNvPicPr>
            <a:picLocks noChangeAspect="1"/>
          </p:cNvPicPr>
          <p:nvPr/>
        </p:nvPicPr>
        <p:blipFill>
          <a:blip r:embed="rId4"/>
          <a:stretch>
            <a:fillRect/>
          </a:stretch>
        </p:blipFill>
        <p:spPr>
          <a:xfrm>
            <a:off x="1400023" y="1737360"/>
            <a:ext cx="5886753" cy="3079908"/>
          </a:xfrm>
          <a:prstGeom prst="rect">
            <a:avLst/>
          </a:prstGeom>
        </p:spPr>
      </p:pic>
    </p:spTree>
    <p:extLst>
      <p:ext uri="{BB962C8B-B14F-4D97-AF65-F5344CB8AC3E}">
        <p14:creationId xmlns:p14="http://schemas.microsoft.com/office/powerpoint/2010/main" val="28484759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Where to Place ACLs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73</a:t>
            </a:fld>
            <a:endParaRPr lang="en-US" dirty="0"/>
          </a:p>
        </p:txBody>
      </p:sp>
      <p:sp>
        <p:nvSpPr>
          <p:cNvPr id="7" name="TextBox 6">
            <a:extLst>
              <a:ext uri="{FF2B5EF4-FFF2-40B4-BE49-F238E27FC236}">
                <a16:creationId xmlns:a16="http://schemas.microsoft.com/office/drawing/2014/main" id="{4D9E7E2D-44DF-40C9-AA6A-5B2A089308A6}"/>
              </a:ext>
            </a:extLst>
          </p:cNvPr>
          <p:cNvSpPr txBox="1"/>
          <p:nvPr/>
        </p:nvSpPr>
        <p:spPr>
          <a:xfrm>
            <a:off x="79131" y="735724"/>
            <a:ext cx="3288323" cy="2246769"/>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Every ACL should be placed where it is the most efficient.</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 figure illustrates where standard and extended ACLs should be located in an enterprise network. Assume the objective is to prevent traffic that originates in the 192.168.10.0/24 network from reaching the 192.168.30.0/24 network.</a:t>
            </a:r>
          </a:p>
        </p:txBody>
      </p:sp>
      <p:pic>
        <p:nvPicPr>
          <p:cNvPr id="5" name="Picture 4">
            <a:extLst>
              <a:ext uri="{FF2B5EF4-FFF2-40B4-BE49-F238E27FC236}">
                <a16:creationId xmlns:a16="http://schemas.microsoft.com/office/drawing/2014/main" id="{4E5B14AE-3DCE-4D5C-81F3-9044292705CD}"/>
              </a:ext>
            </a:extLst>
          </p:cNvPr>
          <p:cNvPicPr>
            <a:picLocks noChangeAspect="1"/>
          </p:cNvPicPr>
          <p:nvPr/>
        </p:nvPicPr>
        <p:blipFill>
          <a:blip r:embed="rId3"/>
          <a:stretch>
            <a:fillRect/>
          </a:stretch>
        </p:blipFill>
        <p:spPr>
          <a:xfrm>
            <a:off x="3446585" y="726997"/>
            <a:ext cx="5334462" cy="3680779"/>
          </a:xfrm>
          <a:prstGeom prst="rect">
            <a:avLst/>
          </a:prstGeom>
        </p:spPr>
      </p:pic>
    </p:spTree>
    <p:extLst>
      <p:ext uri="{BB962C8B-B14F-4D97-AF65-F5344CB8AC3E}">
        <p14:creationId xmlns:p14="http://schemas.microsoft.com/office/powerpoint/2010/main" val="405970997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Where to Place ACLs (Cont.)</a:t>
            </a:r>
          </a:p>
        </p:txBody>
      </p:sp>
      <p:graphicFrame>
        <p:nvGraphicFramePr>
          <p:cNvPr id="39" name="Table 38"/>
          <p:cNvGraphicFramePr>
            <a:graphicFrameLocks noGrp="1"/>
          </p:cNvGraphicFramePr>
          <p:nvPr>
            <p:extLst>
              <p:ext uri="{D42A27DB-BD31-4B8C-83A1-F6EECF244321}">
                <p14:modId xmlns:p14="http://schemas.microsoft.com/office/powerpoint/2010/main" val="4112782805"/>
              </p:ext>
            </p:extLst>
          </p:nvPr>
        </p:nvGraphicFramePr>
        <p:xfrm>
          <a:off x="91440" y="1463040"/>
          <a:ext cx="8961120" cy="2133600"/>
        </p:xfrm>
        <a:graphic>
          <a:graphicData uri="http://schemas.openxmlformats.org/drawingml/2006/table">
            <a:tbl>
              <a:tblPr/>
              <a:tblGrid>
                <a:gridCol w="310896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tblGrid>
              <a:tr h="0">
                <a:tc>
                  <a:txBody>
                    <a:bodyPr/>
                    <a:lstStyle/>
                    <a:p>
                      <a:r>
                        <a:rPr lang="en-US" sz="1200" dirty="0">
                          <a:solidFill>
                            <a:srgbClr val="FFFFFF"/>
                          </a:solidFill>
                        </a:rPr>
                        <a:t>Factors Influencing ACL Placement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Explanation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rPr>
                        <a:t>The extent of organizational control</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Placement of the ACL can depend on whether or not the organization has control of both the source and destination networks.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rPr>
                        <a:t>Bandwidth of the networks involved</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It may be desirable to filter unwanted traffic at the source to prevent transmission of bandwidth-consuming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b="1" dirty="0">
                          <a:solidFill>
                            <a:srgbClr val="58585B"/>
                          </a:solidFill>
                        </a:rPr>
                        <a:t>Ease of configuration</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It may be easier to implement an ACL at the destination, but traffic will use bandwidth unnecessarily. </a:t>
                      </a:r>
                      <a:endParaRPr lang="en-US" sz="1200" dirty="0"/>
                    </a:p>
                    <a:p>
                      <a:pPr marL="171450" indent="-171450">
                        <a:buFont typeface="Arial" panose="020B0604020202020204" pitchFamily="34" charset="0"/>
                        <a:buChar char="•"/>
                      </a:pPr>
                      <a:r>
                        <a:rPr lang="en-US" sz="1200" dirty="0">
                          <a:solidFill>
                            <a:srgbClr val="58585B"/>
                          </a:solidFill>
                        </a:rPr>
                        <a:t>An extended ACL could be used on each router where the traffic originated. This would save bandwidth by filtering the traffic at the source, but it would require creating extended ACLs on multiple routers.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74</a:t>
            </a:fld>
            <a:endParaRPr lang="en-US" dirty="0"/>
          </a:p>
        </p:txBody>
      </p:sp>
      <p:sp>
        <p:nvSpPr>
          <p:cNvPr id="7" name="TextBox 6">
            <a:extLst>
              <a:ext uri="{FF2B5EF4-FFF2-40B4-BE49-F238E27FC236}">
                <a16:creationId xmlns:a16="http://schemas.microsoft.com/office/drawing/2014/main" id="{5420E09A-F3C9-4DA6-9D80-3FC017ECB379}"/>
              </a:ext>
            </a:extLst>
          </p:cNvPr>
          <p:cNvSpPr txBox="1"/>
          <p:nvPr/>
        </p:nvSpPr>
        <p:spPr>
          <a:xfrm>
            <a:off x="0" y="765672"/>
            <a:ext cx="8809892"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Placement of the ACL and therefore, the type of ACL used, may also depend on a variety of factors as listed in the table.</a:t>
            </a:r>
          </a:p>
        </p:txBody>
      </p:sp>
    </p:spTree>
    <p:extLst>
      <p:ext uri="{BB962C8B-B14F-4D97-AF65-F5344CB8AC3E}">
        <p14:creationId xmlns:p14="http://schemas.microsoft.com/office/powerpoint/2010/main" val="204911638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Standard ACL Placement Example</a:t>
            </a:r>
          </a:p>
        </p:txBody>
      </p:sp>
      <p:sp>
        <p:nvSpPr>
          <p:cNvPr id="5" name="Object4"/>
          <p:cNvSpPr/>
          <p:nvPr/>
        </p:nvSpPr>
        <p:spPr>
          <a:xfrm>
            <a:off x="0" y="914400"/>
            <a:ext cx="3279531"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Following the guidelines for ACL placement, standard ACLs should be located as close to the destination as possible. In the figure, the administrator wants to prevent traffic originating in the 192.168.10.0/24 network from reaching the 192.168.30.0/24 network.</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75</a:t>
            </a:fld>
            <a:endParaRPr lang="en-US" dirty="0"/>
          </a:p>
        </p:txBody>
      </p:sp>
      <p:pic>
        <p:nvPicPr>
          <p:cNvPr id="4" name="Picture 3">
            <a:extLst>
              <a:ext uri="{FF2B5EF4-FFF2-40B4-BE49-F238E27FC236}">
                <a16:creationId xmlns:a16="http://schemas.microsoft.com/office/drawing/2014/main" id="{8186189E-CDCE-4D89-BFF7-E693912EE758}"/>
              </a:ext>
            </a:extLst>
          </p:cNvPr>
          <p:cNvPicPr>
            <a:picLocks noChangeAspect="1"/>
          </p:cNvPicPr>
          <p:nvPr/>
        </p:nvPicPr>
        <p:blipFill>
          <a:blip r:embed="rId3"/>
          <a:stretch>
            <a:fillRect/>
          </a:stretch>
        </p:blipFill>
        <p:spPr>
          <a:xfrm>
            <a:off x="3801245" y="914400"/>
            <a:ext cx="4821040" cy="3242182"/>
          </a:xfrm>
          <a:prstGeom prst="rect">
            <a:avLst/>
          </a:prstGeom>
        </p:spPr>
      </p:pic>
    </p:spTree>
    <p:extLst>
      <p:ext uri="{BB962C8B-B14F-4D97-AF65-F5344CB8AC3E}">
        <p14:creationId xmlns:p14="http://schemas.microsoft.com/office/powerpoint/2010/main" val="260614620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Extended ACL Placement Example</a:t>
            </a:r>
          </a:p>
        </p:txBody>
      </p:sp>
      <p:sp>
        <p:nvSpPr>
          <p:cNvPr id="5" name="Object4"/>
          <p:cNvSpPr/>
          <p:nvPr/>
        </p:nvSpPr>
        <p:spPr>
          <a:xfrm>
            <a:off x="0" y="731520"/>
            <a:ext cx="3763108"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Extended ACLs should be located as close to the source as possible. This prevents unwanted traffic from being sent across multiple networks only to be denied when it reaches its destination. However, the organization can only place ACLs on devices that they control. Therefore, the extended ACL placement must be determined in the context of where organizational control extends. </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Company A wants to deny Telnet and FTP traffic to Company B’s 192.168.30.0/24 network from their 192.168.11.0/24 network while permitting all other traffic.</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76</a:t>
            </a:fld>
            <a:endParaRPr lang="en-US" dirty="0"/>
          </a:p>
        </p:txBody>
      </p:sp>
      <p:pic>
        <p:nvPicPr>
          <p:cNvPr id="4" name="Picture 3">
            <a:extLst>
              <a:ext uri="{FF2B5EF4-FFF2-40B4-BE49-F238E27FC236}">
                <a16:creationId xmlns:a16="http://schemas.microsoft.com/office/drawing/2014/main" id="{525C2B8D-C989-4243-87DA-1CFE7EF8F7C3}"/>
              </a:ext>
            </a:extLst>
          </p:cNvPr>
          <p:cNvPicPr>
            <a:picLocks noChangeAspect="1"/>
          </p:cNvPicPr>
          <p:nvPr/>
        </p:nvPicPr>
        <p:blipFill>
          <a:blip r:embed="rId3"/>
          <a:stretch>
            <a:fillRect/>
          </a:stretch>
        </p:blipFill>
        <p:spPr>
          <a:xfrm>
            <a:off x="3872102" y="731520"/>
            <a:ext cx="5162904" cy="3608878"/>
          </a:xfrm>
          <a:prstGeom prst="rect">
            <a:avLst/>
          </a:prstGeom>
        </p:spPr>
      </p:pic>
    </p:spTree>
    <p:extLst>
      <p:ext uri="{BB962C8B-B14F-4D97-AF65-F5344CB8AC3E}">
        <p14:creationId xmlns:p14="http://schemas.microsoft.com/office/powerpoint/2010/main" val="22897035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8.6 Mitigate Attacks with ACLs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77</a:t>
            </a:fld>
            <a:endParaRPr lang="en-US" dirty="0"/>
          </a:p>
        </p:txBody>
      </p:sp>
    </p:spTree>
    <p:extLst>
      <p:ext uri="{BB962C8B-B14F-4D97-AF65-F5344CB8AC3E}">
        <p14:creationId xmlns:p14="http://schemas.microsoft.com/office/powerpoint/2010/main" val="50769631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Attacks with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Mitigate Spoofing Attacks</a:t>
            </a:r>
          </a:p>
        </p:txBody>
      </p:sp>
      <p:sp>
        <p:nvSpPr>
          <p:cNvPr id="5" name="Object4"/>
          <p:cNvSpPr/>
          <p:nvPr/>
        </p:nvSpPr>
        <p:spPr>
          <a:xfrm>
            <a:off x="0" y="615462"/>
            <a:ext cx="4237892"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IP address spoofing overrides the normal packet creation process by inserting a custom IP header with a different source IP address. There are many well-known classes of IP addresses that should never be source IP addresses for traffic entering an organization’s network. The S0/0/0 interface is attached to the internet and should never accept inbound packets from the following addresses: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All zeros addresses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Broadcast addresses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Local host addresses (127.0.0.0/8)</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Automatic Private IP Addressing (APIPA) addresses (169.254.0.0/16)</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Reserved private addresses (RFC 1918)</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IP multicast address range (224.0.0.0/4)</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78</a:t>
            </a:fld>
            <a:endParaRPr lang="en-US" dirty="0"/>
          </a:p>
        </p:txBody>
      </p:sp>
      <p:pic>
        <p:nvPicPr>
          <p:cNvPr id="7" name="Picture 6">
            <a:extLst>
              <a:ext uri="{FF2B5EF4-FFF2-40B4-BE49-F238E27FC236}">
                <a16:creationId xmlns:a16="http://schemas.microsoft.com/office/drawing/2014/main" id="{B1BF81F2-00E3-45A7-A2B4-51E5CEE89156}"/>
              </a:ext>
            </a:extLst>
          </p:cNvPr>
          <p:cNvPicPr>
            <a:picLocks noChangeAspect="1"/>
          </p:cNvPicPr>
          <p:nvPr/>
        </p:nvPicPr>
        <p:blipFill>
          <a:blip r:embed="rId3"/>
          <a:stretch>
            <a:fillRect/>
          </a:stretch>
        </p:blipFill>
        <p:spPr>
          <a:xfrm>
            <a:off x="4159471" y="612474"/>
            <a:ext cx="4797386" cy="3761406"/>
          </a:xfrm>
          <a:prstGeom prst="rect">
            <a:avLst/>
          </a:prstGeom>
        </p:spPr>
      </p:pic>
    </p:spTree>
    <p:extLst>
      <p:ext uri="{BB962C8B-B14F-4D97-AF65-F5344CB8AC3E}">
        <p14:creationId xmlns:p14="http://schemas.microsoft.com/office/powerpoint/2010/main" val="11748299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Attacks with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Permit Necessary Traffic through a Firewall</a:t>
            </a:r>
          </a:p>
        </p:txBody>
      </p:sp>
      <p:sp>
        <p:nvSpPr>
          <p:cNvPr id="5" name="Object4"/>
          <p:cNvSpPr/>
          <p:nvPr/>
        </p:nvSpPr>
        <p:spPr>
          <a:xfrm>
            <a:off x="0" y="914400"/>
            <a:ext cx="3613638"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An effective strategy for mitigating attacks is to explicitly permit only certain types of traffic through a firewall. For example, Domain Name System (DNS), Simple Mail Transfer Protocol (SMTP), and File Transfer Protocol (FTP) are services that often must be allowed through a firewall. Secure Shell (SSH), syslog, and Simple Network Management Protocol (SNMP) are examples of services that a router may need to include. The figure shows an example topology with ACL configurations to permit specific services on the Serial 0/0/0 interface.</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79</a:t>
            </a:fld>
            <a:endParaRPr lang="en-US" dirty="0"/>
          </a:p>
        </p:txBody>
      </p:sp>
      <p:pic>
        <p:nvPicPr>
          <p:cNvPr id="7" name="Picture 6">
            <a:extLst>
              <a:ext uri="{FF2B5EF4-FFF2-40B4-BE49-F238E27FC236}">
                <a16:creationId xmlns:a16="http://schemas.microsoft.com/office/drawing/2014/main" id="{2FC85FD6-A35C-4E3B-BC64-20981CC07599}"/>
              </a:ext>
            </a:extLst>
          </p:cNvPr>
          <p:cNvPicPr>
            <a:picLocks noChangeAspect="1"/>
          </p:cNvPicPr>
          <p:nvPr/>
        </p:nvPicPr>
        <p:blipFill>
          <a:blip r:embed="rId3"/>
          <a:stretch>
            <a:fillRect/>
          </a:stretch>
        </p:blipFill>
        <p:spPr>
          <a:xfrm>
            <a:off x="3681879" y="731521"/>
            <a:ext cx="5248344" cy="3726180"/>
          </a:xfrm>
          <a:prstGeom prst="rect">
            <a:avLst/>
          </a:prstGeom>
        </p:spPr>
      </p:pic>
    </p:spTree>
    <p:extLst>
      <p:ext uri="{BB962C8B-B14F-4D97-AF65-F5344CB8AC3E}">
        <p14:creationId xmlns:p14="http://schemas.microsoft.com/office/powerpoint/2010/main" val="14493305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Attacks with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Mitigate ICMP Attacks</a:t>
            </a:r>
          </a:p>
        </p:txBody>
      </p:sp>
      <p:sp>
        <p:nvSpPr>
          <p:cNvPr id="5" name="Object4"/>
          <p:cNvSpPr/>
          <p:nvPr/>
        </p:nvSpPr>
        <p:spPr>
          <a:xfrm>
            <a:off x="-1" y="731520"/>
            <a:ext cx="9143999"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Both ICMP echo and redirect messages should be blocked inbound by the router. Several ICMP messages are recommended for proper network operation and should be allowed into the internal network:</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Echo reply </a:t>
            </a:r>
            <a:r>
              <a:rPr lang="en-US" sz="1400" dirty="0">
                <a:solidFill>
                  <a:srgbClr val="000000"/>
                </a:solidFill>
                <a:latin typeface="Arial" pitchFamily="34" charset="0"/>
                <a:ea typeface="Arial" pitchFamily="34" charset="-122"/>
                <a:cs typeface="Arial" pitchFamily="34" charset="-120"/>
              </a:rPr>
              <a:t>- Allows users to ping external hosts.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Source quench </a:t>
            </a:r>
            <a:r>
              <a:rPr lang="en-US" sz="1400" dirty="0">
                <a:solidFill>
                  <a:srgbClr val="000000"/>
                </a:solidFill>
                <a:latin typeface="Arial" pitchFamily="34" charset="0"/>
                <a:ea typeface="Arial" pitchFamily="34" charset="-122"/>
                <a:cs typeface="Arial" pitchFamily="34" charset="-120"/>
              </a:rPr>
              <a:t>- Requests that the sender decrease the traffic rate of messages.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Unreachable</a:t>
            </a:r>
            <a:r>
              <a:rPr lang="en-US" sz="1400" dirty="0">
                <a:solidFill>
                  <a:srgbClr val="000000"/>
                </a:solidFill>
                <a:latin typeface="Arial" pitchFamily="34" charset="0"/>
                <a:ea typeface="Arial" pitchFamily="34" charset="-122"/>
                <a:cs typeface="Arial" pitchFamily="34" charset="-120"/>
              </a:rPr>
              <a:t> - Generated for packets that are administratively denied by an ACL.</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Several ICMP messages are required for proper network operation and should be allowed to exit the network:</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Echo</a:t>
            </a:r>
            <a:r>
              <a:rPr lang="en-US" sz="1400" dirty="0">
                <a:solidFill>
                  <a:srgbClr val="000000"/>
                </a:solidFill>
                <a:latin typeface="Arial" pitchFamily="34" charset="0"/>
                <a:ea typeface="Arial" pitchFamily="34" charset="-122"/>
                <a:cs typeface="Arial" pitchFamily="34" charset="-120"/>
              </a:rPr>
              <a:t> - Allows users to ping external hosts.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Parameter problem </a:t>
            </a:r>
            <a:r>
              <a:rPr lang="en-US" sz="1400" dirty="0">
                <a:solidFill>
                  <a:srgbClr val="000000"/>
                </a:solidFill>
                <a:latin typeface="Arial" pitchFamily="34" charset="0"/>
                <a:ea typeface="Arial" pitchFamily="34" charset="-122"/>
                <a:cs typeface="Arial" pitchFamily="34" charset="-120"/>
              </a:rPr>
              <a:t>- Informs the host of packet header problems.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Packet too big </a:t>
            </a:r>
            <a:r>
              <a:rPr lang="en-US" sz="1400" dirty="0">
                <a:solidFill>
                  <a:srgbClr val="000000"/>
                </a:solidFill>
                <a:latin typeface="Arial" pitchFamily="34" charset="0"/>
                <a:ea typeface="Arial" pitchFamily="34" charset="-122"/>
                <a:cs typeface="Arial" pitchFamily="34" charset="-120"/>
              </a:rPr>
              <a:t>- Enables packet maximum transmission unit (MTU) discovery.</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Source quench </a:t>
            </a:r>
            <a:r>
              <a:rPr lang="en-US" sz="1400" dirty="0">
                <a:solidFill>
                  <a:srgbClr val="000000"/>
                </a:solidFill>
                <a:latin typeface="Arial" pitchFamily="34" charset="0"/>
                <a:ea typeface="Arial" pitchFamily="34" charset="-122"/>
                <a:cs typeface="Arial" pitchFamily="34" charset="-120"/>
              </a:rPr>
              <a:t>- Throttles down traffic when necessary.</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As a rule, block all other ICMP message types outbound.</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80</a:t>
            </a:fld>
            <a:endParaRPr lang="en-US" dirty="0"/>
          </a:p>
        </p:txBody>
      </p:sp>
    </p:spTree>
    <p:extLst>
      <p:ext uri="{BB962C8B-B14F-4D97-AF65-F5344CB8AC3E}">
        <p14:creationId xmlns:p14="http://schemas.microsoft.com/office/powerpoint/2010/main" val="41413206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156804-1CBA-4C2E-8B55-01870AB241B0}"/>
              </a:ext>
            </a:extLst>
          </p:cNvPr>
          <p:cNvPicPr>
            <a:picLocks noChangeAspect="1"/>
          </p:cNvPicPr>
          <p:nvPr/>
        </p:nvPicPr>
        <p:blipFill>
          <a:blip r:embed="rId3"/>
          <a:stretch>
            <a:fillRect/>
          </a:stretch>
        </p:blipFill>
        <p:spPr>
          <a:xfrm>
            <a:off x="3646311" y="548640"/>
            <a:ext cx="4919359" cy="4038600"/>
          </a:xfrm>
          <a:prstGeom prst="rect">
            <a:avLst/>
          </a:prstGeom>
        </p:spPr>
      </p:pic>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Attacks with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Mitigate ICMP Attacks (Cont.)</a:t>
            </a:r>
          </a:p>
        </p:txBody>
      </p:sp>
      <p:sp>
        <p:nvSpPr>
          <p:cNvPr id="5" name="Object4"/>
          <p:cNvSpPr/>
          <p:nvPr/>
        </p:nvSpPr>
        <p:spPr>
          <a:xfrm>
            <a:off x="228600" y="1272540"/>
            <a:ext cx="3101340" cy="190500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The example shows a sample topology and possible ACL configurations to permit specific ICMP services on the G0/0 and S0/0/0 interfaces.</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81</a:t>
            </a:fld>
            <a:endParaRPr lang="en-US" dirty="0"/>
          </a:p>
        </p:txBody>
      </p:sp>
    </p:spTree>
    <p:extLst>
      <p:ext uri="{BB962C8B-B14F-4D97-AF65-F5344CB8AC3E}">
        <p14:creationId xmlns:p14="http://schemas.microsoft.com/office/powerpoint/2010/main" val="15226199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Attacks with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Mitigate SNMP Attacks</a:t>
            </a:r>
          </a:p>
        </p:txBody>
      </p:sp>
      <p:sp>
        <p:nvSpPr>
          <p:cNvPr id="5" name="Object4"/>
          <p:cNvSpPr/>
          <p:nvPr/>
        </p:nvSpPr>
        <p:spPr>
          <a:xfrm>
            <a:off x="0" y="914400"/>
            <a:ext cx="3349869"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Exploitation of SNMP vulnerabilities can be mitigated by applying interface ACLs to filter SNMP packets from non-authorized systems. These security measures are helpful, but the most effective means of exploitation prevention is to disable the SNMP server on IOS devices for which it is not required. Use the command </a:t>
            </a:r>
            <a:r>
              <a:rPr lang="en-US" sz="1400" b="1" dirty="0">
                <a:solidFill>
                  <a:srgbClr val="000000"/>
                </a:solidFill>
                <a:latin typeface="Arial" pitchFamily="34" charset="0"/>
                <a:ea typeface="Arial" pitchFamily="34" charset="-122"/>
                <a:cs typeface="Arial" pitchFamily="34" charset="-120"/>
              </a:rPr>
              <a:t>no snmp-server </a:t>
            </a:r>
            <a:r>
              <a:rPr lang="en-US" sz="1400" dirty="0">
                <a:solidFill>
                  <a:srgbClr val="000000"/>
                </a:solidFill>
                <a:latin typeface="Arial" pitchFamily="34" charset="0"/>
                <a:ea typeface="Arial" pitchFamily="34" charset="-122"/>
                <a:cs typeface="Arial" pitchFamily="34" charset="-120"/>
              </a:rPr>
              <a:t>to disable SNMP services on Cisco IOS devices.</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82</a:t>
            </a:fld>
            <a:endParaRPr lang="en-US" dirty="0"/>
          </a:p>
        </p:txBody>
      </p:sp>
      <p:pic>
        <p:nvPicPr>
          <p:cNvPr id="4" name="Picture 3">
            <a:extLst>
              <a:ext uri="{FF2B5EF4-FFF2-40B4-BE49-F238E27FC236}">
                <a16:creationId xmlns:a16="http://schemas.microsoft.com/office/drawing/2014/main" id="{07765727-FAF4-409C-9E0A-84C6D565A341}"/>
              </a:ext>
            </a:extLst>
          </p:cNvPr>
          <p:cNvPicPr>
            <a:picLocks noChangeAspect="1"/>
          </p:cNvPicPr>
          <p:nvPr/>
        </p:nvPicPr>
        <p:blipFill>
          <a:blip r:embed="rId3"/>
          <a:stretch>
            <a:fillRect/>
          </a:stretch>
        </p:blipFill>
        <p:spPr>
          <a:xfrm>
            <a:off x="3767267" y="916533"/>
            <a:ext cx="5148133" cy="1283742"/>
          </a:xfrm>
          <a:prstGeom prst="rect">
            <a:avLst/>
          </a:prstGeom>
        </p:spPr>
      </p:pic>
      <p:pic>
        <p:nvPicPr>
          <p:cNvPr id="6" name="Picture 5">
            <a:extLst>
              <a:ext uri="{FF2B5EF4-FFF2-40B4-BE49-F238E27FC236}">
                <a16:creationId xmlns:a16="http://schemas.microsoft.com/office/drawing/2014/main" id="{1A572965-7116-4E4A-970B-CCC8C57830AC}"/>
              </a:ext>
            </a:extLst>
          </p:cNvPr>
          <p:cNvPicPr>
            <a:picLocks noChangeAspect="1"/>
          </p:cNvPicPr>
          <p:nvPr/>
        </p:nvPicPr>
        <p:blipFill>
          <a:blip r:embed="rId4"/>
          <a:stretch>
            <a:fillRect/>
          </a:stretch>
        </p:blipFill>
        <p:spPr>
          <a:xfrm>
            <a:off x="3460723" y="2464744"/>
            <a:ext cx="5572423" cy="278016"/>
          </a:xfrm>
          <a:prstGeom prst="rect">
            <a:avLst/>
          </a:prstGeom>
        </p:spPr>
      </p:pic>
    </p:spTree>
    <p:extLst>
      <p:ext uri="{BB962C8B-B14F-4D97-AF65-F5344CB8AC3E}">
        <p14:creationId xmlns:p14="http://schemas.microsoft.com/office/powerpoint/2010/main" val="282000242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8.7 IPv6 ACLs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83</a:t>
            </a:fld>
            <a:endParaRPr lang="en-US" dirty="0"/>
          </a:p>
        </p:txBody>
      </p:sp>
    </p:spTree>
    <p:extLst>
      <p:ext uri="{BB962C8B-B14F-4D97-AF65-F5344CB8AC3E}">
        <p14:creationId xmlns:p14="http://schemas.microsoft.com/office/powerpoint/2010/main" val="7019355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1EEFA8-834B-45C7-BBD9-BACB0B76FC65}"/>
              </a:ext>
            </a:extLst>
          </p:cNvPr>
          <p:cNvPicPr>
            <a:picLocks noChangeAspect="1"/>
          </p:cNvPicPr>
          <p:nvPr/>
        </p:nvPicPr>
        <p:blipFill>
          <a:blip r:embed="rId3"/>
          <a:stretch>
            <a:fillRect/>
          </a:stretch>
        </p:blipFill>
        <p:spPr>
          <a:xfrm>
            <a:off x="3967025" y="1264920"/>
            <a:ext cx="4925515" cy="2476938"/>
          </a:xfrm>
          <a:prstGeom prst="rect">
            <a:avLst/>
          </a:prstGeom>
        </p:spPr>
      </p:pic>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IPv6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IPv6 ACL Overview</a:t>
            </a:r>
          </a:p>
        </p:txBody>
      </p:sp>
      <p:sp>
        <p:nvSpPr>
          <p:cNvPr id="5" name="Object4"/>
          <p:cNvSpPr/>
          <p:nvPr/>
        </p:nvSpPr>
        <p:spPr>
          <a:xfrm>
            <a:off x="0" y="708660"/>
            <a:ext cx="4411980" cy="2571750"/>
          </a:xfrm>
          <a:prstGeom prst="rect">
            <a:avLst/>
          </a:prstGeom>
          <a:noFill/>
          <a:ln/>
        </p:spPr>
        <p:txBody>
          <a:bodyPr wrap="square" rtlCol="0" anchor="t"/>
          <a:lstStyle/>
          <a:p>
            <a:pPr>
              <a:lnSpc>
                <a:spcPts val="2000"/>
              </a:lnSpc>
            </a:pPr>
            <a:r>
              <a:rPr lang="en-US" sz="1400" dirty="0">
                <a:latin typeface="Arial" panose="020B0604020202020204" pitchFamily="34" charset="0"/>
                <a:cs typeface="Arial" panose="020B0604020202020204" pitchFamily="34" charset="0"/>
              </a:rPr>
              <a:t>As the migration to IPv6 continues, IPv6 attacks are becoming more pervasive. IPv4 will not disappear overnight. IPv4 will coexist with IPv6 and then gradually be replaced by IPv6. This creates potential security holes. An example of a security concern is attackers leveraging IPv4 to exploit IPv6 in dual stack environments. </a:t>
            </a:r>
          </a:p>
          <a:p>
            <a:pPr>
              <a:lnSpc>
                <a:spcPts val="2000"/>
              </a:lnSpc>
            </a:pPr>
            <a:endParaRPr lang="en-US" sz="1400" dirty="0">
              <a:latin typeface="Arial" panose="020B0604020202020204" pitchFamily="34" charset="0"/>
              <a:cs typeface="Arial" panose="020B0604020202020204" pitchFamily="34" charset="0"/>
            </a:endParaRPr>
          </a:p>
          <a:p>
            <a:pPr>
              <a:lnSpc>
                <a:spcPts val="2000"/>
              </a:lnSpc>
            </a:pPr>
            <a:r>
              <a:rPr lang="en-US" sz="1400" dirty="0">
                <a:latin typeface="Arial" panose="020B0604020202020204" pitchFamily="34" charset="0"/>
                <a:cs typeface="Arial" panose="020B0604020202020204" pitchFamily="34" charset="0"/>
              </a:rPr>
              <a:t>As shown in the figure, threat actors can accomplish stealth attacks that result in trust exploitation by using dual-stacked hosts, rogue Neighbor Discovery Protocol (NDP) messages, and tunneling techniques. To protect against these threats, filter at the edge using various techniques, such as IPv6 ACLs.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84</a:t>
            </a:fld>
            <a:endParaRPr lang="en-US" dirty="0"/>
          </a:p>
        </p:txBody>
      </p:sp>
    </p:spTree>
    <p:extLst>
      <p:ext uri="{BB962C8B-B14F-4D97-AF65-F5344CB8AC3E}">
        <p14:creationId xmlns:p14="http://schemas.microsoft.com/office/powerpoint/2010/main" val="46390680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IPv6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IPv6 ACL Syntax</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85</a:t>
            </a:fld>
            <a:endParaRPr lang="en-US" dirty="0"/>
          </a:p>
        </p:txBody>
      </p:sp>
      <p:sp>
        <p:nvSpPr>
          <p:cNvPr id="7" name="TextBox 6">
            <a:extLst>
              <a:ext uri="{FF2B5EF4-FFF2-40B4-BE49-F238E27FC236}">
                <a16:creationId xmlns:a16="http://schemas.microsoft.com/office/drawing/2014/main" id="{5446294D-EB57-4108-9F2D-320557889A15}"/>
              </a:ext>
            </a:extLst>
          </p:cNvPr>
          <p:cNvSpPr txBox="1"/>
          <p:nvPr/>
        </p:nvSpPr>
        <p:spPr>
          <a:xfrm>
            <a:off x="123092" y="731520"/>
            <a:ext cx="8792308" cy="203132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The ACL functionality in IPv6 is like ACLs in IPv4. However, there is no equivalent to IPv4 standard ACLs. All IPv6 ACLs must be configured with a name. IPv6 ACLs allow filtering based on source and destination addresses that are traveling inbound and outbound to a specific interface. They also support traffic filtering based on IPv6 option headers and optional, upper-layer protocol type information for finer granularity of control, like extended ACLs in IPv4.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To configure an IPv6 ACL, use the </a:t>
            </a:r>
            <a:r>
              <a:rPr lang="en-US" sz="1400" b="1" dirty="0">
                <a:latin typeface="Arial" panose="020B0604020202020204" pitchFamily="34" charset="0"/>
                <a:cs typeface="Arial" panose="020B0604020202020204" pitchFamily="34" charset="0"/>
              </a:rPr>
              <a:t>ipv6 access-list </a:t>
            </a:r>
            <a:r>
              <a:rPr lang="en-US" sz="1400" dirty="0">
                <a:latin typeface="Arial" panose="020B0604020202020204" pitchFamily="34" charset="0"/>
                <a:cs typeface="Arial" panose="020B0604020202020204" pitchFamily="34" charset="0"/>
              </a:rPr>
              <a:t>command to enter into IPv6 ACL configuration mode. Next, use the syntax shown in the figure to configure each access list entry to specifically permit or deny traffic. Apply an IPv6 ACL to an interface with the </a:t>
            </a:r>
            <a:r>
              <a:rPr lang="en-US" sz="1400" b="1" dirty="0">
                <a:latin typeface="Arial" panose="020B0604020202020204" pitchFamily="34" charset="0"/>
                <a:cs typeface="Arial" panose="020B0604020202020204" pitchFamily="34" charset="0"/>
              </a:rPr>
              <a:t>ipv6 traffic-filter </a:t>
            </a:r>
            <a:r>
              <a:rPr lang="en-US" sz="1400" dirty="0">
                <a:latin typeface="Arial" panose="020B0604020202020204" pitchFamily="34" charset="0"/>
                <a:cs typeface="Arial" panose="020B0604020202020204" pitchFamily="34" charset="0"/>
              </a:rPr>
              <a:t>command.</a:t>
            </a:r>
          </a:p>
        </p:txBody>
      </p:sp>
      <p:pic>
        <p:nvPicPr>
          <p:cNvPr id="5" name="Picture 4">
            <a:extLst>
              <a:ext uri="{FF2B5EF4-FFF2-40B4-BE49-F238E27FC236}">
                <a16:creationId xmlns:a16="http://schemas.microsoft.com/office/drawing/2014/main" id="{D9B8624E-7119-4FCF-9363-CE0D85D68A5C}"/>
              </a:ext>
            </a:extLst>
          </p:cNvPr>
          <p:cNvPicPr>
            <a:picLocks noChangeAspect="1"/>
          </p:cNvPicPr>
          <p:nvPr/>
        </p:nvPicPr>
        <p:blipFill>
          <a:blip r:embed="rId3"/>
          <a:stretch>
            <a:fillRect/>
          </a:stretch>
        </p:blipFill>
        <p:spPr>
          <a:xfrm>
            <a:off x="965598" y="2811543"/>
            <a:ext cx="7212803" cy="901600"/>
          </a:xfrm>
          <a:prstGeom prst="rect">
            <a:avLst/>
          </a:prstGeom>
        </p:spPr>
      </p:pic>
    </p:spTree>
    <p:extLst>
      <p:ext uri="{BB962C8B-B14F-4D97-AF65-F5344CB8AC3E}">
        <p14:creationId xmlns:p14="http://schemas.microsoft.com/office/powerpoint/2010/main" val="46006155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IPv6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IPv6 ACL Syntax (Cont.)</a:t>
            </a:r>
          </a:p>
        </p:txBody>
      </p:sp>
      <p:graphicFrame>
        <p:nvGraphicFramePr>
          <p:cNvPr id="58" name="Table 57"/>
          <p:cNvGraphicFramePr>
            <a:graphicFrameLocks noGrp="1"/>
          </p:cNvGraphicFramePr>
          <p:nvPr>
            <p:extLst>
              <p:ext uri="{D42A27DB-BD31-4B8C-83A1-F6EECF244321}">
                <p14:modId xmlns:p14="http://schemas.microsoft.com/office/powerpoint/2010/main" val="3832248677"/>
              </p:ext>
            </p:extLst>
          </p:nvPr>
        </p:nvGraphicFramePr>
        <p:xfrm>
          <a:off x="91440" y="872196"/>
          <a:ext cx="8961120" cy="3169920"/>
        </p:xfrm>
        <a:graphic>
          <a:graphicData uri="http://schemas.openxmlformats.org/drawingml/2006/table">
            <a:tbl>
              <a:tblPr/>
              <a:tblGrid>
                <a:gridCol w="3082583">
                  <a:extLst>
                    <a:ext uri="{9D8B030D-6E8A-4147-A177-3AD203B41FA5}">
                      <a16:colId xmlns:a16="http://schemas.microsoft.com/office/drawing/2014/main" val="20000"/>
                    </a:ext>
                  </a:extLst>
                </a:gridCol>
                <a:gridCol w="5878537">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deny</a:t>
                      </a:r>
                      <a:r>
                        <a:rPr lang="en-US" sz="1200" dirty="0">
                          <a:solidFill>
                            <a:srgbClr val="58585B"/>
                          </a:solidFill>
                          <a:latin typeface="Courier New" panose="02070309020205020404" pitchFamily="49" charset="0"/>
                          <a:cs typeface="Courier New" panose="02070309020205020404" pitchFamily="49" charset="0"/>
                        </a:rPr>
                        <a:t> | </a:t>
                      </a:r>
                      <a:r>
                        <a:rPr lang="en-US" sz="1200" b="1" dirty="0">
                          <a:solidFill>
                            <a:srgbClr val="58585B"/>
                          </a:solidFill>
                          <a:latin typeface="Courier New" panose="02070309020205020404" pitchFamily="49" charset="0"/>
                          <a:cs typeface="Courier New" panose="02070309020205020404" pitchFamily="49" charset="0"/>
                        </a:rPr>
                        <a:t>permit</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Specifies whether to deny or permit the packet.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latin typeface="Courier New" panose="02070309020205020404" pitchFamily="49" charset="0"/>
                          <a:cs typeface="Courier New" panose="02070309020205020404" pitchFamily="49" charset="0"/>
                        </a:rPr>
                        <a:t>protocol</a:t>
                      </a:r>
                      <a:endParaRPr lang="en-US" sz="1200"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Enter the name or number of an Internet protocol, or an integer representing an IPv6 protocol number.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source-ipv6-prefix</a:t>
                      </a:r>
                      <a:r>
                        <a:rPr lang="en-US" sz="1200" b="1" i="0" dirty="0">
                          <a:solidFill>
                            <a:srgbClr val="58585B"/>
                          </a:solidFill>
                          <a:latin typeface="Courier New" panose="02070309020205020404" pitchFamily="49" charset="0"/>
                          <a:cs typeface="Courier New" panose="02070309020205020404" pitchFamily="49" charset="0"/>
                        </a:rPr>
                        <a:t>/</a:t>
                      </a:r>
                      <a:r>
                        <a:rPr lang="en-US" sz="1200" i="1" dirty="0">
                          <a:solidFill>
                            <a:srgbClr val="58585B"/>
                          </a:solidFill>
                          <a:latin typeface="Courier New" panose="02070309020205020404" pitchFamily="49" charset="0"/>
                          <a:cs typeface="Courier New" panose="02070309020205020404" pitchFamily="49" charset="0"/>
                        </a:rPr>
                        <a:t>prefix-length  destination-ipv6-address</a:t>
                      </a:r>
                      <a:r>
                        <a:rPr lang="en-US" sz="1200" b="1" i="0" dirty="0">
                          <a:solidFill>
                            <a:srgbClr val="58585B"/>
                          </a:solidFill>
                          <a:latin typeface="Courier New" panose="02070309020205020404" pitchFamily="49" charset="0"/>
                          <a:cs typeface="Courier New" panose="02070309020205020404" pitchFamily="49" charset="0"/>
                        </a:rPr>
                        <a:t>/</a:t>
                      </a:r>
                      <a:r>
                        <a:rPr lang="en-US" sz="1200" i="1" dirty="0">
                          <a:solidFill>
                            <a:srgbClr val="58585B"/>
                          </a:solidFill>
                          <a:latin typeface="Courier New" panose="02070309020205020404" pitchFamily="49" charset="0"/>
                          <a:cs typeface="Courier New" panose="02070309020205020404" pitchFamily="49" charset="0"/>
                        </a:rPr>
                        <a:t>prefix-length</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The source or destination IPv6 network or class of networks for which to set </a:t>
                      </a:r>
                      <a:r>
                        <a:rPr lang="en-US" sz="1200" b="1" dirty="0">
                          <a:solidFill>
                            <a:srgbClr val="58585B"/>
                          </a:solidFill>
                        </a:rPr>
                        <a:t>deny</a:t>
                      </a:r>
                      <a:r>
                        <a:rPr lang="en-US" sz="1200" dirty="0">
                          <a:solidFill>
                            <a:srgbClr val="58585B"/>
                          </a:solidFill>
                        </a:rPr>
                        <a:t> or </a:t>
                      </a:r>
                      <a:r>
                        <a:rPr lang="en-US" sz="1200" b="1" dirty="0">
                          <a:solidFill>
                            <a:srgbClr val="58585B"/>
                          </a:solidFill>
                        </a:rPr>
                        <a:t>permit</a:t>
                      </a:r>
                      <a:r>
                        <a:rPr lang="en-US" sz="1200" dirty="0">
                          <a:solidFill>
                            <a:srgbClr val="58585B"/>
                          </a:solidFill>
                        </a:rPr>
                        <a:t> conditions.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any</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Enter </a:t>
                      </a:r>
                      <a:r>
                        <a:rPr lang="en-US" sz="1200" b="1" dirty="0">
                          <a:solidFill>
                            <a:srgbClr val="58585B"/>
                          </a:solidFill>
                        </a:rPr>
                        <a:t>any</a:t>
                      </a:r>
                      <a:r>
                        <a:rPr lang="en-US" sz="1200" dirty="0">
                          <a:solidFill>
                            <a:srgbClr val="58585B"/>
                          </a:solidFill>
                        </a:rPr>
                        <a:t> as an abbreviation for the IPv6 prefix ::/0. This matches all addresses.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host</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For </a:t>
                      </a:r>
                      <a:r>
                        <a:rPr lang="en-US" sz="1200" b="1" dirty="0">
                          <a:solidFill>
                            <a:srgbClr val="58585B"/>
                          </a:solidFill>
                        </a:rPr>
                        <a:t>host</a:t>
                      </a:r>
                      <a:r>
                        <a:rPr lang="en-US" sz="1200" dirty="0">
                          <a:solidFill>
                            <a:srgbClr val="58585B"/>
                          </a:solidFill>
                        </a:rPr>
                        <a:t> </a:t>
                      </a:r>
                      <a:r>
                        <a:rPr lang="en-US" sz="1200" i="1" dirty="0">
                          <a:solidFill>
                            <a:srgbClr val="58585B"/>
                          </a:solidFill>
                        </a:rPr>
                        <a:t>source-ipv6-address</a:t>
                      </a:r>
                      <a:r>
                        <a:rPr lang="en-US" sz="1200" dirty="0">
                          <a:solidFill>
                            <a:srgbClr val="58585B"/>
                          </a:solidFill>
                        </a:rPr>
                        <a:t> or </a:t>
                      </a:r>
                      <a:r>
                        <a:rPr lang="en-US" sz="1200" i="1" dirty="0">
                          <a:solidFill>
                            <a:srgbClr val="58585B"/>
                          </a:solidFill>
                        </a:rPr>
                        <a:t>destination-ipv6-address</a:t>
                      </a:r>
                      <a:r>
                        <a:rPr lang="en-US" sz="1200" dirty="0">
                          <a:solidFill>
                            <a:srgbClr val="58585B"/>
                          </a:solidFill>
                        </a:rPr>
                        <a:t> , enter the source or destination IPv6 host address for which to set </a:t>
                      </a:r>
                      <a:r>
                        <a:rPr lang="en-US" sz="1200" b="1" dirty="0">
                          <a:solidFill>
                            <a:srgbClr val="58585B"/>
                          </a:solidFill>
                        </a:rPr>
                        <a:t>deny</a:t>
                      </a:r>
                      <a:r>
                        <a:rPr lang="en-US" sz="1200" dirty="0">
                          <a:solidFill>
                            <a:srgbClr val="58585B"/>
                          </a:solidFill>
                        </a:rPr>
                        <a:t> or </a:t>
                      </a:r>
                      <a:r>
                        <a:rPr lang="en-US" sz="1200" b="1" dirty="0">
                          <a:solidFill>
                            <a:srgbClr val="58585B"/>
                          </a:solidFill>
                        </a:rPr>
                        <a:t>permit</a:t>
                      </a:r>
                      <a:r>
                        <a:rPr lang="en-US" sz="1200" dirty="0">
                          <a:solidFill>
                            <a:srgbClr val="58585B"/>
                          </a:solidFill>
                        </a:rPr>
                        <a:t> conditions.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operator</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(Optional) An operand that compares the source or destination ports of the specified protocol. Operands are </a:t>
                      </a:r>
                      <a:r>
                        <a:rPr lang="en-US" sz="1200" b="1" dirty="0">
                          <a:solidFill>
                            <a:srgbClr val="58585B"/>
                          </a:solidFill>
                        </a:rPr>
                        <a:t>lt</a:t>
                      </a:r>
                      <a:r>
                        <a:rPr lang="en-US" sz="1200" dirty="0">
                          <a:solidFill>
                            <a:srgbClr val="58585B"/>
                          </a:solidFill>
                        </a:rPr>
                        <a:t> (less than), </a:t>
                      </a:r>
                      <a:r>
                        <a:rPr lang="en-US" sz="1200" b="1" dirty="0">
                          <a:solidFill>
                            <a:srgbClr val="58585B"/>
                          </a:solidFill>
                        </a:rPr>
                        <a:t>gt</a:t>
                      </a:r>
                      <a:r>
                        <a:rPr lang="en-US" sz="1200" dirty="0">
                          <a:solidFill>
                            <a:srgbClr val="58585B"/>
                          </a:solidFill>
                        </a:rPr>
                        <a:t> (greater than), </a:t>
                      </a:r>
                      <a:r>
                        <a:rPr lang="en-US" sz="1200" b="1" dirty="0">
                          <a:solidFill>
                            <a:srgbClr val="58585B"/>
                          </a:solidFill>
                        </a:rPr>
                        <a:t>eq</a:t>
                      </a:r>
                      <a:r>
                        <a:rPr lang="en-US" sz="1200" dirty="0">
                          <a:solidFill>
                            <a:srgbClr val="58585B"/>
                          </a:solidFill>
                        </a:rPr>
                        <a:t> (equal), </a:t>
                      </a:r>
                      <a:r>
                        <a:rPr lang="en-US" sz="1200" b="1" dirty="0">
                          <a:solidFill>
                            <a:srgbClr val="58585B"/>
                          </a:solidFill>
                        </a:rPr>
                        <a:t>neq</a:t>
                      </a:r>
                      <a:r>
                        <a:rPr lang="en-US" sz="1200" dirty="0">
                          <a:solidFill>
                            <a:srgbClr val="58585B"/>
                          </a:solidFill>
                        </a:rPr>
                        <a:t> (not equal), and </a:t>
                      </a:r>
                      <a:r>
                        <a:rPr lang="en-US" sz="1200" b="1" dirty="0">
                          <a:solidFill>
                            <a:srgbClr val="58585B"/>
                          </a:solidFill>
                        </a:rPr>
                        <a:t>range</a:t>
                      </a:r>
                      <a:r>
                        <a:rPr lang="en-US" sz="1200" dirty="0">
                          <a:solidFill>
                            <a:srgbClr val="58585B"/>
                          </a:solidFill>
                        </a:rPr>
                        <a: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port-number</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(Optional) A decimal number or the name of a TCP or UDP port for filtering TCP or UDP, respectively.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86</a:t>
            </a:fld>
            <a:endParaRPr lang="en-US" dirty="0"/>
          </a:p>
        </p:txBody>
      </p:sp>
      <p:sp>
        <p:nvSpPr>
          <p:cNvPr id="6" name="TextBox 5">
            <a:extLst>
              <a:ext uri="{FF2B5EF4-FFF2-40B4-BE49-F238E27FC236}">
                <a16:creationId xmlns:a16="http://schemas.microsoft.com/office/drawing/2014/main" id="{1260B780-AFCF-40EB-8000-6DA2DB3A0676}"/>
              </a:ext>
            </a:extLst>
          </p:cNvPr>
          <p:cNvSpPr txBox="1"/>
          <p:nvPr/>
        </p:nvSpPr>
        <p:spPr>
          <a:xfrm>
            <a:off x="2785113" y="4090304"/>
            <a:ext cx="3169328" cy="307777"/>
          </a:xfrm>
          <a:prstGeom prst="rect">
            <a:avLst/>
          </a:prstGeom>
          <a:noFill/>
        </p:spPr>
        <p:txBody>
          <a:bodyPr wrap="square" rtlCol="0">
            <a:spAutoFit/>
          </a:bodyPr>
          <a:lstStyle/>
          <a:p>
            <a:pPr algn="ctr"/>
            <a:r>
              <a:rPr lang="en-US" sz="1400" dirty="0"/>
              <a:t>(table continued on next slide)</a:t>
            </a:r>
          </a:p>
        </p:txBody>
      </p:sp>
    </p:spTree>
    <p:extLst>
      <p:ext uri="{BB962C8B-B14F-4D97-AF65-F5344CB8AC3E}">
        <p14:creationId xmlns:p14="http://schemas.microsoft.com/office/powerpoint/2010/main" val="208608672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IPv6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IPv6 ACL Syntax (Cont.)</a:t>
            </a:r>
          </a:p>
        </p:txBody>
      </p:sp>
      <p:graphicFrame>
        <p:nvGraphicFramePr>
          <p:cNvPr id="58" name="Table 57"/>
          <p:cNvGraphicFramePr>
            <a:graphicFrameLocks noGrp="1"/>
          </p:cNvGraphicFramePr>
          <p:nvPr>
            <p:extLst>
              <p:ext uri="{D42A27DB-BD31-4B8C-83A1-F6EECF244321}">
                <p14:modId xmlns:p14="http://schemas.microsoft.com/office/powerpoint/2010/main" val="2039375382"/>
              </p:ext>
            </p:extLst>
          </p:nvPr>
        </p:nvGraphicFramePr>
        <p:xfrm>
          <a:off x="91440" y="888023"/>
          <a:ext cx="8961120" cy="3276600"/>
        </p:xfrm>
        <a:graphic>
          <a:graphicData uri="http://schemas.openxmlformats.org/drawingml/2006/table">
            <a:tbl>
              <a:tblPr/>
              <a:tblGrid>
                <a:gridCol w="2045091">
                  <a:extLst>
                    <a:ext uri="{9D8B030D-6E8A-4147-A177-3AD203B41FA5}">
                      <a16:colId xmlns:a16="http://schemas.microsoft.com/office/drawing/2014/main" val="20000"/>
                    </a:ext>
                  </a:extLst>
                </a:gridCol>
                <a:gridCol w="6916029">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dscp</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(Optional) Matches a differentiated services codepoint value against the traffic class value in the Traffic Class field of each IPv6 packet header. The acceptable range is from 0 to 63.</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8"/>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fragments</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(Optional) Matches non-initial fragmented packets where the fragment extension header contains a non-zero fragment offset. The </a:t>
                      </a:r>
                      <a:r>
                        <a:rPr lang="en-US" sz="1200" b="1" dirty="0">
                          <a:solidFill>
                            <a:srgbClr val="58585B"/>
                          </a:solidFill>
                        </a:rPr>
                        <a:t>fragments</a:t>
                      </a:r>
                      <a:r>
                        <a:rPr lang="en-US" sz="1200" dirty="0">
                          <a:solidFill>
                            <a:srgbClr val="58585B"/>
                          </a:solidFill>
                        </a:rPr>
                        <a:t> keyword is an option only if the operator [port-number ] arguments are not specified. When this keyword is used, it also matches when the first fragment does not have Layer 4 information.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9"/>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log</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(Optional) Causes an informational logging message about the packet that matches the entry to be sent to the console. (The level of messages logged to the console is controlled by the </a:t>
                      </a:r>
                      <a:r>
                        <a:rPr lang="en-US" sz="1200" b="1" dirty="0">
                          <a:solidFill>
                            <a:srgbClr val="58585B"/>
                          </a:solidFill>
                        </a:rPr>
                        <a:t>logging console </a:t>
                      </a:r>
                      <a:r>
                        <a:rPr lang="en-US" sz="1200" dirty="0">
                          <a:solidFill>
                            <a:srgbClr val="58585B"/>
                          </a:solidFill>
                        </a:rPr>
                        <a:t>command.)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log input</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(Optional) Provides the same function as the </a:t>
                      </a:r>
                      <a:r>
                        <a:rPr lang="en-US" sz="1200" b="1" dirty="0">
                          <a:solidFill>
                            <a:srgbClr val="58585B"/>
                          </a:solidFill>
                        </a:rPr>
                        <a:t>log</a:t>
                      </a:r>
                      <a:r>
                        <a:rPr lang="en-US" sz="1200" dirty="0">
                          <a:solidFill>
                            <a:srgbClr val="58585B"/>
                          </a:solidFill>
                        </a:rPr>
                        <a:t> keyword, except that the logging message also includes the input interface.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sequence</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value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(Optional) Specifies the sequence number </a:t>
                      </a:r>
                      <a:r>
                        <a:rPr lang="en-US" sz="1200" i="1" dirty="0">
                          <a:solidFill>
                            <a:srgbClr val="58585B"/>
                          </a:solidFill>
                        </a:rPr>
                        <a:t>value</a:t>
                      </a:r>
                      <a:r>
                        <a:rPr lang="en-US" sz="1200" dirty="0">
                          <a:solidFill>
                            <a:srgbClr val="58585B"/>
                          </a:solidFill>
                        </a:rPr>
                        <a:t> for the access list statement. The acceptable range is from 1 to 4294967295.</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time-range </a:t>
                      </a:r>
                      <a:r>
                        <a:rPr lang="en-US" sz="1200" b="0" i="1" dirty="0">
                          <a:solidFill>
                            <a:srgbClr val="58585B"/>
                          </a:solidFill>
                          <a:latin typeface="Courier New" panose="02070309020205020404" pitchFamily="49" charset="0"/>
                          <a:cs typeface="Courier New" panose="02070309020205020404" pitchFamily="49" charset="0"/>
                        </a:rPr>
                        <a:t>name</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(Optional) Specifies the time range that applies to the permit statement. The name of the time range and its restrictions are specified by the </a:t>
                      </a:r>
                      <a:r>
                        <a:rPr lang="en-US" sz="1200" b="1" dirty="0">
                          <a:solidFill>
                            <a:srgbClr val="58585B"/>
                          </a:solidFill>
                        </a:rPr>
                        <a:t>time-range</a:t>
                      </a:r>
                      <a:r>
                        <a:rPr lang="en-US" sz="1200" dirty="0">
                          <a:solidFill>
                            <a:srgbClr val="58585B"/>
                          </a:solidFill>
                        </a:rPr>
                        <a:t> and </a:t>
                      </a:r>
                      <a:r>
                        <a:rPr lang="en-US" sz="1200" b="1" dirty="0">
                          <a:solidFill>
                            <a:srgbClr val="58585B"/>
                          </a:solidFill>
                        </a:rPr>
                        <a:t>absolute</a:t>
                      </a:r>
                      <a:r>
                        <a:rPr lang="en-US" sz="1200" dirty="0">
                          <a:solidFill>
                            <a:srgbClr val="58585B"/>
                          </a:solidFill>
                        </a:rPr>
                        <a:t> or </a:t>
                      </a:r>
                      <a:r>
                        <a:rPr lang="en-US" sz="1200" b="1" dirty="0">
                          <a:solidFill>
                            <a:srgbClr val="58585B"/>
                          </a:solidFill>
                        </a:rPr>
                        <a:t>periodic</a:t>
                      </a:r>
                      <a:r>
                        <a:rPr lang="en-US" sz="1200" dirty="0">
                          <a:solidFill>
                            <a:srgbClr val="58585B"/>
                          </a:solidFill>
                        </a:rPr>
                        <a:t> commands, respectively.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87</a:t>
            </a:fld>
            <a:endParaRPr lang="en-US" dirty="0"/>
          </a:p>
        </p:txBody>
      </p:sp>
    </p:spTree>
    <p:extLst>
      <p:ext uri="{BB962C8B-B14F-4D97-AF65-F5344CB8AC3E}">
        <p14:creationId xmlns:p14="http://schemas.microsoft.com/office/powerpoint/2010/main" val="16017469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IPv6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IPv6 ACLs</a:t>
            </a:r>
          </a:p>
        </p:txBody>
      </p:sp>
      <p:sp>
        <p:nvSpPr>
          <p:cNvPr id="5" name="Object4"/>
          <p:cNvSpPr/>
          <p:nvPr/>
        </p:nvSpPr>
        <p:spPr>
          <a:xfrm>
            <a:off x="1" y="699868"/>
            <a:ext cx="4791807"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An IPv6 ACL contains an implicit </a:t>
            </a:r>
            <a:r>
              <a:rPr lang="en-US" sz="1400" b="1" dirty="0">
                <a:solidFill>
                  <a:srgbClr val="000000"/>
                </a:solidFill>
                <a:latin typeface="Arial" pitchFamily="34" charset="0"/>
                <a:ea typeface="Arial" pitchFamily="34" charset="-122"/>
                <a:cs typeface="Arial" pitchFamily="34" charset="-120"/>
              </a:rPr>
              <a:t>deny ipv6 any </a:t>
            </a:r>
            <a:r>
              <a:rPr lang="en-US" sz="1400" dirty="0">
                <a:solidFill>
                  <a:srgbClr val="000000"/>
                </a:solidFill>
                <a:latin typeface="Arial" pitchFamily="34" charset="0"/>
                <a:ea typeface="Arial" pitchFamily="34" charset="-122"/>
                <a:cs typeface="Arial" pitchFamily="34" charset="-120"/>
              </a:rPr>
              <a:t>command. Each IPv6 ACL also contains implicit permit rules to enable IPv6 neighbor discovery. The IPv6 NDP requires the IPv6 network layer to send neighbor advertisements (NAs) and neighbor solicitations (NSs). If an administrator configures the </a:t>
            </a:r>
            <a:r>
              <a:rPr lang="en-US" sz="1400" b="1" dirty="0">
                <a:solidFill>
                  <a:srgbClr val="000000"/>
                </a:solidFill>
                <a:latin typeface="Arial" pitchFamily="34" charset="0"/>
                <a:ea typeface="Arial" pitchFamily="34" charset="-122"/>
                <a:cs typeface="Arial" pitchFamily="34" charset="-120"/>
              </a:rPr>
              <a:t>deny ipv6 any </a:t>
            </a:r>
            <a:r>
              <a:rPr lang="en-US" sz="1400" dirty="0">
                <a:solidFill>
                  <a:srgbClr val="000000"/>
                </a:solidFill>
                <a:latin typeface="Arial" pitchFamily="34" charset="0"/>
                <a:ea typeface="Arial" pitchFamily="34" charset="-122"/>
                <a:cs typeface="Arial" pitchFamily="34" charset="-120"/>
              </a:rPr>
              <a:t>command without explicitly permitting neighbor discovery, then the NDP will be disabled.</a:t>
            </a:r>
          </a:p>
          <a:p>
            <a:pPr>
              <a:lnSpc>
                <a:spcPts val="2000"/>
              </a:lnSpc>
            </a:pPr>
            <a:r>
              <a:rPr lang="en-US" sz="1400" dirty="0">
                <a:solidFill>
                  <a:srgbClr val="000000"/>
                </a:solidFill>
                <a:latin typeface="Arial" pitchFamily="34" charset="0"/>
                <a:ea typeface="Arial" pitchFamily="34" charset="-122"/>
                <a:cs typeface="Arial" pitchFamily="34" charset="-120"/>
              </a:rPr>
              <a:t>R1 is permitting inbound traffic on G0/0 from the 2001:DB8:1:1::/64 network. NA and NS packets are explicitly permitted. Traffic sourced from any other IPv6 address is explicitly denied. If the administrator only configured the first permit statement, the ACL would have the same effect. However, it is a good practice to document the implicit statements by explicitly configuring them.</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88</a:t>
            </a:fld>
            <a:endParaRPr lang="en-US" dirty="0"/>
          </a:p>
        </p:txBody>
      </p:sp>
      <p:pic>
        <p:nvPicPr>
          <p:cNvPr id="4" name="Picture 3">
            <a:extLst>
              <a:ext uri="{FF2B5EF4-FFF2-40B4-BE49-F238E27FC236}">
                <a16:creationId xmlns:a16="http://schemas.microsoft.com/office/drawing/2014/main" id="{475E2324-85CA-444A-A650-A4ED9533BCC4}"/>
              </a:ext>
            </a:extLst>
          </p:cNvPr>
          <p:cNvPicPr>
            <a:picLocks noChangeAspect="1"/>
          </p:cNvPicPr>
          <p:nvPr/>
        </p:nvPicPr>
        <p:blipFill>
          <a:blip r:embed="rId3"/>
          <a:stretch>
            <a:fillRect/>
          </a:stretch>
        </p:blipFill>
        <p:spPr>
          <a:xfrm>
            <a:off x="4909947" y="728502"/>
            <a:ext cx="4115914" cy="920436"/>
          </a:xfrm>
          <a:prstGeom prst="rect">
            <a:avLst/>
          </a:prstGeom>
        </p:spPr>
      </p:pic>
      <p:pic>
        <p:nvPicPr>
          <p:cNvPr id="6" name="Picture 5">
            <a:extLst>
              <a:ext uri="{FF2B5EF4-FFF2-40B4-BE49-F238E27FC236}">
                <a16:creationId xmlns:a16="http://schemas.microsoft.com/office/drawing/2014/main" id="{93B78668-94CF-4DE4-98E3-282F424A711B}"/>
              </a:ext>
            </a:extLst>
          </p:cNvPr>
          <p:cNvPicPr>
            <a:picLocks noChangeAspect="1"/>
          </p:cNvPicPr>
          <p:nvPr/>
        </p:nvPicPr>
        <p:blipFill>
          <a:blip r:embed="rId4"/>
          <a:stretch>
            <a:fillRect/>
          </a:stretch>
        </p:blipFill>
        <p:spPr>
          <a:xfrm>
            <a:off x="5328138" y="1810835"/>
            <a:ext cx="3587262" cy="2264729"/>
          </a:xfrm>
          <a:prstGeom prst="rect">
            <a:avLst/>
          </a:prstGeom>
        </p:spPr>
      </p:pic>
    </p:spTree>
    <p:extLst>
      <p:ext uri="{BB962C8B-B14F-4D97-AF65-F5344CB8AC3E}">
        <p14:creationId xmlns:p14="http://schemas.microsoft.com/office/powerpoint/2010/main" val="190361183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146885985"/>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2116</TotalTime>
  <Words>9869</Words>
  <Application>Microsoft Office PowerPoint</Application>
  <PresentationFormat>On-screen Show (16:9)</PresentationFormat>
  <Paragraphs>949</Paragraphs>
  <Slides>89</Slides>
  <Notes>87</Notes>
  <HiddenSlides>0</HiddenSlides>
  <MMClips>0</MMClips>
  <ScaleCrop>false</ScaleCrop>
  <HeadingPairs>
    <vt:vector size="4" baseType="variant">
      <vt:variant>
        <vt:lpstr>Theme</vt:lpstr>
      </vt:variant>
      <vt:variant>
        <vt:i4>2</vt:i4>
      </vt:variant>
      <vt:variant>
        <vt:lpstr>Slide Titles</vt:lpstr>
      </vt:variant>
      <vt:variant>
        <vt:i4>89</vt:i4>
      </vt:variant>
    </vt:vector>
  </HeadingPairs>
  <TitlesOfParts>
    <vt:vector size="91" baseType="lpstr">
      <vt:lpstr>Office Theme</vt:lpstr>
      <vt:lpstr>Default Theme</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Baráth, Július</cp:lastModifiedBy>
  <cp:revision>76</cp:revision>
  <dcterms:created xsi:type="dcterms:W3CDTF">2020-12-08T18:27:12Z</dcterms:created>
  <dcterms:modified xsi:type="dcterms:W3CDTF">2025-02-11T07:51:49Z</dcterms:modified>
</cp:coreProperties>
</file>
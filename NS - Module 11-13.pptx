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3.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tags/tag4.xml" ContentType="application/vnd.openxmlformats-officedocument.presentationml.tags+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78" r:id="rId4"/>
  </p:sldMasterIdLst>
  <p:notesMasterIdLst>
    <p:notesMasterId r:id="rId84"/>
  </p:notesMasterIdLst>
  <p:sldIdLst>
    <p:sldId id="262" r:id="rId5"/>
    <p:sldId id="925" r:id="rId6"/>
    <p:sldId id="263" r:id="rId7"/>
    <p:sldId id="264" r:id="rId8"/>
    <p:sldId id="265" r:id="rId9"/>
    <p:sldId id="266" r:id="rId10"/>
    <p:sldId id="267" r:id="rId11"/>
    <p:sldId id="269" r:id="rId12"/>
    <p:sldId id="270" r:id="rId13"/>
    <p:sldId id="271" r:id="rId14"/>
    <p:sldId id="272" r:id="rId15"/>
    <p:sldId id="274" r:id="rId16"/>
    <p:sldId id="275" r:id="rId17"/>
    <p:sldId id="276" r:id="rId18"/>
    <p:sldId id="277" r:id="rId19"/>
    <p:sldId id="278" r:id="rId20"/>
    <p:sldId id="279" r:id="rId21"/>
    <p:sldId id="280" r:id="rId22"/>
    <p:sldId id="282" r:id="rId23"/>
    <p:sldId id="283" r:id="rId24"/>
    <p:sldId id="284" r:id="rId25"/>
    <p:sldId id="285" r:id="rId26"/>
    <p:sldId id="1080" r:id="rId27"/>
    <p:sldId id="286" r:id="rId28"/>
    <p:sldId id="1083" r:id="rId29"/>
    <p:sldId id="1084" r:id="rId30"/>
    <p:sldId id="1086" r:id="rId31"/>
    <p:sldId id="1092" r:id="rId32"/>
    <p:sldId id="1093" r:id="rId33"/>
    <p:sldId id="1094" r:id="rId34"/>
    <p:sldId id="1095" r:id="rId35"/>
    <p:sldId id="1096" r:id="rId36"/>
    <p:sldId id="1097" r:id="rId37"/>
    <p:sldId id="1073" r:id="rId38"/>
    <p:sldId id="268" r:id="rId39"/>
    <p:sldId id="1074" r:id="rId40"/>
    <p:sldId id="1098" r:id="rId41"/>
    <p:sldId id="1099" r:id="rId42"/>
    <p:sldId id="1100" r:id="rId43"/>
    <p:sldId id="273" r:id="rId44"/>
    <p:sldId id="1101" r:id="rId45"/>
    <p:sldId id="1102" r:id="rId46"/>
    <p:sldId id="1103" r:id="rId47"/>
    <p:sldId id="1146" r:id="rId48"/>
    <p:sldId id="1104" r:id="rId49"/>
    <p:sldId id="1105" r:id="rId50"/>
    <p:sldId id="1075" r:id="rId51"/>
    <p:sldId id="1106" r:id="rId52"/>
    <p:sldId id="1076" r:id="rId53"/>
    <p:sldId id="281" r:id="rId54"/>
    <p:sldId id="1107" r:id="rId55"/>
    <p:sldId id="1108" r:id="rId56"/>
    <p:sldId id="1109" r:id="rId57"/>
    <p:sldId id="1110" r:id="rId58"/>
    <p:sldId id="1111" r:id="rId59"/>
    <p:sldId id="287" r:id="rId60"/>
    <p:sldId id="1077" r:id="rId61"/>
    <p:sldId id="1112" r:id="rId62"/>
    <p:sldId id="1113" r:id="rId63"/>
    <p:sldId id="1114" r:id="rId64"/>
    <p:sldId id="1117" r:id="rId65"/>
    <p:sldId id="1125" r:id="rId66"/>
    <p:sldId id="1126" r:id="rId67"/>
    <p:sldId id="1127" r:id="rId68"/>
    <p:sldId id="1128" r:id="rId69"/>
    <p:sldId id="1129" r:id="rId70"/>
    <p:sldId id="1130" r:id="rId71"/>
    <p:sldId id="1131" r:id="rId72"/>
    <p:sldId id="1132" r:id="rId73"/>
    <p:sldId id="1133" r:id="rId74"/>
    <p:sldId id="1134" r:id="rId75"/>
    <p:sldId id="1135" r:id="rId76"/>
    <p:sldId id="1136" r:id="rId77"/>
    <p:sldId id="1137" r:id="rId78"/>
    <p:sldId id="1138" r:id="rId79"/>
    <p:sldId id="1139" r:id="rId80"/>
    <p:sldId id="1140" r:id="rId81"/>
    <p:sldId id="1141" r:id="rId82"/>
    <p:sldId id="1145" r:id="rId8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D0DD7-E327-C380-1039-D204FCA4D539}" v="32" dt="2025-02-27T08:28:09.683"/>
    <p1510:client id="{A5133701-498D-E648-8762-F30786A2AA0D}" v="68" dt="2025-02-27T08:55:27.930"/>
    <p1510:client id="{A9F82F4D-85BE-F4AD-77DF-89372C618ACB}" v="8" dt="2025-02-27T08:57:41.9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89" Type="http://schemas.microsoft.com/office/2016/11/relationships/changesInfo" Target="changesInfos/changesInfo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C8713F41-4EAE-FF42-91A1-6BBFD9F82843}"/>
    <pc:docChg chg="custSel modSld">
      <pc:chgData name="Baráth, Július" userId="aebde9b9-dccc-4475-a9ac-c05e78323d7a" providerId="ADAL" clId="{C8713F41-4EAE-FF42-91A1-6BBFD9F82843}" dt="2024-03-07T07:59:22.666" v="69" actId="20577"/>
      <pc:docMkLst>
        <pc:docMk/>
      </pc:docMkLst>
      <pc:sldChg chg="addSp modSp mod">
        <pc:chgData name="Baráth, Július" userId="aebde9b9-dccc-4475-a9ac-c05e78323d7a" providerId="ADAL" clId="{C8713F41-4EAE-FF42-91A1-6BBFD9F82843}" dt="2024-03-07T07:59:22.666" v="69" actId="20577"/>
        <pc:sldMkLst>
          <pc:docMk/>
          <pc:sldMk cId="800298206" sldId="1130"/>
        </pc:sldMkLst>
      </pc:sldChg>
    </pc:docChg>
  </pc:docChgLst>
  <pc:docChgLst>
    <pc:chgData name="Baráth, Július" userId="aebde9b9-dccc-4475-a9ac-c05e78323d7a" providerId="ADAL" clId="{A4064A42-C0B4-4B77-970A-C729CB6710B7}"/>
    <pc:docChg chg="modSld">
      <pc:chgData name="Baráth, Július" userId="aebde9b9-dccc-4475-a9ac-c05e78323d7a" providerId="ADAL" clId="{A4064A42-C0B4-4B77-970A-C729CB6710B7}" dt="2025-02-25T10:49:05.590" v="3" actId="115"/>
      <pc:docMkLst>
        <pc:docMk/>
      </pc:docMkLst>
      <pc:sldChg chg="mod modShow">
        <pc:chgData name="Baráth, Július" userId="aebde9b9-dccc-4475-a9ac-c05e78323d7a" providerId="ADAL" clId="{A4064A42-C0B4-4B77-970A-C729CB6710B7}" dt="2025-02-25T10:46:42.984" v="2" actId="729"/>
        <pc:sldMkLst>
          <pc:docMk/>
          <pc:sldMk cId="3262014365" sldId="281"/>
        </pc:sldMkLst>
      </pc:sldChg>
      <pc:sldChg chg="mod modShow">
        <pc:chgData name="Baráth, Július" userId="aebde9b9-dccc-4475-a9ac-c05e78323d7a" providerId="ADAL" clId="{A4064A42-C0B4-4B77-970A-C729CB6710B7}" dt="2025-02-25T10:46:42.984" v="2" actId="729"/>
        <pc:sldMkLst>
          <pc:docMk/>
          <pc:sldMk cId="30671793" sldId="287"/>
        </pc:sldMkLst>
      </pc:sldChg>
      <pc:sldChg chg="mod modShow">
        <pc:chgData name="Baráth, Július" userId="aebde9b9-dccc-4475-a9ac-c05e78323d7a" providerId="ADAL" clId="{A4064A42-C0B4-4B77-970A-C729CB6710B7}" dt="2025-02-25T10:45:56.250" v="1" actId="729"/>
        <pc:sldMkLst>
          <pc:docMk/>
          <pc:sldMk cId="4228185690" sldId="1075"/>
        </pc:sldMkLst>
      </pc:sldChg>
      <pc:sldChg chg="mod modShow">
        <pc:chgData name="Baráth, Július" userId="aebde9b9-dccc-4475-a9ac-c05e78323d7a" providerId="ADAL" clId="{A4064A42-C0B4-4B77-970A-C729CB6710B7}" dt="2025-02-25T10:46:42.984" v="2" actId="729"/>
        <pc:sldMkLst>
          <pc:docMk/>
          <pc:sldMk cId="2081689405" sldId="1077"/>
        </pc:sldMkLst>
      </pc:sldChg>
      <pc:sldChg chg="mod modShow">
        <pc:chgData name="Baráth, Július" userId="aebde9b9-dccc-4475-a9ac-c05e78323d7a" providerId="ADAL" clId="{A4064A42-C0B4-4B77-970A-C729CB6710B7}" dt="2025-02-25T10:45:50.665" v="0" actId="729"/>
        <pc:sldMkLst>
          <pc:docMk/>
          <pc:sldMk cId="3724054238" sldId="1105"/>
        </pc:sldMkLst>
      </pc:sldChg>
      <pc:sldChg chg="mod modShow">
        <pc:chgData name="Baráth, Július" userId="aebde9b9-dccc-4475-a9ac-c05e78323d7a" providerId="ADAL" clId="{A4064A42-C0B4-4B77-970A-C729CB6710B7}" dt="2025-02-25T10:46:42.984" v="2" actId="729"/>
        <pc:sldMkLst>
          <pc:docMk/>
          <pc:sldMk cId="1233053775" sldId="1107"/>
        </pc:sldMkLst>
      </pc:sldChg>
      <pc:sldChg chg="mod modShow">
        <pc:chgData name="Baráth, Július" userId="aebde9b9-dccc-4475-a9ac-c05e78323d7a" providerId="ADAL" clId="{A4064A42-C0B4-4B77-970A-C729CB6710B7}" dt="2025-02-25T10:46:42.984" v="2" actId="729"/>
        <pc:sldMkLst>
          <pc:docMk/>
          <pc:sldMk cId="576895140" sldId="1108"/>
        </pc:sldMkLst>
      </pc:sldChg>
      <pc:sldChg chg="mod modShow">
        <pc:chgData name="Baráth, Július" userId="aebde9b9-dccc-4475-a9ac-c05e78323d7a" providerId="ADAL" clId="{A4064A42-C0B4-4B77-970A-C729CB6710B7}" dt="2025-02-25T10:46:42.984" v="2" actId="729"/>
        <pc:sldMkLst>
          <pc:docMk/>
          <pc:sldMk cId="3405337393" sldId="1109"/>
        </pc:sldMkLst>
      </pc:sldChg>
      <pc:sldChg chg="mod modShow">
        <pc:chgData name="Baráth, Július" userId="aebde9b9-dccc-4475-a9ac-c05e78323d7a" providerId="ADAL" clId="{A4064A42-C0B4-4B77-970A-C729CB6710B7}" dt="2025-02-25T10:46:42.984" v="2" actId="729"/>
        <pc:sldMkLst>
          <pc:docMk/>
          <pc:sldMk cId="3154902587" sldId="1110"/>
        </pc:sldMkLst>
      </pc:sldChg>
      <pc:sldChg chg="mod modShow">
        <pc:chgData name="Baráth, Július" userId="aebde9b9-dccc-4475-a9ac-c05e78323d7a" providerId="ADAL" clId="{A4064A42-C0B4-4B77-970A-C729CB6710B7}" dt="2025-02-25T10:46:42.984" v="2" actId="729"/>
        <pc:sldMkLst>
          <pc:docMk/>
          <pc:sldMk cId="2636215131" sldId="1111"/>
        </pc:sldMkLst>
      </pc:sldChg>
      <pc:sldChg chg="mod modShow">
        <pc:chgData name="Baráth, Július" userId="aebde9b9-dccc-4475-a9ac-c05e78323d7a" providerId="ADAL" clId="{A4064A42-C0B4-4B77-970A-C729CB6710B7}" dt="2025-02-25T10:46:42.984" v="2" actId="729"/>
        <pc:sldMkLst>
          <pc:docMk/>
          <pc:sldMk cId="4266824589" sldId="1112"/>
        </pc:sldMkLst>
      </pc:sldChg>
      <pc:sldChg chg="mod modShow">
        <pc:chgData name="Baráth, Július" userId="aebde9b9-dccc-4475-a9ac-c05e78323d7a" providerId="ADAL" clId="{A4064A42-C0B4-4B77-970A-C729CB6710B7}" dt="2025-02-25T10:46:42.984" v="2" actId="729"/>
        <pc:sldMkLst>
          <pc:docMk/>
          <pc:sldMk cId="407990169" sldId="1113"/>
        </pc:sldMkLst>
      </pc:sldChg>
      <pc:sldChg chg="mod modShow">
        <pc:chgData name="Baráth, Július" userId="aebde9b9-dccc-4475-a9ac-c05e78323d7a" providerId="ADAL" clId="{A4064A42-C0B4-4B77-970A-C729CB6710B7}" dt="2025-02-25T10:46:42.984" v="2" actId="729"/>
        <pc:sldMkLst>
          <pc:docMk/>
          <pc:sldMk cId="2363301400" sldId="1114"/>
        </pc:sldMkLst>
      </pc:sldChg>
      <pc:sldChg chg="modSp mod">
        <pc:chgData name="Baráth, Július" userId="aebde9b9-dccc-4475-a9ac-c05e78323d7a" providerId="ADAL" clId="{A4064A42-C0B4-4B77-970A-C729CB6710B7}" dt="2025-02-25T10:49:05.590" v="3" actId="115"/>
        <pc:sldMkLst>
          <pc:docMk/>
          <pc:sldMk cId="1825574132" sldId="1133"/>
        </pc:sldMkLst>
        <pc:spChg chg="mod">
          <ac:chgData name="Baráth, Július" userId="aebde9b9-dccc-4475-a9ac-c05e78323d7a" providerId="ADAL" clId="{A4064A42-C0B4-4B77-970A-C729CB6710B7}" dt="2025-02-25T10:49:05.590" v="3" actId="115"/>
          <ac:spMkLst>
            <pc:docMk/>
            <pc:sldMk cId="1825574132" sldId="1133"/>
            <ac:spMk id="5" creationId="{00000000-0000-0000-0000-000000000000}"/>
          </ac:spMkLst>
        </pc:spChg>
      </pc:sldChg>
    </pc:docChg>
  </pc:docChgLst>
  <pc:docChgLst>
    <pc:chgData name="Baráth, Július" userId="S::julius.barath@aos.sk::aebde9b9-dccc-4475-a9ac-c05e78323d7a" providerId="AD" clId="Web-{069D0DD7-E327-C380-1039-D204FCA4D539}"/>
    <pc:docChg chg="modSld">
      <pc:chgData name="Baráth, Július" userId="S::julius.barath@aos.sk::aebde9b9-dccc-4475-a9ac-c05e78323d7a" providerId="AD" clId="Web-{069D0DD7-E327-C380-1039-D204FCA4D539}" dt="2025-02-27T08:28:09.683" v="18" actId="20577"/>
      <pc:docMkLst>
        <pc:docMk/>
      </pc:docMkLst>
      <pc:sldChg chg="modSp">
        <pc:chgData name="Baráth, Július" userId="S::julius.barath@aos.sk::aebde9b9-dccc-4475-a9ac-c05e78323d7a" providerId="AD" clId="Web-{069D0DD7-E327-C380-1039-D204FCA4D539}" dt="2025-02-27T08:05:46.188" v="1" actId="20577"/>
        <pc:sldMkLst>
          <pc:docMk/>
          <pc:sldMk cId="0" sldId="271"/>
        </pc:sldMkLst>
        <pc:spChg chg="mod">
          <ac:chgData name="Baráth, Július" userId="S::julius.barath@aos.sk::aebde9b9-dccc-4475-a9ac-c05e78323d7a" providerId="AD" clId="Web-{069D0DD7-E327-C380-1039-D204FCA4D539}" dt="2025-02-27T08:05:46.188" v="1" actId="20577"/>
          <ac:spMkLst>
            <pc:docMk/>
            <pc:sldMk cId="0" sldId="271"/>
            <ac:spMk id="5" creationId="{00000000-0000-0000-0000-000000000000}"/>
          </ac:spMkLst>
        </pc:spChg>
      </pc:sldChg>
      <pc:sldChg chg="addSp modSp">
        <pc:chgData name="Baráth, Július" userId="S::julius.barath@aos.sk::aebde9b9-dccc-4475-a9ac-c05e78323d7a" providerId="AD" clId="Web-{069D0DD7-E327-C380-1039-D204FCA4D539}" dt="2025-02-27T08:28:09.683" v="18" actId="20577"/>
        <pc:sldMkLst>
          <pc:docMk/>
          <pc:sldMk cId="3320095291" sldId="1083"/>
        </pc:sldMkLst>
        <pc:spChg chg="add mod">
          <ac:chgData name="Baráth, Július" userId="S::julius.barath@aos.sk::aebde9b9-dccc-4475-a9ac-c05e78323d7a" providerId="AD" clId="Web-{069D0DD7-E327-C380-1039-D204FCA4D539}" dt="2025-02-27T08:28:09.683" v="18" actId="20577"/>
          <ac:spMkLst>
            <pc:docMk/>
            <pc:sldMk cId="3320095291" sldId="1083"/>
            <ac:spMk id="4" creationId="{222C9D31-78EE-7862-F318-9B1D27A8EA02}"/>
          </ac:spMkLst>
        </pc:spChg>
      </pc:sldChg>
    </pc:docChg>
  </pc:docChgLst>
  <pc:docChgLst>
    <pc:chgData name="Baráth, Július" userId="aebde9b9-dccc-4475-a9ac-c05e78323d7a" providerId="ADAL" clId="{5AC084E7-D208-424C-AA69-CD96AAA368A1}"/>
    <pc:docChg chg="addSld delSld modSld">
      <pc:chgData name="Baráth, Július" userId="aebde9b9-dccc-4475-a9ac-c05e78323d7a" providerId="ADAL" clId="{5AC084E7-D208-424C-AA69-CD96AAA368A1}" dt="2023-02-07T06:50:44.582" v="8" actId="2696"/>
      <pc:docMkLst>
        <pc:docMk/>
      </pc:docMkLst>
      <pc:sldChg chg="del">
        <pc:chgData name="Baráth, Július" userId="aebde9b9-dccc-4475-a9ac-c05e78323d7a" providerId="ADAL" clId="{5AC084E7-D208-424C-AA69-CD96AAA368A1}" dt="2023-02-07T06:48:56.530" v="2" actId="2696"/>
        <pc:sldMkLst>
          <pc:docMk/>
          <pc:sldMk cId="0" sldId="256"/>
        </pc:sldMkLst>
      </pc:sldChg>
      <pc:sldChg chg="del">
        <pc:chgData name="Baráth, Július" userId="aebde9b9-dccc-4475-a9ac-c05e78323d7a" providerId="ADAL" clId="{5AC084E7-D208-424C-AA69-CD96AAA368A1}" dt="2023-02-07T06:48:56.530" v="2" actId="2696"/>
        <pc:sldMkLst>
          <pc:docMk/>
          <pc:sldMk cId="0" sldId="257"/>
        </pc:sldMkLst>
      </pc:sldChg>
      <pc:sldChg chg="del">
        <pc:chgData name="Baráth, Július" userId="aebde9b9-dccc-4475-a9ac-c05e78323d7a" providerId="ADAL" clId="{5AC084E7-D208-424C-AA69-CD96AAA368A1}" dt="2023-02-07T06:48:56.530" v="2" actId="2696"/>
        <pc:sldMkLst>
          <pc:docMk/>
          <pc:sldMk cId="0" sldId="259"/>
        </pc:sldMkLst>
      </pc:sldChg>
      <pc:sldChg chg="del">
        <pc:chgData name="Baráth, Július" userId="aebde9b9-dccc-4475-a9ac-c05e78323d7a" providerId="ADAL" clId="{5AC084E7-D208-424C-AA69-CD96AAA368A1}" dt="2023-02-07T06:48:56.530" v="2" actId="2696"/>
        <pc:sldMkLst>
          <pc:docMk/>
          <pc:sldMk cId="0" sldId="260"/>
        </pc:sldMkLst>
      </pc:sldChg>
      <pc:sldChg chg="del">
        <pc:chgData name="Baráth, Július" userId="aebde9b9-dccc-4475-a9ac-c05e78323d7a" providerId="ADAL" clId="{5AC084E7-D208-424C-AA69-CD96AAA368A1}" dt="2023-02-07T06:48:56.530" v="2" actId="2696"/>
        <pc:sldMkLst>
          <pc:docMk/>
          <pc:sldMk cId="0" sldId="261"/>
        </pc:sldMkLst>
      </pc:sldChg>
      <pc:sldChg chg="add">
        <pc:chgData name="Baráth, Július" userId="aebde9b9-dccc-4475-a9ac-c05e78323d7a" providerId="ADAL" clId="{5AC084E7-D208-424C-AA69-CD96AAA368A1}" dt="2023-02-07T06:47:56.606" v="0"/>
        <pc:sldMkLst>
          <pc:docMk/>
          <pc:sldMk cId="3877518285" sldId="268"/>
        </pc:sldMkLst>
      </pc:sldChg>
      <pc:sldChg chg="add">
        <pc:chgData name="Baráth, Július" userId="aebde9b9-dccc-4475-a9ac-c05e78323d7a" providerId="ADAL" clId="{5AC084E7-D208-424C-AA69-CD96AAA368A1}" dt="2023-02-07T06:47:56.606" v="0"/>
        <pc:sldMkLst>
          <pc:docMk/>
          <pc:sldMk cId="3045655266" sldId="273"/>
        </pc:sldMkLst>
      </pc:sldChg>
      <pc:sldChg chg="add">
        <pc:chgData name="Baráth, Július" userId="aebde9b9-dccc-4475-a9ac-c05e78323d7a" providerId="ADAL" clId="{5AC084E7-D208-424C-AA69-CD96AAA368A1}" dt="2023-02-07T06:47:56.606" v="0"/>
        <pc:sldMkLst>
          <pc:docMk/>
          <pc:sldMk cId="3262014365" sldId="281"/>
        </pc:sldMkLst>
      </pc:sldChg>
      <pc:sldChg chg="add">
        <pc:chgData name="Baráth, Július" userId="aebde9b9-dccc-4475-a9ac-c05e78323d7a" providerId="ADAL" clId="{5AC084E7-D208-424C-AA69-CD96AAA368A1}" dt="2023-02-07T06:47:56.606" v="0"/>
        <pc:sldMkLst>
          <pc:docMk/>
          <pc:sldMk cId="30671793" sldId="287"/>
        </pc:sldMkLst>
      </pc:sldChg>
      <pc:sldChg chg="del">
        <pc:chgData name="Baráth, Július" userId="aebde9b9-dccc-4475-a9ac-c05e78323d7a" providerId="ADAL" clId="{5AC084E7-D208-424C-AA69-CD96AAA368A1}" dt="2023-02-07T06:49:16.382" v="3" actId="2696"/>
        <pc:sldMkLst>
          <pc:docMk/>
          <pc:sldMk cId="0" sldId="288"/>
        </pc:sldMkLst>
      </pc:sldChg>
      <pc:sldChg chg="del">
        <pc:chgData name="Baráth, Július" userId="aebde9b9-dccc-4475-a9ac-c05e78323d7a" providerId="ADAL" clId="{5AC084E7-D208-424C-AA69-CD96AAA368A1}" dt="2023-02-07T06:49:21.362" v="4" actId="2696"/>
        <pc:sldMkLst>
          <pc:docMk/>
          <pc:sldMk cId="0" sldId="289"/>
        </pc:sldMkLst>
      </pc:sldChg>
      <pc:sldChg chg="del">
        <pc:chgData name="Baráth, Július" userId="aebde9b9-dccc-4475-a9ac-c05e78323d7a" providerId="ADAL" clId="{5AC084E7-D208-424C-AA69-CD96AAA368A1}" dt="2023-02-07T06:49:21.362" v="4" actId="2696"/>
        <pc:sldMkLst>
          <pc:docMk/>
          <pc:sldMk cId="0" sldId="290"/>
        </pc:sldMkLst>
      </pc:sldChg>
      <pc:sldChg chg="add del">
        <pc:chgData name="Baráth, Július" userId="aebde9b9-dccc-4475-a9ac-c05e78323d7a" providerId="ADAL" clId="{5AC084E7-D208-424C-AA69-CD96AAA368A1}" dt="2023-02-07T06:50:17.812" v="6" actId="2696"/>
        <pc:sldMkLst>
          <pc:docMk/>
          <pc:sldMk cId="859678310" sldId="291"/>
        </pc:sldMkLst>
      </pc:sldChg>
      <pc:sldChg chg="add del">
        <pc:chgData name="Baráth, Július" userId="aebde9b9-dccc-4475-a9ac-c05e78323d7a" providerId="ADAL" clId="{5AC084E7-D208-424C-AA69-CD96AAA368A1}" dt="2023-02-07T06:50:17.812" v="6" actId="2696"/>
        <pc:sldMkLst>
          <pc:docMk/>
          <pc:sldMk cId="1121477889" sldId="292"/>
        </pc:sldMkLst>
      </pc:sldChg>
      <pc:sldChg chg="add del">
        <pc:chgData name="Baráth, Július" userId="aebde9b9-dccc-4475-a9ac-c05e78323d7a" providerId="ADAL" clId="{5AC084E7-D208-424C-AA69-CD96AAA368A1}" dt="2023-02-07T06:50:17.812" v="6" actId="2696"/>
        <pc:sldMkLst>
          <pc:docMk/>
          <pc:sldMk cId="2908010988" sldId="293"/>
        </pc:sldMkLst>
      </pc:sldChg>
      <pc:sldChg chg="add del">
        <pc:chgData name="Baráth, Július" userId="aebde9b9-dccc-4475-a9ac-c05e78323d7a" providerId="ADAL" clId="{5AC084E7-D208-424C-AA69-CD96AAA368A1}" dt="2023-02-07T06:49:27.447" v="5" actId="2696"/>
        <pc:sldMkLst>
          <pc:docMk/>
          <pc:sldMk cId="2689796223" sldId="295"/>
        </pc:sldMkLst>
      </pc:sldChg>
      <pc:sldChg chg="add del">
        <pc:chgData name="Baráth, Július" userId="aebde9b9-dccc-4475-a9ac-c05e78323d7a" providerId="ADAL" clId="{5AC084E7-D208-424C-AA69-CD96AAA368A1}" dt="2023-02-07T06:49:27.447" v="5" actId="2696"/>
        <pc:sldMkLst>
          <pc:docMk/>
          <pc:sldMk cId="4822889" sldId="880"/>
        </pc:sldMkLst>
      </pc:sldChg>
      <pc:sldChg chg="del">
        <pc:chgData name="Baráth, Július" userId="aebde9b9-dccc-4475-a9ac-c05e78323d7a" providerId="ADAL" clId="{5AC084E7-D208-424C-AA69-CD96AAA368A1}" dt="2023-02-07T06:48:56.530" v="2" actId="2696"/>
        <pc:sldMkLst>
          <pc:docMk/>
          <pc:sldMk cId="122153960" sldId="1070"/>
        </pc:sldMkLst>
      </pc:sldChg>
      <pc:sldChg chg="del">
        <pc:chgData name="Baráth, Július" userId="aebde9b9-dccc-4475-a9ac-c05e78323d7a" providerId="ADAL" clId="{5AC084E7-D208-424C-AA69-CD96AAA368A1}" dt="2023-02-07T06:48:56.530" v="2" actId="2696"/>
        <pc:sldMkLst>
          <pc:docMk/>
          <pc:sldMk cId="1736058053" sldId="1071"/>
        </pc:sldMkLst>
      </pc:sldChg>
      <pc:sldChg chg="add del">
        <pc:chgData name="Baráth, Július" userId="aebde9b9-dccc-4475-a9ac-c05e78323d7a" providerId="ADAL" clId="{5AC084E7-D208-424C-AA69-CD96AAA368A1}" dt="2023-02-07T06:49:27.447" v="5" actId="2696"/>
        <pc:sldMkLst>
          <pc:docMk/>
          <pc:sldMk cId="589666993" sldId="1072"/>
        </pc:sldMkLst>
      </pc:sldChg>
      <pc:sldChg chg="add">
        <pc:chgData name="Baráth, Július" userId="aebde9b9-dccc-4475-a9ac-c05e78323d7a" providerId="ADAL" clId="{5AC084E7-D208-424C-AA69-CD96AAA368A1}" dt="2023-02-07T06:47:56.606" v="0"/>
        <pc:sldMkLst>
          <pc:docMk/>
          <pc:sldMk cId="349295457" sldId="1073"/>
        </pc:sldMkLst>
      </pc:sldChg>
      <pc:sldChg chg="add">
        <pc:chgData name="Baráth, Július" userId="aebde9b9-dccc-4475-a9ac-c05e78323d7a" providerId="ADAL" clId="{5AC084E7-D208-424C-AA69-CD96AAA368A1}" dt="2023-02-07T06:47:56.606" v="0"/>
        <pc:sldMkLst>
          <pc:docMk/>
          <pc:sldMk cId="3165259755" sldId="1074"/>
        </pc:sldMkLst>
      </pc:sldChg>
      <pc:sldChg chg="add">
        <pc:chgData name="Baráth, Július" userId="aebde9b9-dccc-4475-a9ac-c05e78323d7a" providerId="ADAL" clId="{5AC084E7-D208-424C-AA69-CD96AAA368A1}" dt="2023-02-07T06:47:56.606" v="0"/>
        <pc:sldMkLst>
          <pc:docMk/>
          <pc:sldMk cId="4228185690" sldId="1075"/>
        </pc:sldMkLst>
      </pc:sldChg>
      <pc:sldChg chg="add">
        <pc:chgData name="Baráth, Július" userId="aebde9b9-dccc-4475-a9ac-c05e78323d7a" providerId="ADAL" clId="{5AC084E7-D208-424C-AA69-CD96AAA368A1}" dt="2023-02-07T06:47:56.606" v="0"/>
        <pc:sldMkLst>
          <pc:docMk/>
          <pc:sldMk cId="761336015" sldId="1076"/>
        </pc:sldMkLst>
      </pc:sldChg>
      <pc:sldChg chg="add">
        <pc:chgData name="Baráth, Július" userId="aebde9b9-dccc-4475-a9ac-c05e78323d7a" providerId="ADAL" clId="{5AC084E7-D208-424C-AA69-CD96AAA368A1}" dt="2023-02-07T06:47:56.606" v="0"/>
        <pc:sldMkLst>
          <pc:docMk/>
          <pc:sldMk cId="2081689405" sldId="1077"/>
        </pc:sldMkLst>
      </pc:sldChg>
      <pc:sldChg chg="del">
        <pc:chgData name="Baráth, Július" userId="aebde9b9-dccc-4475-a9ac-c05e78323d7a" providerId="ADAL" clId="{5AC084E7-D208-424C-AA69-CD96AAA368A1}" dt="2023-02-07T06:49:21.362" v="4" actId="2696"/>
        <pc:sldMkLst>
          <pc:docMk/>
          <pc:sldMk cId="3645693150" sldId="1078"/>
        </pc:sldMkLst>
      </pc:sldChg>
      <pc:sldChg chg="del">
        <pc:chgData name="Baráth, Július" userId="aebde9b9-dccc-4475-a9ac-c05e78323d7a" providerId="ADAL" clId="{5AC084E7-D208-424C-AA69-CD96AAA368A1}" dt="2023-02-07T06:49:21.362" v="4" actId="2696"/>
        <pc:sldMkLst>
          <pc:docMk/>
          <pc:sldMk cId="4190828277" sldId="1079"/>
        </pc:sldMkLst>
      </pc:sldChg>
      <pc:sldChg chg="del">
        <pc:chgData name="Baráth, Július" userId="aebde9b9-dccc-4475-a9ac-c05e78323d7a" providerId="ADAL" clId="{5AC084E7-D208-424C-AA69-CD96AAA368A1}" dt="2023-02-07T06:48:56.530" v="2" actId="2696"/>
        <pc:sldMkLst>
          <pc:docMk/>
          <pc:sldMk cId="3027923476" sldId="1081"/>
        </pc:sldMkLst>
      </pc:sldChg>
      <pc:sldChg chg="del">
        <pc:chgData name="Baráth, Július" userId="aebde9b9-dccc-4475-a9ac-c05e78323d7a" providerId="ADAL" clId="{5AC084E7-D208-424C-AA69-CD96AAA368A1}" dt="2023-02-07T06:48:56.530" v="2" actId="2696"/>
        <pc:sldMkLst>
          <pc:docMk/>
          <pc:sldMk cId="234524775" sldId="1082"/>
        </pc:sldMkLst>
      </pc:sldChg>
      <pc:sldChg chg="del">
        <pc:chgData name="Baráth, Július" userId="aebde9b9-dccc-4475-a9ac-c05e78323d7a" providerId="ADAL" clId="{5AC084E7-D208-424C-AA69-CD96AAA368A1}" dt="2023-02-07T06:49:21.362" v="4" actId="2696"/>
        <pc:sldMkLst>
          <pc:docMk/>
          <pc:sldMk cId="27162306" sldId="1085"/>
        </pc:sldMkLst>
      </pc:sldChg>
      <pc:sldChg chg="add">
        <pc:chgData name="Baráth, Július" userId="aebde9b9-dccc-4475-a9ac-c05e78323d7a" providerId="ADAL" clId="{5AC084E7-D208-424C-AA69-CD96AAA368A1}" dt="2023-02-07T06:47:56.606" v="0"/>
        <pc:sldMkLst>
          <pc:docMk/>
          <pc:sldMk cId="302197020" sldId="1086"/>
        </pc:sldMkLst>
      </pc:sldChg>
      <pc:sldChg chg="add del">
        <pc:chgData name="Baráth, Július" userId="aebde9b9-dccc-4475-a9ac-c05e78323d7a" providerId="ADAL" clId="{5AC084E7-D208-424C-AA69-CD96AAA368A1}" dt="2023-02-07T06:49:27.447" v="5" actId="2696"/>
        <pc:sldMkLst>
          <pc:docMk/>
          <pc:sldMk cId="4050786935" sldId="1087"/>
        </pc:sldMkLst>
      </pc:sldChg>
      <pc:sldChg chg="add del">
        <pc:chgData name="Baráth, Július" userId="aebde9b9-dccc-4475-a9ac-c05e78323d7a" providerId="ADAL" clId="{5AC084E7-D208-424C-AA69-CD96AAA368A1}" dt="2023-02-07T06:49:27.447" v="5" actId="2696"/>
        <pc:sldMkLst>
          <pc:docMk/>
          <pc:sldMk cId="996813297" sldId="1088"/>
        </pc:sldMkLst>
      </pc:sldChg>
      <pc:sldChg chg="add del">
        <pc:chgData name="Baráth, Július" userId="aebde9b9-dccc-4475-a9ac-c05e78323d7a" providerId="ADAL" clId="{5AC084E7-D208-424C-AA69-CD96AAA368A1}" dt="2023-02-07T06:49:27.447" v="5" actId="2696"/>
        <pc:sldMkLst>
          <pc:docMk/>
          <pc:sldMk cId="1485840274" sldId="1089"/>
        </pc:sldMkLst>
      </pc:sldChg>
      <pc:sldChg chg="add del">
        <pc:chgData name="Baráth, Július" userId="aebde9b9-dccc-4475-a9ac-c05e78323d7a" providerId="ADAL" clId="{5AC084E7-D208-424C-AA69-CD96AAA368A1}" dt="2023-02-07T06:49:27.447" v="5" actId="2696"/>
        <pc:sldMkLst>
          <pc:docMk/>
          <pc:sldMk cId="3469005371" sldId="1090"/>
        </pc:sldMkLst>
      </pc:sldChg>
      <pc:sldChg chg="add del">
        <pc:chgData name="Baráth, Július" userId="aebde9b9-dccc-4475-a9ac-c05e78323d7a" providerId="ADAL" clId="{5AC084E7-D208-424C-AA69-CD96AAA368A1}" dt="2023-02-07T06:49:27.447" v="5" actId="2696"/>
        <pc:sldMkLst>
          <pc:docMk/>
          <pc:sldMk cId="2030838473" sldId="1091"/>
        </pc:sldMkLst>
      </pc:sldChg>
      <pc:sldChg chg="add">
        <pc:chgData name="Baráth, Július" userId="aebde9b9-dccc-4475-a9ac-c05e78323d7a" providerId="ADAL" clId="{5AC084E7-D208-424C-AA69-CD96AAA368A1}" dt="2023-02-07T06:47:56.606" v="0"/>
        <pc:sldMkLst>
          <pc:docMk/>
          <pc:sldMk cId="544261919" sldId="1092"/>
        </pc:sldMkLst>
      </pc:sldChg>
      <pc:sldChg chg="add">
        <pc:chgData name="Baráth, Július" userId="aebde9b9-dccc-4475-a9ac-c05e78323d7a" providerId="ADAL" clId="{5AC084E7-D208-424C-AA69-CD96AAA368A1}" dt="2023-02-07T06:47:56.606" v="0"/>
        <pc:sldMkLst>
          <pc:docMk/>
          <pc:sldMk cId="4103619641" sldId="1093"/>
        </pc:sldMkLst>
      </pc:sldChg>
      <pc:sldChg chg="add">
        <pc:chgData name="Baráth, Július" userId="aebde9b9-dccc-4475-a9ac-c05e78323d7a" providerId="ADAL" clId="{5AC084E7-D208-424C-AA69-CD96AAA368A1}" dt="2023-02-07T06:47:56.606" v="0"/>
        <pc:sldMkLst>
          <pc:docMk/>
          <pc:sldMk cId="3548812714" sldId="1094"/>
        </pc:sldMkLst>
      </pc:sldChg>
      <pc:sldChg chg="add">
        <pc:chgData name="Baráth, Július" userId="aebde9b9-dccc-4475-a9ac-c05e78323d7a" providerId="ADAL" clId="{5AC084E7-D208-424C-AA69-CD96AAA368A1}" dt="2023-02-07T06:47:56.606" v="0"/>
        <pc:sldMkLst>
          <pc:docMk/>
          <pc:sldMk cId="3414734739" sldId="1095"/>
        </pc:sldMkLst>
      </pc:sldChg>
      <pc:sldChg chg="add">
        <pc:chgData name="Baráth, Július" userId="aebde9b9-dccc-4475-a9ac-c05e78323d7a" providerId="ADAL" clId="{5AC084E7-D208-424C-AA69-CD96AAA368A1}" dt="2023-02-07T06:47:56.606" v="0"/>
        <pc:sldMkLst>
          <pc:docMk/>
          <pc:sldMk cId="1343171131" sldId="1096"/>
        </pc:sldMkLst>
      </pc:sldChg>
      <pc:sldChg chg="add">
        <pc:chgData name="Baráth, Július" userId="aebde9b9-dccc-4475-a9ac-c05e78323d7a" providerId="ADAL" clId="{5AC084E7-D208-424C-AA69-CD96AAA368A1}" dt="2023-02-07T06:47:56.606" v="0"/>
        <pc:sldMkLst>
          <pc:docMk/>
          <pc:sldMk cId="3789824874" sldId="1097"/>
        </pc:sldMkLst>
      </pc:sldChg>
      <pc:sldChg chg="add">
        <pc:chgData name="Baráth, Július" userId="aebde9b9-dccc-4475-a9ac-c05e78323d7a" providerId="ADAL" clId="{5AC084E7-D208-424C-AA69-CD96AAA368A1}" dt="2023-02-07T06:47:56.606" v="0"/>
        <pc:sldMkLst>
          <pc:docMk/>
          <pc:sldMk cId="769225642" sldId="1098"/>
        </pc:sldMkLst>
      </pc:sldChg>
      <pc:sldChg chg="add">
        <pc:chgData name="Baráth, Július" userId="aebde9b9-dccc-4475-a9ac-c05e78323d7a" providerId="ADAL" clId="{5AC084E7-D208-424C-AA69-CD96AAA368A1}" dt="2023-02-07T06:47:56.606" v="0"/>
        <pc:sldMkLst>
          <pc:docMk/>
          <pc:sldMk cId="3894142526" sldId="1099"/>
        </pc:sldMkLst>
      </pc:sldChg>
      <pc:sldChg chg="add">
        <pc:chgData name="Baráth, Július" userId="aebde9b9-dccc-4475-a9ac-c05e78323d7a" providerId="ADAL" clId="{5AC084E7-D208-424C-AA69-CD96AAA368A1}" dt="2023-02-07T06:47:56.606" v="0"/>
        <pc:sldMkLst>
          <pc:docMk/>
          <pc:sldMk cId="3593248304" sldId="1100"/>
        </pc:sldMkLst>
      </pc:sldChg>
      <pc:sldChg chg="add">
        <pc:chgData name="Baráth, Július" userId="aebde9b9-dccc-4475-a9ac-c05e78323d7a" providerId="ADAL" clId="{5AC084E7-D208-424C-AA69-CD96AAA368A1}" dt="2023-02-07T06:47:56.606" v="0"/>
        <pc:sldMkLst>
          <pc:docMk/>
          <pc:sldMk cId="70855460" sldId="1101"/>
        </pc:sldMkLst>
      </pc:sldChg>
      <pc:sldChg chg="add">
        <pc:chgData name="Baráth, Július" userId="aebde9b9-dccc-4475-a9ac-c05e78323d7a" providerId="ADAL" clId="{5AC084E7-D208-424C-AA69-CD96AAA368A1}" dt="2023-02-07T06:47:56.606" v="0"/>
        <pc:sldMkLst>
          <pc:docMk/>
          <pc:sldMk cId="2304304212" sldId="1102"/>
        </pc:sldMkLst>
      </pc:sldChg>
      <pc:sldChg chg="add">
        <pc:chgData name="Baráth, Július" userId="aebde9b9-dccc-4475-a9ac-c05e78323d7a" providerId="ADAL" clId="{5AC084E7-D208-424C-AA69-CD96AAA368A1}" dt="2023-02-07T06:47:56.606" v="0"/>
        <pc:sldMkLst>
          <pc:docMk/>
          <pc:sldMk cId="278932317" sldId="1103"/>
        </pc:sldMkLst>
      </pc:sldChg>
      <pc:sldChg chg="add">
        <pc:chgData name="Baráth, Július" userId="aebde9b9-dccc-4475-a9ac-c05e78323d7a" providerId="ADAL" clId="{5AC084E7-D208-424C-AA69-CD96AAA368A1}" dt="2023-02-07T06:47:56.606" v="0"/>
        <pc:sldMkLst>
          <pc:docMk/>
          <pc:sldMk cId="2317655115" sldId="1104"/>
        </pc:sldMkLst>
      </pc:sldChg>
      <pc:sldChg chg="add">
        <pc:chgData name="Baráth, Július" userId="aebde9b9-dccc-4475-a9ac-c05e78323d7a" providerId="ADAL" clId="{5AC084E7-D208-424C-AA69-CD96AAA368A1}" dt="2023-02-07T06:47:56.606" v="0"/>
        <pc:sldMkLst>
          <pc:docMk/>
          <pc:sldMk cId="3724054238" sldId="1105"/>
        </pc:sldMkLst>
      </pc:sldChg>
      <pc:sldChg chg="add">
        <pc:chgData name="Baráth, Július" userId="aebde9b9-dccc-4475-a9ac-c05e78323d7a" providerId="ADAL" clId="{5AC084E7-D208-424C-AA69-CD96AAA368A1}" dt="2023-02-07T06:47:56.606" v="0"/>
        <pc:sldMkLst>
          <pc:docMk/>
          <pc:sldMk cId="2081945007" sldId="1106"/>
        </pc:sldMkLst>
      </pc:sldChg>
      <pc:sldChg chg="add">
        <pc:chgData name="Baráth, Július" userId="aebde9b9-dccc-4475-a9ac-c05e78323d7a" providerId="ADAL" clId="{5AC084E7-D208-424C-AA69-CD96AAA368A1}" dt="2023-02-07T06:47:56.606" v="0"/>
        <pc:sldMkLst>
          <pc:docMk/>
          <pc:sldMk cId="1233053775" sldId="1107"/>
        </pc:sldMkLst>
      </pc:sldChg>
      <pc:sldChg chg="add">
        <pc:chgData name="Baráth, Július" userId="aebde9b9-dccc-4475-a9ac-c05e78323d7a" providerId="ADAL" clId="{5AC084E7-D208-424C-AA69-CD96AAA368A1}" dt="2023-02-07T06:47:56.606" v="0"/>
        <pc:sldMkLst>
          <pc:docMk/>
          <pc:sldMk cId="576895140" sldId="1108"/>
        </pc:sldMkLst>
      </pc:sldChg>
      <pc:sldChg chg="add">
        <pc:chgData name="Baráth, Július" userId="aebde9b9-dccc-4475-a9ac-c05e78323d7a" providerId="ADAL" clId="{5AC084E7-D208-424C-AA69-CD96AAA368A1}" dt="2023-02-07T06:47:56.606" v="0"/>
        <pc:sldMkLst>
          <pc:docMk/>
          <pc:sldMk cId="3405337393" sldId="1109"/>
        </pc:sldMkLst>
      </pc:sldChg>
      <pc:sldChg chg="add">
        <pc:chgData name="Baráth, Július" userId="aebde9b9-dccc-4475-a9ac-c05e78323d7a" providerId="ADAL" clId="{5AC084E7-D208-424C-AA69-CD96AAA368A1}" dt="2023-02-07T06:47:56.606" v="0"/>
        <pc:sldMkLst>
          <pc:docMk/>
          <pc:sldMk cId="3154902587" sldId="1110"/>
        </pc:sldMkLst>
      </pc:sldChg>
      <pc:sldChg chg="add">
        <pc:chgData name="Baráth, Július" userId="aebde9b9-dccc-4475-a9ac-c05e78323d7a" providerId="ADAL" clId="{5AC084E7-D208-424C-AA69-CD96AAA368A1}" dt="2023-02-07T06:47:56.606" v="0"/>
        <pc:sldMkLst>
          <pc:docMk/>
          <pc:sldMk cId="2636215131" sldId="1111"/>
        </pc:sldMkLst>
      </pc:sldChg>
      <pc:sldChg chg="add">
        <pc:chgData name="Baráth, Július" userId="aebde9b9-dccc-4475-a9ac-c05e78323d7a" providerId="ADAL" clId="{5AC084E7-D208-424C-AA69-CD96AAA368A1}" dt="2023-02-07T06:47:56.606" v="0"/>
        <pc:sldMkLst>
          <pc:docMk/>
          <pc:sldMk cId="4266824589" sldId="1112"/>
        </pc:sldMkLst>
      </pc:sldChg>
      <pc:sldChg chg="add">
        <pc:chgData name="Baráth, Július" userId="aebde9b9-dccc-4475-a9ac-c05e78323d7a" providerId="ADAL" clId="{5AC084E7-D208-424C-AA69-CD96AAA368A1}" dt="2023-02-07T06:47:56.606" v="0"/>
        <pc:sldMkLst>
          <pc:docMk/>
          <pc:sldMk cId="407990169" sldId="1113"/>
        </pc:sldMkLst>
      </pc:sldChg>
      <pc:sldChg chg="add">
        <pc:chgData name="Baráth, Július" userId="aebde9b9-dccc-4475-a9ac-c05e78323d7a" providerId="ADAL" clId="{5AC084E7-D208-424C-AA69-CD96AAA368A1}" dt="2023-02-07T06:47:56.606" v="0"/>
        <pc:sldMkLst>
          <pc:docMk/>
          <pc:sldMk cId="2363301400" sldId="1114"/>
        </pc:sldMkLst>
      </pc:sldChg>
      <pc:sldChg chg="add del">
        <pc:chgData name="Baráth, Július" userId="aebde9b9-dccc-4475-a9ac-c05e78323d7a" providerId="ADAL" clId="{5AC084E7-D208-424C-AA69-CD96AAA368A1}" dt="2023-02-07T06:50:17.812" v="6" actId="2696"/>
        <pc:sldMkLst>
          <pc:docMk/>
          <pc:sldMk cId="3754341770" sldId="1115"/>
        </pc:sldMkLst>
      </pc:sldChg>
      <pc:sldChg chg="add del">
        <pc:chgData name="Baráth, Július" userId="aebde9b9-dccc-4475-a9ac-c05e78323d7a" providerId="ADAL" clId="{5AC084E7-D208-424C-AA69-CD96AAA368A1}" dt="2023-02-07T06:50:17.812" v="6" actId="2696"/>
        <pc:sldMkLst>
          <pc:docMk/>
          <pc:sldMk cId="911778949" sldId="1116"/>
        </pc:sldMkLst>
      </pc:sldChg>
      <pc:sldChg chg="add">
        <pc:chgData name="Baráth, Július" userId="aebde9b9-dccc-4475-a9ac-c05e78323d7a" providerId="ADAL" clId="{5AC084E7-D208-424C-AA69-CD96AAA368A1}" dt="2023-02-07T06:48:33.736" v="1"/>
        <pc:sldMkLst>
          <pc:docMk/>
          <pc:sldMk cId="901631751" sldId="1117"/>
        </pc:sldMkLst>
      </pc:sldChg>
      <pc:sldChg chg="add del">
        <pc:chgData name="Baráth, Július" userId="aebde9b9-dccc-4475-a9ac-c05e78323d7a" providerId="ADAL" clId="{5AC084E7-D208-424C-AA69-CD96AAA368A1}" dt="2023-02-07T06:50:26.927" v="7" actId="2696"/>
        <pc:sldMkLst>
          <pc:docMk/>
          <pc:sldMk cId="404409265" sldId="1118"/>
        </pc:sldMkLst>
      </pc:sldChg>
      <pc:sldChg chg="add del">
        <pc:chgData name="Baráth, Július" userId="aebde9b9-dccc-4475-a9ac-c05e78323d7a" providerId="ADAL" clId="{5AC084E7-D208-424C-AA69-CD96AAA368A1}" dt="2023-02-07T06:50:26.927" v="7" actId="2696"/>
        <pc:sldMkLst>
          <pc:docMk/>
          <pc:sldMk cId="3377216775" sldId="1119"/>
        </pc:sldMkLst>
      </pc:sldChg>
      <pc:sldChg chg="add del">
        <pc:chgData name="Baráth, Július" userId="aebde9b9-dccc-4475-a9ac-c05e78323d7a" providerId="ADAL" clId="{5AC084E7-D208-424C-AA69-CD96AAA368A1}" dt="2023-02-07T06:50:26.927" v="7" actId="2696"/>
        <pc:sldMkLst>
          <pc:docMk/>
          <pc:sldMk cId="4112873064" sldId="1120"/>
        </pc:sldMkLst>
      </pc:sldChg>
      <pc:sldChg chg="add del">
        <pc:chgData name="Baráth, Július" userId="aebde9b9-dccc-4475-a9ac-c05e78323d7a" providerId="ADAL" clId="{5AC084E7-D208-424C-AA69-CD96AAA368A1}" dt="2023-02-07T06:50:26.927" v="7" actId="2696"/>
        <pc:sldMkLst>
          <pc:docMk/>
          <pc:sldMk cId="957723575" sldId="1121"/>
        </pc:sldMkLst>
      </pc:sldChg>
      <pc:sldChg chg="add del">
        <pc:chgData name="Baráth, Július" userId="aebde9b9-dccc-4475-a9ac-c05e78323d7a" providerId="ADAL" clId="{5AC084E7-D208-424C-AA69-CD96AAA368A1}" dt="2023-02-07T06:50:26.927" v="7" actId="2696"/>
        <pc:sldMkLst>
          <pc:docMk/>
          <pc:sldMk cId="1327279689" sldId="1122"/>
        </pc:sldMkLst>
      </pc:sldChg>
      <pc:sldChg chg="add del">
        <pc:chgData name="Baráth, Július" userId="aebde9b9-dccc-4475-a9ac-c05e78323d7a" providerId="ADAL" clId="{5AC084E7-D208-424C-AA69-CD96AAA368A1}" dt="2023-02-07T06:50:26.927" v="7" actId="2696"/>
        <pc:sldMkLst>
          <pc:docMk/>
          <pc:sldMk cId="753389740" sldId="1123"/>
        </pc:sldMkLst>
      </pc:sldChg>
      <pc:sldChg chg="add del">
        <pc:chgData name="Baráth, Július" userId="aebde9b9-dccc-4475-a9ac-c05e78323d7a" providerId="ADAL" clId="{5AC084E7-D208-424C-AA69-CD96AAA368A1}" dt="2023-02-07T06:50:26.927" v="7" actId="2696"/>
        <pc:sldMkLst>
          <pc:docMk/>
          <pc:sldMk cId="2247858776" sldId="1124"/>
        </pc:sldMkLst>
      </pc:sldChg>
      <pc:sldChg chg="add">
        <pc:chgData name="Baráth, Július" userId="aebde9b9-dccc-4475-a9ac-c05e78323d7a" providerId="ADAL" clId="{5AC084E7-D208-424C-AA69-CD96AAA368A1}" dt="2023-02-07T06:48:33.736" v="1"/>
        <pc:sldMkLst>
          <pc:docMk/>
          <pc:sldMk cId="1631357770" sldId="1125"/>
        </pc:sldMkLst>
      </pc:sldChg>
      <pc:sldChg chg="add">
        <pc:chgData name="Baráth, Július" userId="aebde9b9-dccc-4475-a9ac-c05e78323d7a" providerId="ADAL" clId="{5AC084E7-D208-424C-AA69-CD96AAA368A1}" dt="2023-02-07T06:48:33.736" v="1"/>
        <pc:sldMkLst>
          <pc:docMk/>
          <pc:sldMk cId="2321756164" sldId="1126"/>
        </pc:sldMkLst>
      </pc:sldChg>
      <pc:sldChg chg="add">
        <pc:chgData name="Baráth, Július" userId="aebde9b9-dccc-4475-a9ac-c05e78323d7a" providerId="ADAL" clId="{5AC084E7-D208-424C-AA69-CD96AAA368A1}" dt="2023-02-07T06:48:33.736" v="1"/>
        <pc:sldMkLst>
          <pc:docMk/>
          <pc:sldMk cId="3580998773" sldId="1127"/>
        </pc:sldMkLst>
      </pc:sldChg>
      <pc:sldChg chg="add">
        <pc:chgData name="Baráth, Július" userId="aebde9b9-dccc-4475-a9ac-c05e78323d7a" providerId="ADAL" clId="{5AC084E7-D208-424C-AA69-CD96AAA368A1}" dt="2023-02-07T06:48:33.736" v="1"/>
        <pc:sldMkLst>
          <pc:docMk/>
          <pc:sldMk cId="3161830689" sldId="1128"/>
        </pc:sldMkLst>
      </pc:sldChg>
      <pc:sldChg chg="add">
        <pc:chgData name="Baráth, Július" userId="aebde9b9-dccc-4475-a9ac-c05e78323d7a" providerId="ADAL" clId="{5AC084E7-D208-424C-AA69-CD96AAA368A1}" dt="2023-02-07T06:48:33.736" v="1"/>
        <pc:sldMkLst>
          <pc:docMk/>
          <pc:sldMk cId="2433464738" sldId="1129"/>
        </pc:sldMkLst>
      </pc:sldChg>
      <pc:sldChg chg="add">
        <pc:chgData name="Baráth, Július" userId="aebde9b9-dccc-4475-a9ac-c05e78323d7a" providerId="ADAL" clId="{5AC084E7-D208-424C-AA69-CD96AAA368A1}" dt="2023-02-07T06:48:33.736" v="1"/>
        <pc:sldMkLst>
          <pc:docMk/>
          <pc:sldMk cId="800298206" sldId="1130"/>
        </pc:sldMkLst>
      </pc:sldChg>
      <pc:sldChg chg="add">
        <pc:chgData name="Baráth, Július" userId="aebde9b9-dccc-4475-a9ac-c05e78323d7a" providerId="ADAL" clId="{5AC084E7-D208-424C-AA69-CD96AAA368A1}" dt="2023-02-07T06:48:33.736" v="1"/>
        <pc:sldMkLst>
          <pc:docMk/>
          <pc:sldMk cId="2679280321" sldId="1131"/>
        </pc:sldMkLst>
      </pc:sldChg>
      <pc:sldChg chg="add">
        <pc:chgData name="Baráth, Július" userId="aebde9b9-dccc-4475-a9ac-c05e78323d7a" providerId="ADAL" clId="{5AC084E7-D208-424C-AA69-CD96AAA368A1}" dt="2023-02-07T06:48:33.736" v="1"/>
        <pc:sldMkLst>
          <pc:docMk/>
          <pc:sldMk cId="2271377099" sldId="1132"/>
        </pc:sldMkLst>
      </pc:sldChg>
      <pc:sldChg chg="add">
        <pc:chgData name="Baráth, Július" userId="aebde9b9-dccc-4475-a9ac-c05e78323d7a" providerId="ADAL" clId="{5AC084E7-D208-424C-AA69-CD96AAA368A1}" dt="2023-02-07T06:48:33.736" v="1"/>
        <pc:sldMkLst>
          <pc:docMk/>
          <pc:sldMk cId="1825574132" sldId="1133"/>
        </pc:sldMkLst>
      </pc:sldChg>
      <pc:sldChg chg="add">
        <pc:chgData name="Baráth, Július" userId="aebde9b9-dccc-4475-a9ac-c05e78323d7a" providerId="ADAL" clId="{5AC084E7-D208-424C-AA69-CD96AAA368A1}" dt="2023-02-07T06:48:33.736" v="1"/>
        <pc:sldMkLst>
          <pc:docMk/>
          <pc:sldMk cId="408173105" sldId="1134"/>
        </pc:sldMkLst>
      </pc:sldChg>
      <pc:sldChg chg="add">
        <pc:chgData name="Baráth, Július" userId="aebde9b9-dccc-4475-a9ac-c05e78323d7a" providerId="ADAL" clId="{5AC084E7-D208-424C-AA69-CD96AAA368A1}" dt="2023-02-07T06:48:33.736" v="1"/>
        <pc:sldMkLst>
          <pc:docMk/>
          <pc:sldMk cId="156062580" sldId="1135"/>
        </pc:sldMkLst>
      </pc:sldChg>
      <pc:sldChg chg="add">
        <pc:chgData name="Baráth, Július" userId="aebde9b9-dccc-4475-a9ac-c05e78323d7a" providerId="ADAL" clId="{5AC084E7-D208-424C-AA69-CD96AAA368A1}" dt="2023-02-07T06:48:33.736" v="1"/>
        <pc:sldMkLst>
          <pc:docMk/>
          <pc:sldMk cId="923865722" sldId="1136"/>
        </pc:sldMkLst>
      </pc:sldChg>
      <pc:sldChg chg="add">
        <pc:chgData name="Baráth, Július" userId="aebde9b9-dccc-4475-a9ac-c05e78323d7a" providerId="ADAL" clId="{5AC084E7-D208-424C-AA69-CD96AAA368A1}" dt="2023-02-07T06:48:33.736" v="1"/>
        <pc:sldMkLst>
          <pc:docMk/>
          <pc:sldMk cId="1207772444" sldId="1137"/>
        </pc:sldMkLst>
      </pc:sldChg>
      <pc:sldChg chg="add">
        <pc:chgData name="Baráth, Július" userId="aebde9b9-dccc-4475-a9ac-c05e78323d7a" providerId="ADAL" clId="{5AC084E7-D208-424C-AA69-CD96AAA368A1}" dt="2023-02-07T06:48:33.736" v="1"/>
        <pc:sldMkLst>
          <pc:docMk/>
          <pc:sldMk cId="199133261" sldId="1138"/>
        </pc:sldMkLst>
      </pc:sldChg>
      <pc:sldChg chg="add">
        <pc:chgData name="Baráth, Július" userId="aebde9b9-dccc-4475-a9ac-c05e78323d7a" providerId="ADAL" clId="{5AC084E7-D208-424C-AA69-CD96AAA368A1}" dt="2023-02-07T06:48:33.736" v="1"/>
        <pc:sldMkLst>
          <pc:docMk/>
          <pc:sldMk cId="2575124974" sldId="1139"/>
        </pc:sldMkLst>
      </pc:sldChg>
      <pc:sldChg chg="add">
        <pc:chgData name="Baráth, Július" userId="aebde9b9-dccc-4475-a9ac-c05e78323d7a" providerId="ADAL" clId="{5AC084E7-D208-424C-AA69-CD96AAA368A1}" dt="2023-02-07T06:48:33.736" v="1"/>
        <pc:sldMkLst>
          <pc:docMk/>
          <pc:sldMk cId="3006298336" sldId="1140"/>
        </pc:sldMkLst>
      </pc:sldChg>
      <pc:sldChg chg="add">
        <pc:chgData name="Baráth, Július" userId="aebde9b9-dccc-4475-a9ac-c05e78323d7a" providerId="ADAL" clId="{5AC084E7-D208-424C-AA69-CD96AAA368A1}" dt="2023-02-07T06:48:33.736" v="1"/>
        <pc:sldMkLst>
          <pc:docMk/>
          <pc:sldMk cId="1297085473" sldId="1141"/>
        </pc:sldMkLst>
      </pc:sldChg>
      <pc:sldChg chg="add del">
        <pc:chgData name="Baráth, Július" userId="aebde9b9-dccc-4475-a9ac-c05e78323d7a" providerId="ADAL" clId="{5AC084E7-D208-424C-AA69-CD96AAA368A1}" dt="2023-02-07T06:50:44.582" v="8" actId="2696"/>
        <pc:sldMkLst>
          <pc:docMk/>
          <pc:sldMk cId="2832839613" sldId="1142"/>
        </pc:sldMkLst>
      </pc:sldChg>
      <pc:sldChg chg="add del">
        <pc:chgData name="Baráth, Július" userId="aebde9b9-dccc-4475-a9ac-c05e78323d7a" providerId="ADAL" clId="{5AC084E7-D208-424C-AA69-CD96AAA368A1}" dt="2023-02-07T06:50:44.582" v="8" actId="2696"/>
        <pc:sldMkLst>
          <pc:docMk/>
          <pc:sldMk cId="3065528155" sldId="1143"/>
        </pc:sldMkLst>
      </pc:sldChg>
      <pc:sldChg chg="add del">
        <pc:chgData name="Baráth, Július" userId="aebde9b9-dccc-4475-a9ac-c05e78323d7a" providerId="ADAL" clId="{5AC084E7-D208-424C-AA69-CD96AAA368A1}" dt="2023-02-07T06:50:44.582" v="8" actId="2696"/>
        <pc:sldMkLst>
          <pc:docMk/>
          <pc:sldMk cId="3262673595" sldId="1144"/>
        </pc:sldMkLst>
      </pc:sldChg>
      <pc:sldChg chg="add">
        <pc:chgData name="Baráth, Július" userId="aebde9b9-dccc-4475-a9ac-c05e78323d7a" providerId="ADAL" clId="{5AC084E7-D208-424C-AA69-CD96AAA368A1}" dt="2023-02-07T06:48:33.736" v="1"/>
        <pc:sldMkLst>
          <pc:docMk/>
          <pc:sldMk cId="3407993711" sldId="1145"/>
        </pc:sldMkLst>
      </pc:sldChg>
      <pc:sldMasterChg chg="delSldLayout">
        <pc:chgData name="Baráth, Július" userId="aebde9b9-dccc-4475-a9ac-c05e78323d7a" providerId="ADAL" clId="{5AC084E7-D208-424C-AA69-CD96AAA368A1}" dt="2023-02-07T06:48:56.530" v="2" actId="2696"/>
        <pc:sldMasterMkLst>
          <pc:docMk/>
          <pc:sldMasterMk cId="1988326080" sldId="2147483678"/>
        </pc:sldMasterMkLst>
        <pc:sldLayoutChg chg="del">
          <pc:chgData name="Baráth, Július" userId="aebde9b9-dccc-4475-a9ac-c05e78323d7a" providerId="ADAL" clId="{5AC084E7-D208-424C-AA69-CD96AAA368A1}" dt="2023-02-07T06:48:56.530" v="2" actId="2696"/>
          <pc:sldLayoutMkLst>
            <pc:docMk/>
            <pc:sldMasterMk cId="1988326080" sldId="2147483678"/>
            <pc:sldLayoutMk cId="3869245606" sldId="2147483691"/>
          </pc:sldLayoutMkLst>
        </pc:sldLayoutChg>
      </pc:sldMasterChg>
    </pc:docChg>
  </pc:docChgLst>
  <pc:docChgLst>
    <pc:chgData name="Baráth, Július" userId="aebde9b9-dccc-4475-a9ac-c05e78323d7a" providerId="ADAL" clId="{A5133701-498D-E648-8762-F30786A2AA0D}"/>
    <pc:docChg chg="undo custSel addSld modSld">
      <pc:chgData name="Baráth, Július" userId="aebde9b9-dccc-4475-a9ac-c05e78323d7a" providerId="ADAL" clId="{A5133701-498D-E648-8762-F30786A2AA0D}" dt="2025-02-27T08:55:27.930" v="83" actId="1076"/>
      <pc:docMkLst>
        <pc:docMk/>
      </pc:docMkLst>
      <pc:sldChg chg="addSp modSp mod">
        <pc:chgData name="Baráth, Július" userId="aebde9b9-dccc-4475-a9ac-c05e78323d7a" providerId="ADAL" clId="{A5133701-498D-E648-8762-F30786A2AA0D}" dt="2025-02-27T08:55:27.930" v="83" actId="1076"/>
        <pc:sldMkLst>
          <pc:docMk/>
          <pc:sldMk cId="199133261" sldId="1138"/>
        </pc:sldMkLst>
        <pc:spChg chg="mod">
          <ac:chgData name="Baráth, Július" userId="aebde9b9-dccc-4475-a9ac-c05e78323d7a" providerId="ADAL" clId="{A5133701-498D-E648-8762-F30786A2AA0D}" dt="2025-02-27T08:55:12.245" v="79" actId="404"/>
          <ac:spMkLst>
            <pc:docMk/>
            <pc:sldMk cId="199133261" sldId="1138"/>
            <ac:spMk id="5" creationId="{00000000-0000-0000-0000-000000000000}"/>
          </ac:spMkLst>
        </pc:spChg>
        <pc:spChg chg="add mod">
          <ac:chgData name="Baráth, Július" userId="aebde9b9-dccc-4475-a9ac-c05e78323d7a" providerId="ADAL" clId="{A5133701-498D-E648-8762-F30786A2AA0D}" dt="2025-02-27T08:54:46.447" v="76" actId="20577"/>
          <ac:spMkLst>
            <pc:docMk/>
            <pc:sldMk cId="199133261" sldId="1138"/>
            <ac:spMk id="6" creationId="{9485BDB2-1B2F-F8C6-7D86-6A87B28F5848}"/>
          </ac:spMkLst>
        </pc:spChg>
        <pc:picChg chg="mod">
          <ac:chgData name="Baráth, Július" userId="aebde9b9-dccc-4475-a9ac-c05e78323d7a" providerId="ADAL" clId="{A5133701-498D-E648-8762-F30786A2AA0D}" dt="2025-02-27T08:55:27.930" v="83" actId="1076"/>
          <ac:picMkLst>
            <pc:docMk/>
            <pc:sldMk cId="199133261" sldId="1138"/>
            <ac:picMk id="4" creationId="{13C59B45-7D7B-4870-B165-970D01D9F9CB}"/>
          </ac:picMkLst>
        </pc:picChg>
      </pc:sldChg>
      <pc:sldChg chg="addSp delSp modSp new mod modClrScheme chgLayout">
        <pc:chgData name="Baráth, Július" userId="aebde9b9-dccc-4475-a9ac-c05e78323d7a" providerId="ADAL" clId="{A5133701-498D-E648-8762-F30786A2AA0D}" dt="2025-02-27T08:45:15.779" v="43" actId="27636"/>
        <pc:sldMkLst>
          <pc:docMk/>
          <pc:sldMk cId="2976140778" sldId="1146"/>
        </pc:sldMkLst>
        <pc:spChg chg="del mod ord">
          <ac:chgData name="Baráth, Július" userId="aebde9b9-dccc-4475-a9ac-c05e78323d7a" providerId="ADAL" clId="{A5133701-498D-E648-8762-F30786A2AA0D}" dt="2025-02-27T08:40:57.023" v="1" actId="700"/>
          <ac:spMkLst>
            <pc:docMk/>
            <pc:sldMk cId="2976140778" sldId="1146"/>
            <ac:spMk id="2" creationId="{49B7D3F6-BC86-20EC-2CC5-E2B3F4C3AFF1}"/>
          </ac:spMkLst>
        </pc:spChg>
        <pc:spChg chg="del">
          <ac:chgData name="Baráth, Július" userId="aebde9b9-dccc-4475-a9ac-c05e78323d7a" providerId="ADAL" clId="{A5133701-498D-E648-8762-F30786A2AA0D}" dt="2025-02-27T08:40:57.023" v="1" actId="700"/>
          <ac:spMkLst>
            <pc:docMk/>
            <pc:sldMk cId="2976140778" sldId="1146"/>
            <ac:spMk id="3" creationId="{50142976-BAD4-A30E-0892-54A7ECCDB94D}"/>
          </ac:spMkLst>
        </pc:spChg>
        <pc:spChg chg="add del mod ord">
          <ac:chgData name="Baráth, Július" userId="aebde9b9-dccc-4475-a9ac-c05e78323d7a" providerId="ADAL" clId="{A5133701-498D-E648-8762-F30786A2AA0D}" dt="2025-02-27T08:41:14.529" v="5" actId="6264"/>
          <ac:spMkLst>
            <pc:docMk/>
            <pc:sldMk cId="2976140778" sldId="1146"/>
            <ac:spMk id="4" creationId="{E5499590-3160-D7EB-5C65-414E539BABC8}"/>
          </ac:spMkLst>
        </pc:spChg>
        <pc:spChg chg="add mod ord">
          <ac:chgData name="Baráth, Július" userId="aebde9b9-dccc-4475-a9ac-c05e78323d7a" providerId="ADAL" clId="{A5133701-498D-E648-8762-F30786A2AA0D}" dt="2025-02-27T08:45:15.779" v="43" actId="27636"/>
          <ac:spMkLst>
            <pc:docMk/>
            <pc:sldMk cId="2976140778" sldId="1146"/>
            <ac:spMk id="5" creationId="{F0885076-98E6-8884-9E90-9B11C702E6E3}"/>
          </ac:spMkLst>
        </pc:spChg>
        <pc:spChg chg="add del mod">
          <ac:chgData name="Baráth, Július" userId="aebde9b9-dccc-4475-a9ac-c05e78323d7a" providerId="ADAL" clId="{A5133701-498D-E648-8762-F30786A2AA0D}" dt="2025-02-27T08:41:14.529" v="5" actId="6264"/>
          <ac:spMkLst>
            <pc:docMk/>
            <pc:sldMk cId="2976140778" sldId="1146"/>
            <ac:spMk id="6" creationId="{48EFC073-31AE-53A8-E3B3-B4632437787E}"/>
          </ac:spMkLst>
        </pc:spChg>
        <pc:spChg chg="add mod ord">
          <ac:chgData name="Baráth, Július" userId="aebde9b9-dccc-4475-a9ac-c05e78323d7a" providerId="ADAL" clId="{A5133701-498D-E648-8762-F30786A2AA0D}" dt="2025-02-27T08:42:42.475" v="16" actId="108"/>
          <ac:spMkLst>
            <pc:docMk/>
            <pc:sldMk cId="2976140778" sldId="1146"/>
            <ac:spMk id="7" creationId="{18C9B0F4-DE06-EC4D-D234-AECA3F3E5A87}"/>
          </ac:spMkLst>
        </pc:spChg>
      </pc:sldChg>
    </pc:docChg>
  </pc:docChgLst>
  <pc:docChgLst>
    <pc:chgData name="Baráth, Július" userId="S::julius.barath@aos.sk::aebde9b9-dccc-4475-a9ac-c05e78323d7a" providerId="AD" clId="Web-{A9F82F4D-85BE-F4AD-77DF-89372C618ACB}"/>
    <pc:docChg chg="modSld">
      <pc:chgData name="Baráth, Július" userId="S::julius.barath@aos.sk::aebde9b9-dccc-4475-a9ac-c05e78323d7a" providerId="AD" clId="Web-{A9F82F4D-85BE-F4AD-77DF-89372C618ACB}" dt="2025-02-27T08:57:41.934" v="7" actId="14100"/>
      <pc:docMkLst>
        <pc:docMk/>
      </pc:docMkLst>
      <pc:sldChg chg="modSp">
        <pc:chgData name="Baráth, Július" userId="S::julius.barath@aos.sk::aebde9b9-dccc-4475-a9ac-c05e78323d7a" providerId="AD" clId="Web-{A9F82F4D-85BE-F4AD-77DF-89372C618ACB}" dt="2025-02-27T08:48:57.061" v="1" actId="20577"/>
        <pc:sldMkLst>
          <pc:docMk/>
          <pc:sldMk cId="1825574132" sldId="1133"/>
        </pc:sldMkLst>
        <pc:spChg chg="mod">
          <ac:chgData name="Baráth, Július" userId="S::julius.barath@aos.sk::aebde9b9-dccc-4475-a9ac-c05e78323d7a" providerId="AD" clId="Web-{A9F82F4D-85BE-F4AD-77DF-89372C618ACB}" dt="2025-02-27T08:48:57.061" v="1" actId="20577"/>
          <ac:spMkLst>
            <pc:docMk/>
            <pc:sldMk cId="1825574132" sldId="1133"/>
            <ac:spMk id="5" creationId="{00000000-0000-0000-0000-000000000000}"/>
          </ac:spMkLst>
        </pc:spChg>
      </pc:sldChg>
      <pc:sldChg chg="modSp">
        <pc:chgData name="Baráth, Július" userId="S::julius.barath@aos.sk::aebde9b9-dccc-4475-a9ac-c05e78323d7a" providerId="AD" clId="Web-{A9F82F4D-85BE-F4AD-77DF-89372C618ACB}" dt="2025-02-27T08:57:41.934" v="7" actId="14100"/>
        <pc:sldMkLst>
          <pc:docMk/>
          <pc:sldMk cId="2575124974" sldId="1139"/>
        </pc:sldMkLst>
        <pc:graphicFrameChg chg="mod">
          <ac:chgData name="Baráth, Július" userId="S::julius.barath@aos.sk::aebde9b9-dccc-4475-a9ac-c05e78323d7a" providerId="AD" clId="Web-{A9F82F4D-85BE-F4AD-77DF-89372C618ACB}" dt="2025-02-27T08:57:15.965" v="2" actId="1076"/>
          <ac:graphicFrameMkLst>
            <pc:docMk/>
            <pc:sldMk cId="2575124974" sldId="1139"/>
            <ac:graphicFrameMk id="21" creationId="{00000000-0000-0000-0000-000000000000}"/>
          </ac:graphicFrameMkLst>
        </pc:graphicFrameChg>
        <pc:picChg chg="mod">
          <ac:chgData name="Baráth, Július" userId="S::julius.barath@aos.sk::aebde9b9-dccc-4475-a9ac-c05e78323d7a" providerId="AD" clId="Web-{A9F82F4D-85BE-F4AD-77DF-89372C618ACB}" dt="2025-02-27T08:57:41.934" v="7" actId="14100"/>
          <ac:picMkLst>
            <pc:docMk/>
            <pc:sldMk cId="2575124974" sldId="1139"/>
            <ac:picMk id="6" creationId="{3F294ABE-E513-48D8-BC9B-4EBC0FC504D9}"/>
          </ac:picMkLst>
        </pc:picChg>
      </pc:sldChg>
    </pc:docChg>
  </pc:docChgLst>
  <pc:docChgLst>
    <pc:chgData name="Baráth, Július" userId="aebde9b9-dccc-4475-a9ac-c05e78323d7a" providerId="ADAL" clId="{EC383079-529B-FE45-BD41-12195F93BB93}"/>
    <pc:docChg chg="custSel modSld">
      <pc:chgData name="Baráth, Július" userId="aebde9b9-dccc-4475-a9ac-c05e78323d7a" providerId="ADAL" clId="{EC383079-529B-FE45-BD41-12195F93BB93}" dt="2023-02-24T10:46:42.094" v="11" actId="20577"/>
      <pc:docMkLst>
        <pc:docMk/>
      </pc:docMkLst>
      <pc:sldChg chg="delSp mod">
        <pc:chgData name="Baráth, Július" userId="aebde9b9-dccc-4475-a9ac-c05e78323d7a" providerId="ADAL" clId="{EC383079-529B-FE45-BD41-12195F93BB93}" dt="2023-02-24T10:45:30.488" v="0" actId="478"/>
        <pc:sldMkLst>
          <pc:docMk/>
          <pc:sldMk cId="302197020" sldId="1086"/>
        </pc:sldMkLst>
      </pc:sldChg>
      <pc:sldChg chg="modSp mod">
        <pc:chgData name="Baráth, Július" userId="aebde9b9-dccc-4475-a9ac-c05e78323d7a" providerId="ADAL" clId="{EC383079-529B-FE45-BD41-12195F93BB93}" dt="2023-02-24T10:46:42.094" v="11" actId="20577"/>
        <pc:sldMkLst>
          <pc:docMk/>
          <pc:sldMk cId="1343171131" sldId="10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11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Networking Security (NETSEC)
Module 11: IPS Technologies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a:t>11 – IPS Technologies</a:t>
            </a:r>
          </a:p>
          <a:p>
            <a:r>
              <a:rPr lang="en-GB"/>
              <a:t>11.0.2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11.1: IDS and IPS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11.1: IDS and IPS Characteristics
11.1.1: Zero-Day Attacks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11.1: IDS and IPS Characteristics
11.1.2: Monitor for Attacks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11.1: IDS and IPS Characteristics
11.1.3: Intrusion Prevention and Detection Devices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11.1: IDS and IPS Characteristics
11.1.4: Advantages and Disadvantages of IDS and IPS</a:t>
            </a:r>
          </a:p>
          <a:p>
            <a:r>
              <a:rPr lang="en-US"/>
              <a:t>11.1.5: Interactive Activity – Compare IDS and IPS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11.2: IPS Implementations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11.2: IPS Implementations
11.2.1: Types of IPS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11.2: IPS Implementations
11.2.2: Network-Based IPS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11.2: IPS Implementations
11.2.3: Modes of Deployment</a:t>
            </a:r>
          </a:p>
          <a:p>
            <a:r>
              <a:rPr lang="en-US"/>
              <a:t>11.2.4: Check Your Understanding – Compare IDS and IPS Deployment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11.3.1: IPS Components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11.3.2: Cisco IOS IPS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11.3.3: Snort IPS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11.3.4: Snort Operation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11.3.5: Snort Features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11.3: IPS on Cisco ISRs
11.3.6: Snort System Requirements</a:t>
            </a:r>
          </a:p>
          <a:p>
            <a:r>
              <a:rPr lang="en-US"/>
              <a:t>11.3.7: Check Your Understanding – IPS on Cisco ISRs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11.4.1: Network Monitoring Methods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11.4.2: Network Taps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11.4.3: Traffic Mirroring and SPAN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11.4.3: Traffic Mirroring and SPAN(Cont.)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95380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11.4.4: Configure Cisco SPAN using Intrusion Detection</a:t>
            </a:r>
          </a:p>
          <a:p>
            <a:r>
              <a:rPr lang="en-US"/>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11.4.4: Configure Cisco SPAN using Intrusion Detection</a:t>
            </a:r>
          </a:p>
          <a:p>
            <a:r>
              <a:rPr lang="en-US"/>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1979697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 IPS Technologies
11.4: Cisco Switched Port Analyzer
11.4.4: Configure Cisco SPAN using Intrusion Detection</a:t>
            </a:r>
          </a:p>
          <a:p>
            <a:r>
              <a:rPr lang="en-US"/>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247139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Networking Security (NETSEC)
Module 12: IPS Operation and Implementation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817938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28</a:t>
            </a:fld>
            <a:endPar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a:t>12 – IPS Operation and Implementation</a:t>
            </a:r>
          </a:p>
          <a:p>
            <a:r>
              <a:rPr lang="en-GB"/>
              <a:t>12.0.2 – What will I learn in this module?</a:t>
            </a:r>
          </a:p>
        </p:txBody>
      </p:sp>
    </p:spTree>
    <p:extLst>
      <p:ext uri="{BB962C8B-B14F-4D97-AF65-F5344CB8AC3E}">
        <p14:creationId xmlns:p14="http://schemas.microsoft.com/office/powerpoint/2010/main" val="27160607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097177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12.1.1: IPS Signature Attributes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698022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12.1.2: Types of Signatures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568584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12.1.3: IPS Signature Alarms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7232035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12.1.4: IPS Signature Actions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041199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1837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12.1: IPS Signatures 
12.1.5: Evaluating Alerts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379589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60F3A8B-CD00-467E-B70A-EC85617CD6B5}"/>
              </a:ext>
            </a:extLst>
          </p:cNvPr>
          <p:cNvSpPr>
            <a:spLocks noGrp="1"/>
          </p:cNvSpPr>
          <p:nvPr>
            <p:ph type="body" idx="1"/>
          </p:nvPr>
        </p:nvSpPr>
        <p:spPr>
          <a:xfrm>
            <a:off x="514350" y="4400550"/>
            <a:ext cx="4114800" cy="3600450"/>
          </a:xfrm>
          <a:prstGeom prst="rect">
            <a:avLst/>
          </a:prstGeom>
        </p:spPr>
        <p:txBody>
          <a:bodyPr/>
          <a:lstStyle/>
          <a:p>
            <a:r>
              <a:rPr lang="en-US"/>
              <a:t>12: IPS Operation and Implementation
12.1: IPS Signatures 
12.1.5: Evaluating Alerts</a:t>
            </a:r>
          </a:p>
          <a:p>
            <a:r>
              <a:rPr lang="en-US"/>
              <a:t>12.1.6: Check Your Understanding – IPS Signature Actions</a:t>
            </a:r>
          </a:p>
        </p:txBody>
      </p:sp>
    </p:spTree>
    <p:extLst>
      <p:ext uri="{BB962C8B-B14F-4D97-AF65-F5344CB8AC3E}">
        <p14:creationId xmlns:p14="http://schemas.microsoft.com/office/powerpoint/2010/main" val="1922951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7981708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12.2.1: Cisco IPS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6548643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12.2.2: NGIPS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6725534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12.2.3: Snort IPS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8162200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12.2.4: Snort Components and Rules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2563401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12.2.5: ISR Container Applications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6246315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12.2.6: Snort IPS Rule Alarms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9855454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12.2.7: Snort IPS Rule Actions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9000839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12.2.8: Snort IPS Header Rule Options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5647798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12.2.8: Snort IPS Header Rule Options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9771170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12.2.9: Snort IPS Operation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0228619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12.2: Cisco Snort IPS
12.2.9: Snort IPS Operation</a:t>
            </a:r>
          </a:p>
          <a:p>
            <a:r>
              <a:rPr lang="en-US"/>
              <a:t>12.2.10: Check Your Understanding - Snort IPS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7444327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2478757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12.3.1: Snort IPS Configuration Steps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4170035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12.3.2: Download the Snort OVA File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550420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12.3.3: Install the Snort OVA File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6062513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12.3.4: Configure Virtual Port Group Interfaces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6475232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12.3.5: Activate Virtual Services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7493339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0507900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4231800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23136073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12.3.7: Enable Unified Threat Defense (UTD)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2098163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 IPS Operation and Implementation
12.3: Configure Snort IPS
12.3.8: Verify Snort IPS</a:t>
            </a:r>
          </a:p>
          <a:p>
            <a:r>
              <a:rPr lang="en-US"/>
              <a:t>12.3.9: Syntax Checker - Configure Snort IPS</a:t>
            </a:r>
          </a:p>
          <a:p>
            <a:r>
              <a:rPr lang="en-US"/>
              <a:t>12.3.10: Check Your Understanding - Implementing Snort IPS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921379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Networking Security (NETSEC)
Module 13: Endpoint Security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899387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62</a:t>
            </a:fld>
            <a:endPar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a:t>13 – Endpoint Security</a:t>
            </a:r>
          </a:p>
          <a:p>
            <a:r>
              <a:rPr lang="en-GB"/>
              <a:t>13.0.2 – What will I learn to do in this module?</a:t>
            </a:r>
          </a:p>
        </p:txBody>
      </p:sp>
    </p:spTree>
    <p:extLst>
      <p:ext uri="{BB962C8B-B14F-4D97-AF65-F5344CB8AC3E}">
        <p14:creationId xmlns:p14="http://schemas.microsoft.com/office/powerpoint/2010/main" val="17163449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363836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13.1.1: LAN Elements Security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35772794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13.1.2: Traditional Endpoint Security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39519701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13.1.3: The Borderless Network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2562994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13.1.4: Security for Endpoints in the Borderless Network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3946837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13.1.5: Network-Based Malware Protection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39876153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13.1.6: Hardware and Software Encryption of Local Data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23551648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13.1.7: Network Access Control</a:t>
            </a:r>
          </a:p>
          <a:p>
            <a:r>
              <a:rPr lang="en-US"/>
              <a:t>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3534881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13.1: Endpoint Security Overview
13.1.8: NAC Functions</a:t>
            </a:r>
          </a:p>
          <a:p>
            <a:r>
              <a:rPr lang="en-US"/>
              <a:t>13.1.9: Check Your Understanding - Identify Endpoint Security Terminology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2106089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8733326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3513585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40104515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13.2.1: Security Using 802.1X Port-Based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29513619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13.2.2: Control the 802.1X Authorization State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1466450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13.2.3: 802.1X Configuration</a:t>
            </a:r>
          </a:p>
          <a:p>
            <a:r>
              <a:rPr lang="en-US"/>
              <a:t>13.2.4: Syntax Checker - Configure 802.1x Port-Authentication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20688761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Endpoint Security
13.2: 802.1X Authentication
13.2.3: 802.1X Configuration</a:t>
            </a:r>
          </a:p>
          <a:p>
            <a:r>
              <a:rPr lang="en-US"/>
              <a:t>13.2.4: Syntax Checker - Configure 802.1x Port-Authentication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2450605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79</a:t>
            </a:fld>
            <a:endParaRPr lang="en-US"/>
          </a:p>
        </p:txBody>
      </p:sp>
    </p:spTree>
    <p:extLst>
      <p:ext uri="{BB962C8B-B14F-4D97-AF65-F5344CB8AC3E}">
        <p14:creationId xmlns:p14="http://schemas.microsoft.com/office/powerpoint/2010/main" val="283331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2021  Cisco and/or its affiliates. All rights reserved.   Cisco Confidential</a:t>
            </a:r>
            <a:endParaRPr lang="en-US" sz="60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2125808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51782710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294889559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48061986"/>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4237533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70327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2986248342"/>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63048060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149768944"/>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3674650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1413300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7242849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133601351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761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59649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2603558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565847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4918645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2313208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96246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47239607"/>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100902622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3342652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99453282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71933893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12159865"/>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18058061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81807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504758265"/>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1022084564"/>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1658542416"/>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07728863"/>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06165051"/>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98282517"/>
      </p:ext>
    </p:extLst>
  </p:cSld>
  <p:clrMapOvr>
    <a:masterClrMapping/>
  </p:clrMapOvr>
  <p:transition spd="slow">
    <p:wip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26174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1750154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a:p>
        </p:txBody>
      </p:sp>
    </p:spTree>
    <p:extLst>
      <p:ext uri="{BB962C8B-B14F-4D97-AF65-F5344CB8AC3E}">
        <p14:creationId xmlns:p14="http://schemas.microsoft.com/office/powerpoint/2010/main" val="20253600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93"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8832608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2"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8.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26.xml"/><Relationship Id="rId5" Type="http://schemas.openxmlformats.org/officeDocument/2006/relationships/image" Target="../media/image29.pn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8.xml"/><Relationship Id="rId1" Type="http://schemas.openxmlformats.org/officeDocument/2006/relationships/tags" Target="../tags/tag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3" Type="http://schemas.openxmlformats.org/officeDocument/2006/relationships/hyperlink" Target="https://learn.microsoft.com/en-us/purview/information-protection" TargetMode="External"/><Relationship Id="rId2" Type="http://schemas.openxmlformats.org/officeDocument/2006/relationships/notesSlide" Target="../notesSlides/notesSlide66.xml"/><Relationship Id="rId1" Type="http://schemas.openxmlformats.org/officeDocument/2006/relationships/slideLayout" Target="../slideLayouts/slideLayout26.xml"/><Relationship Id="rId4" Type="http://schemas.openxmlformats.org/officeDocument/2006/relationships/hyperlink" Target="https://learn.microsoft.com/en-us/purview/dlp-learn-about-dlp"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26.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2.xm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4.xml"/><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5.xm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7.xm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a:t>Module 11: IPS Technologies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a:t>Networking Security  v1.0</a:t>
            </a:r>
          </a:p>
          <a:p>
            <a:pPr marL="0" indent="0">
              <a:buNone/>
            </a:pPr>
            <a:r>
              <a:rPr lang="en-US"/>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Title: </a:t>
            </a:r>
            <a:r>
              <a:rPr lang="en-US" altLang="en-US" sz="1400">
                <a:solidFill>
                  <a:schemeClr val="tx1"/>
                </a:solidFill>
                <a:ea typeface="Calibri" panose="020F0502020204030204" pitchFamily="34" charset="0"/>
                <a:cs typeface="Calibri" panose="020F0502020204030204" pitchFamily="34" charset="0"/>
              </a:rPr>
              <a:t>IPS Technologies</a:t>
            </a:r>
          </a:p>
          <a:p>
            <a:pPr marL="0" lvl="0" indent="0" defTabSz="914400" eaLnBrk="0" hangingPunct="0">
              <a:spcBef>
                <a:spcPct val="0"/>
              </a:spcBef>
              <a:spcAft>
                <a:spcPct val="0"/>
              </a:spcAft>
              <a:buClrTx/>
              <a:buSzTx/>
              <a:buNone/>
            </a:pPr>
            <a:endParaRPr lang="en-US" altLang="en-US" sz="1400">
              <a:solidFill>
                <a:schemeClr val="tx1"/>
              </a:solidFill>
            </a:endParaRPr>
          </a:p>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Objective</a:t>
            </a:r>
            <a:r>
              <a:rPr lang="en-US" altLang="en-US" sz="1400">
                <a:solidFill>
                  <a:schemeClr val="tx1"/>
                </a:solidFill>
                <a:ea typeface="Calibri" panose="020F0502020204030204" pitchFamily="34" charset="0"/>
                <a:cs typeface="Calibri" panose="020F0502020204030204" pitchFamily="34" charset="0"/>
              </a:rPr>
              <a:t>: Explain how network-based Intrusion Prevention Systems are used to help secure a network. </a:t>
            </a:r>
            <a:endParaRPr lang="en-US" altLang="en-US" sz="1600">
              <a:solidFill>
                <a:schemeClr val="tx1"/>
              </a:solidFill>
              <a:latin typeface="Arial" panose="020B0604020202020204" pitchFamily="34" charset="0"/>
            </a:endParaRPr>
          </a:p>
          <a:p>
            <a:pPr marL="0" indent="0">
              <a:spcBef>
                <a:spcPct val="30000"/>
              </a:spcBef>
              <a:buNone/>
            </a:pPr>
            <a:endParaRPr lang="en-US"/>
          </a:p>
          <a:p>
            <a:pPr marL="89297" indent="0">
              <a:spcBef>
                <a:spcPct val="30000"/>
              </a:spcBef>
              <a:buNone/>
            </a:pPr>
            <a:endParaRPr lang="en-US"/>
          </a:p>
          <a:p>
            <a:pPr marL="89297" indent="0">
              <a:spcBef>
                <a:spcPct val="30000"/>
              </a:spcBef>
              <a:buNone/>
            </a:pP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77213631"/>
              </p:ext>
            </p:extLst>
          </p:nvPr>
        </p:nvGraphicFramePr>
        <p:xfrm>
          <a:off x="423333" y="1625600"/>
          <a:ext cx="8263467" cy="1279012"/>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a:effectLst/>
                        </a:rPr>
                        <a:t>Topic Title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a:effectLst/>
                        </a:rPr>
                        <a:t>Topic Objective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a:effectLst/>
                          <a:latin typeface="Arial" panose="020B0604020202020204" pitchFamily="34" charset="0"/>
                          <a:ea typeface="Calibri" panose="020F0502020204030204" pitchFamily="34" charset="0"/>
                          <a:cs typeface="Arial" panose="020B0604020202020204" pitchFamily="34" charset="0"/>
                        </a:rPr>
                        <a:t>IDS and IPS Characteristics</a:t>
                      </a:r>
                    </a:p>
                  </a:txBody>
                  <a:tcPr marL="60168" marR="60168" marT="0" marB="0"/>
                </a:tc>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Explain the functions and operations of IDS and IPS systems.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a:effectLst/>
                          <a:latin typeface="Arial" panose="020B0604020202020204" pitchFamily="34" charset="0"/>
                          <a:cs typeface="Arial" panose="020B0604020202020204" pitchFamily="34" charset="0"/>
                        </a:rPr>
                        <a:t>IPS Implementations</a:t>
                      </a:r>
                      <a:endParaRPr lang="en-US" sz="100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Explain how network-based IPS are implemented.</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IPS on Cisco ISRs</a:t>
                      </a:r>
                    </a:p>
                  </a:txBody>
                  <a:tcPr marL="60168" marR="60168" marT="0" marB="0"/>
                </a:tc>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Describe the IPS technologies that are available on Cisco ISR routers.</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Cisco Switched Port Analyzer</a:t>
                      </a:r>
                    </a:p>
                  </a:txBody>
                  <a:tcPr marL="60168" marR="60168" marT="0" marB="0"/>
                </a:tc>
                <a:tc>
                  <a:txBody>
                    <a:bodyPr/>
                    <a:lstStyle/>
                    <a:p>
                      <a:pPr marL="0" marR="0">
                        <a:lnSpc>
                          <a:spcPct val="107000"/>
                        </a:lnSpc>
                        <a:spcBef>
                          <a:spcPts val="0"/>
                        </a:spcBef>
                        <a:spcAft>
                          <a:spcPts val="0"/>
                        </a:spcAft>
                      </a:pPr>
                      <a:r>
                        <a:rPr lang="en-US" sz="1100">
                          <a:effectLst/>
                          <a:latin typeface="Arial" panose="020B0604020202020204" pitchFamily="34" charset="0"/>
                          <a:ea typeface="Calibri" panose="020F0502020204030204" pitchFamily="34" charset="0"/>
                          <a:cs typeface="Arial" panose="020B0604020202020204" pitchFamily="34" charset="0"/>
                        </a:rPr>
                        <a:t>Configure Cisco SPAN.</a:t>
                      </a:r>
                    </a:p>
                  </a:txBody>
                  <a:tcPr marL="60168" marR="60168" marT="0" marB="0"/>
                </a:tc>
                <a:extLst>
                  <a:ext uri="{0D108BD9-81ED-4DB2-BD59-A6C34878D82A}">
                    <a16:rowId xmlns:a16="http://schemas.microsoft.com/office/drawing/2014/main" val="29826899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11.1 IDS and IPS Characteristics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Zero-Day Attacks</a:t>
            </a:r>
          </a:p>
        </p:txBody>
      </p:sp>
      <p:sp>
        <p:nvSpPr>
          <p:cNvPr id="5" name="Object4"/>
          <p:cNvSpPr/>
          <p:nvPr/>
        </p:nvSpPr>
        <p:spPr>
          <a:xfrm>
            <a:off x="0" y="760095"/>
            <a:ext cx="9039225" cy="80010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A zero-day attack is a cyberattack that tries to exploit software vulnerabilities that are unknown or undisclosed by the software vendor. The term zero-day describes the moment when a previously unknown threat is identified.</a:t>
            </a:r>
            <a:endParaRPr lang="en-US" sz="1400"/>
          </a:p>
        </p:txBody>
      </p:sp>
      <p:pic>
        <p:nvPicPr>
          <p:cNvPr id="4" name="Picture 3">
            <a:extLst>
              <a:ext uri="{FF2B5EF4-FFF2-40B4-BE49-F238E27FC236}">
                <a16:creationId xmlns:a16="http://schemas.microsoft.com/office/drawing/2014/main" id="{6C3999E1-E2D2-4D3B-A71F-CF3FE24AC41E}"/>
              </a:ext>
            </a:extLst>
          </p:cNvPr>
          <p:cNvPicPr>
            <a:picLocks noChangeAspect="1"/>
          </p:cNvPicPr>
          <p:nvPr/>
        </p:nvPicPr>
        <p:blipFill>
          <a:blip r:embed="rId3"/>
          <a:stretch>
            <a:fillRect/>
          </a:stretch>
        </p:blipFill>
        <p:spPr>
          <a:xfrm>
            <a:off x="104775" y="1558132"/>
            <a:ext cx="4025717" cy="2402363"/>
          </a:xfrm>
          <a:prstGeom prst="rect">
            <a:avLst/>
          </a:prstGeom>
        </p:spPr>
      </p:pic>
      <p:sp>
        <p:nvSpPr>
          <p:cNvPr id="7" name="TextBox 6">
            <a:extLst>
              <a:ext uri="{FF2B5EF4-FFF2-40B4-BE49-F238E27FC236}">
                <a16:creationId xmlns:a16="http://schemas.microsoft.com/office/drawing/2014/main" id="{40FC0CFF-27B4-451B-9904-7448116C0CEE}"/>
              </a:ext>
            </a:extLst>
          </p:cNvPr>
          <p:cNvSpPr txBox="1"/>
          <p:nvPr/>
        </p:nvSpPr>
        <p:spPr>
          <a:xfrm>
            <a:off x="5013510" y="2126943"/>
            <a:ext cx="3489160" cy="276999"/>
          </a:xfrm>
          <a:prstGeom prst="rect">
            <a:avLst/>
          </a:prstGeom>
          <a:noFill/>
        </p:spPr>
        <p:txBody>
          <a:bodyPr wrap="none" rtlCol="0">
            <a:spAutoFit/>
          </a:bodyPr>
          <a:lstStyle/>
          <a:p>
            <a:r>
              <a:rPr lang="en-US" sz="1200">
                <a:latin typeface="Arial" panose="020B0604020202020204" pitchFamily="34" charset="0"/>
                <a:cs typeface="Arial" panose="020B0604020202020204" pitchFamily="34" charset="0"/>
              </a:rPr>
              <a:t>Microsoft Internet Explore Zero-Day Vulnerability</a:t>
            </a:r>
          </a:p>
        </p:txBody>
      </p:sp>
      <p:pic>
        <p:nvPicPr>
          <p:cNvPr id="6" name="Picture 5">
            <a:extLst>
              <a:ext uri="{FF2B5EF4-FFF2-40B4-BE49-F238E27FC236}">
                <a16:creationId xmlns:a16="http://schemas.microsoft.com/office/drawing/2014/main" id="{FB781C0F-D765-400D-9F50-68ABA2DB2CD4}"/>
              </a:ext>
            </a:extLst>
          </p:cNvPr>
          <p:cNvPicPr>
            <a:picLocks noChangeAspect="1"/>
          </p:cNvPicPr>
          <p:nvPr/>
        </p:nvPicPr>
        <p:blipFill>
          <a:blip r:embed="rId4"/>
          <a:stretch>
            <a:fillRect/>
          </a:stretch>
        </p:blipFill>
        <p:spPr>
          <a:xfrm>
            <a:off x="4303724" y="2571750"/>
            <a:ext cx="4735502" cy="18895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Monitor for Attacks</a:t>
            </a:r>
          </a:p>
        </p:txBody>
      </p:sp>
      <p:sp>
        <p:nvSpPr>
          <p:cNvPr id="5" name="Object4"/>
          <p:cNvSpPr/>
          <p:nvPr/>
        </p:nvSpPr>
        <p:spPr>
          <a:xfrm>
            <a:off x="0" y="914400"/>
            <a:ext cx="4048125"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Intrusion Detection Systems (IDS) were implemented to passively monitor the traffic on a network. The figure shows that an IDS-enabled device copies the traffic stream and analyzes the copied traffic rather than the actual forwarded packets. A better solution is to use a device that can immediately detect and stop an attack. An Intrusion Prevention System (IPS) performs this function.</a:t>
            </a:r>
          </a:p>
          <a:p>
            <a:pPr>
              <a:lnSpc>
                <a:spcPts val="2000"/>
              </a:lnSpc>
            </a:pPr>
            <a:endParaRPr lang="en-US" sz="1400">
              <a:solidFill>
                <a:srgbClr val="000000"/>
              </a:solidFill>
              <a:latin typeface="Arial" pitchFamily="34" charset="0"/>
              <a:cs typeface="Arial" pitchFamily="34" charset="-120"/>
            </a:endParaRPr>
          </a:p>
          <a:p>
            <a:pPr>
              <a:lnSpc>
                <a:spcPts val="2000"/>
              </a:lnSpc>
            </a:pPr>
            <a:endParaRPr lang="en-US" sz="1400"/>
          </a:p>
        </p:txBody>
      </p:sp>
      <p:pic>
        <p:nvPicPr>
          <p:cNvPr id="4" name="Picture 3">
            <a:extLst>
              <a:ext uri="{FF2B5EF4-FFF2-40B4-BE49-F238E27FC236}">
                <a16:creationId xmlns:a16="http://schemas.microsoft.com/office/drawing/2014/main" id="{425013F0-64EE-4190-9DEC-FAEFB25FEC11}"/>
              </a:ext>
            </a:extLst>
          </p:cNvPr>
          <p:cNvPicPr>
            <a:picLocks noChangeAspect="1"/>
          </p:cNvPicPr>
          <p:nvPr/>
        </p:nvPicPr>
        <p:blipFill>
          <a:blip r:embed="rId3"/>
          <a:stretch>
            <a:fillRect/>
          </a:stretch>
        </p:blipFill>
        <p:spPr>
          <a:xfrm>
            <a:off x="4572000" y="914400"/>
            <a:ext cx="3646834" cy="35053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Intrusion Prevention and Detection Devices</a:t>
            </a:r>
          </a:p>
        </p:txBody>
      </p:sp>
      <p:pic>
        <p:nvPicPr>
          <p:cNvPr id="4" name="Picture 3">
            <a:extLst>
              <a:ext uri="{FF2B5EF4-FFF2-40B4-BE49-F238E27FC236}">
                <a16:creationId xmlns:a16="http://schemas.microsoft.com/office/drawing/2014/main" id="{B2096D81-DFD0-4D63-BBDF-2DCB7D0E23D8}"/>
              </a:ext>
            </a:extLst>
          </p:cNvPr>
          <p:cNvPicPr>
            <a:picLocks noChangeAspect="1"/>
          </p:cNvPicPr>
          <p:nvPr/>
        </p:nvPicPr>
        <p:blipFill>
          <a:blip r:embed="rId3"/>
          <a:stretch>
            <a:fillRect/>
          </a:stretch>
        </p:blipFill>
        <p:spPr>
          <a:xfrm>
            <a:off x="1325619" y="649399"/>
            <a:ext cx="5286956" cy="41721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Advantages and Disadvantages of IDS and IPS</a:t>
            </a:r>
          </a:p>
        </p:txBody>
      </p:sp>
      <p:graphicFrame>
        <p:nvGraphicFramePr>
          <p:cNvPr id="13" name="Table 12"/>
          <p:cNvGraphicFramePr>
            <a:graphicFrameLocks noGrp="1"/>
          </p:cNvGraphicFramePr>
          <p:nvPr>
            <p:extLst>
              <p:ext uri="{D42A27DB-BD31-4B8C-83A1-F6EECF244321}">
                <p14:modId xmlns:p14="http://schemas.microsoft.com/office/powerpoint/2010/main" val="2450008016"/>
              </p:ext>
            </p:extLst>
          </p:nvPr>
        </p:nvGraphicFramePr>
        <p:xfrm>
          <a:off x="91440" y="1371600"/>
          <a:ext cx="8961120" cy="1508760"/>
        </p:xfrm>
        <a:graphic>
          <a:graphicData uri="http://schemas.openxmlformats.org/drawingml/2006/table">
            <a:tbl>
              <a:tblPr/>
              <a:tblGrid>
                <a:gridCol w="991925">
                  <a:extLst>
                    <a:ext uri="{9D8B030D-6E8A-4147-A177-3AD203B41FA5}">
                      <a16:colId xmlns:a16="http://schemas.microsoft.com/office/drawing/2014/main" val="20000"/>
                    </a:ext>
                  </a:extLst>
                </a:gridCol>
                <a:gridCol w="3538331">
                  <a:extLst>
                    <a:ext uri="{9D8B030D-6E8A-4147-A177-3AD203B41FA5}">
                      <a16:colId xmlns:a16="http://schemas.microsoft.com/office/drawing/2014/main" val="20001"/>
                    </a:ext>
                  </a:extLst>
                </a:gridCol>
                <a:gridCol w="4430864">
                  <a:extLst>
                    <a:ext uri="{9D8B030D-6E8A-4147-A177-3AD203B41FA5}">
                      <a16:colId xmlns:a16="http://schemas.microsoft.com/office/drawing/2014/main" val="20002"/>
                    </a:ext>
                  </a:extLst>
                </a:gridCol>
              </a:tblGrid>
              <a:tr h="0">
                <a:tc>
                  <a:txBody>
                    <a:bodyPr/>
                    <a:lstStyle/>
                    <a:p>
                      <a:r>
                        <a:rPr lang="en-US" sz="1200">
                          <a:solidFill>
                            <a:srgbClr val="FFFFFF"/>
                          </a:solidFill>
                        </a:rPr>
                        <a:t>Solution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Advantages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Disadvantages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latin typeface="Arial" panose="020B0604020202020204" pitchFamily="34" charset="0"/>
                          <a:cs typeface="Arial" panose="020B0604020202020204" pitchFamily="34" charset="0"/>
                        </a:rPr>
                        <a:t>IDS</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No Impact on network (latency, jitter)</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No Network impact if there is a sensor failure</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No network impact if there is sensor overload</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Response action cannot stop trigger packets</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Correct tuning required for response actions</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More vulnerable to network security evasion techniques</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latin typeface="Arial" panose="020B0604020202020204" pitchFamily="34" charset="0"/>
                          <a:cs typeface="Arial" panose="020B0604020202020204" pitchFamily="34" charset="0"/>
                        </a:rPr>
                        <a:t>IPS</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Stops trigger packets</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Can use stream normalization techniques</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Sensor issues might affect network traffic</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Sensor overloading impacts the network</a:t>
                      </a:r>
                      <a:endParaRPr lang="en-US" sz="120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a:solidFill>
                            <a:srgbClr val="58585B"/>
                          </a:solidFill>
                          <a:latin typeface="Arial" panose="020B0604020202020204" pitchFamily="34" charset="0"/>
                          <a:cs typeface="Arial" panose="020B0604020202020204" pitchFamily="34" charset="0"/>
                        </a:rPr>
                        <a:t>Some impact on network (latency, jitter)</a:t>
                      </a:r>
                      <a:endParaRPr lang="en-US" sz="120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11.2 IPS Implementations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Types of IPS</a:t>
            </a:r>
          </a:p>
        </p:txBody>
      </p:sp>
      <p:sp>
        <p:nvSpPr>
          <p:cNvPr id="4" name="Rectangle 3">
            <a:extLst>
              <a:ext uri="{FF2B5EF4-FFF2-40B4-BE49-F238E27FC236}">
                <a16:creationId xmlns:a16="http://schemas.microsoft.com/office/drawing/2014/main" id="{914D5229-62C9-42A2-BB81-55526A79B5CB}"/>
              </a:ext>
            </a:extLst>
          </p:cNvPr>
          <p:cNvSpPr/>
          <p:nvPr/>
        </p:nvSpPr>
        <p:spPr>
          <a:xfrm>
            <a:off x="0" y="778609"/>
            <a:ext cx="4238625" cy="3539430"/>
          </a:xfrm>
          <a:prstGeom prst="rect">
            <a:avLst/>
          </a:prstGeom>
        </p:spPr>
        <p:txBody>
          <a:bodyPr wrap="square">
            <a:spAutoFit/>
          </a:bodyPr>
          <a:lstStyle/>
          <a:p>
            <a:r>
              <a:rPr lang="en-US" sz="1400">
                <a:latin typeface="Arial" panose="020B0604020202020204" pitchFamily="34" charset="0"/>
                <a:cs typeface="Arial" panose="020B0604020202020204" pitchFamily="34" charset="0"/>
              </a:rPr>
              <a:t>There are two primary kinds of IPS available: host-based IPS (HIPS) and network-based IPS. </a:t>
            </a:r>
          </a:p>
          <a:p>
            <a:endParaRPr lang="en-US" sz="1400">
              <a:latin typeface="Arial" panose="020B0604020202020204" pitchFamily="34" charset="0"/>
              <a:cs typeface="Arial" panose="020B0604020202020204" pitchFamily="34" charset="0"/>
            </a:endParaRPr>
          </a:p>
          <a:p>
            <a:r>
              <a:rPr lang="en-US" sz="1400">
                <a:latin typeface="Arial" panose="020B0604020202020204" pitchFamily="34" charset="0"/>
                <a:cs typeface="Arial" panose="020B0604020202020204" pitchFamily="34" charset="0"/>
              </a:rPr>
              <a:t>HIPS can be thought of as a combination of antivirus software, antimalware software, and a firewall. An example of a HIPS is Windows Defender. It provides a range of protection measures for Windows hosts. </a:t>
            </a:r>
          </a:p>
          <a:p>
            <a:endParaRPr lang="en-US" sz="1400">
              <a:latin typeface="Arial" panose="020B0604020202020204" pitchFamily="34" charset="0"/>
              <a:cs typeface="Arial" panose="020B0604020202020204" pitchFamily="34" charset="0"/>
            </a:endParaRPr>
          </a:p>
          <a:p>
            <a:r>
              <a:rPr lang="en-US" sz="1400">
                <a:latin typeface="Arial" panose="020B0604020202020204" pitchFamily="34" charset="0"/>
                <a:cs typeface="Arial" panose="020B0604020202020204" pitchFamily="34" charset="0"/>
              </a:rPr>
              <a:t>A network-based IPS can be implemented using a dedicated or non-dedicated IPS device such as a router. Network-based IPS implementations are a critical component of intrusion prevention. Host-based IDS/IPS solutions must be integrated with a network-based IPS implementation to ensure a robust security architecture.</a:t>
            </a:r>
          </a:p>
        </p:txBody>
      </p:sp>
      <p:sp>
        <p:nvSpPr>
          <p:cNvPr id="6" name="TextBox 5">
            <a:extLst>
              <a:ext uri="{FF2B5EF4-FFF2-40B4-BE49-F238E27FC236}">
                <a16:creationId xmlns:a16="http://schemas.microsoft.com/office/drawing/2014/main" id="{ACBD7A30-E477-43A8-9DAC-235B347830B9}"/>
              </a:ext>
            </a:extLst>
          </p:cNvPr>
          <p:cNvSpPr txBox="1"/>
          <p:nvPr/>
        </p:nvSpPr>
        <p:spPr>
          <a:xfrm>
            <a:off x="5286451" y="895350"/>
            <a:ext cx="2754280" cy="307777"/>
          </a:xfrm>
          <a:prstGeom prst="rect">
            <a:avLst/>
          </a:prstGeom>
          <a:noFill/>
        </p:spPr>
        <p:txBody>
          <a:bodyPr wrap="none" rtlCol="0">
            <a:spAutoFit/>
          </a:bodyPr>
          <a:lstStyle/>
          <a:p>
            <a:r>
              <a:rPr lang="en-US" sz="1400">
                <a:latin typeface="Arial" panose="020B0604020202020204" pitchFamily="34" charset="0"/>
                <a:cs typeface="Arial" panose="020B0604020202020204" pitchFamily="34" charset="0"/>
              </a:rPr>
              <a:t>Sample IPS Sensor Deployment</a:t>
            </a:r>
          </a:p>
        </p:txBody>
      </p:sp>
      <p:pic>
        <p:nvPicPr>
          <p:cNvPr id="5" name="Picture 4">
            <a:extLst>
              <a:ext uri="{FF2B5EF4-FFF2-40B4-BE49-F238E27FC236}">
                <a16:creationId xmlns:a16="http://schemas.microsoft.com/office/drawing/2014/main" id="{3BB29CB3-6DA2-455D-9294-C9713E8713D1}"/>
              </a:ext>
            </a:extLst>
          </p:cNvPr>
          <p:cNvPicPr>
            <a:picLocks noChangeAspect="1"/>
          </p:cNvPicPr>
          <p:nvPr/>
        </p:nvPicPr>
        <p:blipFill>
          <a:blip r:embed="rId3"/>
          <a:stretch>
            <a:fillRect/>
          </a:stretch>
        </p:blipFill>
        <p:spPr>
          <a:xfrm>
            <a:off x="4238625" y="1463040"/>
            <a:ext cx="4849933" cy="263856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Network-Based IPS</a:t>
            </a:r>
          </a:p>
        </p:txBody>
      </p:sp>
      <p:sp>
        <p:nvSpPr>
          <p:cNvPr id="5" name="Object4"/>
          <p:cNvSpPr/>
          <p:nvPr/>
        </p:nvSpPr>
        <p:spPr>
          <a:xfrm>
            <a:off x="398275" y="881531"/>
            <a:ext cx="8229600" cy="3465744"/>
          </a:xfrm>
          <a:prstGeom prst="rect">
            <a:avLst/>
          </a:prstGeom>
          <a:noFill/>
          <a:ln/>
        </p:spPr>
        <p:txBody>
          <a:bodyPr wrap="square" lIns="91440" tIns="45720" rIns="91440" bIns="45720" rtlCol="0" anchor="t"/>
          <a:lstStyle/>
          <a:p>
            <a:pPr>
              <a:lnSpc>
                <a:spcPts val="2000"/>
              </a:lnSpc>
            </a:pPr>
            <a:r>
              <a:rPr lang="en-US" sz="1400">
                <a:solidFill>
                  <a:srgbClr val="000000"/>
                </a:solidFill>
                <a:latin typeface="Arial"/>
                <a:ea typeface="Arial" pitchFamily="34" charset="-122"/>
                <a:cs typeface="Arial"/>
              </a:rPr>
              <a:t>Network-based IPS Sensors can be implemented in several ways:</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On a Cisco Firepower appliance</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On an ASA firewall device</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On an ISR router</a:t>
            </a:r>
          </a:p>
          <a:p>
            <a:pPr marL="285750" indent="-285750">
              <a:lnSpc>
                <a:spcPts val="2000"/>
              </a:lnSpc>
              <a:buFont typeface="Arial" panose="020B0604020202020204" pitchFamily="34" charset="0"/>
              <a:buChar char="•"/>
            </a:pPr>
            <a:r>
              <a:rPr lang="en-US" sz="1400">
                <a:solidFill>
                  <a:srgbClr val="000000"/>
                </a:solidFill>
                <a:latin typeface="Arial"/>
                <a:ea typeface="Arial" pitchFamily="34" charset="-122"/>
                <a:cs typeface="Arial"/>
              </a:rPr>
              <a:t>As an </a:t>
            </a:r>
            <a:r>
              <a:rPr lang="en-US" sz="1400" err="1">
                <a:solidFill>
                  <a:srgbClr val="000000"/>
                </a:solidFill>
                <a:latin typeface="Arial"/>
                <a:ea typeface="Arial" pitchFamily="34" charset="-122"/>
                <a:cs typeface="Arial"/>
              </a:rPr>
              <a:t>NGIPSv</a:t>
            </a:r>
            <a:r>
              <a:rPr lang="en-US" sz="1400">
                <a:solidFill>
                  <a:srgbClr val="000000"/>
                </a:solidFill>
                <a:latin typeface="Arial"/>
                <a:ea typeface="Arial" pitchFamily="34" charset="-122"/>
                <a:cs typeface="Arial"/>
              </a:rPr>
              <a:t> for VMware</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a:ea typeface="Arial" pitchFamily="34" charset="-122"/>
                <a:cs typeface="Arial"/>
              </a:rPr>
              <a:t>The hardware of all network-based sensors includes three components:</a:t>
            </a:r>
          </a:p>
          <a:p>
            <a:pPr marL="285750" indent="-285750">
              <a:lnSpc>
                <a:spcPts val="2000"/>
              </a:lnSpc>
              <a:buFont typeface="Arial" panose="020B0604020202020204" pitchFamily="34" charset="0"/>
              <a:buChar char="•"/>
            </a:pPr>
            <a:r>
              <a:rPr lang="en-US" sz="1400" b="1">
                <a:solidFill>
                  <a:srgbClr val="000000"/>
                </a:solidFill>
                <a:latin typeface="Arial"/>
                <a:ea typeface="Arial" pitchFamily="34" charset="-122"/>
                <a:cs typeface="Arial"/>
              </a:rPr>
              <a:t>NIC</a:t>
            </a:r>
            <a:r>
              <a:rPr lang="en-US" sz="1400">
                <a:solidFill>
                  <a:srgbClr val="000000"/>
                </a:solidFill>
                <a:latin typeface="Arial"/>
                <a:ea typeface="Arial" pitchFamily="34" charset="-122"/>
                <a:cs typeface="Arial"/>
              </a:rPr>
              <a:t> - The network-based IPS must be able to connect to any network, such as Ethernet, Fast Ethernet, and Gigabit Ethernet.</a:t>
            </a:r>
          </a:p>
          <a:p>
            <a:pPr marL="285750" indent="-285750">
              <a:lnSpc>
                <a:spcPts val="2000"/>
              </a:lnSpc>
              <a:buFont typeface="Arial" panose="020B0604020202020204" pitchFamily="34" charset="0"/>
              <a:buChar char="•"/>
            </a:pPr>
            <a:r>
              <a:rPr lang="en-US" sz="1400" b="1">
                <a:solidFill>
                  <a:srgbClr val="000000"/>
                </a:solidFill>
                <a:latin typeface="Arial"/>
                <a:ea typeface="Arial" pitchFamily="34" charset="-122"/>
                <a:cs typeface="Arial"/>
              </a:rPr>
              <a:t>Processor</a:t>
            </a:r>
            <a:r>
              <a:rPr lang="en-US" sz="1400">
                <a:solidFill>
                  <a:srgbClr val="000000"/>
                </a:solidFill>
                <a:latin typeface="Arial"/>
                <a:ea typeface="Arial" pitchFamily="34" charset="-122"/>
                <a:cs typeface="Arial"/>
              </a:rPr>
              <a:t> - Intrusion prevention requires CPU power to perform intrusion detection analysis and pattern matching.</a:t>
            </a:r>
          </a:p>
          <a:p>
            <a:pPr marL="285750" indent="-285750">
              <a:lnSpc>
                <a:spcPts val="2000"/>
              </a:lnSpc>
              <a:buFont typeface="Arial" panose="020B0604020202020204" pitchFamily="34" charset="0"/>
              <a:buChar char="•"/>
            </a:pPr>
            <a:r>
              <a:rPr lang="en-US" sz="1400" b="1">
                <a:solidFill>
                  <a:srgbClr val="000000"/>
                </a:solidFill>
                <a:latin typeface="Arial"/>
                <a:ea typeface="Arial" pitchFamily="34" charset="-122"/>
                <a:cs typeface="Arial"/>
              </a:rPr>
              <a:t>Memory</a:t>
            </a:r>
            <a:r>
              <a:rPr lang="en-US" sz="1400">
                <a:solidFill>
                  <a:srgbClr val="000000"/>
                </a:solidFill>
                <a:latin typeface="Arial"/>
                <a:ea typeface="Arial" pitchFamily="34" charset="-122"/>
                <a:cs typeface="Arial"/>
              </a:rPr>
              <a:t> - Intrusion detection analysis is memory-intensive. Memory directly affects the ability of a network-based IPS to efficiently and accurately detect an attack.</a:t>
            </a:r>
            <a:endParaRPr lang="en-US" sz="140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Modes of Deployment</a:t>
            </a:r>
          </a:p>
        </p:txBody>
      </p:sp>
      <p:sp>
        <p:nvSpPr>
          <p:cNvPr id="5" name="Object4"/>
          <p:cNvSpPr/>
          <p:nvPr/>
        </p:nvSpPr>
        <p:spPr>
          <a:xfrm>
            <a:off x="114300" y="731520"/>
            <a:ext cx="2171700" cy="60198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IDS and IPS sensors can operate in inline mode (also known as inline interface pair mode) or promiscuous mode (also known as passive mode).</a:t>
            </a:r>
            <a:endParaRPr lang="en-US" sz="1400"/>
          </a:p>
        </p:txBody>
      </p:sp>
      <p:sp>
        <p:nvSpPr>
          <p:cNvPr id="6" name="TextBox 5">
            <a:extLst>
              <a:ext uri="{FF2B5EF4-FFF2-40B4-BE49-F238E27FC236}">
                <a16:creationId xmlns:a16="http://schemas.microsoft.com/office/drawing/2014/main" id="{43E99BF7-2FEB-4F11-834E-7A34D8B24638}"/>
              </a:ext>
            </a:extLst>
          </p:cNvPr>
          <p:cNvSpPr txBox="1"/>
          <p:nvPr/>
        </p:nvSpPr>
        <p:spPr>
          <a:xfrm>
            <a:off x="5449498" y="577631"/>
            <a:ext cx="1109599" cy="307777"/>
          </a:xfrm>
          <a:prstGeom prst="rect">
            <a:avLst/>
          </a:prstGeom>
          <a:noFill/>
        </p:spPr>
        <p:txBody>
          <a:bodyPr wrap="none" rtlCol="0">
            <a:spAutoFit/>
          </a:bodyPr>
          <a:lstStyle/>
          <a:p>
            <a:r>
              <a:rPr lang="en-US" sz="1400">
                <a:latin typeface="Arial" panose="020B0604020202020204" pitchFamily="34" charset="0"/>
                <a:cs typeface="Arial" panose="020B0604020202020204" pitchFamily="34" charset="0"/>
              </a:rPr>
              <a:t>Inline Mode</a:t>
            </a:r>
          </a:p>
        </p:txBody>
      </p:sp>
      <p:pic>
        <p:nvPicPr>
          <p:cNvPr id="4" name="Picture 3">
            <a:extLst>
              <a:ext uri="{FF2B5EF4-FFF2-40B4-BE49-F238E27FC236}">
                <a16:creationId xmlns:a16="http://schemas.microsoft.com/office/drawing/2014/main" id="{A2646865-F1A0-4B04-9477-C10F521B2F60}"/>
              </a:ext>
            </a:extLst>
          </p:cNvPr>
          <p:cNvPicPr>
            <a:picLocks noChangeAspect="1"/>
          </p:cNvPicPr>
          <p:nvPr/>
        </p:nvPicPr>
        <p:blipFill>
          <a:blip r:embed="rId3"/>
          <a:stretch>
            <a:fillRect/>
          </a:stretch>
        </p:blipFill>
        <p:spPr>
          <a:xfrm>
            <a:off x="2978896" y="914019"/>
            <a:ext cx="6050804" cy="830652"/>
          </a:xfrm>
          <a:prstGeom prst="rect">
            <a:avLst/>
          </a:prstGeom>
          <a:solidFill>
            <a:schemeClr val="tx1"/>
          </a:solidFill>
          <a:ln>
            <a:solidFill>
              <a:schemeClr val="tx1"/>
            </a:solidFill>
          </a:ln>
        </p:spPr>
      </p:pic>
      <p:sp>
        <p:nvSpPr>
          <p:cNvPr id="10" name="TextBox 9">
            <a:extLst>
              <a:ext uri="{FF2B5EF4-FFF2-40B4-BE49-F238E27FC236}">
                <a16:creationId xmlns:a16="http://schemas.microsoft.com/office/drawing/2014/main" id="{8DCDA28D-0825-469A-803B-15961DDA45E6}"/>
              </a:ext>
            </a:extLst>
          </p:cNvPr>
          <p:cNvSpPr txBox="1"/>
          <p:nvPr/>
        </p:nvSpPr>
        <p:spPr>
          <a:xfrm>
            <a:off x="2978896" y="3018309"/>
            <a:ext cx="1220206" cy="523220"/>
          </a:xfrm>
          <a:prstGeom prst="rect">
            <a:avLst/>
          </a:prstGeom>
          <a:noFill/>
        </p:spPr>
        <p:txBody>
          <a:bodyPr wrap="none" rtlCol="0">
            <a:spAutoFit/>
          </a:bodyPr>
          <a:lstStyle/>
          <a:p>
            <a:r>
              <a:rPr lang="en-US" sz="1400">
                <a:latin typeface="Arial" panose="020B0604020202020204" pitchFamily="34" charset="0"/>
                <a:cs typeface="Arial" panose="020B0604020202020204" pitchFamily="34" charset="0"/>
              </a:rPr>
              <a:t>Promiscuous</a:t>
            </a:r>
          </a:p>
          <a:p>
            <a:r>
              <a:rPr lang="en-US" sz="1400">
                <a:latin typeface="Arial" panose="020B0604020202020204" pitchFamily="34" charset="0"/>
                <a:cs typeface="Arial" panose="020B0604020202020204" pitchFamily="34" charset="0"/>
              </a:rPr>
              <a:t>Mode</a:t>
            </a:r>
          </a:p>
        </p:txBody>
      </p:sp>
      <p:pic>
        <p:nvPicPr>
          <p:cNvPr id="7" name="Picture 6">
            <a:extLst>
              <a:ext uri="{FF2B5EF4-FFF2-40B4-BE49-F238E27FC236}">
                <a16:creationId xmlns:a16="http://schemas.microsoft.com/office/drawing/2014/main" id="{2293F7E1-BE2A-4231-AD73-1AF03FA804D2}"/>
              </a:ext>
            </a:extLst>
          </p:cNvPr>
          <p:cNvPicPr>
            <a:picLocks noChangeAspect="1"/>
          </p:cNvPicPr>
          <p:nvPr/>
        </p:nvPicPr>
        <p:blipFill>
          <a:blip r:embed="rId4"/>
          <a:stretch>
            <a:fillRect/>
          </a:stretch>
        </p:blipFill>
        <p:spPr>
          <a:xfrm>
            <a:off x="4323419" y="1955869"/>
            <a:ext cx="4591981" cy="2648100"/>
          </a:xfrm>
          <a:prstGeom prst="rect">
            <a:avLst/>
          </a:prstGeom>
          <a:ln>
            <a:solidFill>
              <a:schemeClr val="tx1"/>
            </a:solidFill>
          </a:ln>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11.3 IPS on Cisco ISRs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 Components</a:t>
            </a:r>
          </a:p>
        </p:txBody>
      </p:sp>
      <p:sp>
        <p:nvSpPr>
          <p:cNvPr id="5" name="Object4"/>
          <p:cNvSpPr/>
          <p:nvPr/>
        </p:nvSpPr>
        <p:spPr>
          <a:xfrm>
            <a:off x="0" y="914400"/>
            <a:ext cx="400547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An IPS sensor has two components:</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IPS detection and enforcement engine </a:t>
            </a:r>
            <a:r>
              <a:rPr lang="en-US" sz="1400">
                <a:solidFill>
                  <a:srgbClr val="000000"/>
                </a:solidFill>
                <a:latin typeface="Arial" pitchFamily="34" charset="0"/>
                <a:ea typeface="Arial" pitchFamily="34" charset="-122"/>
                <a:cs typeface="Arial" pitchFamily="34" charset="-120"/>
              </a:rPr>
              <a:t>- To validate traffic, the detection engine compares incoming traffic with known attack signatures that are included in the IPS attack signature package.</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IPS attack signatures package </a:t>
            </a:r>
            <a:r>
              <a:rPr lang="en-US" sz="1400">
                <a:solidFill>
                  <a:srgbClr val="000000"/>
                </a:solidFill>
                <a:latin typeface="Arial" pitchFamily="34" charset="0"/>
                <a:ea typeface="Arial" pitchFamily="34" charset="-122"/>
                <a:cs typeface="Arial" pitchFamily="34" charset="-120"/>
              </a:rPr>
              <a:t>- This is a list of known attack signatures that are contained in one file. The signature pack is updated frequently as new attacks are discovered. Network traffic is analyzed for matches to these signatures.</a:t>
            </a:r>
          </a:p>
        </p:txBody>
      </p:sp>
      <p:sp>
        <p:nvSpPr>
          <p:cNvPr id="6" name="Object4">
            <a:extLst>
              <a:ext uri="{FF2B5EF4-FFF2-40B4-BE49-F238E27FC236}">
                <a16:creationId xmlns:a16="http://schemas.microsoft.com/office/drawing/2014/main" id="{7823D708-17F8-474F-830E-DDDFD1064073}"/>
              </a:ext>
            </a:extLst>
          </p:cNvPr>
          <p:cNvSpPr/>
          <p:nvPr/>
        </p:nvSpPr>
        <p:spPr>
          <a:xfrm>
            <a:off x="4333462" y="407504"/>
            <a:ext cx="4641574"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The IPS detection and enforcement engine that can be implemented depends on the router platform:</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Cisco IOS Intrusion Prevention System (IPS)</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Cisco Snort IPS </a:t>
            </a:r>
            <a:endParaRPr lang="en-US" sz="1400"/>
          </a:p>
        </p:txBody>
      </p:sp>
      <p:pic>
        <p:nvPicPr>
          <p:cNvPr id="7" name="Picture 6">
            <a:extLst>
              <a:ext uri="{FF2B5EF4-FFF2-40B4-BE49-F238E27FC236}">
                <a16:creationId xmlns:a16="http://schemas.microsoft.com/office/drawing/2014/main" id="{E98019CE-744A-4AEA-B506-CA28198B58A2}"/>
              </a:ext>
            </a:extLst>
          </p:cNvPr>
          <p:cNvPicPr>
            <a:picLocks noChangeAspect="1"/>
          </p:cNvPicPr>
          <p:nvPr/>
        </p:nvPicPr>
        <p:blipFill>
          <a:blip r:embed="rId3"/>
          <a:stretch>
            <a:fillRect/>
          </a:stretch>
        </p:blipFill>
        <p:spPr>
          <a:xfrm>
            <a:off x="4333462" y="1826315"/>
            <a:ext cx="4216617" cy="260998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Cisco IOS IPS</a:t>
            </a:r>
          </a:p>
        </p:txBody>
      </p:sp>
      <p:sp>
        <p:nvSpPr>
          <p:cNvPr id="5" name="Object4"/>
          <p:cNvSpPr/>
          <p:nvPr/>
        </p:nvSpPr>
        <p:spPr>
          <a:xfrm>
            <a:off x="-1" y="914400"/>
            <a:ext cx="5911985"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The network administrator could configure the Cisco IOS IPS to choose the appropriate response to various threats. For example, when packets in a session matched a signature, Cisco IOS IPS could be configured to respond as follows:</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Send an alarm to a syslog server or a centralized management interface.</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Drop the packet.</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Reset the connection.</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Deny traffic from the source IP address of the threat for a specified amount of time.</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Deny traffic on the connection for which the signature was seen for a specified amount of time.</a:t>
            </a:r>
            <a:endParaRPr lang="en-US" sz="1400"/>
          </a:p>
        </p:txBody>
      </p:sp>
      <p:pic>
        <p:nvPicPr>
          <p:cNvPr id="6" name="Picture 5">
            <a:extLst>
              <a:ext uri="{FF2B5EF4-FFF2-40B4-BE49-F238E27FC236}">
                <a16:creationId xmlns:a16="http://schemas.microsoft.com/office/drawing/2014/main" id="{62F8FA1E-B62F-4440-8623-E2963669DA16}"/>
              </a:ext>
            </a:extLst>
          </p:cNvPr>
          <p:cNvPicPr>
            <a:picLocks noChangeAspect="1"/>
          </p:cNvPicPr>
          <p:nvPr/>
        </p:nvPicPr>
        <p:blipFill>
          <a:blip r:embed="rId3"/>
          <a:stretch>
            <a:fillRect/>
          </a:stretch>
        </p:blipFill>
        <p:spPr>
          <a:xfrm>
            <a:off x="5911984" y="1377448"/>
            <a:ext cx="2774815" cy="210870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a:t>
            </a:r>
          </a:p>
        </p:txBody>
      </p:sp>
      <p:sp>
        <p:nvSpPr>
          <p:cNvPr id="5" name="Object4"/>
          <p:cNvSpPr/>
          <p:nvPr/>
        </p:nvSpPr>
        <p:spPr>
          <a:xfrm>
            <a:off x="0" y="695739"/>
            <a:ext cx="6172200" cy="2790411"/>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Many of the devices that supported Cisco IOS IPS are no longer available, or no longer supported. The newer Cisco 4000 Series Integrated Services Routers (ISR) provide IPS services using the Snort IPS feature. Snort is an open source network IPS that performs real-time traffic analysis and generates alerts when threats are detected on IP networks. It can also perform protocol analysis, content searching or matching, and detect a variety of attacks and probes, such as buffer overflows, stealth port scans, etc.</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The Snort engine runs in a virtual service container on Cisco 4000 Series ISRs. A virtual service container is a virtual machine that runs on the ISR router operating system. Service containers are applications that can be hosted directly on Cisco IOS XE routing platforms. The Snort container is distributed as an Open Virtualization Appliance (OVA) file that is installed on the router.</a:t>
            </a:r>
          </a:p>
          <a:p>
            <a:pPr>
              <a:lnSpc>
                <a:spcPts val="2000"/>
              </a:lnSpc>
            </a:pPr>
            <a:endParaRPr lang="en-US" sz="140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2EC7F241-550D-4423-9125-9E95CB1EA993}"/>
              </a:ext>
            </a:extLst>
          </p:cNvPr>
          <p:cNvPicPr>
            <a:picLocks noChangeAspect="1"/>
          </p:cNvPicPr>
          <p:nvPr/>
        </p:nvPicPr>
        <p:blipFill>
          <a:blip r:embed="rId3"/>
          <a:stretch>
            <a:fillRect/>
          </a:stretch>
        </p:blipFill>
        <p:spPr>
          <a:xfrm>
            <a:off x="6085695" y="1444537"/>
            <a:ext cx="2601104" cy="19721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Operation </a:t>
            </a:r>
          </a:p>
        </p:txBody>
      </p:sp>
      <p:sp>
        <p:nvSpPr>
          <p:cNvPr id="5" name="Object4"/>
          <p:cNvSpPr/>
          <p:nvPr/>
        </p:nvSpPr>
        <p:spPr>
          <a:xfrm>
            <a:off x="371959" y="914400"/>
            <a:ext cx="822960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Snort IPS signatures are delivered automatically to the ISR by Cisco Talos. Snort can customize rule sets and provide centralized deployment and management capabilities for 4000 Series ISRs.</a:t>
            </a:r>
          </a:p>
          <a:p>
            <a:pPr>
              <a:lnSpc>
                <a:spcPts val="2000"/>
              </a:lnSpc>
            </a:pPr>
            <a:r>
              <a:rPr lang="en-US" sz="1400">
                <a:solidFill>
                  <a:srgbClr val="000000"/>
                </a:solidFill>
                <a:latin typeface="Arial" pitchFamily="34" charset="0"/>
                <a:ea typeface="Arial" pitchFamily="34" charset="-122"/>
                <a:cs typeface="Arial" pitchFamily="34" charset="-120"/>
              </a:rPr>
              <a:t>Snort can be enabled in IDS mode or IPS mode:</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IDS mode </a:t>
            </a:r>
            <a:r>
              <a:rPr lang="en-US" sz="1400">
                <a:solidFill>
                  <a:srgbClr val="000000"/>
                </a:solidFill>
                <a:latin typeface="Arial" pitchFamily="34" charset="0"/>
                <a:ea typeface="Arial" pitchFamily="34" charset="-122"/>
                <a:cs typeface="Arial" pitchFamily="34" charset="-120"/>
              </a:rPr>
              <a:t>- Snort inspects the traffic and reports alerts but does not take any action to prevent attacks.</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IPS mode </a:t>
            </a:r>
            <a:r>
              <a:rPr lang="en-US" sz="1400">
                <a:solidFill>
                  <a:srgbClr val="000000"/>
                </a:solidFill>
                <a:latin typeface="Arial" pitchFamily="34" charset="0"/>
                <a:ea typeface="Arial" pitchFamily="34" charset="-122"/>
                <a:cs typeface="Arial" pitchFamily="34" charset="-120"/>
              </a:rPr>
              <a:t>- In addition to intrusion detection, actions are taken to prevent attacks.</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In the network intrusion detection and prevention mode, Snort performs the following actions:</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Monitors network traffic and analyzes against a defined rule set.</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Performs attack classification.</a:t>
            </a:r>
          </a:p>
          <a:p>
            <a:pPr marL="285750" indent="-285750">
              <a:lnSpc>
                <a:spcPts val="2000"/>
              </a:lnSpc>
              <a:buFont typeface="Arial" panose="020B0604020202020204" pitchFamily="34" charset="0"/>
              <a:buChar char="•"/>
            </a:pPr>
            <a:r>
              <a:rPr lang="en-US" sz="1400">
                <a:solidFill>
                  <a:srgbClr val="000000"/>
                </a:solidFill>
                <a:latin typeface="Arial" pitchFamily="34" charset="0"/>
                <a:ea typeface="Arial" pitchFamily="34" charset="-122"/>
                <a:cs typeface="Arial" pitchFamily="34" charset="-120"/>
              </a:rPr>
              <a:t>Invokes actions against matched rules.</a:t>
            </a:r>
          </a:p>
          <a:p>
            <a:pPr>
              <a:lnSpc>
                <a:spcPts val="2000"/>
              </a:lnSpc>
            </a:pPr>
            <a:endParaRPr lang="en-US" sz="140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Features</a:t>
            </a:r>
          </a:p>
        </p:txBody>
      </p:sp>
      <p:sp>
        <p:nvSpPr>
          <p:cNvPr id="5" name="Rectangle 4">
            <a:extLst>
              <a:ext uri="{FF2B5EF4-FFF2-40B4-BE49-F238E27FC236}">
                <a16:creationId xmlns:a16="http://schemas.microsoft.com/office/drawing/2014/main" id="{817F3B31-CF95-4F81-88F1-0118B4B2D22A}"/>
              </a:ext>
            </a:extLst>
          </p:cNvPr>
          <p:cNvSpPr/>
          <p:nvPr/>
        </p:nvSpPr>
        <p:spPr>
          <a:xfrm>
            <a:off x="0" y="731520"/>
            <a:ext cx="4572000" cy="307777"/>
          </a:xfrm>
          <a:prstGeom prst="rect">
            <a:avLst/>
          </a:prstGeom>
        </p:spPr>
        <p:txBody>
          <a:bodyPr>
            <a:spAutoFit/>
          </a:bodyPr>
          <a:lstStyle/>
          <a:p>
            <a:r>
              <a:rPr lang="en-US" sz="1400">
                <a:latin typeface="Arial" panose="020B0604020202020204" pitchFamily="34" charset="0"/>
                <a:cs typeface="Arial" panose="020B0604020202020204" pitchFamily="34" charset="0"/>
              </a:rPr>
              <a:t>The table lists the features and benefits of Snort IPS.</a:t>
            </a:r>
          </a:p>
        </p:txBody>
      </p:sp>
      <p:graphicFrame>
        <p:nvGraphicFramePr>
          <p:cNvPr id="25" name="Table 24"/>
          <p:cNvGraphicFramePr>
            <a:graphicFrameLocks noGrp="1"/>
          </p:cNvGraphicFramePr>
          <p:nvPr>
            <p:extLst>
              <p:ext uri="{D42A27DB-BD31-4B8C-83A1-F6EECF244321}">
                <p14:modId xmlns:p14="http://schemas.microsoft.com/office/powerpoint/2010/main" val="4258844964"/>
              </p:ext>
            </p:extLst>
          </p:nvPr>
        </p:nvGraphicFramePr>
        <p:xfrm>
          <a:off x="91440" y="1039297"/>
          <a:ext cx="8961120" cy="3017520"/>
        </p:xfrm>
        <a:graphic>
          <a:graphicData uri="http://schemas.openxmlformats.org/drawingml/2006/table">
            <a:tbl>
              <a:tblPr/>
              <a:tblGrid>
                <a:gridCol w="3307743">
                  <a:extLst>
                    <a:ext uri="{9D8B030D-6E8A-4147-A177-3AD203B41FA5}">
                      <a16:colId xmlns:a16="http://schemas.microsoft.com/office/drawing/2014/main" val="20000"/>
                    </a:ext>
                  </a:extLst>
                </a:gridCol>
                <a:gridCol w="5653377">
                  <a:extLst>
                    <a:ext uri="{9D8B030D-6E8A-4147-A177-3AD203B41FA5}">
                      <a16:colId xmlns:a16="http://schemas.microsoft.com/office/drawing/2014/main" val="20001"/>
                    </a:ext>
                  </a:extLst>
                </a:gridCol>
              </a:tblGrid>
              <a:tr h="0">
                <a:tc>
                  <a:txBody>
                    <a:bodyPr/>
                    <a:lstStyle/>
                    <a:p>
                      <a:r>
                        <a:rPr lang="en-US" sz="1200">
                          <a:solidFill>
                            <a:srgbClr val="FFFFFF"/>
                          </a:solidFill>
                        </a:rPr>
                        <a:t>Feature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Benefit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Signature-based intrusion detection system (IDS) and intrusion prevention system (IPS)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Snort open-source IPS, capable of performing real-time traffic analysis and packet logging on IP networks, runs on the 4000 Series ISR service container without the need to deploy an additional device at the branch.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Snort rule set updates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Snort rule set updates for 4000 Series ISRs are generated by Cisco Talos, a group of leading-edge network security experts who work around the clock to proactively discover, assess, and respond to the latest trends in hacking activities, intrusion attempts, malware, and vulnerabilities.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a:solidFill>
                            <a:srgbClr val="58585B"/>
                          </a:solidFill>
                        </a:rPr>
                        <a:t>Snort rule set pull</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The router will be able to download rule sets directly from cisco.com or snort.org to a local server, using one-time commands or periodic automated updates.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a:solidFill>
                            <a:srgbClr val="58585B"/>
                          </a:solidFill>
                        </a:rPr>
                        <a:t>Snort rule set push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A centralized management tool can push the rule sets based on preconfigured policy, instead of the router directly downloading on its own.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a:solidFill>
                            <a:srgbClr val="58585B"/>
                          </a:solidFill>
                        </a:rPr>
                        <a:t>Signature allowed listing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Allowed listing allows the disabling of certain signatures from the rule set. Disabled signatures can be reenabled at any time.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System Requirements</a:t>
            </a:r>
          </a:p>
        </p:txBody>
      </p:sp>
      <p:sp>
        <p:nvSpPr>
          <p:cNvPr id="5" name="Object4"/>
          <p:cNvSpPr/>
          <p:nvPr/>
        </p:nvSpPr>
        <p:spPr>
          <a:xfrm>
            <a:off x="302217" y="844658"/>
            <a:ext cx="8229600" cy="2571750"/>
          </a:xfrm>
          <a:prstGeom prst="rect">
            <a:avLst/>
          </a:prstGeom>
          <a:noFill/>
          <a:ln/>
        </p:spPr>
        <p:txBody>
          <a:bodyPr wrap="square" rtlCol="0" anchor="t"/>
          <a:lstStyle/>
          <a:p>
            <a:pPr>
              <a:lnSpc>
                <a:spcPts val="2000"/>
              </a:lnSpc>
            </a:pPr>
            <a:r>
              <a:rPr lang="en-US" sz="1400">
                <a:solidFill>
                  <a:srgbClr val="000000"/>
                </a:solidFill>
                <a:latin typeface="Arial" pitchFamily="34" charset="0"/>
                <a:ea typeface="Arial" pitchFamily="34" charset="-122"/>
                <a:cs typeface="Arial" pitchFamily="34" charset="-120"/>
              </a:rPr>
              <a:t>A security K9 license (SEC) is required to activate Snort IPS functionality. Customers also need to purchase a yearly subscription for the signature package distributed on cisco.com. To keep current with the latest threat protection, Snort rule sets are term-based subscriptions, available for one or three years.</a:t>
            </a:r>
          </a:p>
          <a:p>
            <a:pPr>
              <a:lnSpc>
                <a:spcPts val="2000"/>
              </a:lnSpc>
            </a:pPr>
            <a:endParaRPr lang="en-US" sz="1400">
              <a:solidFill>
                <a:srgbClr val="000000"/>
              </a:solidFill>
              <a:latin typeface="Arial" pitchFamily="34" charset="0"/>
              <a:ea typeface="Arial" pitchFamily="34" charset="-122"/>
              <a:cs typeface="Arial" pitchFamily="34" charset="-120"/>
            </a:endParaRPr>
          </a:p>
          <a:p>
            <a:pPr>
              <a:lnSpc>
                <a:spcPts val="2000"/>
              </a:lnSpc>
            </a:pPr>
            <a:r>
              <a:rPr lang="en-US" sz="1400">
                <a:solidFill>
                  <a:srgbClr val="000000"/>
                </a:solidFill>
                <a:latin typeface="Arial" pitchFamily="34" charset="0"/>
                <a:ea typeface="Arial" pitchFamily="34" charset="-122"/>
                <a:cs typeface="Arial" pitchFamily="34" charset="-120"/>
              </a:rPr>
              <a:t>There are two types of term-based subscriptions:</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Community Rule Set </a:t>
            </a:r>
            <a:r>
              <a:rPr lang="en-US" sz="1400">
                <a:solidFill>
                  <a:srgbClr val="000000"/>
                </a:solidFill>
                <a:latin typeface="Arial" pitchFamily="34" charset="0"/>
                <a:ea typeface="Arial" pitchFamily="34" charset="-122"/>
                <a:cs typeface="Arial" pitchFamily="34" charset="-120"/>
              </a:rPr>
              <a:t>- Offers limited coverage against threats, focusing on reactive response to security threats versus proactive research work. There is 30-day delayed access to updated signatures in the Community Rule Set, and this subscription does not entitle the customer to Cisco support.</a:t>
            </a:r>
          </a:p>
          <a:p>
            <a:pPr marL="285750" indent="-285750">
              <a:lnSpc>
                <a:spcPts val="2000"/>
              </a:lnSpc>
              <a:buFont typeface="Arial" panose="020B0604020202020204" pitchFamily="34" charset="0"/>
              <a:buChar char="•"/>
            </a:pPr>
            <a:r>
              <a:rPr lang="en-US" sz="1400" b="1">
                <a:solidFill>
                  <a:srgbClr val="000000"/>
                </a:solidFill>
                <a:latin typeface="Arial" pitchFamily="34" charset="0"/>
                <a:ea typeface="Arial" pitchFamily="34" charset="-122"/>
                <a:cs typeface="Arial" pitchFamily="34" charset="-120"/>
              </a:rPr>
              <a:t>Subscriber Rule Set </a:t>
            </a:r>
            <a:r>
              <a:rPr lang="en-US" sz="1400">
                <a:solidFill>
                  <a:srgbClr val="000000"/>
                </a:solidFill>
                <a:latin typeface="Arial" pitchFamily="34" charset="0"/>
                <a:ea typeface="Arial" pitchFamily="34" charset="-122"/>
                <a:cs typeface="Arial" pitchFamily="34" charset="-120"/>
              </a:rPr>
              <a:t>- Offers the best protection against threats. It includes coverage in advance of exploits by using the research work of the Cisco Talos security experts. The Subscriber Rule Set also provides the fastest access to updated signatures in response to a security incident or the proactive discovery of a new threat. This subscription is fully supported by Cisco.</a:t>
            </a:r>
            <a:endParaRPr lang="en-US" sz="140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11.4 Cisco Switched Port Analyzer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Network Monitoring Methods</a:t>
            </a:r>
          </a:p>
        </p:txBody>
      </p:sp>
      <p:sp>
        <p:nvSpPr>
          <p:cNvPr id="5" name="Object4"/>
          <p:cNvSpPr/>
          <p:nvPr/>
        </p:nvSpPr>
        <p:spPr>
          <a:xfrm>
            <a:off x="247973" y="929898"/>
            <a:ext cx="8229600" cy="257175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The day-to-day operation of a network consists of common patterns of traffic flow, bandwidth usage, and resource access. Together, these patterns identify normal network behavior. Security analysts must be intimately familiar with normal network behavior because abnormal network behavior typically indicates a problem.</a:t>
            </a:r>
          </a:p>
          <a:p>
            <a:pPr>
              <a:lnSpc>
                <a:spcPts val="2000"/>
              </a:lnSpc>
            </a:pPr>
            <a:endParaRPr lang="en-US" sz="1600">
              <a:solidFill>
                <a:srgbClr val="000000"/>
              </a:solidFill>
              <a:latin typeface="Arial" pitchFamily="34" charset="0"/>
              <a:ea typeface="Arial" pitchFamily="34" charset="-122"/>
              <a:cs typeface="Arial" pitchFamily="34" charset="-120"/>
            </a:endParaRPr>
          </a:p>
          <a:p>
            <a:pPr>
              <a:lnSpc>
                <a:spcPts val="2000"/>
              </a:lnSpc>
            </a:pPr>
            <a:r>
              <a:rPr lang="en-US" sz="1600">
                <a:solidFill>
                  <a:srgbClr val="000000"/>
                </a:solidFill>
                <a:latin typeface="Arial" pitchFamily="34" charset="0"/>
                <a:ea typeface="Arial" pitchFamily="34" charset="-122"/>
                <a:cs typeface="Arial" pitchFamily="34" charset="-120"/>
              </a:rPr>
              <a:t>To determine normal network behavior, network monitoring must be implemented using IDS, packet analyzers, SNMP, NetFlow, and other tools. Some of these tools require captured network data. There are two common methods used to capture traffic and send it to network monitoring devices:</a:t>
            </a:r>
          </a:p>
          <a:p>
            <a:pPr>
              <a:lnSpc>
                <a:spcPts val="2000"/>
              </a:lnSpc>
            </a:pPr>
            <a:endParaRPr lang="en-US" sz="160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a:solidFill>
                  <a:srgbClr val="000000"/>
                </a:solidFill>
                <a:latin typeface="Arial" pitchFamily="34" charset="0"/>
                <a:ea typeface="Arial" pitchFamily="34" charset="-122"/>
                <a:cs typeface="Arial" pitchFamily="34" charset="-120"/>
              </a:rPr>
              <a:t>    Network taps, sometimes known as test access points (TAPs)</a:t>
            </a:r>
          </a:p>
          <a:p>
            <a:pPr marL="285750" indent="-285750">
              <a:lnSpc>
                <a:spcPts val="2000"/>
              </a:lnSpc>
              <a:buFont typeface="Arial" panose="020B0604020202020204" pitchFamily="34" charset="0"/>
              <a:buChar char="•"/>
            </a:pPr>
            <a:r>
              <a:rPr lang="en-US" sz="1600">
                <a:solidFill>
                  <a:srgbClr val="000000"/>
                </a:solidFill>
                <a:latin typeface="Arial" pitchFamily="34" charset="0"/>
                <a:ea typeface="Arial" pitchFamily="34" charset="-122"/>
                <a:cs typeface="Arial" pitchFamily="34" charset="-120"/>
              </a:rPr>
              <a:t>    Traffic mirroring using Switch Port Analyzer (SPAN) or other port mirroring approaches. </a:t>
            </a:r>
            <a:endParaRPr lang="en-US" sz="160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Network Taps</a:t>
            </a:r>
          </a:p>
        </p:txBody>
      </p:sp>
      <p:sp>
        <p:nvSpPr>
          <p:cNvPr id="5" name="Object4"/>
          <p:cNvSpPr/>
          <p:nvPr/>
        </p:nvSpPr>
        <p:spPr>
          <a:xfrm>
            <a:off x="0" y="914400"/>
            <a:ext cx="3827721" cy="914400"/>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A network tap is typically a passive splitting device implemented inline between a device of interest and the network. A tap forwards all traffic, including physical layer errors, to an analysis device while also allowing the traffic to reach its intended destination. Taps are also typically fail-safe, which means if a tap fails or loses power, traffic between the firewall and internal router is not affected.</a:t>
            </a:r>
            <a:endParaRPr lang="en-US" sz="1600"/>
          </a:p>
        </p:txBody>
      </p:sp>
      <p:pic>
        <p:nvPicPr>
          <p:cNvPr id="4" name="Picture 3">
            <a:extLst>
              <a:ext uri="{FF2B5EF4-FFF2-40B4-BE49-F238E27FC236}">
                <a16:creationId xmlns:a16="http://schemas.microsoft.com/office/drawing/2014/main" id="{8E208B47-B1FD-41D7-8465-D5D24DE08C12}"/>
              </a:ext>
            </a:extLst>
          </p:cNvPr>
          <p:cNvPicPr>
            <a:picLocks noChangeAspect="1"/>
          </p:cNvPicPr>
          <p:nvPr/>
        </p:nvPicPr>
        <p:blipFill>
          <a:blip r:embed="rId3"/>
          <a:stretch>
            <a:fillRect/>
          </a:stretch>
        </p:blipFill>
        <p:spPr>
          <a:xfrm>
            <a:off x="3879336" y="914400"/>
            <a:ext cx="4881003" cy="26919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Traffic Mirroring and SPAN</a:t>
            </a:r>
          </a:p>
        </p:txBody>
      </p:sp>
      <p:graphicFrame>
        <p:nvGraphicFramePr>
          <p:cNvPr id="31" name="Table 30"/>
          <p:cNvGraphicFramePr>
            <a:graphicFrameLocks noGrp="1"/>
          </p:cNvGraphicFramePr>
          <p:nvPr>
            <p:extLst>
              <p:ext uri="{D42A27DB-BD31-4B8C-83A1-F6EECF244321}">
                <p14:modId xmlns:p14="http://schemas.microsoft.com/office/powerpoint/2010/main" val="82132030"/>
              </p:ext>
            </p:extLst>
          </p:nvPr>
        </p:nvGraphicFramePr>
        <p:xfrm>
          <a:off x="1072431" y="2863051"/>
          <a:ext cx="6816256" cy="1661160"/>
        </p:xfrm>
        <a:graphic>
          <a:graphicData uri="http://schemas.openxmlformats.org/drawingml/2006/table">
            <a:tbl>
              <a:tblPr/>
              <a:tblGrid>
                <a:gridCol w="1782690">
                  <a:extLst>
                    <a:ext uri="{9D8B030D-6E8A-4147-A177-3AD203B41FA5}">
                      <a16:colId xmlns:a16="http://schemas.microsoft.com/office/drawing/2014/main" val="20000"/>
                    </a:ext>
                  </a:extLst>
                </a:gridCol>
                <a:gridCol w="5033566">
                  <a:extLst>
                    <a:ext uri="{9D8B030D-6E8A-4147-A177-3AD203B41FA5}">
                      <a16:colId xmlns:a16="http://schemas.microsoft.com/office/drawing/2014/main" val="20001"/>
                    </a:ext>
                  </a:extLst>
                </a:gridCol>
              </a:tblGrid>
              <a:tr h="0">
                <a:tc>
                  <a:txBody>
                    <a:bodyPr/>
                    <a:lstStyle/>
                    <a:p>
                      <a:r>
                        <a:rPr lang="en-US" sz="1200">
                          <a:solidFill>
                            <a:srgbClr val="FFFFFF"/>
                          </a:solidFill>
                        </a:rPr>
                        <a:t>SPAN Term</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Description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Ingress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Traffic that enters the switch.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Egress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Traffic that leaves the switch.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a:solidFill>
                            <a:srgbClr val="58585B"/>
                          </a:solidFill>
                        </a:rPr>
                        <a:t>Source (SPAN) port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Source ports are monitored as traffic entering them is replicated (mirrored) to the destination ports.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a:solidFill>
                            <a:srgbClr val="58585B"/>
                          </a:solidFill>
                        </a:rPr>
                        <a:t>Destination (SPAN) port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 port that mirrors source ports. Destination SPAN ports often connect to analysis devices such as a packet analyzer or an IDS.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512F6ECA-2BFB-4971-AA50-CBF493AB9308}"/>
              </a:ext>
            </a:extLst>
          </p:cNvPr>
          <p:cNvSpPr/>
          <p:nvPr/>
        </p:nvSpPr>
        <p:spPr>
          <a:xfrm>
            <a:off x="0" y="726788"/>
            <a:ext cx="8961119" cy="2031325"/>
          </a:xfrm>
          <a:prstGeom prst="rect">
            <a:avLst/>
          </a:prstGeom>
        </p:spPr>
        <p:txBody>
          <a:bodyPr wrap="square">
            <a:spAutoFit/>
          </a:bodyPr>
          <a:lstStyle/>
          <a:p>
            <a:r>
              <a:rPr lang="en-US">
                <a:latin typeface="Arial" panose="020B0604020202020204" pitchFamily="34" charset="0"/>
                <a:cs typeface="Arial" panose="020B0604020202020204" pitchFamily="34" charset="0"/>
              </a:rPr>
              <a:t>Because capturing data for network monitoring requires all traffic to be captured, special techniques must be employed to bypass the network segmentation imposed by network switches. Port mirroring is one of these techniques. Port mirroring enables the switch to copy frames that are received on one or more ports to a Switch Port Analyzer (SPAN) port that is connected to an analysis device.</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table identifies and describes terms used by the SPAN feature.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Traffic Mirroring and SPAN (Cont.)</a:t>
            </a:r>
          </a:p>
        </p:txBody>
      </p:sp>
      <p:sp>
        <p:nvSpPr>
          <p:cNvPr id="4" name="Rectangle 3">
            <a:extLst>
              <a:ext uri="{FF2B5EF4-FFF2-40B4-BE49-F238E27FC236}">
                <a16:creationId xmlns:a16="http://schemas.microsoft.com/office/drawing/2014/main" id="{809BC78A-609A-42CF-A366-78DBF409B01F}"/>
              </a:ext>
            </a:extLst>
          </p:cNvPr>
          <p:cNvSpPr/>
          <p:nvPr/>
        </p:nvSpPr>
        <p:spPr>
          <a:xfrm>
            <a:off x="142876" y="865554"/>
            <a:ext cx="4280038" cy="1200329"/>
          </a:xfrm>
          <a:prstGeom prst="rect">
            <a:avLst/>
          </a:prstGeom>
        </p:spPr>
        <p:txBody>
          <a:bodyPr wrap="square">
            <a:spAutoFit/>
          </a:bodyPr>
          <a:lstStyle/>
          <a:p>
            <a:r>
              <a:rPr lang="en-US">
                <a:latin typeface="Arial" panose="020B0604020202020204" pitchFamily="34" charset="0"/>
                <a:cs typeface="Arial" panose="020B0604020202020204" pitchFamily="34" charset="0"/>
              </a:rPr>
              <a:t>The figure shows a switch that interconnects two hosts and mirrors traffic to an intrusion detection device (IDS) and network management server.</a:t>
            </a:r>
          </a:p>
        </p:txBody>
      </p:sp>
      <p:pic>
        <p:nvPicPr>
          <p:cNvPr id="5" name="Picture 4">
            <a:extLst>
              <a:ext uri="{FF2B5EF4-FFF2-40B4-BE49-F238E27FC236}">
                <a16:creationId xmlns:a16="http://schemas.microsoft.com/office/drawing/2014/main" id="{4BF7D586-BB00-48E4-8836-54AFF2D01CAF}"/>
              </a:ext>
            </a:extLst>
          </p:cNvPr>
          <p:cNvPicPr>
            <a:picLocks noChangeAspect="1"/>
          </p:cNvPicPr>
          <p:nvPr/>
        </p:nvPicPr>
        <p:blipFill>
          <a:blip r:embed="rId3"/>
          <a:stretch>
            <a:fillRect/>
          </a:stretch>
        </p:blipFill>
        <p:spPr>
          <a:xfrm>
            <a:off x="4253948" y="622070"/>
            <a:ext cx="4775488" cy="365587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a:p>
        </p:txBody>
      </p:sp>
    </p:spTree>
    <p:extLst>
      <p:ext uri="{BB962C8B-B14F-4D97-AF65-F5344CB8AC3E}">
        <p14:creationId xmlns:p14="http://schemas.microsoft.com/office/powerpoint/2010/main" val="651672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Configure Cisco SPAN</a:t>
            </a:r>
          </a:p>
        </p:txBody>
      </p:sp>
      <p:sp>
        <p:nvSpPr>
          <p:cNvPr id="5" name="Object4"/>
          <p:cNvSpPr/>
          <p:nvPr/>
        </p:nvSpPr>
        <p:spPr>
          <a:xfrm>
            <a:off x="286719" y="929896"/>
            <a:ext cx="8725545" cy="3571875"/>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The SPAN feature on Cisco switches sends a copy of each frame entering the source port out the destination port and toward the packet analyzer or IDS. A session number is used to identify a SPAN session. The figure shows the </a:t>
            </a:r>
            <a:r>
              <a:rPr lang="en-US" sz="1600" b="1">
                <a:solidFill>
                  <a:srgbClr val="000000"/>
                </a:solidFill>
                <a:latin typeface="Arial" pitchFamily="34" charset="0"/>
                <a:ea typeface="Arial" pitchFamily="34" charset="-122"/>
                <a:cs typeface="Arial" pitchFamily="34" charset="-120"/>
              </a:rPr>
              <a:t>monitor session </a:t>
            </a:r>
            <a:r>
              <a:rPr lang="en-US" sz="1600">
                <a:solidFill>
                  <a:srgbClr val="000000"/>
                </a:solidFill>
                <a:latin typeface="Arial" pitchFamily="34" charset="0"/>
                <a:ea typeface="Arial" pitchFamily="34" charset="-122"/>
                <a:cs typeface="Arial" pitchFamily="34" charset="-120"/>
              </a:rPr>
              <a:t>command, used to associate a source port and a destination port with a SPAN session.  A VLAN can be specified instead of a physical port.</a:t>
            </a:r>
            <a:endParaRPr lang="en-US" sz="1600"/>
          </a:p>
        </p:txBody>
      </p:sp>
      <p:pic>
        <p:nvPicPr>
          <p:cNvPr id="7" name="Picture 6">
            <a:extLst>
              <a:ext uri="{FF2B5EF4-FFF2-40B4-BE49-F238E27FC236}">
                <a16:creationId xmlns:a16="http://schemas.microsoft.com/office/drawing/2014/main" id="{712AFB09-DAE6-4CAA-BF78-F003C63B8302}"/>
              </a:ext>
            </a:extLst>
          </p:cNvPr>
          <p:cNvPicPr>
            <a:picLocks noChangeAspect="1"/>
          </p:cNvPicPr>
          <p:nvPr/>
        </p:nvPicPr>
        <p:blipFill>
          <a:blip r:embed="rId3"/>
          <a:stretch>
            <a:fillRect/>
          </a:stretch>
        </p:blipFill>
        <p:spPr>
          <a:xfrm>
            <a:off x="520920" y="2322405"/>
            <a:ext cx="8102160" cy="80177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Configure Cisco SPAN (cont.)</a:t>
            </a:r>
          </a:p>
        </p:txBody>
      </p:sp>
      <p:sp>
        <p:nvSpPr>
          <p:cNvPr id="5" name="Object4"/>
          <p:cNvSpPr/>
          <p:nvPr/>
        </p:nvSpPr>
        <p:spPr>
          <a:xfrm>
            <a:off x="0" y="914399"/>
            <a:ext cx="3091070" cy="3571875"/>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In this example, PCA is connected to F0/1 and an IDS is connected to F0/2. The objective is to capture all the traffic that is sent or received by PCA on port F0/1 and send a copy of those frames to the IDS (or a packet analyzer) on port F0/2. The SPAN session on the switch will copy all the traffic that it sends and receives on source port F0/1 to the destination port F0/2.</a:t>
            </a:r>
            <a:endParaRPr lang="en-US" sz="1600"/>
          </a:p>
        </p:txBody>
      </p:sp>
      <p:pic>
        <p:nvPicPr>
          <p:cNvPr id="6" name="Picture 5">
            <a:extLst>
              <a:ext uri="{FF2B5EF4-FFF2-40B4-BE49-F238E27FC236}">
                <a16:creationId xmlns:a16="http://schemas.microsoft.com/office/drawing/2014/main" id="{B7BE455B-FEA5-437C-8AF9-36739959F0DE}"/>
              </a:ext>
            </a:extLst>
          </p:cNvPr>
          <p:cNvPicPr>
            <a:picLocks noChangeAspect="1"/>
          </p:cNvPicPr>
          <p:nvPr/>
        </p:nvPicPr>
        <p:blipFill>
          <a:blip r:embed="rId3"/>
          <a:stretch>
            <a:fillRect/>
          </a:stretch>
        </p:blipFill>
        <p:spPr>
          <a:xfrm>
            <a:off x="3157967" y="923842"/>
            <a:ext cx="5857840" cy="27909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a:p>
        </p:txBody>
      </p:sp>
      <p:sp>
        <p:nvSpPr>
          <p:cNvPr id="4" name="TextBox 3">
            <a:extLst>
              <a:ext uri="{FF2B5EF4-FFF2-40B4-BE49-F238E27FC236}">
                <a16:creationId xmlns:a16="http://schemas.microsoft.com/office/drawing/2014/main" id="{222C9D31-78EE-7862-F318-9B1D27A8EA02}"/>
              </a:ext>
            </a:extLst>
          </p:cNvPr>
          <p:cNvSpPr txBox="1"/>
          <p:nvPr/>
        </p:nvSpPr>
        <p:spPr>
          <a:xfrm>
            <a:off x="3157455" y="3714089"/>
            <a:ext cx="50358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For more ports:</a:t>
            </a:r>
          </a:p>
          <a:p>
            <a:r>
              <a:rPr lang="en-US"/>
              <a:t>monitor session 1 source interface fa0/1 - 10 monitor session 1 destination interface gi0/0 </a:t>
            </a:r>
          </a:p>
        </p:txBody>
      </p:sp>
    </p:spTree>
    <p:extLst>
      <p:ext uri="{BB962C8B-B14F-4D97-AF65-F5344CB8AC3E}">
        <p14:creationId xmlns:p14="http://schemas.microsoft.com/office/powerpoint/2010/main" val="3320095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Configure Cisco SPAN (cont.)</a:t>
            </a:r>
          </a:p>
        </p:txBody>
      </p:sp>
      <p:sp>
        <p:nvSpPr>
          <p:cNvPr id="5" name="Object4"/>
          <p:cNvSpPr/>
          <p:nvPr/>
        </p:nvSpPr>
        <p:spPr>
          <a:xfrm>
            <a:off x="805068" y="1581563"/>
            <a:ext cx="3935897" cy="3571875"/>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The </a:t>
            </a:r>
            <a:r>
              <a:rPr lang="en-US" sz="1600" b="1">
                <a:solidFill>
                  <a:srgbClr val="000000"/>
                </a:solidFill>
                <a:latin typeface="Arial" pitchFamily="34" charset="0"/>
                <a:ea typeface="Arial" pitchFamily="34" charset="-122"/>
                <a:cs typeface="Arial" pitchFamily="34" charset="-120"/>
              </a:rPr>
              <a:t>show monitor </a:t>
            </a:r>
            <a:r>
              <a:rPr lang="en-US" sz="1600">
                <a:solidFill>
                  <a:srgbClr val="000000"/>
                </a:solidFill>
                <a:latin typeface="Arial" pitchFamily="34" charset="0"/>
                <a:ea typeface="Arial" pitchFamily="34" charset="-122"/>
                <a:cs typeface="Arial" pitchFamily="34" charset="-120"/>
              </a:rPr>
              <a:t>command is used to verify the SPAN session.</a:t>
            </a:r>
            <a:endParaRPr lang="en-US" sz="1600"/>
          </a:p>
        </p:txBody>
      </p:sp>
      <p:pic>
        <p:nvPicPr>
          <p:cNvPr id="7" name="Picture 6">
            <a:extLst>
              <a:ext uri="{FF2B5EF4-FFF2-40B4-BE49-F238E27FC236}">
                <a16:creationId xmlns:a16="http://schemas.microsoft.com/office/drawing/2014/main" id="{1A96578A-2BAA-456E-A124-0B38552A98E2}"/>
              </a:ext>
            </a:extLst>
          </p:cNvPr>
          <p:cNvPicPr>
            <a:picLocks noChangeAspect="1"/>
          </p:cNvPicPr>
          <p:nvPr/>
        </p:nvPicPr>
        <p:blipFill>
          <a:blip r:embed="rId3"/>
          <a:stretch>
            <a:fillRect/>
          </a:stretch>
        </p:blipFill>
        <p:spPr>
          <a:xfrm>
            <a:off x="4885688" y="1581563"/>
            <a:ext cx="3308520" cy="231151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a:p>
        </p:txBody>
      </p:sp>
    </p:spTree>
    <p:extLst>
      <p:ext uri="{BB962C8B-B14F-4D97-AF65-F5344CB8AC3E}">
        <p14:creationId xmlns:p14="http://schemas.microsoft.com/office/powerpoint/2010/main" val="13848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a:t>Module 12: IPS Operation and Implementation</a:t>
            </a:r>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a:t>Networking Security v1.0 </a:t>
            </a:r>
          </a:p>
          <a:p>
            <a:pPr marL="0" indent="0">
              <a:buNone/>
            </a:pPr>
            <a:r>
              <a:rPr lang="en-US"/>
              <a:t>(NETSEC)</a:t>
            </a:r>
          </a:p>
        </p:txBody>
      </p:sp>
    </p:spTree>
    <p:extLst>
      <p:ext uri="{BB962C8B-B14F-4D97-AF65-F5344CB8AC3E}">
        <p14:creationId xmlns:p14="http://schemas.microsoft.com/office/powerpoint/2010/main" val="302197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Title: IPS Operation and Implementation		</a:t>
            </a:r>
            <a:endParaRPr lang="en-US" altLang="en-US" sz="1400">
              <a:solidFill>
                <a:schemeClr val="tx1"/>
              </a:solidFill>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a:solidFill>
                <a:schemeClr val="tx1"/>
              </a:solidFill>
            </a:endParaRPr>
          </a:p>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Objective</a:t>
            </a:r>
            <a:r>
              <a:rPr lang="en-US" altLang="en-US" sz="1400">
                <a:solidFill>
                  <a:schemeClr val="tx1"/>
                </a:solidFill>
                <a:ea typeface="Calibri" panose="020F0502020204030204" pitchFamily="34" charset="0"/>
                <a:cs typeface="Calibri" panose="020F0502020204030204" pitchFamily="34" charset="0"/>
              </a:rPr>
              <a:t>: Explain how signatures are used to detect malicious network traffic.</a:t>
            </a:r>
            <a:endParaRPr lang="en-US" altLang="en-US" sz="1600">
              <a:solidFill>
                <a:schemeClr val="tx1"/>
              </a:solidFill>
              <a:latin typeface="Arial" panose="020B0604020202020204" pitchFamily="34" charset="0"/>
            </a:endParaRPr>
          </a:p>
          <a:p>
            <a:pPr marL="0" indent="0">
              <a:spcBef>
                <a:spcPct val="30000"/>
              </a:spcBef>
              <a:buNone/>
            </a:pPr>
            <a:endParaRPr lang="en-US"/>
          </a:p>
          <a:p>
            <a:pPr marL="89297" indent="0">
              <a:spcBef>
                <a:spcPct val="30000"/>
              </a:spcBef>
              <a:buNone/>
            </a:pPr>
            <a:endParaRPr lang="en-US"/>
          </a:p>
          <a:p>
            <a:pPr marL="89297" indent="0">
              <a:spcBef>
                <a:spcPct val="30000"/>
              </a:spcBef>
              <a:buNone/>
            </a:pP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1250237580"/>
              </p:ext>
            </p:extLst>
          </p:nvPr>
        </p:nvGraphicFramePr>
        <p:xfrm>
          <a:off x="423333" y="1625600"/>
          <a:ext cx="8263467" cy="1001475"/>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a:effectLst/>
                        </a:rPr>
                        <a:t>Topic Title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a:effectLst/>
                        </a:rPr>
                        <a:t>Topic Objective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IPS Signatures</a:t>
                      </a:r>
                    </a:p>
                  </a:txBody>
                  <a:tcPr marL="60168" marR="60168"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Describe IPS signatures.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Cisco Snort IPS</a:t>
                      </a:r>
                    </a:p>
                  </a:txBody>
                  <a:tcPr marL="60168" marR="60168"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Explain how the Cisco Snort IPS provides network security services.</a:t>
                      </a:r>
                    </a:p>
                  </a:txBody>
                  <a:tcPr marL="60168" marR="60168" marT="0" marB="0"/>
                </a:tc>
                <a:extLst>
                  <a:ext uri="{0D108BD9-81ED-4DB2-BD59-A6C34878D82A}">
                    <a16:rowId xmlns:a16="http://schemas.microsoft.com/office/drawing/2014/main" val="662892947"/>
                  </a:ext>
                </a:extLst>
              </a:tr>
              <a:tr h="249911">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Configure Snort IPS</a:t>
                      </a:r>
                    </a:p>
                  </a:txBody>
                  <a:tcPr marL="60168" marR="60168"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Times New Roman" panose="02020603050405020304" pitchFamily="18" charset="0"/>
                        </a:rPr>
                        <a:t>Explain how to configure Snort IPS on a Cisco ISR G2.</a:t>
                      </a: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54426191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12.1 IPS Signatures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a:p>
        </p:txBody>
      </p:sp>
    </p:spTree>
    <p:extLst>
      <p:ext uri="{BB962C8B-B14F-4D97-AF65-F5344CB8AC3E}">
        <p14:creationId xmlns:p14="http://schemas.microsoft.com/office/powerpoint/2010/main" val="4103619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 Signature Attributes</a:t>
            </a:r>
          </a:p>
        </p:txBody>
      </p:sp>
      <p:sp>
        <p:nvSpPr>
          <p:cNvPr id="5" name="Object4"/>
          <p:cNvSpPr/>
          <p:nvPr/>
        </p:nvSpPr>
        <p:spPr>
          <a:xfrm>
            <a:off x="-1" y="914400"/>
            <a:ext cx="9143999" cy="2571750"/>
          </a:xfrm>
          <a:prstGeom prst="rect">
            <a:avLst/>
          </a:prstGeom>
          <a:noFill/>
          <a:ln/>
        </p:spPr>
        <p:txBody>
          <a:bodyPr wrap="square" rtlCol="0" anchor="t"/>
          <a:lstStyle/>
          <a:p>
            <a:pPr>
              <a:lnSpc>
                <a:spcPts val="2000"/>
              </a:lnSpc>
            </a:pPr>
            <a:r>
              <a:rPr lang="en-US" sz="1600">
                <a:latin typeface="Arial" panose="020B0604020202020204" pitchFamily="34" charset="0"/>
                <a:cs typeface="Arial" panose="020B0604020202020204" pitchFamily="34" charset="0"/>
              </a:rPr>
              <a:t>The network must be able to identify incoming malicious traffic in order to stop it. Fortunately, malicious traffic displays distinct characteristics or “signatures”. Signatures uniquely identify specific viruses, worms, protocol anomalies, and malicious traffic. </a:t>
            </a:r>
          </a:p>
          <a:p>
            <a:pPr>
              <a:lnSpc>
                <a:spcPts val="2000"/>
              </a:lnSpc>
            </a:pPr>
            <a:endParaRPr lang="en-US" sz="1600">
              <a:latin typeface="Arial" panose="020B0604020202020204" pitchFamily="34" charset="0"/>
              <a:cs typeface="Arial" panose="020B0604020202020204" pitchFamily="34" charset="0"/>
            </a:endParaRPr>
          </a:p>
          <a:p>
            <a:pPr>
              <a:lnSpc>
                <a:spcPts val="2000"/>
              </a:lnSpc>
            </a:pPr>
            <a:r>
              <a:rPr lang="en-US" sz="1600">
                <a:latin typeface="Arial" panose="020B0604020202020204" pitchFamily="34" charset="0"/>
                <a:cs typeface="Arial" panose="020B0604020202020204" pitchFamily="34" charset="0"/>
              </a:rPr>
              <a:t>PS sensors must be tuned to look for matching signatures or abnormal traffic patterns. As sensors scan network packets, they use signatures to detect known attacks and respond with predefined actions. An IDS or IPS sensor examines the data flow using many different signatures.</a:t>
            </a:r>
          </a:p>
          <a:p>
            <a:pPr>
              <a:lnSpc>
                <a:spcPts val="2000"/>
              </a:lnSpc>
            </a:pPr>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Signatures have three distinctive attributes:</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Type</a:t>
            </a:r>
            <a:r>
              <a:rPr lang="en-US" sz="1600">
                <a:latin typeface="Arial" panose="020B0604020202020204" pitchFamily="34" charset="0"/>
                <a:cs typeface="Arial" panose="020B0604020202020204" pitchFamily="34" charset="0"/>
              </a:rPr>
              <a:t> - Atomic or Composite</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Trigger</a:t>
            </a:r>
            <a:r>
              <a:rPr lang="en-US" sz="1600">
                <a:latin typeface="Arial" panose="020B0604020202020204" pitchFamily="34" charset="0"/>
                <a:cs typeface="Arial" panose="020B0604020202020204" pitchFamily="34" charset="0"/>
              </a:rPr>
              <a:t> - Also called the alarm</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Action</a:t>
            </a:r>
            <a:r>
              <a:rPr lang="en-US" sz="1600">
                <a:latin typeface="Arial" panose="020B0604020202020204" pitchFamily="34" charset="0"/>
                <a:cs typeface="Arial" panose="020B0604020202020204" pitchFamily="34" charset="0"/>
              </a:rPr>
              <a:t> - What the IPS will do</a:t>
            </a:r>
          </a:p>
          <a:p>
            <a:pPr>
              <a:lnSpc>
                <a:spcPts val="2000"/>
              </a:lnSpc>
            </a:pPr>
            <a:endParaRPr lang="en-US" sz="140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a:p>
        </p:txBody>
      </p:sp>
    </p:spTree>
    <p:extLst>
      <p:ext uri="{BB962C8B-B14F-4D97-AF65-F5344CB8AC3E}">
        <p14:creationId xmlns:p14="http://schemas.microsoft.com/office/powerpoint/2010/main" val="3548812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Types of Signatures </a:t>
            </a:r>
          </a:p>
        </p:txBody>
      </p:sp>
      <p:sp>
        <p:nvSpPr>
          <p:cNvPr id="5" name="Object4"/>
          <p:cNvSpPr/>
          <p:nvPr/>
        </p:nvSpPr>
        <p:spPr>
          <a:xfrm>
            <a:off x="167080" y="860504"/>
            <a:ext cx="8686800" cy="2571750"/>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Some threats can be identified in one packet while other threats may require many packets and their state information (i.e., IP addresses, port numbers, and more) to identify a threat.</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There are two types of signatures:</a:t>
            </a:r>
          </a:p>
          <a:p>
            <a:endParaRPr lang="en-US" sz="160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Atomic Signature -</a:t>
            </a:r>
            <a:r>
              <a:rPr lang="en-US" sz="1600">
                <a:effectLst/>
                <a:latin typeface="Arial" panose="020B0604020202020204" pitchFamily="34" charset="0"/>
                <a:cs typeface="Arial" panose="020B0604020202020204" pitchFamily="34" charset="0"/>
              </a:rPr>
              <a:t> This is the simplest type of signature because a single packet, activity, or event identifies an attack. The IPS does not need to maintain state information and traffic analysis can usually be performed very quickly and efficiently.</a:t>
            </a:r>
          </a:p>
          <a:p>
            <a:pPr marL="742950" lvl="1"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Composite Signature -</a:t>
            </a:r>
            <a:r>
              <a:rPr lang="en-US" sz="1600">
                <a:effectLst/>
                <a:latin typeface="Arial" panose="020B0604020202020204" pitchFamily="34" charset="0"/>
                <a:cs typeface="Arial" panose="020B0604020202020204" pitchFamily="34" charset="0"/>
              </a:rPr>
              <a:t> Also called a stateful signature because the IPS requires several pieces of data to match an attack signature. The IPS must also maintain state information which is referred to as the event horizon. The length of an event horizon varies from one signature to the next.</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The heart of any IPS signature is the signature alarm, which is often referred to as the signature trigger</a:t>
            </a:r>
            <a:r>
              <a:rPr lang="en-US" sz="1400">
                <a:effectLst/>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a:p>
        </p:txBody>
      </p:sp>
    </p:spTree>
    <p:extLst>
      <p:ext uri="{BB962C8B-B14F-4D97-AF65-F5344CB8AC3E}">
        <p14:creationId xmlns:p14="http://schemas.microsoft.com/office/powerpoint/2010/main" val="3414734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 Signature (Triggers) Alarms</a:t>
            </a:r>
          </a:p>
        </p:txBody>
      </p:sp>
      <p:sp>
        <p:nvSpPr>
          <p:cNvPr id="7" name="TextBox 6">
            <a:extLst>
              <a:ext uri="{FF2B5EF4-FFF2-40B4-BE49-F238E27FC236}">
                <a16:creationId xmlns:a16="http://schemas.microsoft.com/office/drawing/2014/main" id="{553AF9D0-2A01-4F74-87AF-AE7C2FF9E726}"/>
              </a:ext>
            </a:extLst>
          </p:cNvPr>
          <p:cNvSpPr txBox="1"/>
          <p:nvPr/>
        </p:nvSpPr>
        <p:spPr>
          <a:xfrm>
            <a:off x="0" y="731520"/>
            <a:ext cx="9204556" cy="523220"/>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Every IPS incorporates signatures that use one or more of these basic triggering mechanisms to trigger signature actions. There are four general IPS signature trigger categories as listed in the table.</a:t>
            </a:r>
          </a:p>
        </p:txBody>
      </p:sp>
      <p:graphicFrame>
        <p:nvGraphicFramePr>
          <p:cNvPr id="12" name="Table 11"/>
          <p:cNvGraphicFramePr>
            <a:graphicFrameLocks noGrp="1"/>
          </p:cNvGraphicFramePr>
          <p:nvPr>
            <p:extLst>
              <p:ext uri="{D42A27DB-BD31-4B8C-83A1-F6EECF244321}">
                <p14:modId xmlns:p14="http://schemas.microsoft.com/office/powerpoint/2010/main" val="4216894328"/>
              </p:ext>
            </p:extLst>
          </p:nvPr>
        </p:nvGraphicFramePr>
        <p:xfrm>
          <a:off x="91440" y="1254740"/>
          <a:ext cx="8961120" cy="3246120"/>
        </p:xfrm>
        <a:graphic>
          <a:graphicData uri="http://schemas.openxmlformats.org/drawingml/2006/table">
            <a:tbl>
              <a:tblPr/>
              <a:tblGrid>
                <a:gridCol w="1816689">
                  <a:extLst>
                    <a:ext uri="{9D8B030D-6E8A-4147-A177-3AD203B41FA5}">
                      <a16:colId xmlns:a16="http://schemas.microsoft.com/office/drawing/2014/main" val="20000"/>
                    </a:ext>
                  </a:extLst>
                </a:gridCol>
                <a:gridCol w="7144431">
                  <a:extLst>
                    <a:ext uri="{9D8B030D-6E8A-4147-A177-3AD203B41FA5}">
                      <a16:colId xmlns:a16="http://schemas.microsoft.com/office/drawing/2014/main" val="20001"/>
                    </a:ext>
                  </a:extLst>
                </a:gridCol>
              </a:tblGrid>
              <a:tr h="0">
                <a:tc>
                  <a:txBody>
                    <a:bodyPr/>
                    <a:lstStyle/>
                    <a:p>
                      <a:r>
                        <a:rPr lang="en-US" sz="1200">
                          <a:solidFill>
                            <a:srgbClr val="FFFFFF"/>
                          </a:solidFill>
                        </a:rPr>
                        <a:t>Detection Type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Advantages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a:solidFill>
                            <a:srgbClr val="58585B"/>
                          </a:solidFill>
                        </a:rPr>
                        <a:t>Pattern-Based Detection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lgn="l">
                        <a:buFont typeface="Arial" panose="020B0604020202020204" pitchFamily="34" charset="0"/>
                        <a:buChar char="•"/>
                      </a:pPr>
                      <a:r>
                        <a:rPr lang="en-US" sz="1100">
                          <a:solidFill>
                            <a:srgbClr val="58585B"/>
                          </a:solidFill>
                        </a:rPr>
                        <a:t>Also known as signature-based detection.</a:t>
                      </a:r>
                      <a:endParaRPr lang="en-US" sz="1100"/>
                    </a:p>
                    <a:p>
                      <a:pPr marL="171450" indent="-171450" algn="l">
                        <a:buFont typeface="Arial" panose="020B0604020202020204" pitchFamily="34" charset="0"/>
                        <a:buChar char="•"/>
                      </a:pPr>
                      <a:r>
                        <a:rPr lang="en-US" sz="1100">
                          <a:solidFill>
                            <a:srgbClr val="58585B"/>
                          </a:solidFill>
                        </a:rPr>
                        <a:t>Simplest triggering mechanism as it searches for a specific and pre-defined atomic or composite pattern. </a:t>
                      </a:r>
                      <a:endParaRPr lang="en-US" sz="1100"/>
                    </a:p>
                    <a:p>
                      <a:pPr marL="171450" indent="-171450" algn="l">
                        <a:buFont typeface="Arial" panose="020B0604020202020204" pitchFamily="34" charset="0"/>
                        <a:buChar char="•"/>
                      </a:pPr>
                      <a:r>
                        <a:rPr lang="en-US" sz="1100">
                          <a:solidFill>
                            <a:srgbClr val="58585B"/>
                          </a:solidFill>
                        </a:rPr>
                        <a:t>A IPS sensor compares the network traffic to a database of known attacks, and triggers an alarm or prevents communication if a match is found.</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a:solidFill>
                            <a:srgbClr val="58585B"/>
                          </a:solidFill>
                        </a:rPr>
                        <a:t>Anomaly-Based Detection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a:solidFill>
                            <a:srgbClr val="58585B"/>
                          </a:solidFill>
                        </a:rPr>
                        <a:t>Also known as profile-based detection.</a:t>
                      </a:r>
                      <a:endParaRPr lang="en-US" sz="1100"/>
                    </a:p>
                    <a:p>
                      <a:pPr marL="171450" indent="-171450">
                        <a:buFont typeface="Arial" panose="020B0604020202020204" pitchFamily="34" charset="0"/>
                        <a:buChar char="•"/>
                      </a:pPr>
                      <a:r>
                        <a:rPr lang="en-US" sz="1100">
                          <a:solidFill>
                            <a:srgbClr val="58585B"/>
                          </a:solidFill>
                        </a:rPr>
                        <a:t>Involves first defining a profile of what is considered normal network or host activity. </a:t>
                      </a:r>
                      <a:endParaRPr lang="en-US" sz="1100"/>
                    </a:p>
                    <a:p>
                      <a:pPr marL="171450" indent="-171450">
                        <a:buFont typeface="Arial" panose="020B0604020202020204" pitchFamily="34" charset="0"/>
                        <a:buChar char="•"/>
                      </a:pPr>
                      <a:r>
                        <a:rPr lang="en-US" sz="1100">
                          <a:solidFill>
                            <a:srgbClr val="58585B"/>
                          </a:solidFill>
                        </a:rPr>
                        <a:t>This normal profile is usually defined by monitoring traffic and establishing a baseline. </a:t>
                      </a:r>
                      <a:endParaRPr lang="en-US" sz="1100"/>
                    </a:p>
                    <a:p>
                      <a:pPr marL="171450" indent="-171450">
                        <a:buFont typeface="Arial" panose="020B0604020202020204" pitchFamily="34" charset="0"/>
                        <a:buChar char="•"/>
                      </a:pPr>
                      <a:r>
                        <a:rPr lang="en-US" sz="1100">
                          <a:solidFill>
                            <a:srgbClr val="58585B"/>
                          </a:solidFill>
                        </a:rPr>
                        <a:t>Once defined, any activity beyond a specified threshold in the normal profile will generate a signature trigger and action.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00">
                          <a:solidFill>
                            <a:srgbClr val="58585B"/>
                          </a:solidFill>
                        </a:rPr>
                        <a:t>Policy-Based Detection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100">
                          <a:solidFill>
                            <a:srgbClr val="58585B"/>
                          </a:solidFill>
                        </a:rPr>
                        <a:t>Also known as behavior-based detection.</a:t>
                      </a:r>
                      <a:endParaRPr lang="en-US" sz="1100"/>
                    </a:p>
                    <a:p>
                      <a:pPr marL="171450" indent="-171450">
                        <a:buFont typeface="Arial" panose="020B0604020202020204" pitchFamily="34" charset="0"/>
                        <a:buChar char="•"/>
                      </a:pPr>
                      <a:r>
                        <a:rPr lang="en-US" sz="1100">
                          <a:solidFill>
                            <a:srgbClr val="58585B"/>
                          </a:solidFill>
                        </a:rPr>
                        <a:t>Although similar to pattern-based detection, an administrator manually defines behaviors that are suspicious based on historical analysis. </a:t>
                      </a:r>
                      <a:endParaRPr lang="en-US" sz="1100"/>
                    </a:p>
                    <a:p>
                      <a:pPr marL="171450" indent="-171450">
                        <a:buFont typeface="Arial" panose="020B0604020202020204" pitchFamily="34" charset="0"/>
                        <a:buChar char="•"/>
                      </a:pPr>
                      <a:r>
                        <a:rPr lang="en-US" sz="1100">
                          <a:solidFill>
                            <a:srgbClr val="58585B"/>
                          </a:solidFill>
                        </a:rPr>
                        <a:t>The use of behaviors enables a single signature to cover an entire class of activities without having to specify each individual situation.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a:solidFill>
                            <a:srgbClr val="58585B"/>
                          </a:solidFill>
                        </a:rPr>
                        <a:t>Honey Pot-Based Detection</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a:solidFill>
                            <a:srgbClr val="58585B"/>
                          </a:solidFill>
                        </a:rPr>
                        <a:t>Honey pot-based detection uses a server as a decoy server to attract attacks. </a:t>
                      </a:r>
                      <a:endParaRPr lang="en-US" sz="1100"/>
                    </a:p>
                    <a:p>
                      <a:pPr marL="171450" indent="-171450">
                        <a:buFont typeface="Arial" panose="020B0604020202020204" pitchFamily="34" charset="0"/>
                        <a:buChar char="•"/>
                      </a:pPr>
                      <a:r>
                        <a:rPr lang="en-US" sz="1100">
                          <a:solidFill>
                            <a:srgbClr val="58585B"/>
                          </a:solidFill>
                        </a:rPr>
                        <a:t>The purpose of a decoy server is to lure attacks away from production devices.</a:t>
                      </a:r>
                      <a:endParaRPr lang="en-US" sz="1100"/>
                    </a:p>
                    <a:p>
                      <a:pPr marL="171450" indent="-171450">
                        <a:buFont typeface="Arial" panose="020B0604020202020204" pitchFamily="34" charset="0"/>
                        <a:buChar char="•"/>
                      </a:pPr>
                      <a:r>
                        <a:rPr lang="en-US" sz="1100">
                          <a:solidFill>
                            <a:srgbClr val="58585B"/>
                          </a:solidFill>
                        </a:rPr>
                        <a:t>Allows administrators time to analyze incoming attacks and malicious traffic patterns to tune their sensor signatures.</a:t>
                      </a:r>
                      <a:endParaRPr lang="en-US" sz="11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a:p>
        </p:txBody>
      </p:sp>
    </p:spTree>
    <p:extLst>
      <p:ext uri="{BB962C8B-B14F-4D97-AF65-F5344CB8AC3E}">
        <p14:creationId xmlns:p14="http://schemas.microsoft.com/office/powerpoint/2010/main" val="13431711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 Signature Actions</a:t>
            </a:r>
          </a:p>
        </p:txBody>
      </p:sp>
      <p:graphicFrame>
        <p:nvGraphicFramePr>
          <p:cNvPr id="13" name="Table 12"/>
          <p:cNvGraphicFramePr>
            <a:graphicFrameLocks noGrp="1"/>
          </p:cNvGraphicFramePr>
          <p:nvPr>
            <p:extLst>
              <p:ext uri="{D42A27DB-BD31-4B8C-83A1-F6EECF244321}">
                <p14:modId xmlns:p14="http://schemas.microsoft.com/office/powerpoint/2010/main" val="2598051828"/>
              </p:ext>
            </p:extLst>
          </p:nvPr>
        </p:nvGraphicFramePr>
        <p:xfrm>
          <a:off x="91440" y="911372"/>
          <a:ext cx="8961120" cy="3429000"/>
        </p:xfrm>
        <a:graphic>
          <a:graphicData uri="http://schemas.openxmlformats.org/drawingml/2006/table">
            <a:tbl>
              <a:tblPr/>
              <a:tblGrid>
                <a:gridCol w="1604356">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345084">
                  <a:extLst>
                    <a:ext uri="{9D8B030D-6E8A-4147-A177-3AD203B41FA5}">
                      <a16:colId xmlns:a16="http://schemas.microsoft.com/office/drawing/2014/main" val="20002"/>
                    </a:ext>
                  </a:extLst>
                </a:gridCol>
              </a:tblGrid>
              <a:tr h="0">
                <a:tc>
                  <a:txBody>
                    <a:bodyPr/>
                    <a:lstStyle/>
                    <a:p>
                      <a:r>
                        <a:rPr lang="en-US" sz="1200">
                          <a:solidFill>
                            <a:srgbClr val="FFFFFF"/>
                          </a:solidFill>
                        </a:rPr>
                        <a:t>Alert Category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Specific Action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Description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Generate an alert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a:solidFill>
                            <a:srgbClr val="58585B"/>
                          </a:solidFill>
                        </a:rPr>
                        <a:t>Produce alert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a:solidFill>
                            <a:srgbClr val="58585B"/>
                          </a:solidFill>
                        </a:rPr>
                        <a:t>The IPS sends events as alerts.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Generate an alert</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Produce verbose alert</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The IPS sends a detailed event alert.</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018510"/>
                  </a:ext>
                </a:extLst>
              </a:tr>
              <a:tr h="0">
                <a:tc>
                  <a:txBody>
                    <a:bodyPr/>
                    <a:lstStyle/>
                    <a:p>
                      <a:r>
                        <a:rPr lang="en-US" sz="1200">
                          <a:solidFill>
                            <a:srgbClr val="58585B"/>
                          </a:solidFill>
                        </a:rPr>
                        <a:t>Log the activity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a:solidFill>
                            <a:srgbClr val="58585B"/>
                          </a:solidFill>
                        </a:rPr>
                        <a:t>Log attacker packets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a:solidFill>
                            <a:srgbClr val="58585B"/>
                          </a:solidFill>
                        </a:rPr>
                        <a:t>Logs packets from the attacker IP address and sends an alert.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 the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 pair packets</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Logs packets from the victim and attacker IP addresses and sends an alert.</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29449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 the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 victim packets</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Logs packets from the victim IP address and sends an alert.</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82709253"/>
                  </a:ext>
                </a:extLst>
              </a:tr>
              <a:tr h="0">
                <a:tc>
                  <a:txBody>
                    <a:bodyPr/>
                    <a:lstStyle/>
                    <a:p>
                      <a:r>
                        <a:rPr lang="en-US" sz="1200">
                          <a:solidFill>
                            <a:srgbClr val="58585B"/>
                          </a:solidFill>
                        </a:rPr>
                        <a:t>Deny the activity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Deny attacker inline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Terminates the current packet and future packets from this attacker address for a specified period of time.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Deny the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D9D9"/>
                    </a:solidFill>
                  </a:tcPr>
                </a:tc>
                <a:tc>
                  <a:txBody>
                    <a:bodyPr/>
                    <a:lstStyle/>
                    <a:p>
                      <a:r>
                        <a:rPr lang="en-US" sz="1200">
                          <a:solidFill>
                            <a:srgbClr val="58585B"/>
                          </a:solidFill>
                        </a:rPr>
                        <a:t>Deny connection inline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no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D9D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Logs packets from the victim IP address and sends an alert.</a:t>
                      </a:r>
                      <a:endParaRPr lang="en-US" sz="1200"/>
                    </a:p>
                  </a:txBody>
                  <a:tcPr marL="38100" marR="38100" marT="38100" marB="38100">
                    <a:lnL w="25400" cap="flat" cmpd="sng" algn="ctr">
                      <a:noFill/>
                      <a:prstDash val="solid"/>
                      <a:round/>
                      <a:headEnd type="none" w="med" len="med"/>
                      <a:tailEnd type="none" w="med" len="med"/>
                    </a:lnL>
                    <a:lnR w="12700" cmpd="sng">
                      <a:noFill/>
                      <a:prstDash val="solid"/>
                    </a:lnR>
                    <a:lnT w="254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Deny the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Deny packet inline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no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Terminates the current packet and future packets from this attacker address for a specified period of time.</a:t>
                      </a:r>
                      <a:endParaRPr lang="en-US" sz="1200"/>
                    </a:p>
                  </a:txBody>
                  <a:tcPr marL="38100" marR="38100" marT="38100" marB="38100">
                    <a:lnL w="254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a:p>
        </p:txBody>
      </p:sp>
    </p:spTree>
    <p:extLst>
      <p:ext uri="{BB962C8B-B14F-4D97-AF65-F5344CB8AC3E}">
        <p14:creationId xmlns:p14="http://schemas.microsoft.com/office/powerpoint/2010/main" val="3789824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IPS Signature Actions (Cont.)</a:t>
            </a:r>
          </a:p>
        </p:txBody>
      </p:sp>
      <p:graphicFrame>
        <p:nvGraphicFramePr>
          <p:cNvPr id="13" name="Table 12"/>
          <p:cNvGraphicFramePr>
            <a:graphicFrameLocks noGrp="1"/>
          </p:cNvGraphicFramePr>
          <p:nvPr>
            <p:extLst>
              <p:ext uri="{D42A27DB-BD31-4B8C-83A1-F6EECF244321}">
                <p14:modId xmlns:p14="http://schemas.microsoft.com/office/powerpoint/2010/main" val="497366722"/>
              </p:ext>
            </p:extLst>
          </p:nvPr>
        </p:nvGraphicFramePr>
        <p:xfrm>
          <a:off x="91440" y="1371600"/>
          <a:ext cx="8961120" cy="220980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r>
                        <a:rPr lang="en-US" sz="1200">
                          <a:solidFill>
                            <a:srgbClr val="FFFFFF"/>
                          </a:solidFill>
                        </a:rPr>
                        <a:t>Alert Category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Specific Action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Description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Reset the TCP connection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Reset TCP connection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Sends TCP resets to hijack and terminate the TCP flow.</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Block future activity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Request block connection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Sends a request to a blocking device to block this connection.</a:t>
                      </a:r>
                      <a:endParaRPr lang="en-US" sz="1200"/>
                    </a:p>
                  </a:txBody>
                  <a:tcPr marL="38100" marR="38100" marT="38100" marB="38100">
                    <a:lnL w="25400" cap="flat" cmpd="sng" algn="ctr">
                      <a:solidFill>
                        <a:srgbClr val="FFFFFF"/>
                      </a:solidFill>
                      <a:prstDash val="solid"/>
                      <a:round/>
                      <a:headEnd type="none" w="med" len="med"/>
                      <a:tailEnd type="none" w="med" len="med"/>
                    </a:lnL>
                    <a:lnR w="12700" cmpd="sng">
                      <a:noFill/>
                      <a:prstDash val="solid"/>
                    </a:lnR>
                    <a:lnT w="25400" cap="flat" cmpd="sng" algn="ctr">
                      <a:solidFill>
                        <a:srgbClr val="FFFFFF"/>
                      </a:solidFill>
                      <a:prstDash val="solid"/>
                      <a:round/>
                      <a:headEnd type="none" w="med" len="med"/>
                      <a:tailEnd type="none" w="med" len="med"/>
                    </a:lnT>
                    <a:lnB w="12700" cmpd="sng">
                      <a:noFill/>
                      <a:prstDash val="solid"/>
                    </a:lnB>
                    <a:solidFill>
                      <a:schemeClr val="bg1">
                        <a:lumMod val="95000"/>
                      </a:schemeClr>
                    </a:solidFill>
                  </a:tcPr>
                </a:tc>
                <a:extLst>
                  <a:ext uri="{0D108BD9-81ED-4DB2-BD59-A6C34878D82A}">
                    <a16:rowId xmlns:a16="http://schemas.microsoft.com/office/drawing/2014/main" val="1000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Block future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Request block host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Sends a request to a blocking device to block this attacker host.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12700" cmpd="sng">
                      <a:noFill/>
                      <a:prstDash val="soli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58585B"/>
                          </a:solidFill>
                        </a:rPr>
                        <a:t>Block future activity</a:t>
                      </a:r>
                      <a:endParaRPr lang="en-US" sz="1200"/>
                    </a:p>
                    <a:p>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Request SNMP trap</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Sends a request to the notification application component of the sensor to perform SNMP notification.</a:t>
                      </a:r>
                      <a:endParaRPr lang="en-US" sz="1200"/>
                    </a:p>
                  </a:txBody>
                  <a:tcPr marL="38100" marR="38100" marT="38100" marB="38100">
                    <a:lnL w="25400" cap="flat" cmpd="sng" algn="ctr">
                      <a:solidFill>
                        <a:srgbClr val="FFFFFF"/>
                      </a:solidFill>
                      <a:prstDash val="solid"/>
                      <a:round/>
                      <a:headEnd type="none" w="med" len="med"/>
                      <a:tailEnd type="none" w="med" len="med"/>
                    </a:lnL>
                    <a:lnR w="12700" cmpd="sng">
                      <a:noFill/>
                      <a:prstDash val="solid"/>
                    </a:lnR>
                    <a:lnT w="25400" cap="flat" cmpd="sng" algn="ctr">
                      <a:solidFill>
                        <a:srgbClr val="FFFFFF"/>
                      </a:solidFill>
                      <a:prstDash val="solid"/>
                      <a:round/>
                      <a:headEnd type="none" w="med" len="med"/>
                      <a:tailEnd type="none" w="med" len="med"/>
                    </a:lnT>
                    <a:lnB w="12700" cmpd="sng">
                      <a:noFill/>
                      <a:prstDash val="soli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a:p>
        </p:txBody>
      </p:sp>
    </p:spTree>
    <p:extLst>
      <p:ext uri="{BB962C8B-B14F-4D97-AF65-F5344CB8AC3E}">
        <p14:creationId xmlns:p14="http://schemas.microsoft.com/office/powerpoint/2010/main" val="349295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50098"/>
            <a:ext cx="9144000" cy="914400"/>
          </a:xfrm>
          <a:prstGeom prst="rect">
            <a:avLst/>
          </a:prstGeom>
          <a:noFill/>
          <a:ln/>
        </p:spPr>
        <p:txBody>
          <a:bodyPr wrap="square" rtlCol="0"/>
          <a:lstStyle/>
          <a:p>
            <a:pPr marL="0" indent="0">
              <a:buNone/>
            </a:pPr>
            <a:r>
              <a:rPr lang="en-US"/>
              <a:t>Evaluating Alerts</a:t>
            </a:r>
          </a:p>
        </p:txBody>
      </p:sp>
      <p:sp>
        <p:nvSpPr>
          <p:cNvPr id="7" name="TextBox 6">
            <a:extLst>
              <a:ext uri="{FF2B5EF4-FFF2-40B4-BE49-F238E27FC236}">
                <a16:creationId xmlns:a16="http://schemas.microsoft.com/office/drawing/2014/main" id="{BBCD3E97-5F9B-4EB7-8656-7007B2490213}"/>
              </a:ext>
            </a:extLst>
          </p:cNvPr>
          <p:cNvSpPr txBox="1"/>
          <p:nvPr/>
        </p:nvSpPr>
        <p:spPr>
          <a:xfrm>
            <a:off x="91439" y="735770"/>
            <a:ext cx="8840613" cy="369332"/>
          </a:xfrm>
          <a:prstGeom prst="rect">
            <a:avLst/>
          </a:prstGeom>
          <a:noFill/>
        </p:spPr>
        <p:txBody>
          <a:bodyPr wrap="square">
            <a:spAutoFit/>
          </a:bodyPr>
          <a:lstStyle/>
          <a:p>
            <a:r>
              <a:rPr lang="en-US">
                <a:latin typeface="Arial" panose="020B0604020202020204" pitchFamily="34" charset="0"/>
                <a:cs typeface="Arial" panose="020B0604020202020204" pitchFamily="34" charset="0"/>
              </a:rPr>
              <a:t>The table summarizes the following four types of alarms.</a:t>
            </a:r>
          </a:p>
        </p:txBody>
      </p:sp>
      <p:graphicFrame>
        <p:nvGraphicFramePr>
          <p:cNvPr id="14" name="Table 13"/>
          <p:cNvGraphicFramePr>
            <a:graphicFrameLocks noGrp="1"/>
          </p:cNvGraphicFramePr>
          <p:nvPr>
            <p:extLst>
              <p:ext uri="{D42A27DB-BD31-4B8C-83A1-F6EECF244321}">
                <p14:modId xmlns:p14="http://schemas.microsoft.com/office/powerpoint/2010/main" val="1862315017"/>
              </p:ext>
            </p:extLst>
          </p:nvPr>
        </p:nvGraphicFramePr>
        <p:xfrm>
          <a:off x="91439" y="1164498"/>
          <a:ext cx="8961120" cy="1295400"/>
        </p:xfrm>
        <a:graphic>
          <a:graphicData uri="http://schemas.openxmlformats.org/drawingml/2006/table">
            <a:tbl>
              <a:tblPr/>
              <a:tblGrid>
                <a:gridCol w="2240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0">
                <a:tc>
                  <a:txBody>
                    <a:bodyPr/>
                    <a:lstStyle/>
                    <a:p>
                      <a:r>
                        <a:rPr lang="en-US" sz="1200">
                          <a:solidFill>
                            <a:srgbClr val="FFFFFF"/>
                          </a:solidFill>
                        </a:rPr>
                        <a:t>Alarm Type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Network Activity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IPS Activity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Outcome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True positive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Attack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Alarm generated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Ideal setting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True negative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Normal user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No alarm generated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Ideal setting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a:solidFill>
                            <a:srgbClr val="58585B"/>
                          </a:solidFill>
                        </a:rPr>
                        <a:t>False positive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Normal user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Alarm generated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Tune alarm</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a:solidFill>
                            <a:srgbClr val="58585B"/>
                          </a:solidFill>
                        </a:rPr>
                        <a:t>False negative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Attack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No alarm generated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Tune alarm</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a:p>
        </p:txBody>
      </p:sp>
    </p:spTree>
    <p:extLst>
      <p:ext uri="{BB962C8B-B14F-4D97-AF65-F5344CB8AC3E}">
        <p14:creationId xmlns:p14="http://schemas.microsoft.com/office/powerpoint/2010/main" val="38775182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IPS Signatures </a:t>
            </a:r>
          </a:p>
        </p:txBody>
      </p:sp>
      <p:sp>
        <p:nvSpPr>
          <p:cNvPr id="3" name="Object2"/>
          <p:cNvSpPr>
            <a:spLocks noGrp="1"/>
          </p:cNvSpPr>
          <p:nvPr>
            <p:ph type="body" idx="100" hasCustomPrompt="1"/>
          </p:nvPr>
        </p:nvSpPr>
        <p:spPr>
          <a:xfrm>
            <a:off x="0" y="250098"/>
            <a:ext cx="9144000" cy="914400"/>
          </a:xfrm>
          <a:prstGeom prst="rect">
            <a:avLst/>
          </a:prstGeom>
          <a:noFill/>
          <a:ln/>
        </p:spPr>
        <p:txBody>
          <a:bodyPr wrap="square" rtlCol="0"/>
          <a:lstStyle/>
          <a:p>
            <a:pPr marL="0" indent="0">
              <a:buNone/>
            </a:pPr>
            <a:r>
              <a:rPr lang="en-US"/>
              <a:t>Evaluating Alerts (Cont.)</a:t>
            </a:r>
          </a:p>
        </p:txBody>
      </p:sp>
      <p:sp>
        <p:nvSpPr>
          <p:cNvPr id="9" name="TextBox 8">
            <a:extLst>
              <a:ext uri="{FF2B5EF4-FFF2-40B4-BE49-F238E27FC236}">
                <a16:creationId xmlns:a16="http://schemas.microsoft.com/office/drawing/2014/main" id="{6C3230F0-FB62-4A9D-9535-E7D4A1F08DE5}"/>
              </a:ext>
            </a:extLst>
          </p:cNvPr>
          <p:cNvSpPr txBox="1"/>
          <p:nvPr/>
        </p:nvSpPr>
        <p:spPr>
          <a:xfrm>
            <a:off x="0" y="707298"/>
            <a:ext cx="8841219" cy="3970318"/>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Alerts can be classified as follows:</a:t>
            </a:r>
          </a:p>
          <a:p>
            <a:endParaRPr lang="en-US" sz="1400">
              <a:latin typeface="Arial" panose="020B0604020202020204" pitchFamily="34" charset="0"/>
              <a:cs typeface="Arial" panose="020B0604020202020204" pitchFamily="34" charset="0"/>
            </a:endParaRPr>
          </a:p>
          <a:p>
            <a:r>
              <a:rPr lang="en-US" sz="1400" b="1">
                <a:latin typeface="Arial" panose="020B0604020202020204" pitchFamily="34" charset="0"/>
                <a:cs typeface="Arial" panose="020B0604020202020204" pitchFamily="34" charset="0"/>
              </a:rPr>
              <a:t>True positive </a:t>
            </a:r>
            <a:r>
              <a:rPr lang="en-US" sz="1400">
                <a:latin typeface="Arial" panose="020B0604020202020204" pitchFamily="34" charset="0"/>
                <a:cs typeface="Arial" panose="020B0604020202020204" pitchFamily="34" charset="0"/>
              </a:rPr>
              <a:t>- (Desirable) This is used when the IPS generates an alarm because it detected know attack traffic. The alert has been verified to be an actual security incident and also indicates that the IPS rule worked correctly.</a:t>
            </a:r>
          </a:p>
          <a:p>
            <a:endParaRPr lang="en-US" sz="1400">
              <a:latin typeface="Arial" panose="020B0604020202020204" pitchFamily="34" charset="0"/>
              <a:cs typeface="Arial" panose="020B0604020202020204" pitchFamily="34" charset="0"/>
            </a:endParaRPr>
          </a:p>
          <a:p>
            <a:r>
              <a:rPr lang="en-US" sz="1400" b="1">
                <a:latin typeface="Arial" panose="020B0604020202020204" pitchFamily="34" charset="0"/>
                <a:cs typeface="Arial" panose="020B0604020202020204" pitchFamily="34" charset="0"/>
              </a:rPr>
              <a:t>True negative </a:t>
            </a:r>
            <a:r>
              <a:rPr lang="en-US" sz="1400">
                <a:latin typeface="Arial" panose="020B0604020202020204" pitchFamily="34" charset="0"/>
                <a:cs typeface="Arial" panose="020B0604020202020204" pitchFamily="34" charset="0"/>
              </a:rPr>
              <a:t>- (Desirable) This is used when normal network traffic does not generate an alarm. No alerts are issued because the traffic that is passing through the system is clear of threats.</a:t>
            </a:r>
          </a:p>
          <a:p>
            <a:endParaRPr lang="en-US" sz="1400" b="1">
              <a:latin typeface="Arial" panose="020B0604020202020204" pitchFamily="34" charset="0"/>
              <a:cs typeface="Arial" panose="020B0604020202020204" pitchFamily="34" charset="0"/>
            </a:endParaRPr>
          </a:p>
          <a:p>
            <a:r>
              <a:rPr lang="en-US" sz="1400" b="1">
                <a:latin typeface="Arial" panose="020B0604020202020204" pitchFamily="34" charset="0"/>
                <a:cs typeface="Arial" panose="020B0604020202020204" pitchFamily="34" charset="0"/>
              </a:rPr>
              <a:t>False positive </a:t>
            </a:r>
            <a:r>
              <a:rPr lang="en-US" sz="1400">
                <a:latin typeface="Arial" panose="020B0604020202020204" pitchFamily="34" charset="0"/>
                <a:cs typeface="Arial" panose="020B0604020202020204" pitchFamily="34" charset="0"/>
              </a:rPr>
              <a:t>- (Undesirable) This is used when an IPS generates an alarm after processing normal user traffic that should not have triggered an alarm. The IPS must be tuned to change these alarm types to true negatives. The alert does not indicate an actual security incident. Benign activity that results in a false positive is sometimes referred to as a benign trigger. False positives are costly because they must be investigated.</a:t>
            </a:r>
          </a:p>
          <a:p>
            <a:endParaRPr lang="en-US" sz="1400">
              <a:latin typeface="Arial" panose="020B0604020202020204" pitchFamily="34" charset="0"/>
              <a:cs typeface="Arial" panose="020B0604020202020204" pitchFamily="34" charset="0"/>
            </a:endParaRPr>
          </a:p>
          <a:p>
            <a:r>
              <a:rPr lang="en-US" sz="1400" b="1">
                <a:latin typeface="Arial" panose="020B0604020202020204" pitchFamily="34" charset="0"/>
                <a:cs typeface="Arial" panose="020B0604020202020204" pitchFamily="34" charset="0"/>
              </a:rPr>
              <a:t>False negative </a:t>
            </a:r>
            <a:r>
              <a:rPr lang="en-US" sz="1400">
                <a:latin typeface="Arial" panose="020B0604020202020204" pitchFamily="34" charset="0"/>
                <a:cs typeface="Arial" panose="020B0604020202020204" pitchFamily="34" charset="0"/>
              </a:rPr>
              <a:t>- (Dangerous) This is used when an IPS fails to generate an alarm and known attacks are not being detected. This means that exploits are not being detected by the security systems that are in place. These incidents could go undetected for a long time, and ongoing data loss and damage could result. The goal is for these alarm types to generate true positive alarms.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a:p>
        </p:txBody>
      </p:sp>
    </p:spTree>
    <p:extLst>
      <p:ext uri="{BB962C8B-B14F-4D97-AF65-F5344CB8AC3E}">
        <p14:creationId xmlns:p14="http://schemas.microsoft.com/office/powerpoint/2010/main" val="31652597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12.2 Cisco Snort 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a:p>
        </p:txBody>
      </p:sp>
    </p:spTree>
    <p:extLst>
      <p:ext uri="{BB962C8B-B14F-4D97-AF65-F5344CB8AC3E}">
        <p14:creationId xmlns:p14="http://schemas.microsoft.com/office/powerpoint/2010/main" val="769225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Cisco IPS</a:t>
            </a:r>
          </a:p>
        </p:txBody>
      </p:sp>
      <p:sp>
        <p:nvSpPr>
          <p:cNvPr id="5" name="Object4"/>
          <p:cNvSpPr/>
          <p:nvPr/>
        </p:nvSpPr>
        <p:spPr>
          <a:xfrm>
            <a:off x="0" y="914400"/>
            <a:ext cx="8229600"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Organizations now have three options available to provide intrusion prevention services.</a:t>
            </a:r>
          </a:p>
          <a:p>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Cisco Firepower Next-Generation IPS (NGIPS)</a:t>
            </a:r>
            <a:r>
              <a:rPr lang="en-US" sz="1600">
                <a:latin typeface="Arial" panose="020B0604020202020204" pitchFamily="34" charset="0"/>
                <a:cs typeface="Arial" panose="020B0604020202020204" pitchFamily="34" charset="0"/>
              </a:rPr>
              <a:t> - These are dedicated in-line threat prevention appliances that provide industry leading effectiveness against both known and unknown threats.</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Cisco Snort IPS</a:t>
            </a:r>
            <a:r>
              <a:rPr lang="en-US" sz="1600">
                <a:latin typeface="Arial" panose="020B0604020202020204" pitchFamily="34" charset="0"/>
                <a:cs typeface="Arial" panose="020B0604020202020204" pitchFamily="34" charset="0"/>
              </a:rPr>
              <a:t> - This is an IPS service that can be enabled on a second generation ISR (ISR G2) (i.e., ISR 4000s). Note that Cisco 4000 ISRs no longer support Cisco IOS IPS.</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External Snort IPS Server</a:t>
            </a:r>
            <a:r>
              <a:rPr lang="en-US" sz="1600">
                <a:latin typeface="Arial" panose="020B0604020202020204" pitchFamily="34" charset="0"/>
                <a:cs typeface="Arial" panose="020B0604020202020204" pitchFamily="34" charset="0"/>
              </a:rPr>
              <a:t> - This is similar to the Cisco Snort IPS solution but requires a promiscuous (i.e., a SPAN switch port) port and an external Snort IDS/IPS.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a:p>
        </p:txBody>
      </p:sp>
    </p:spTree>
    <p:extLst>
      <p:ext uri="{BB962C8B-B14F-4D97-AF65-F5344CB8AC3E}">
        <p14:creationId xmlns:p14="http://schemas.microsoft.com/office/powerpoint/2010/main" val="38941425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NGIPS</a:t>
            </a:r>
          </a:p>
        </p:txBody>
      </p:sp>
      <p:sp>
        <p:nvSpPr>
          <p:cNvPr id="5" name="Object4"/>
          <p:cNvSpPr/>
          <p:nvPr/>
        </p:nvSpPr>
        <p:spPr>
          <a:xfrm>
            <a:off x="257695" y="839585"/>
            <a:ext cx="8229600" cy="2571750"/>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NGIPS are dedicated IPS appliances. They are built on the core open technology of Snort and use vulnerability-focused IPS rules and embedded IP-, URL-, and DNS-based security intelligence that is provided by Cisco’s Talos Security Intelligence and Research Group.</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NGIPS features include:</a:t>
            </a:r>
          </a:p>
          <a:p>
            <a:pPr marL="742950" lvl="1"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IPS rules that identify and block attack traffic that target network vulnerabilities</a:t>
            </a:r>
          </a:p>
          <a:p>
            <a:pPr marL="742950" lvl="1"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Tightly integrated defense against advanced malware incorporating advanced analysis of network and endpoint activity</a:t>
            </a:r>
          </a:p>
          <a:p>
            <a:pPr marL="742950" lvl="1"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Sandboxing technology that uses hundreds of behavioral indicators to identify zero-day and evasive attacks</a:t>
            </a:r>
          </a:p>
          <a:p>
            <a:pPr marL="742950" lvl="1"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Also includes Application Visibility and Control (AVC), Cisco Advanced Malware Protection (AMP) for Networks, and URL Filtering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a:p>
        </p:txBody>
      </p:sp>
    </p:spTree>
    <p:extLst>
      <p:ext uri="{BB962C8B-B14F-4D97-AF65-F5344CB8AC3E}">
        <p14:creationId xmlns:p14="http://schemas.microsoft.com/office/powerpoint/2010/main" val="3593248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a:t>
            </a:r>
          </a:p>
        </p:txBody>
      </p:sp>
      <p:sp>
        <p:nvSpPr>
          <p:cNvPr id="5" name="Object4"/>
          <p:cNvSpPr/>
          <p:nvPr/>
        </p:nvSpPr>
        <p:spPr>
          <a:xfrm>
            <a:off x="74814" y="939338"/>
            <a:ext cx="8994371" cy="2571750"/>
          </a:xfrm>
          <a:prstGeom prst="rect">
            <a:avLst/>
          </a:prstGeom>
          <a:noFill/>
          <a:ln/>
        </p:spPr>
        <p:txBody>
          <a:bodyPr wrap="square" rtlCol="0" anchor="t"/>
          <a:lstStyle/>
          <a:p>
            <a:pPr>
              <a:lnSpc>
                <a:spcPts val="2000"/>
              </a:lnSpc>
            </a:pPr>
            <a:r>
              <a:rPr lang="en-US" sz="1600">
                <a:latin typeface="Arial" panose="020B0604020202020204" pitchFamily="34" charset="0"/>
                <a:cs typeface="Arial" panose="020B0604020202020204" pitchFamily="34" charset="0"/>
              </a:rPr>
              <a:t>Snort is an open source network IPS that performs real-time traffic analysis and generates alerts when threats are detected on IP networks. It can also perform protocol analysis, content searching or matching, and detect a variety of attacks and probes, such as buffer overflows, stealth port scans, and so on.</a:t>
            </a:r>
          </a:p>
          <a:p>
            <a:pPr>
              <a:lnSpc>
                <a:spcPts val="2000"/>
              </a:lnSpc>
            </a:pPr>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Snort IPS on the 4000 Series ISR provides the following functionalities:</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Intrusion detection system (IDS) and IPS mode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Three signature levels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An allowed list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Snort health monitoring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Fail open and close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Signature update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Event logging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a:p>
        </p:txBody>
      </p:sp>
    </p:spTree>
    <p:extLst>
      <p:ext uri="{BB962C8B-B14F-4D97-AF65-F5344CB8AC3E}">
        <p14:creationId xmlns:p14="http://schemas.microsoft.com/office/powerpoint/2010/main" val="3045655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Components and Rules</a:t>
            </a:r>
          </a:p>
        </p:txBody>
      </p:sp>
      <p:sp>
        <p:nvSpPr>
          <p:cNvPr id="5" name="Object4"/>
          <p:cNvSpPr/>
          <p:nvPr/>
        </p:nvSpPr>
        <p:spPr>
          <a:xfrm>
            <a:off x="0" y="669174"/>
            <a:ext cx="9027622" cy="2571750"/>
          </a:xfrm>
          <a:prstGeom prst="rect">
            <a:avLst/>
          </a:prstGeom>
          <a:noFill/>
          <a:ln/>
        </p:spPr>
        <p:txBody>
          <a:bodyPr wrap="square" rtlCol="0" anchor="t"/>
          <a:lstStyle/>
          <a:p>
            <a:r>
              <a:rPr lang="en-US" sz="1400">
                <a:latin typeface="Arial" panose="020B0604020202020204" pitchFamily="34" charset="0"/>
                <a:cs typeface="Arial" panose="020B0604020202020204" pitchFamily="34" charset="0"/>
              </a:rPr>
              <a:t>Snort IPS for 4000 Series ISRs consists of two components:</a:t>
            </a:r>
          </a:p>
          <a:p>
            <a:pPr marL="742950" lvl="1" indent="-285750">
              <a:buFont typeface="Arial" panose="020B0604020202020204" pitchFamily="34" charset="0"/>
              <a:buChar char="•"/>
            </a:pPr>
            <a:r>
              <a:rPr lang="en-US" sz="1400" b="1">
                <a:latin typeface="Arial" panose="020B0604020202020204" pitchFamily="34" charset="0"/>
                <a:cs typeface="Arial" panose="020B0604020202020204" pitchFamily="34" charset="0"/>
              </a:rPr>
              <a:t>Snort engine</a:t>
            </a:r>
            <a:r>
              <a:rPr lang="en-US" sz="1400">
                <a:latin typeface="Arial" panose="020B0604020202020204" pitchFamily="34" charset="0"/>
                <a:cs typeface="Arial" panose="020B0604020202020204" pitchFamily="34" charset="0"/>
              </a:rPr>
              <a:t> - This is the IPS detection and enforcement engine that is included in the SEC license for 4000 Series ISRs.</a:t>
            </a:r>
          </a:p>
          <a:p>
            <a:pPr marL="742950" lvl="1" indent="-285750">
              <a:buFont typeface="Arial" panose="020B0604020202020204" pitchFamily="34" charset="0"/>
              <a:buChar char="•"/>
            </a:pPr>
            <a:r>
              <a:rPr lang="en-US" sz="1400" b="1">
                <a:latin typeface="Arial" panose="020B0604020202020204" pitchFamily="34" charset="0"/>
                <a:cs typeface="Arial" panose="020B0604020202020204" pitchFamily="34" charset="0"/>
              </a:rPr>
              <a:t>Snort rule software subscriptions for signature updates</a:t>
            </a:r>
            <a:r>
              <a:rPr lang="en-US" sz="1400">
                <a:latin typeface="Arial" panose="020B0604020202020204" pitchFamily="34" charset="0"/>
                <a:cs typeface="Arial" panose="020B0604020202020204" pitchFamily="34" charset="0"/>
              </a:rPr>
              <a:t> - Snort rule sets to keep current with the latest threat protection are term-based subscriptions, available for one or three years.</a:t>
            </a:r>
          </a:p>
          <a:p>
            <a:pPr lvl="1"/>
            <a:endParaRPr lang="en-US" sz="1400">
              <a:latin typeface="Arial" panose="020B0604020202020204" pitchFamily="34" charset="0"/>
              <a:cs typeface="Arial" panose="020B0604020202020204" pitchFamily="34" charset="0"/>
            </a:endParaRPr>
          </a:p>
          <a:p>
            <a:pPr lvl="1"/>
            <a:r>
              <a:rPr lang="en-US" sz="1400">
                <a:latin typeface="Arial" panose="020B0604020202020204" pitchFamily="34" charset="0"/>
                <a:cs typeface="Arial" panose="020B0604020202020204" pitchFamily="34" charset="0"/>
              </a:rPr>
              <a:t>To address the rapidly evolving threat landscape, it is important to ensure that signatures are as up-to-date as possible.</a:t>
            </a:r>
          </a:p>
          <a:p>
            <a:endParaRPr lang="en-US" sz="1400">
              <a:latin typeface="Arial" panose="020B0604020202020204" pitchFamily="34" charset="0"/>
              <a:cs typeface="Arial" panose="020B0604020202020204" pitchFamily="34" charset="0"/>
            </a:endParaRPr>
          </a:p>
          <a:p>
            <a:r>
              <a:rPr lang="en-US" sz="1400">
                <a:latin typeface="Arial" panose="020B0604020202020204" pitchFamily="34" charset="0"/>
                <a:cs typeface="Arial" panose="020B0604020202020204" pitchFamily="34" charset="0"/>
              </a:rPr>
              <a:t>There are two types of term-based subscriptions:</a:t>
            </a:r>
          </a:p>
          <a:p>
            <a:pPr marL="742950" lvl="1" indent="-285750">
              <a:buFont typeface="Arial" panose="020B0604020202020204" pitchFamily="34" charset="0"/>
              <a:buChar char="•"/>
            </a:pPr>
            <a:r>
              <a:rPr lang="en-US" sz="1400" b="1">
                <a:latin typeface="Arial" panose="020B0604020202020204" pitchFamily="34" charset="0"/>
                <a:cs typeface="Arial" panose="020B0604020202020204" pitchFamily="34" charset="0"/>
              </a:rPr>
              <a:t>Community Rule Set</a:t>
            </a:r>
            <a:r>
              <a:rPr lang="en-US" sz="1400">
                <a:latin typeface="Arial" panose="020B0604020202020204" pitchFamily="34" charset="0"/>
                <a:cs typeface="Arial" panose="020B0604020202020204" pitchFamily="34" charset="0"/>
              </a:rPr>
              <a:t> - Available for free, the rules that are provided offer limited coverage against threats. The community rule set focuses on reactive response to security threats versus proactive research work. There is also a 30-day delayed access to updated signatures meaning that newest rule will be a minimum of 30 days old. In addition, there is no Cisco customer support available.</a:t>
            </a:r>
          </a:p>
          <a:p>
            <a:pPr marL="742950" lvl="1" indent="-285750">
              <a:buFont typeface="Arial" panose="020B0604020202020204" pitchFamily="34" charset="0"/>
              <a:buChar char="•"/>
            </a:pPr>
            <a:r>
              <a:rPr lang="en-US" sz="1400" b="1">
                <a:latin typeface="Arial" panose="020B0604020202020204" pitchFamily="34" charset="0"/>
                <a:cs typeface="Arial" panose="020B0604020202020204" pitchFamily="34" charset="0"/>
              </a:rPr>
              <a:t>Subscriber Rule Set</a:t>
            </a:r>
            <a:r>
              <a:rPr lang="en-US" sz="1400">
                <a:latin typeface="Arial" panose="020B0604020202020204" pitchFamily="34" charset="0"/>
                <a:cs typeface="Arial" panose="020B0604020202020204" pitchFamily="34" charset="0"/>
              </a:rPr>
              <a:t> - Available for a fee, this service provides the best protection against threats. It includes coverage of advance of exploits by using the research work of the Cisco Talos security experts. The Subscriber Rule Set also provides the fastest access to updated signatures in response to a security incident or the proactive discovery of a new threat. This subscription is fully supported by Cisco.</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a:p>
        </p:txBody>
      </p:sp>
    </p:spTree>
    <p:extLst>
      <p:ext uri="{BB962C8B-B14F-4D97-AF65-F5344CB8AC3E}">
        <p14:creationId xmlns:p14="http://schemas.microsoft.com/office/powerpoint/2010/main" val="70855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ISR Container Applications</a:t>
            </a:r>
          </a:p>
        </p:txBody>
      </p:sp>
      <p:sp>
        <p:nvSpPr>
          <p:cNvPr id="5" name="Object4"/>
          <p:cNvSpPr/>
          <p:nvPr/>
        </p:nvSpPr>
        <p:spPr>
          <a:xfrm>
            <a:off x="-1" y="914400"/>
            <a:ext cx="9143999" cy="2571750"/>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Routers were initially packet processing devices. Routers have acquired so much processing power that server applications can now be hosted inside the router using service containers.</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Service containers are virtual machines that run on the routers. Applications such as Snort IPS can be uploaded and hosted on these routers. Service containers are supported on most IOS XE platforms. IOS XE is based on the Linux architecture and supports virtual machine hosting.</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The Snort engine runs as a Linux Service Container application on the ISR 4000. This provides it with dedicated computing resources that run independently of the data plane CPU load. It also makes it easier for the Snort engine to be regularly updated.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a:p>
        </p:txBody>
      </p:sp>
    </p:spTree>
    <p:extLst>
      <p:ext uri="{BB962C8B-B14F-4D97-AF65-F5344CB8AC3E}">
        <p14:creationId xmlns:p14="http://schemas.microsoft.com/office/powerpoint/2010/main" val="2304304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Rule Alarms</a:t>
            </a:r>
          </a:p>
        </p:txBody>
      </p:sp>
      <p:sp>
        <p:nvSpPr>
          <p:cNvPr id="5" name="Object4"/>
          <p:cNvSpPr/>
          <p:nvPr/>
        </p:nvSpPr>
        <p:spPr>
          <a:xfrm>
            <a:off x="0" y="914400"/>
            <a:ext cx="8961120"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In Snort IPS, signatures are configured using “rules”. These rules serve as the signature alarms by comparing incoming traffic to the Snort rules. Traffic matching a rule header generates an action. A rule header is conceptually similar to an access control list (ACL) statement (i.e., ACE). It is a one line statement that identifies malicious traffic.</a:t>
            </a:r>
          </a:p>
          <a:p>
            <a:endParaRPr lang="en-US" sz="1400"/>
          </a:p>
        </p:txBody>
      </p:sp>
      <p:sp>
        <p:nvSpPr>
          <p:cNvPr id="8" name="TextBox 7">
            <a:extLst>
              <a:ext uri="{FF2B5EF4-FFF2-40B4-BE49-F238E27FC236}">
                <a16:creationId xmlns:a16="http://schemas.microsoft.com/office/drawing/2014/main" id="{FA554BFE-E441-4584-8094-F670AE15AC91}"/>
              </a:ext>
            </a:extLst>
          </p:cNvPr>
          <p:cNvSpPr txBox="1"/>
          <p:nvPr/>
        </p:nvSpPr>
        <p:spPr>
          <a:xfrm>
            <a:off x="0" y="2067163"/>
            <a:ext cx="3424844"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The basic rule header command syntax 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action</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protocol</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sourceIP</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sourceport</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-&gt;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destIP</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destport</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Rule options</a:t>
            </a: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Refer to the figure for more information regarding the rule header command syntax.</a:t>
            </a:r>
          </a:p>
        </p:txBody>
      </p:sp>
      <p:pic>
        <p:nvPicPr>
          <p:cNvPr id="4" name="Picture 3">
            <a:extLst>
              <a:ext uri="{FF2B5EF4-FFF2-40B4-BE49-F238E27FC236}">
                <a16:creationId xmlns:a16="http://schemas.microsoft.com/office/drawing/2014/main" id="{656B246A-85A9-4843-8223-B1DB4159D3C9}"/>
              </a:ext>
            </a:extLst>
          </p:cNvPr>
          <p:cNvPicPr>
            <a:picLocks noChangeAspect="1"/>
          </p:cNvPicPr>
          <p:nvPr/>
        </p:nvPicPr>
        <p:blipFill>
          <a:blip r:embed="rId3"/>
          <a:stretch>
            <a:fillRect/>
          </a:stretch>
        </p:blipFill>
        <p:spPr>
          <a:xfrm>
            <a:off x="3465555" y="1935451"/>
            <a:ext cx="5587005" cy="257174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a:p>
        </p:txBody>
      </p:sp>
    </p:spTree>
    <p:extLst>
      <p:ext uri="{BB962C8B-B14F-4D97-AF65-F5344CB8AC3E}">
        <p14:creationId xmlns:p14="http://schemas.microsoft.com/office/powerpoint/2010/main" val="278932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ástupný objekt pre obsah 4">
            <a:extLst>
              <a:ext uri="{FF2B5EF4-FFF2-40B4-BE49-F238E27FC236}">
                <a16:creationId xmlns:a16="http://schemas.microsoft.com/office/drawing/2014/main" id="{F0885076-98E6-8884-9E90-9B11C702E6E3}"/>
              </a:ext>
            </a:extLst>
          </p:cNvPr>
          <p:cNvSpPr>
            <a:spLocks noGrp="1"/>
          </p:cNvSpPr>
          <p:nvPr>
            <p:ph idx="1"/>
          </p:nvPr>
        </p:nvSpPr>
        <p:spPr>
          <a:xfrm>
            <a:off x="145256" y="798944"/>
            <a:ext cx="8853487" cy="4156075"/>
          </a:xfrm>
        </p:spPr>
        <p:txBody>
          <a:bodyPr>
            <a:normAutofit fontScale="77500" lnSpcReduction="20000"/>
          </a:bodyPr>
          <a:lstStyle/>
          <a:p>
            <a:r>
              <a:rPr lang="sk-SK"/>
              <a:t>Jednoduché pravidlo ICMP (</a:t>
            </a:r>
            <a:r>
              <a:rPr lang="sk-SK" err="1"/>
              <a:t>ping</a:t>
            </a:r>
            <a:r>
              <a:rPr lang="sk-SK"/>
              <a:t>) </a:t>
            </a:r>
            <a:r>
              <a:rPr lang="sk-SK" err="1"/>
              <a:t>detekuje</a:t>
            </a:r>
            <a:r>
              <a:rPr lang="sk-SK"/>
              <a:t> ICMP Echo </a:t>
            </a:r>
            <a:r>
              <a:rPr lang="sk-SK" err="1"/>
              <a:t>Request</a:t>
            </a:r>
            <a:r>
              <a:rPr lang="sk-SK"/>
              <a:t> (</a:t>
            </a:r>
            <a:r>
              <a:rPr lang="sk-SK" err="1"/>
              <a:t>ping</a:t>
            </a:r>
            <a:r>
              <a:rPr lang="sk-SK"/>
              <a:t>) pakety a generuje upozornenie.</a:t>
            </a:r>
          </a:p>
          <a:p>
            <a:pPr lvl="1"/>
            <a:r>
              <a:rPr lang="sk-SK" err="1"/>
              <a:t>alert</a:t>
            </a:r>
            <a:r>
              <a:rPr lang="sk-SK"/>
              <a:t> </a:t>
            </a:r>
            <a:r>
              <a:rPr lang="sk-SK" err="1"/>
              <a:t>icmp</a:t>
            </a:r>
            <a:r>
              <a:rPr lang="sk-SK"/>
              <a:t> </a:t>
            </a:r>
            <a:r>
              <a:rPr lang="sk-SK" err="1"/>
              <a:t>any</a:t>
            </a:r>
            <a:r>
              <a:rPr lang="sk-SK"/>
              <a:t> </a:t>
            </a:r>
            <a:r>
              <a:rPr lang="sk-SK" err="1"/>
              <a:t>any</a:t>
            </a:r>
            <a:r>
              <a:rPr lang="sk-SK"/>
              <a:t> -&gt; </a:t>
            </a:r>
            <a:r>
              <a:rPr lang="sk-SK" err="1"/>
              <a:t>any</a:t>
            </a:r>
            <a:r>
              <a:rPr lang="sk-SK"/>
              <a:t> </a:t>
            </a:r>
            <a:r>
              <a:rPr lang="sk-SK" err="1"/>
              <a:t>any</a:t>
            </a:r>
            <a:r>
              <a:rPr lang="sk-SK"/>
              <a:t> (</a:t>
            </a:r>
            <a:r>
              <a:rPr lang="sk-SK" err="1"/>
              <a:t>msg</a:t>
            </a:r>
            <a:r>
              <a:rPr lang="sk-SK"/>
              <a:t>:"ICMP Echo </a:t>
            </a:r>
            <a:r>
              <a:rPr lang="sk-SK" err="1"/>
              <a:t>Request</a:t>
            </a:r>
            <a:r>
              <a:rPr lang="sk-SK"/>
              <a:t> </a:t>
            </a:r>
            <a:r>
              <a:rPr lang="sk-SK" err="1"/>
              <a:t>Detected</a:t>
            </a:r>
            <a:r>
              <a:rPr lang="sk-SK"/>
              <a:t>"; sid:1000001; rev:1;)</a:t>
            </a:r>
          </a:p>
          <a:p>
            <a:r>
              <a:rPr lang="sk-SK"/>
              <a:t>Pravidlo pre detekciu na prístup na HTTP port (80) v rámci siete 192.168.1.0/24 a generuje upozornenie. </a:t>
            </a:r>
          </a:p>
          <a:p>
            <a:pPr lvl="1"/>
            <a:r>
              <a:rPr lang="sk-SK" err="1"/>
              <a:t>alert</a:t>
            </a:r>
            <a:r>
              <a:rPr lang="sk-SK"/>
              <a:t> </a:t>
            </a:r>
            <a:r>
              <a:rPr lang="sk-SK" err="1"/>
              <a:t>tcp</a:t>
            </a:r>
            <a:r>
              <a:rPr lang="sk-SK"/>
              <a:t> </a:t>
            </a:r>
            <a:r>
              <a:rPr lang="sk-SK" err="1"/>
              <a:t>any</a:t>
            </a:r>
            <a:r>
              <a:rPr lang="sk-SK"/>
              <a:t> </a:t>
            </a:r>
            <a:r>
              <a:rPr lang="sk-SK" err="1"/>
              <a:t>any</a:t>
            </a:r>
            <a:r>
              <a:rPr lang="sk-SK"/>
              <a:t> -&gt; 192.168.1.0/24 80 (</a:t>
            </a:r>
            <a:r>
              <a:rPr lang="sk-SK" err="1"/>
              <a:t>msg</a:t>
            </a:r>
            <a:r>
              <a:rPr lang="sk-SK"/>
              <a:t>:"HTTP Access </a:t>
            </a:r>
            <a:r>
              <a:rPr lang="sk-SK" err="1"/>
              <a:t>Detected</a:t>
            </a:r>
            <a:r>
              <a:rPr lang="sk-SK"/>
              <a:t>"; sid:1000002; rev:1;) </a:t>
            </a:r>
          </a:p>
          <a:p>
            <a:r>
              <a:rPr lang="sk-SK"/>
              <a:t>Pravidlo </a:t>
            </a:r>
            <a:r>
              <a:rPr lang="sk-SK" err="1"/>
              <a:t>detekuje</a:t>
            </a:r>
            <a:r>
              <a:rPr lang="sk-SK"/>
              <a:t> všetku TCP komunikáciu z IP adresy 192.168.1.100 a generuje upozornenie</a:t>
            </a:r>
          </a:p>
          <a:p>
            <a:pPr lvl="1"/>
            <a:r>
              <a:rPr lang="sk-SK" err="1"/>
              <a:t>alert</a:t>
            </a:r>
            <a:r>
              <a:rPr lang="sk-SK"/>
              <a:t> </a:t>
            </a:r>
            <a:r>
              <a:rPr lang="sk-SK" err="1"/>
              <a:t>tcp</a:t>
            </a:r>
            <a:r>
              <a:rPr lang="sk-SK"/>
              <a:t> 192.168.1.100 </a:t>
            </a:r>
            <a:r>
              <a:rPr lang="sk-SK" err="1"/>
              <a:t>any</a:t>
            </a:r>
            <a:r>
              <a:rPr lang="sk-SK"/>
              <a:t> -&gt; </a:t>
            </a:r>
            <a:r>
              <a:rPr lang="sk-SK" err="1"/>
              <a:t>any</a:t>
            </a:r>
            <a:r>
              <a:rPr lang="sk-SK"/>
              <a:t> </a:t>
            </a:r>
            <a:r>
              <a:rPr lang="sk-SK" err="1"/>
              <a:t>any</a:t>
            </a:r>
            <a:r>
              <a:rPr lang="sk-SK"/>
              <a:t> (</a:t>
            </a:r>
            <a:r>
              <a:rPr lang="sk-SK" err="1"/>
              <a:t>msg</a:t>
            </a:r>
            <a:r>
              <a:rPr lang="sk-SK"/>
              <a:t>:"</a:t>
            </a:r>
            <a:r>
              <a:rPr lang="sk-SK" err="1"/>
              <a:t>Traffic</a:t>
            </a:r>
            <a:r>
              <a:rPr lang="sk-SK"/>
              <a:t> </a:t>
            </a:r>
            <a:r>
              <a:rPr lang="sk-SK" err="1"/>
              <a:t>from</a:t>
            </a:r>
            <a:r>
              <a:rPr lang="sk-SK"/>
              <a:t> </a:t>
            </a:r>
            <a:r>
              <a:rPr lang="sk-SK" err="1"/>
              <a:t>Specific</a:t>
            </a:r>
            <a:r>
              <a:rPr lang="sk-SK"/>
              <a:t> IP </a:t>
            </a:r>
            <a:r>
              <a:rPr lang="sk-SK" err="1"/>
              <a:t>Detected</a:t>
            </a:r>
            <a:r>
              <a:rPr lang="sk-SK"/>
              <a:t>"; sid:1000003; rev:1;) </a:t>
            </a:r>
          </a:p>
        </p:txBody>
      </p:sp>
      <p:sp>
        <p:nvSpPr>
          <p:cNvPr id="7" name="Nadpis 6">
            <a:extLst>
              <a:ext uri="{FF2B5EF4-FFF2-40B4-BE49-F238E27FC236}">
                <a16:creationId xmlns:a16="http://schemas.microsoft.com/office/drawing/2014/main" id="{18C9B0F4-DE06-EC4D-D234-AECA3F3E5A87}"/>
              </a:ext>
            </a:extLst>
          </p:cNvPr>
          <p:cNvSpPr>
            <a:spLocks noGrp="1"/>
          </p:cNvSpPr>
          <p:nvPr>
            <p:ph type="title"/>
          </p:nvPr>
        </p:nvSpPr>
        <p:spPr/>
        <p:txBody>
          <a:bodyPr/>
          <a:lstStyle/>
          <a:p>
            <a:pPr algn="l">
              <a:spcBef>
                <a:spcPct val="20000"/>
              </a:spcBef>
            </a:pPr>
            <a:r>
              <a:rPr lang="en-US" sz="2200">
                <a:solidFill>
                  <a:srgbClr val="024C69"/>
                </a:solidFill>
                <a:latin typeface="Arial" pitchFamily="34" charset="0"/>
                <a:cs typeface="Arial" pitchFamily="34" charset="-120"/>
              </a:rPr>
              <a:t>Snort IPS Rule Alarms</a:t>
            </a:r>
            <a:endParaRPr lang="sk-SK" sz="2200">
              <a:solidFill>
                <a:srgbClr val="024C69"/>
              </a:solidFill>
              <a:latin typeface="Arial" pitchFamily="34" charset="0"/>
              <a:cs typeface="Arial" pitchFamily="34" charset="-120"/>
            </a:endParaRPr>
          </a:p>
        </p:txBody>
      </p:sp>
    </p:spTree>
    <p:extLst>
      <p:ext uri="{BB962C8B-B14F-4D97-AF65-F5344CB8AC3E}">
        <p14:creationId xmlns:p14="http://schemas.microsoft.com/office/powerpoint/2010/main" val="297614077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Rule Actions</a:t>
            </a:r>
          </a:p>
        </p:txBody>
      </p:sp>
      <p:sp>
        <p:nvSpPr>
          <p:cNvPr id="5" name="Object4"/>
          <p:cNvSpPr/>
          <p:nvPr/>
        </p:nvSpPr>
        <p:spPr>
          <a:xfrm>
            <a:off x="207818" y="764771"/>
            <a:ext cx="9144000" cy="2571750"/>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Snort can be enabled in IDS mode or in IPS mode.</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Snort IDS mode can perform the following three actions:</a:t>
            </a:r>
          </a:p>
          <a:p>
            <a:endParaRPr lang="en-US" sz="160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Alert</a:t>
            </a:r>
            <a:r>
              <a:rPr lang="en-US" sz="1600">
                <a:effectLst/>
                <a:latin typeface="Arial" panose="020B0604020202020204" pitchFamily="34" charset="0"/>
                <a:cs typeface="Arial" panose="020B0604020202020204" pitchFamily="34" charset="0"/>
              </a:rPr>
              <a:t> - Generate an alert using the selected alert method, and then log the packet.</a:t>
            </a: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Log</a:t>
            </a:r>
            <a:r>
              <a:rPr lang="en-US" sz="1600">
                <a:effectLst/>
                <a:latin typeface="Arial" panose="020B0604020202020204" pitchFamily="34" charset="0"/>
                <a:cs typeface="Arial" panose="020B0604020202020204" pitchFamily="34" charset="0"/>
              </a:rPr>
              <a:t> - Log the packet.</a:t>
            </a: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Pass</a:t>
            </a:r>
            <a:r>
              <a:rPr lang="en-US" sz="1600">
                <a:effectLst/>
                <a:latin typeface="Arial" panose="020B0604020202020204" pitchFamily="34" charset="0"/>
                <a:cs typeface="Arial" panose="020B0604020202020204" pitchFamily="34" charset="0"/>
              </a:rPr>
              <a:t> - Ignore the packet.</a:t>
            </a:r>
          </a:p>
          <a:p>
            <a:pPr>
              <a:buFont typeface="Arial" panose="020B0604020202020204" pitchFamily="34" charset="0"/>
              <a:buChar char="•"/>
            </a:pPr>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Snort IPS mode can perform all of the IDS actions plus the following:</a:t>
            </a:r>
          </a:p>
          <a:p>
            <a:endParaRPr lang="en-US" sz="160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Drop</a:t>
            </a:r>
            <a:r>
              <a:rPr lang="en-US" sz="1600">
                <a:effectLst/>
                <a:latin typeface="Arial" panose="020B0604020202020204" pitchFamily="34" charset="0"/>
                <a:cs typeface="Arial" panose="020B0604020202020204" pitchFamily="34" charset="0"/>
              </a:rPr>
              <a:t> - Block and log the packet.</a:t>
            </a: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Reject</a:t>
            </a:r>
            <a:r>
              <a:rPr lang="en-US" sz="1600">
                <a:effectLst/>
                <a:latin typeface="Arial" panose="020B0604020202020204" pitchFamily="34" charset="0"/>
                <a:cs typeface="Arial" panose="020B0604020202020204" pitchFamily="34" charset="0"/>
              </a:rPr>
              <a:t> - Block the packet, log it, and then send a TCP reset if the protocol is TCP or an ICMP port unreachable message if the protocol is UDP.</a:t>
            </a:r>
          </a:p>
          <a:p>
            <a:pPr marL="285750"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Sdrop</a:t>
            </a:r>
            <a:r>
              <a:rPr lang="en-US" sz="1600">
                <a:effectLst/>
                <a:latin typeface="Arial" panose="020B0604020202020204" pitchFamily="34" charset="0"/>
                <a:cs typeface="Arial" panose="020B0604020202020204" pitchFamily="34" charset="0"/>
              </a:rPr>
              <a:t> - Block the packet but do not log it.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a:p>
        </p:txBody>
      </p:sp>
    </p:spTree>
    <p:extLst>
      <p:ext uri="{BB962C8B-B14F-4D97-AF65-F5344CB8AC3E}">
        <p14:creationId xmlns:p14="http://schemas.microsoft.com/office/powerpoint/2010/main" val="2317655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Header Rule Options</a:t>
            </a:r>
          </a:p>
        </p:txBody>
      </p:sp>
      <p:graphicFrame>
        <p:nvGraphicFramePr>
          <p:cNvPr id="24" name="Table 23"/>
          <p:cNvGraphicFramePr>
            <a:graphicFrameLocks noGrp="1"/>
          </p:cNvGraphicFramePr>
          <p:nvPr>
            <p:extLst>
              <p:ext uri="{D42A27DB-BD31-4B8C-83A1-F6EECF244321}">
                <p14:modId xmlns:p14="http://schemas.microsoft.com/office/powerpoint/2010/main" val="684937292"/>
              </p:ext>
            </p:extLst>
          </p:nvPr>
        </p:nvGraphicFramePr>
        <p:xfrm>
          <a:off x="116378" y="2106584"/>
          <a:ext cx="8570422" cy="2545080"/>
        </p:xfrm>
        <a:graphic>
          <a:graphicData uri="http://schemas.openxmlformats.org/drawingml/2006/table">
            <a:tbl>
              <a:tblPr/>
              <a:tblGrid>
                <a:gridCol w="1647771">
                  <a:extLst>
                    <a:ext uri="{9D8B030D-6E8A-4147-A177-3AD203B41FA5}">
                      <a16:colId xmlns:a16="http://schemas.microsoft.com/office/drawing/2014/main" val="20000"/>
                    </a:ext>
                  </a:extLst>
                </a:gridCol>
                <a:gridCol w="6922651">
                  <a:extLst>
                    <a:ext uri="{9D8B030D-6E8A-4147-A177-3AD203B41FA5}">
                      <a16:colId xmlns:a16="http://schemas.microsoft.com/office/drawing/2014/main" val="20001"/>
                    </a:ext>
                  </a:extLst>
                </a:gridCol>
              </a:tblGrid>
              <a:tr h="0">
                <a:tc>
                  <a:txBody>
                    <a:bodyPr/>
                    <a:lstStyle/>
                    <a:p>
                      <a:r>
                        <a:rPr lang="en-US" sz="1200">
                          <a:solidFill>
                            <a:srgbClr val="FFFFFF"/>
                          </a:solidFill>
                        </a:rPr>
                        <a:t>Rule Option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Specific Action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msg: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This is a simple text string that provides a meaningful message to output when the rule matches.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flow:</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Specifies the direction of network traffic.</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a:solidFill>
                            <a:srgbClr val="58585B"/>
                          </a:solidFill>
                        </a:rPr>
                        <a:t>content: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 detection rule option that allows the user to set rules that search for specific content in the packet payload and trigger response based on that data. The option data can contain mixed text and binary data</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a:solidFill>
                            <a:srgbClr val="58585B"/>
                          </a:solidFill>
                        </a:rPr>
                        <a:t>distance: / offset: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Detection rule keywords that allow the rule writer to specify where to start searching relative to the beginning of the payload or the beginning of a content match.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a:solidFill>
                            <a:srgbClr val="58585B"/>
                          </a:solidFill>
                        </a:rPr>
                        <a:t>within: / depth:</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Detection rule keywords that allow the rule write to specify how far forward to search relative to the end of a previous content match and, once that content match is found, how far to search for it.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a:solidFill>
                            <a:srgbClr val="58585B"/>
                          </a:solidFill>
                        </a:rPr>
                        <a:t>pcre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A detection rule keyword that allows rules to be written using “perl compatible regular expressions” which allows for more complex matches.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6223837D-B447-4D5B-A003-509D2F3C2F96}"/>
              </a:ext>
            </a:extLst>
          </p:cNvPr>
          <p:cNvSpPr txBox="1"/>
          <p:nvPr/>
        </p:nvSpPr>
        <p:spPr>
          <a:xfrm>
            <a:off x="0" y="639399"/>
            <a:ext cx="9235440" cy="1569660"/>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A Snort rule header also contains rule options (fields) to provide additional information for the rule. Options are separated by semicolons (;) and the rule option keywords are separated from their arguments using colons (:).</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table describes the common general rule and the detection rule options in the sample rule header.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a:p>
        </p:txBody>
      </p:sp>
    </p:spTree>
    <p:extLst>
      <p:ext uri="{BB962C8B-B14F-4D97-AF65-F5344CB8AC3E}">
        <p14:creationId xmlns:p14="http://schemas.microsoft.com/office/powerpoint/2010/main" val="37240542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Header Rule Options (Cont.)</a:t>
            </a:r>
          </a:p>
        </p:txBody>
      </p:sp>
      <p:graphicFrame>
        <p:nvGraphicFramePr>
          <p:cNvPr id="24" name="Table 23"/>
          <p:cNvGraphicFramePr>
            <a:graphicFrameLocks noGrp="1"/>
          </p:cNvGraphicFramePr>
          <p:nvPr>
            <p:extLst>
              <p:ext uri="{D42A27DB-BD31-4B8C-83A1-F6EECF244321}">
                <p14:modId xmlns:p14="http://schemas.microsoft.com/office/powerpoint/2010/main" val="594808448"/>
              </p:ext>
            </p:extLst>
          </p:nvPr>
        </p:nvGraphicFramePr>
        <p:xfrm>
          <a:off x="91440" y="1948815"/>
          <a:ext cx="8961120" cy="192024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a:solidFill>
                            <a:srgbClr val="FFFFFF"/>
                          </a:solidFill>
                        </a:rPr>
                        <a:t>Rule Option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Specific Action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byte_test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 detection rule keyword that allows a rule to test a number of bytes against a specific value in binary.</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a:solidFill>
                            <a:srgbClr val="58585B"/>
                          </a:solidFill>
                        </a:rPr>
                        <a:t>metadata:</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Allows a rule writer to embed additional information about the rule.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0">
                <a:tc>
                  <a:txBody>
                    <a:bodyPr/>
                    <a:lstStyle/>
                    <a:p>
                      <a:r>
                        <a:rPr lang="en-US" sz="1200">
                          <a:solidFill>
                            <a:srgbClr val="58585B"/>
                          </a:solidFill>
                        </a:rPr>
                        <a:t>reference: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Allows rules to include references to external sources of information.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200">
                          <a:solidFill>
                            <a:srgbClr val="58585B"/>
                          </a:solidFill>
                        </a:rPr>
                        <a:t>classtype: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Identifies the potential effect of what a successful attack would be.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r>
                        <a:rPr lang="en-US" sz="1200">
                          <a:solidFill>
                            <a:srgbClr val="58585B"/>
                          </a:solidFill>
                        </a:rPr>
                        <a:t>sid / rev</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The sid is a unique identifier for each rule making them easy to identify. It should be used with the rev (revision) keyword.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bl>
          </a:graphicData>
        </a:graphic>
      </p:graphicFrame>
      <p:sp>
        <p:nvSpPr>
          <p:cNvPr id="7" name="TextBox 6">
            <a:extLst>
              <a:ext uri="{FF2B5EF4-FFF2-40B4-BE49-F238E27FC236}">
                <a16:creationId xmlns:a16="http://schemas.microsoft.com/office/drawing/2014/main" id="{2956883A-6DDB-4BBB-BAD8-AF1B74560B27}"/>
              </a:ext>
            </a:extLst>
          </p:cNvPr>
          <p:cNvSpPr txBox="1"/>
          <p:nvPr/>
        </p:nvSpPr>
        <p:spPr>
          <a:xfrm>
            <a:off x="91440" y="922436"/>
            <a:ext cx="8753302" cy="646331"/>
          </a:xfrm>
          <a:prstGeom prst="rect">
            <a:avLst/>
          </a:prstGeom>
          <a:noFill/>
        </p:spPr>
        <p:txBody>
          <a:bodyPr wrap="square">
            <a:spAutoFit/>
          </a:bodyPr>
          <a:lstStyle/>
          <a:p>
            <a:r>
              <a:rPr lang="en-US" sz="1800">
                <a:latin typeface="Arial" panose="020B0604020202020204" pitchFamily="34" charset="0"/>
                <a:cs typeface="Arial" panose="020B0604020202020204" pitchFamily="34" charset="0"/>
              </a:rPr>
              <a:t>The table describes the common general rule and the detection rule options in the sample rule header.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a:p>
        </p:txBody>
      </p:sp>
    </p:spTree>
    <p:extLst>
      <p:ext uri="{BB962C8B-B14F-4D97-AF65-F5344CB8AC3E}">
        <p14:creationId xmlns:p14="http://schemas.microsoft.com/office/powerpoint/2010/main" val="42281856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Operation</a:t>
            </a:r>
          </a:p>
        </p:txBody>
      </p:sp>
      <p:sp>
        <p:nvSpPr>
          <p:cNvPr id="5" name="Object4"/>
          <p:cNvSpPr/>
          <p:nvPr/>
        </p:nvSpPr>
        <p:spPr>
          <a:xfrm>
            <a:off x="83127" y="914400"/>
            <a:ext cx="9060873" cy="2571750"/>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Packets arriving on Snort enabled interfaces are inspected as follows:</a:t>
            </a:r>
          </a:p>
          <a:p>
            <a:pPr lvl="1"/>
            <a:endParaRPr lang="en-US" sz="1600">
              <a:effectLst/>
              <a:latin typeface="Arial" panose="020B0604020202020204" pitchFamily="34" charset="0"/>
              <a:cs typeface="Arial" panose="020B0604020202020204" pitchFamily="34" charset="0"/>
            </a:endParaRPr>
          </a:p>
          <a:p>
            <a:pPr marL="800100" lvl="1" indent="-342900">
              <a:buFont typeface="+mj-lt"/>
              <a:buAutoNum type="arabicPeriod"/>
            </a:pPr>
            <a:r>
              <a:rPr lang="en-US" sz="1600">
                <a:effectLst/>
                <a:latin typeface="Arial" panose="020B0604020202020204" pitchFamily="34" charset="0"/>
                <a:cs typeface="Arial" panose="020B0604020202020204" pitchFamily="34" charset="0"/>
              </a:rPr>
              <a:t>Cisco IOS Software forwards the packets to be inspected to the Snort IPS engine using an internal virtual port group (VPG) interface.</a:t>
            </a:r>
          </a:p>
          <a:p>
            <a:pPr marL="800100" lvl="1" indent="-342900">
              <a:buFont typeface="+mj-lt"/>
              <a:buAutoNum type="arabicPeriod"/>
            </a:pPr>
            <a:r>
              <a:rPr lang="en-US" sz="1600">
                <a:effectLst/>
                <a:latin typeface="Arial" panose="020B0604020202020204" pitchFamily="34" charset="0"/>
                <a:cs typeface="Arial" panose="020B0604020202020204" pitchFamily="34" charset="0"/>
              </a:rPr>
              <a:t>Snort IPS inspects the traffic and takes necessary action.</a:t>
            </a:r>
          </a:p>
          <a:p>
            <a:pPr marL="800100" lvl="1" indent="-342900">
              <a:buFont typeface="+mj-lt"/>
              <a:buAutoNum type="arabicPeriod"/>
            </a:pPr>
            <a:r>
              <a:rPr lang="en-US" sz="1600">
                <a:effectLst/>
                <a:latin typeface="Arial" panose="020B0604020202020204" pitchFamily="34" charset="0"/>
                <a:cs typeface="Arial" panose="020B0604020202020204" pitchFamily="34" charset="0"/>
              </a:rPr>
              <a:t>Snort drops the packets associated with bad flows (IPS mode). Good flow packets are returned back to the router for further processing.</a:t>
            </a:r>
          </a:p>
          <a:p>
            <a:pPr>
              <a:buFont typeface="+mj-lt"/>
              <a:buAutoNum type="arabicPeriod"/>
            </a:pPr>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Packet exchange between the container applications and the IOS data plane is done using VPG interfaces. These routed interfaces are connected through the router back plane. The corresponding interface on the container side will appear as virtual Ethernet ports.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48</a:t>
            </a:fld>
            <a:endParaRPr lang="en-US"/>
          </a:p>
        </p:txBody>
      </p:sp>
    </p:spTree>
    <p:extLst>
      <p:ext uri="{BB962C8B-B14F-4D97-AF65-F5344CB8AC3E}">
        <p14:creationId xmlns:p14="http://schemas.microsoft.com/office/powerpoint/2010/main" val="20819450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Operation</a:t>
            </a:r>
          </a:p>
        </p:txBody>
      </p:sp>
      <p:sp>
        <p:nvSpPr>
          <p:cNvPr id="5" name="Object4"/>
          <p:cNvSpPr/>
          <p:nvPr/>
        </p:nvSpPr>
        <p:spPr>
          <a:xfrm>
            <a:off x="-1" y="914400"/>
            <a:ext cx="4455623" cy="2571750"/>
          </a:xfrm>
          <a:prstGeom prst="rect">
            <a:avLst/>
          </a:prstGeom>
          <a:noFill/>
          <a:ln/>
        </p:spPr>
        <p:txBody>
          <a:bodyPr wrap="square" rtlCol="0" anchor="t"/>
          <a:lstStyle/>
          <a:p>
            <a:r>
              <a:rPr lang="en-US" sz="1500">
                <a:effectLst/>
                <a:latin typeface="Arial" panose="020B0604020202020204" pitchFamily="34" charset="0"/>
                <a:cs typeface="Arial" panose="020B0604020202020204" pitchFamily="34" charset="0"/>
              </a:rPr>
              <a:t>Snort IPS requires two VPG interfaces:</a:t>
            </a:r>
          </a:p>
          <a:p>
            <a:endParaRPr lang="en-US" sz="150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a:effectLst/>
                <a:latin typeface="Arial" panose="020B0604020202020204" pitchFamily="34" charset="0"/>
                <a:cs typeface="Arial" panose="020B0604020202020204" pitchFamily="34" charset="0"/>
              </a:rPr>
              <a:t>Management interface</a:t>
            </a:r>
            <a:r>
              <a:rPr lang="en-US" sz="1500">
                <a:effectLst/>
                <a:latin typeface="Arial" panose="020B0604020202020204" pitchFamily="34" charset="0"/>
                <a:cs typeface="Arial" panose="020B0604020202020204" pitchFamily="34" charset="0"/>
              </a:rPr>
              <a:t> - This is the interface that is used to source logs to the log collector and for retrieving signature updates from Cisco.com. For this reason, this interface requires a routable IP address.</a:t>
            </a:r>
          </a:p>
          <a:p>
            <a:pPr marL="742950" lvl="1" indent="-285750">
              <a:buFont typeface="Arial" panose="020B0604020202020204" pitchFamily="34" charset="0"/>
              <a:buChar char="•"/>
            </a:pPr>
            <a:r>
              <a:rPr lang="en-US" sz="1500" b="1">
                <a:effectLst/>
                <a:latin typeface="Arial" panose="020B0604020202020204" pitchFamily="34" charset="0"/>
                <a:cs typeface="Arial" panose="020B0604020202020204" pitchFamily="34" charset="0"/>
              </a:rPr>
              <a:t>Data interface</a:t>
            </a:r>
            <a:r>
              <a:rPr lang="en-US" sz="1500">
                <a:effectLst/>
                <a:latin typeface="Arial" panose="020B0604020202020204" pitchFamily="34" charset="0"/>
                <a:cs typeface="Arial" panose="020B0604020202020204" pitchFamily="34" charset="0"/>
              </a:rPr>
              <a:t> - This is the interface that is used to send user traffic between the Snort virtual container service and the router forwarding plane.</a:t>
            </a:r>
          </a:p>
          <a:p>
            <a:endParaRPr lang="en-US" sz="1400">
              <a:effectLst/>
            </a:endParaRPr>
          </a:p>
        </p:txBody>
      </p:sp>
      <p:sp>
        <p:nvSpPr>
          <p:cNvPr id="8" name="TextBox 7">
            <a:extLst>
              <a:ext uri="{FF2B5EF4-FFF2-40B4-BE49-F238E27FC236}">
                <a16:creationId xmlns:a16="http://schemas.microsoft.com/office/drawing/2014/main" id="{53BF7581-261A-4F2B-AE42-8BFAB0397A07}"/>
              </a:ext>
            </a:extLst>
          </p:cNvPr>
          <p:cNvSpPr txBox="1"/>
          <p:nvPr/>
        </p:nvSpPr>
        <p:spPr>
          <a:xfrm>
            <a:off x="95598" y="3720055"/>
            <a:ext cx="9222968"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In the figure, VPG0 is used for Snort management traffic while VPG1 is used for user traffic to be inspected. User traffic to be inspected is forwarded to the Snort engine using VPG1 as shown. Traffic is then inspected and either rejected (dropped) or forwarded back to the router.</a:t>
            </a:r>
          </a:p>
        </p:txBody>
      </p:sp>
      <p:pic>
        <p:nvPicPr>
          <p:cNvPr id="4" name="Picture 3">
            <a:extLst>
              <a:ext uri="{FF2B5EF4-FFF2-40B4-BE49-F238E27FC236}">
                <a16:creationId xmlns:a16="http://schemas.microsoft.com/office/drawing/2014/main" id="{78D92105-838C-4A02-9AD5-7E505B80A36D}"/>
              </a:ext>
            </a:extLst>
          </p:cNvPr>
          <p:cNvPicPr>
            <a:picLocks noChangeAspect="1"/>
          </p:cNvPicPr>
          <p:nvPr/>
        </p:nvPicPr>
        <p:blipFill>
          <a:blip r:embed="rId3"/>
          <a:stretch>
            <a:fillRect/>
          </a:stretch>
        </p:blipFill>
        <p:spPr>
          <a:xfrm>
            <a:off x="4503509" y="1097188"/>
            <a:ext cx="4640491" cy="225284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a:p>
        </p:txBody>
      </p:sp>
    </p:spTree>
    <p:extLst>
      <p:ext uri="{BB962C8B-B14F-4D97-AF65-F5344CB8AC3E}">
        <p14:creationId xmlns:p14="http://schemas.microsoft.com/office/powerpoint/2010/main" val="761336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12.3 Configure Snort 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a:p>
        </p:txBody>
      </p:sp>
    </p:spTree>
    <p:extLst>
      <p:ext uri="{BB962C8B-B14F-4D97-AF65-F5344CB8AC3E}">
        <p14:creationId xmlns:p14="http://schemas.microsoft.com/office/powerpoint/2010/main" val="3262014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Snort IPS Configuration Steps</a:t>
            </a:r>
          </a:p>
        </p:txBody>
      </p:sp>
      <p:sp>
        <p:nvSpPr>
          <p:cNvPr id="5" name="Object4"/>
          <p:cNvSpPr/>
          <p:nvPr/>
        </p:nvSpPr>
        <p:spPr>
          <a:xfrm>
            <a:off x="166255" y="914400"/>
            <a:ext cx="8229600"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To deploy Snort IPS on supported devices, perform the following tasks:</a:t>
            </a:r>
          </a:p>
          <a:p>
            <a:endParaRPr lang="en-US" sz="1600">
              <a:latin typeface="Arial" panose="020B0604020202020204" pitchFamily="34" charset="0"/>
              <a:cs typeface="Arial" panose="020B0604020202020204" pitchFamily="34" charset="0"/>
            </a:endParaRPr>
          </a:p>
          <a:p>
            <a:pPr marL="800100" lvl="1" indent="-342900">
              <a:buFont typeface="+mj-lt"/>
              <a:buAutoNum type="arabicPeriod"/>
            </a:pPr>
            <a:r>
              <a:rPr lang="en-US" sz="1600">
                <a:latin typeface="Arial" panose="020B0604020202020204" pitchFamily="34" charset="0"/>
                <a:cs typeface="Arial" panose="020B0604020202020204" pitchFamily="34" charset="0"/>
              </a:rPr>
              <a:t>Download the Snort OVA file.</a:t>
            </a:r>
          </a:p>
          <a:p>
            <a:pPr marL="800100" lvl="1" indent="-342900">
              <a:buFont typeface="+mj-lt"/>
              <a:buAutoNum type="arabicPeriod"/>
            </a:pPr>
            <a:r>
              <a:rPr lang="en-US" sz="1600">
                <a:latin typeface="Arial" panose="020B0604020202020204" pitchFamily="34" charset="0"/>
                <a:cs typeface="Arial" panose="020B0604020202020204" pitchFamily="34" charset="0"/>
              </a:rPr>
              <a:t>Install the OVA file.</a:t>
            </a:r>
          </a:p>
          <a:p>
            <a:pPr marL="800100" lvl="1" indent="-342900">
              <a:buFont typeface="+mj-lt"/>
              <a:buAutoNum type="arabicPeriod"/>
            </a:pPr>
            <a:r>
              <a:rPr lang="en-US" sz="1600">
                <a:latin typeface="Arial" panose="020B0604020202020204" pitchFamily="34" charset="0"/>
                <a:cs typeface="Arial" panose="020B0604020202020204" pitchFamily="34" charset="0"/>
              </a:rPr>
              <a:t>Configure VirtualPortGroup interfaces.</a:t>
            </a:r>
          </a:p>
          <a:p>
            <a:pPr marL="800100" lvl="1" indent="-342900">
              <a:buFont typeface="+mj-lt"/>
              <a:buAutoNum type="arabicPeriod"/>
            </a:pPr>
            <a:r>
              <a:rPr lang="en-US" sz="1600">
                <a:latin typeface="Arial" panose="020B0604020202020204" pitchFamily="34" charset="0"/>
                <a:cs typeface="Arial" panose="020B0604020202020204" pitchFamily="34" charset="0"/>
              </a:rPr>
              <a:t>Activate the virtual services.</a:t>
            </a:r>
          </a:p>
          <a:p>
            <a:pPr marL="800100" lvl="1" indent="-342900">
              <a:buFont typeface="+mj-lt"/>
              <a:buAutoNum type="arabicPeriod"/>
            </a:pPr>
            <a:r>
              <a:rPr lang="en-US" sz="1600">
                <a:latin typeface="Arial" panose="020B0604020202020204" pitchFamily="34" charset="0"/>
                <a:cs typeface="Arial" panose="020B0604020202020204" pitchFamily="34" charset="0"/>
              </a:rPr>
              <a:t>Configure Snort specifics (e.g., IPS or IDS mode, policy, reporting of events to an external alert/log server or IOS syslog or both, and the Signature update method.</a:t>
            </a:r>
          </a:p>
          <a:p>
            <a:pPr marL="800100" lvl="1" indent="-342900">
              <a:buFont typeface="+mj-lt"/>
              <a:buAutoNum type="arabicPeriod"/>
            </a:pPr>
            <a:r>
              <a:rPr lang="en-US" sz="1600">
                <a:latin typeface="Arial" panose="020B0604020202020204" pitchFamily="34" charset="0"/>
                <a:cs typeface="Arial" panose="020B0604020202020204" pitchFamily="34" charset="0"/>
              </a:rPr>
              <a:t>Enable IPS globally or on desired interfaces.</a:t>
            </a:r>
          </a:p>
          <a:p>
            <a:pPr marL="800100" lvl="1" indent="-342900">
              <a:buFont typeface="+mj-lt"/>
              <a:buAutoNum type="arabicPeriod"/>
            </a:pPr>
            <a:r>
              <a:rPr lang="en-US" sz="1600">
                <a:latin typeface="Arial" panose="020B0604020202020204" pitchFamily="34" charset="0"/>
                <a:cs typeface="Arial" panose="020B0604020202020204" pitchFamily="34" charset="0"/>
              </a:rPr>
              <a:t>Verify Snort.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a:p>
        </p:txBody>
      </p:sp>
    </p:spTree>
    <p:extLst>
      <p:ext uri="{BB962C8B-B14F-4D97-AF65-F5344CB8AC3E}">
        <p14:creationId xmlns:p14="http://schemas.microsoft.com/office/powerpoint/2010/main" val="12330537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1. Download the Snort OVA File</a:t>
            </a:r>
          </a:p>
        </p:txBody>
      </p:sp>
      <p:sp>
        <p:nvSpPr>
          <p:cNvPr id="5" name="Object4"/>
          <p:cNvSpPr/>
          <p:nvPr/>
        </p:nvSpPr>
        <p:spPr>
          <a:xfrm>
            <a:off x="149629" y="922713"/>
            <a:ext cx="8686800"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An Open Virtualization Archive (OVA) is a file that contains a compressed, installable version of a virtual machine.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service OVA file is not bundled with the Cisco IOS XE Release images installed on the router. although the OVA files may be preinstalled in the flash of the router, it is recommended that the latest OVA file be downloaded from Cisco.com.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52</a:t>
            </a:fld>
            <a:endParaRPr lang="en-US"/>
          </a:p>
        </p:txBody>
      </p:sp>
    </p:spTree>
    <p:extLst>
      <p:ext uri="{BB962C8B-B14F-4D97-AF65-F5344CB8AC3E}">
        <p14:creationId xmlns:p14="http://schemas.microsoft.com/office/powerpoint/2010/main" val="5768951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2. Install the Snort OVA File</a:t>
            </a:r>
          </a:p>
        </p:txBody>
      </p:sp>
      <p:sp>
        <p:nvSpPr>
          <p:cNvPr id="5" name="Object4"/>
          <p:cNvSpPr/>
          <p:nvPr/>
        </p:nvSpPr>
        <p:spPr>
          <a:xfrm>
            <a:off x="-1" y="760185"/>
            <a:ext cx="9085811"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The OVA file must be downloaded and saved in a file location available to the ISR router (e.g., Flash).</a:t>
            </a:r>
          </a:p>
          <a:p>
            <a:r>
              <a:rPr lang="en-US" sz="1600">
                <a:latin typeface="Arial" panose="020B0604020202020204" pitchFamily="34" charset="0"/>
                <a:cs typeface="Arial" panose="020B0604020202020204" pitchFamily="34" charset="0"/>
              </a:rPr>
              <a:t>To install, the OVA file, use the </a:t>
            </a:r>
            <a:r>
              <a:rPr lang="en-US" sz="1600" b="1">
                <a:latin typeface="Arial" panose="020B0604020202020204" pitchFamily="34" charset="0"/>
                <a:cs typeface="Arial" panose="020B0604020202020204" pitchFamily="34" charset="0"/>
              </a:rPr>
              <a:t>virtual-service install name</a:t>
            </a:r>
            <a:r>
              <a:rPr lang="en-US" sz="1600">
                <a:latin typeface="Arial" panose="020B0604020202020204" pitchFamily="34" charset="0"/>
                <a:cs typeface="Arial" panose="020B0604020202020204" pitchFamily="34" charset="0"/>
              </a:rPr>
              <a:t> </a:t>
            </a:r>
            <a:r>
              <a:rPr lang="en-US" sz="1600" i="1">
                <a:latin typeface="Arial" panose="020B0604020202020204" pitchFamily="34" charset="0"/>
                <a:cs typeface="Arial" panose="020B0604020202020204" pitchFamily="34" charset="0"/>
              </a:rPr>
              <a:t>virtual-service-name</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package</a:t>
            </a:r>
            <a:r>
              <a:rPr lang="en-US" sz="1600">
                <a:latin typeface="Arial" panose="020B0604020202020204" pitchFamily="34" charset="0"/>
                <a:cs typeface="Arial" panose="020B0604020202020204" pitchFamily="34" charset="0"/>
              </a:rPr>
              <a:t> </a:t>
            </a:r>
            <a:r>
              <a:rPr lang="en-US" sz="1600" i="1">
                <a:latin typeface="Arial" panose="020B0604020202020204" pitchFamily="34" charset="0"/>
                <a:cs typeface="Arial" panose="020B0604020202020204" pitchFamily="34" charset="0"/>
              </a:rPr>
              <a:t>file-url</a:t>
            </a:r>
            <a:r>
              <a:rPr lang="en-US" sz="1600">
                <a:latin typeface="Arial" panose="020B0604020202020204" pitchFamily="34" charset="0"/>
                <a:cs typeface="Arial" panose="020B0604020202020204" pitchFamily="34" charset="0"/>
              </a:rPr>
              <a:t> </a:t>
            </a:r>
            <a:r>
              <a:rPr lang="en-US" sz="1600" b="1">
                <a:latin typeface="Arial" panose="020B0604020202020204" pitchFamily="34" charset="0"/>
                <a:cs typeface="Arial" panose="020B0604020202020204" pitchFamily="34" charset="0"/>
              </a:rPr>
              <a:t>media</a:t>
            </a:r>
            <a:r>
              <a:rPr lang="en-US" sz="1600">
                <a:latin typeface="Arial" panose="020B0604020202020204" pitchFamily="34" charset="0"/>
                <a:cs typeface="Arial" panose="020B0604020202020204" pitchFamily="34" charset="0"/>
              </a:rPr>
              <a:t> </a:t>
            </a:r>
            <a:r>
              <a:rPr lang="en-US" sz="1600" i="1">
                <a:latin typeface="Arial" panose="020B0604020202020204" pitchFamily="34" charset="0"/>
                <a:cs typeface="Arial" panose="020B0604020202020204" pitchFamily="34" charset="0"/>
              </a:rPr>
              <a:t>file-system</a:t>
            </a:r>
            <a:r>
              <a:rPr lang="en-US" sz="1600">
                <a:latin typeface="Arial" panose="020B0604020202020204" pitchFamily="34" charset="0"/>
                <a:cs typeface="Arial" panose="020B0604020202020204" pitchFamily="34" charset="0"/>
              </a:rPr>
              <a:t> privilege EXEC command to install the OVA file to the router. The length of the </a:t>
            </a:r>
            <a:r>
              <a:rPr lang="en-US" sz="1600" i="1">
                <a:latin typeface="Arial" panose="020B0604020202020204" pitchFamily="34" charset="0"/>
                <a:cs typeface="Arial" panose="020B0604020202020204" pitchFamily="34" charset="0"/>
              </a:rPr>
              <a:t>name</a:t>
            </a:r>
            <a:r>
              <a:rPr lang="en-US" sz="1600">
                <a:latin typeface="Arial" panose="020B0604020202020204" pitchFamily="34" charset="0"/>
                <a:cs typeface="Arial" panose="020B0604020202020204" pitchFamily="34" charset="0"/>
              </a:rPr>
              <a:t> is 20 characters and the complete path to the OVA file must be specified.</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example configuration is shown below.</a:t>
            </a:r>
          </a:p>
        </p:txBody>
      </p:sp>
      <p:sp>
        <p:nvSpPr>
          <p:cNvPr id="8" name="TextBox 7">
            <a:extLst>
              <a:ext uri="{FF2B5EF4-FFF2-40B4-BE49-F238E27FC236}">
                <a16:creationId xmlns:a16="http://schemas.microsoft.com/office/drawing/2014/main" id="{336DC213-26F2-49E4-8BAE-7F163204D06F}"/>
              </a:ext>
            </a:extLst>
          </p:cNvPr>
          <p:cNvSpPr txBox="1"/>
          <p:nvPr/>
        </p:nvSpPr>
        <p:spPr>
          <a:xfrm>
            <a:off x="-1" y="4143285"/>
            <a:ext cx="9285317" cy="584775"/>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Use the </a:t>
            </a:r>
            <a:r>
              <a:rPr lang="en-US" sz="1600" b="1">
                <a:latin typeface="Arial" panose="020B0604020202020204" pitchFamily="34" charset="0"/>
                <a:cs typeface="Arial" panose="020B0604020202020204" pitchFamily="34" charset="0"/>
              </a:rPr>
              <a:t>show virtual-service list</a:t>
            </a:r>
            <a:r>
              <a:rPr lang="en-US" sz="1600">
                <a:latin typeface="Arial" panose="020B0604020202020204" pitchFamily="34" charset="0"/>
                <a:cs typeface="Arial" panose="020B0604020202020204" pitchFamily="34" charset="0"/>
              </a:rPr>
              <a:t> command to display the status of the installation of all applications installed on the virtual service container.</a:t>
            </a:r>
          </a:p>
        </p:txBody>
      </p:sp>
      <p:pic>
        <p:nvPicPr>
          <p:cNvPr id="4" name="Picture 3">
            <a:extLst>
              <a:ext uri="{FF2B5EF4-FFF2-40B4-BE49-F238E27FC236}">
                <a16:creationId xmlns:a16="http://schemas.microsoft.com/office/drawing/2014/main" id="{9D82C2D3-3FD7-49F9-828A-51EC1CDE1AA6}"/>
              </a:ext>
            </a:extLst>
          </p:cNvPr>
          <p:cNvPicPr>
            <a:picLocks noChangeAspect="1"/>
          </p:cNvPicPr>
          <p:nvPr/>
        </p:nvPicPr>
        <p:blipFill>
          <a:blip r:embed="rId3"/>
          <a:stretch>
            <a:fillRect/>
          </a:stretch>
        </p:blipFill>
        <p:spPr>
          <a:xfrm>
            <a:off x="1138844" y="2502678"/>
            <a:ext cx="5370022" cy="16585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a:p>
        </p:txBody>
      </p:sp>
    </p:spTree>
    <p:extLst>
      <p:ext uri="{BB962C8B-B14F-4D97-AF65-F5344CB8AC3E}">
        <p14:creationId xmlns:p14="http://schemas.microsoft.com/office/powerpoint/2010/main" val="3405337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3. Configure Virtual Port Group Interfaces</a:t>
            </a:r>
          </a:p>
        </p:txBody>
      </p:sp>
      <p:sp>
        <p:nvSpPr>
          <p:cNvPr id="5" name="Object4"/>
          <p:cNvSpPr/>
          <p:nvPr/>
        </p:nvSpPr>
        <p:spPr>
          <a:xfrm>
            <a:off x="0" y="706582"/>
            <a:ext cx="8229600" cy="2779568"/>
          </a:xfrm>
          <a:prstGeom prst="rect">
            <a:avLst/>
          </a:prstGeom>
          <a:noFill/>
          <a:ln/>
        </p:spPr>
        <p:txBody>
          <a:bodyPr wrap="square" rtlCol="0" anchor="t"/>
          <a:lstStyle/>
          <a:p>
            <a:r>
              <a:rPr lang="en-US" sz="1600">
                <a:effectLst/>
                <a:latin typeface="Arial" panose="020B0604020202020204" pitchFamily="34" charset="0"/>
                <a:cs typeface="Arial" panose="020B0604020202020204" pitchFamily="34" charset="0"/>
              </a:rPr>
              <a:t>Two VirtualPortGroup (VPG) interfaces must then be configured along with their guest IP addresses.</a:t>
            </a:r>
          </a:p>
          <a:p>
            <a:endParaRPr lang="en-US" sz="1600">
              <a:effectLst/>
              <a:latin typeface="Arial" panose="020B0604020202020204" pitchFamily="34" charset="0"/>
              <a:cs typeface="Arial" panose="020B0604020202020204" pitchFamily="34" charset="0"/>
            </a:endParaRPr>
          </a:p>
          <a:p>
            <a:r>
              <a:rPr lang="en-US" sz="1600">
                <a:effectLst/>
                <a:latin typeface="Arial" panose="020B0604020202020204" pitchFamily="34" charset="0"/>
                <a:cs typeface="Arial" panose="020B0604020202020204" pitchFamily="34" charset="0"/>
              </a:rPr>
              <a:t>In our example, the VPG interfaces will be configured as follows:</a:t>
            </a:r>
          </a:p>
          <a:p>
            <a:pPr marL="742950" lvl="1"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VGP0 -</a:t>
            </a:r>
            <a:r>
              <a:rPr lang="en-US" sz="1600">
                <a:effectLst/>
                <a:latin typeface="Arial" panose="020B0604020202020204" pitchFamily="34" charset="0"/>
                <a:cs typeface="Arial" panose="020B0604020202020204" pitchFamily="34" charset="0"/>
              </a:rPr>
              <a:t> This is for management traffic to exchange information with IPS servers. The guest IP address needs to be routable to connect to the signature update server and external log server. It is also used to log traffic to log collectors.</a:t>
            </a:r>
          </a:p>
          <a:p>
            <a:pPr marL="742950" lvl="1" indent="-285750">
              <a:buFont typeface="Arial" panose="020B0604020202020204" pitchFamily="34" charset="0"/>
              <a:buChar char="•"/>
            </a:pPr>
            <a:r>
              <a:rPr lang="en-US" sz="1600" b="1">
                <a:effectLst/>
                <a:latin typeface="Arial" panose="020B0604020202020204" pitchFamily="34" charset="0"/>
                <a:cs typeface="Arial" panose="020B0604020202020204" pitchFamily="34" charset="0"/>
              </a:rPr>
              <a:t>VPG1 -</a:t>
            </a:r>
            <a:r>
              <a:rPr lang="en-US" sz="1600">
                <a:effectLst/>
                <a:latin typeface="Arial" panose="020B0604020202020204" pitchFamily="34" charset="0"/>
                <a:cs typeface="Arial" panose="020B0604020202020204" pitchFamily="34" charset="0"/>
              </a:rPr>
              <a:t> This is for user traffic marked that should be inspected. This should not be routable and therefore use a non-routable private IP address.</a:t>
            </a:r>
          </a:p>
          <a:p>
            <a:endParaRPr lang="en-US" sz="1400">
              <a:effectLst/>
            </a:endParaRPr>
          </a:p>
        </p:txBody>
      </p:sp>
      <p:sp>
        <p:nvSpPr>
          <p:cNvPr id="8" name="TextBox 7">
            <a:extLst>
              <a:ext uri="{FF2B5EF4-FFF2-40B4-BE49-F238E27FC236}">
                <a16:creationId xmlns:a16="http://schemas.microsoft.com/office/drawing/2014/main" id="{8A49C0BF-9217-48C8-87C7-338C88BFC216}"/>
              </a:ext>
            </a:extLst>
          </p:cNvPr>
          <p:cNvSpPr txBox="1"/>
          <p:nvPr/>
        </p:nvSpPr>
        <p:spPr>
          <a:xfrm>
            <a:off x="-41564" y="3198798"/>
            <a:ext cx="3325091" cy="646331"/>
          </a:xfrm>
          <a:prstGeom prst="rect">
            <a:avLst/>
          </a:prstGeom>
          <a:noFill/>
        </p:spPr>
        <p:txBody>
          <a:bodyPr wrap="square">
            <a:spAutoFit/>
          </a:bodyPr>
          <a:lstStyle/>
          <a:p>
            <a:r>
              <a:rPr lang="en-US" sz="1800">
                <a:effectLst/>
              </a:rPr>
              <a:t>This is a sample configuration of VPG0 and VPG1.</a:t>
            </a:r>
          </a:p>
        </p:txBody>
      </p:sp>
      <p:pic>
        <p:nvPicPr>
          <p:cNvPr id="4" name="Picture 3">
            <a:extLst>
              <a:ext uri="{FF2B5EF4-FFF2-40B4-BE49-F238E27FC236}">
                <a16:creationId xmlns:a16="http://schemas.microsoft.com/office/drawing/2014/main" id="{06DA715B-7EE7-4D7C-9825-551B3C3AE196}"/>
              </a:ext>
            </a:extLst>
          </p:cNvPr>
          <p:cNvPicPr>
            <a:picLocks noChangeAspect="1"/>
          </p:cNvPicPr>
          <p:nvPr/>
        </p:nvPicPr>
        <p:blipFill>
          <a:blip r:embed="rId3"/>
          <a:stretch>
            <a:fillRect/>
          </a:stretch>
        </p:blipFill>
        <p:spPr>
          <a:xfrm>
            <a:off x="3416531" y="2930791"/>
            <a:ext cx="5020887" cy="21231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54</a:t>
            </a:fld>
            <a:endParaRPr lang="en-US"/>
          </a:p>
        </p:txBody>
      </p:sp>
    </p:spTree>
    <p:extLst>
      <p:ext uri="{BB962C8B-B14F-4D97-AF65-F5344CB8AC3E}">
        <p14:creationId xmlns:p14="http://schemas.microsoft.com/office/powerpoint/2010/main" val="3154902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4. Activate Virtual Services</a:t>
            </a:r>
          </a:p>
        </p:txBody>
      </p:sp>
      <p:sp>
        <p:nvSpPr>
          <p:cNvPr id="5" name="Object4"/>
          <p:cNvSpPr/>
          <p:nvPr/>
        </p:nvSpPr>
        <p:spPr>
          <a:xfrm>
            <a:off x="1" y="708659"/>
            <a:ext cx="5246914" cy="2992483"/>
          </a:xfrm>
          <a:prstGeom prst="rect">
            <a:avLst/>
          </a:prstGeom>
          <a:noFill/>
          <a:ln/>
        </p:spPr>
        <p:txBody>
          <a:bodyPr wrap="square" rtlCol="0" anchor="t"/>
          <a:lstStyle/>
          <a:p>
            <a:pPr>
              <a:lnSpc>
                <a:spcPts val="2000"/>
              </a:lnSpc>
            </a:pPr>
            <a:r>
              <a:rPr lang="en-US" sz="1600">
                <a:latin typeface="Arial" panose="020B0604020202020204" pitchFamily="34" charset="0"/>
                <a:cs typeface="Arial" panose="020B0604020202020204" pitchFamily="34" charset="0"/>
              </a:rPr>
              <a:t>The next step is to configure guest IPs on the same subnet for the container side and activate the virtual service.</a:t>
            </a:r>
          </a:p>
          <a:p>
            <a:pPr>
              <a:lnSpc>
                <a:spcPts val="2000"/>
              </a:lnSpc>
            </a:pPr>
            <a:endParaRPr 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The </a:t>
            </a:r>
            <a:r>
              <a:rPr lang="en-US" sz="1600" b="1">
                <a:effectLst/>
                <a:latin typeface="Arial" panose="020B0604020202020204" pitchFamily="34" charset="0"/>
                <a:cs typeface="Arial" panose="020B0604020202020204" pitchFamily="34" charset="0"/>
              </a:rPr>
              <a:t>virtual-service MYIPS</a:t>
            </a:r>
            <a:r>
              <a:rPr lang="en-US" sz="1600">
                <a:effectLst/>
                <a:latin typeface="Arial" panose="020B0604020202020204" pitchFamily="34" charset="0"/>
                <a:cs typeface="Arial" panose="020B0604020202020204" pitchFamily="34" charset="0"/>
              </a:rPr>
              <a:t> command configures the logical name that is used to identify the virtual container service.</a:t>
            </a:r>
          </a:p>
          <a:p>
            <a:pPr marL="285750" indent="-285750">
              <a:buFont typeface="Arial" panose="020B0604020202020204" pitchFamily="34" charset="0"/>
              <a:buChar char="•"/>
            </a:pPr>
            <a:r>
              <a:rPr lang="en-US" sz="1600">
                <a:effectLst/>
                <a:latin typeface="Arial" panose="020B0604020202020204" pitchFamily="34" charset="0"/>
                <a:cs typeface="Arial" panose="020B0604020202020204" pitchFamily="34" charset="0"/>
              </a:rPr>
              <a:t>The </a:t>
            </a:r>
            <a:r>
              <a:rPr lang="en-US" sz="1600" b="1">
                <a:effectLst/>
                <a:latin typeface="Arial" panose="020B0604020202020204" pitchFamily="34" charset="0"/>
                <a:cs typeface="Arial" panose="020B0604020202020204" pitchFamily="34" charset="0"/>
              </a:rPr>
              <a:t>vnic gateway VirtualPortGroup</a:t>
            </a:r>
            <a:r>
              <a:rPr lang="en-US" sz="1600">
                <a:effectLst/>
                <a:latin typeface="Arial" panose="020B0604020202020204" pitchFamily="34" charset="0"/>
                <a:cs typeface="Arial" panose="020B0604020202020204" pitchFamily="34" charset="0"/>
              </a:rPr>
              <a:t> </a:t>
            </a:r>
            <a:r>
              <a:rPr lang="en-US" sz="1600" i="1">
                <a:effectLst/>
                <a:latin typeface="Arial" panose="020B0604020202020204" pitchFamily="34" charset="0"/>
                <a:cs typeface="Arial" panose="020B0604020202020204" pitchFamily="34" charset="0"/>
              </a:rPr>
              <a:t>interface-number</a:t>
            </a:r>
            <a:r>
              <a:rPr lang="en-US" sz="1600">
                <a:effectLst/>
                <a:latin typeface="Arial" panose="020B0604020202020204" pitchFamily="34" charset="0"/>
                <a:cs typeface="Arial" panose="020B0604020202020204" pitchFamily="34" charset="0"/>
              </a:rPr>
              <a:t> command creates a virtual network interface card (</a:t>
            </a:r>
            <a:r>
              <a:rPr lang="en-US" sz="1600" err="1">
                <a:effectLst/>
                <a:latin typeface="Arial" panose="020B0604020202020204" pitchFamily="34" charset="0"/>
                <a:cs typeface="Arial" panose="020B0604020202020204" pitchFamily="34" charset="0"/>
              </a:rPr>
              <a:t>vNIC</a:t>
            </a:r>
            <a:r>
              <a:rPr lang="en-US" sz="1600">
                <a:effectLst/>
                <a:latin typeface="Arial" panose="020B0604020202020204" pitchFamily="34" charset="0"/>
                <a:cs typeface="Arial" panose="020B0604020202020204" pitchFamily="34" charset="0"/>
              </a:rPr>
              <a:t>) gateway interface for the virtual container service. </a:t>
            </a:r>
            <a:endParaRPr 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guest ip address </a:t>
            </a:r>
            <a:r>
              <a:rPr lang="en-US" sz="1600">
                <a:latin typeface="Arial" panose="020B0604020202020204" pitchFamily="34" charset="0"/>
                <a:cs typeface="Arial" panose="020B0604020202020204" pitchFamily="34" charset="0"/>
              </a:rPr>
              <a:t>command configures a guest </a:t>
            </a:r>
            <a:r>
              <a:rPr lang="en-US" sz="1600" err="1">
                <a:latin typeface="Arial" panose="020B0604020202020204" pitchFamily="34" charset="0"/>
                <a:cs typeface="Arial" panose="020B0604020202020204" pitchFamily="34" charset="0"/>
              </a:rPr>
              <a:t>vNIC</a:t>
            </a:r>
            <a:r>
              <a:rPr lang="en-US" sz="1600">
                <a:latin typeface="Arial" panose="020B0604020202020204" pitchFamily="34" charset="0"/>
                <a:cs typeface="Arial" panose="020B0604020202020204" pitchFamily="34" charset="0"/>
              </a:rPr>
              <a:t> address for the </a:t>
            </a:r>
            <a:r>
              <a:rPr lang="en-US" sz="1600" err="1">
                <a:latin typeface="Arial" panose="020B0604020202020204" pitchFamily="34" charset="0"/>
                <a:cs typeface="Arial" panose="020B0604020202020204" pitchFamily="34" charset="0"/>
              </a:rPr>
              <a:t>vNIC</a:t>
            </a:r>
            <a:r>
              <a:rPr lang="en-US" sz="1600">
                <a:latin typeface="Arial" panose="020B0604020202020204" pitchFamily="34" charset="0"/>
                <a:cs typeface="Arial" panose="020B0604020202020204" pitchFamily="34" charset="0"/>
              </a:rPr>
              <a:t> gateway interface.</a:t>
            </a: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Finally, the </a:t>
            </a:r>
            <a:r>
              <a:rPr lang="en-US" sz="1600" b="1">
                <a:latin typeface="Arial" panose="020B0604020202020204" pitchFamily="34" charset="0"/>
                <a:cs typeface="Arial" panose="020B0604020202020204" pitchFamily="34" charset="0"/>
              </a:rPr>
              <a:t>activate </a:t>
            </a:r>
            <a:r>
              <a:rPr lang="en-US" sz="1600">
                <a:latin typeface="Arial" panose="020B0604020202020204" pitchFamily="34" charset="0"/>
                <a:cs typeface="Arial" panose="020B0604020202020204" pitchFamily="34" charset="0"/>
              </a:rPr>
              <a:t>command activates the application installed in a virtual container service.</a:t>
            </a:r>
          </a:p>
          <a:p>
            <a:endParaRPr lang="en-US" sz="1600">
              <a:effectLst/>
              <a:latin typeface="Arial" panose="020B0604020202020204" pitchFamily="34" charset="0"/>
              <a:cs typeface="Arial" panose="020B0604020202020204" pitchFamily="34" charset="0"/>
            </a:endParaRPr>
          </a:p>
          <a:p>
            <a:endParaRPr lang="en-US" sz="1400">
              <a:effectLst/>
            </a:endParaRPr>
          </a:p>
          <a:p>
            <a:pPr>
              <a:lnSpc>
                <a:spcPts val="2000"/>
              </a:lnSpc>
            </a:pPr>
            <a:endParaRPr lang="en-US" sz="1400"/>
          </a:p>
        </p:txBody>
      </p:sp>
      <p:pic>
        <p:nvPicPr>
          <p:cNvPr id="6" name="Picture 5">
            <a:extLst>
              <a:ext uri="{FF2B5EF4-FFF2-40B4-BE49-F238E27FC236}">
                <a16:creationId xmlns:a16="http://schemas.microsoft.com/office/drawing/2014/main" id="{22FF54FE-7629-4F08-947E-B3E057F7425E}"/>
              </a:ext>
            </a:extLst>
          </p:cNvPr>
          <p:cNvPicPr>
            <a:picLocks noChangeAspect="1"/>
          </p:cNvPicPr>
          <p:nvPr/>
        </p:nvPicPr>
        <p:blipFill>
          <a:blip r:embed="rId3"/>
          <a:stretch>
            <a:fillRect/>
          </a:stretch>
        </p:blipFill>
        <p:spPr>
          <a:xfrm>
            <a:off x="5217292" y="1960452"/>
            <a:ext cx="3780325" cy="12225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a:p>
        </p:txBody>
      </p:sp>
    </p:spTree>
    <p:extLst>
      <p:ext uri="{BB962C8B-B14F-4D97-AF65-F5344CB8AC3E}">
        <p14:creationId xmlns:p14="http://schemas.microsoft.com/office/powerpoint/2010/main" val="26362151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5. Configure Snort Specifics</a:t>
            </a:r>
          </a:p>
        </p:txBody>
      </p:sp>
      <p:sp>
        <p:nvSpPr>
          <p:cNvPr id="9" name="Object4">
            <a:extLst>
              <a:ext uri="{FF2B5EF4-FFF2-40B4-BE49-F238E27FC236}">
                <a16:creationId xmlns:a16="http://schemas.microsoft.com/office/drawing/2014/main" id="{D0D07C18-0FFE-4208-9D89-054F90EC1AD2}"/>
              </a:ext>
            </a:extLst>
          </p:cNvPr>
          <p:cNvSpPr/>
          <p:nvPr/>
        </p:nvSpPr>
        <p:spPr>
          <a:xfrm>
            <a:off x="0" y="663411"/>
            <a:ext cx="4572000" cy="209169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utd engine standard</a:t>
            </a:r>
            <a:r>
              <a:rPr lang="en-US" sz="1600">
                <a:latin typeface="Arial" panose="020B0604020202020204" pitchFamily="34" charset="0"/>
                <a:cs typeface="Arial" panose="020B0604020202020204" pitchFamily="34" charset="0"/>
              </a:rPr>
              <a:t> command configures the united threat defense (UTD) standard engine and enters UTD standard engine configuration mode.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logging host</a:t>
            </a:r>
            <a:r>
              <a:rPr lang="en-US" sz="1600">
                <a:latin typeface="Arial" panose="020B0604020202020204" pitchFamily="34" charset="0"/>
                <a:cs typeface="Arial" panose="020B0604020202020204" pitchFamily="34" charset="0"/>
              </a:rPr>
              <a:t> and </a:t>
            </a:r>
            <a:r>
              <a:rPr lang="en-US" sz="1600" b="1">
                <a:latin typeface="Arial" panose="020B0604020202020204" pitchFamily="34" charset="0"/>
                <a:cs typeface="Arial" panose="020B0604020202020204" pitchFamily="34" charset="0"/>
              </a:rPr>
              <a:t>logging syslog</a:t>
            </a:r>
            <a:r>
              <a:rPr lang="en-US" sz="1600">
                <a:latin typeface="Arial" panose="020B0604020202020204" pitchFamily="34" charset="0"/>
                <a:cs typeface="Arial" panose="020B0604020202020204" pitchFamily="34" charset="0"/>
              </a:rPr>
              <a:t> commands enable the logging of emergency messages to a server.</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threat-inspection</a:t>
            </a:r>
            <a:r>
              <a:rPr lang="en-US" sz="1600">
                <a:latin typeface="Arial" panose="020B0604020202020204" pitchFamily="34" charset="0"/>
                <a:cs typeface="Arial" panose="020B0604020202020204" pitchFamily="34" charset="0"/>
              </a:rPr>
              <a:t> command configures threat inspection for the Snort engine. From here you can specify which mode Snort will be in:</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threat protection -</a:t>
            </a:r>
            <a:r>
              <a:rPr lang="en-US" sz="1600">
                <a:latin typeface="Arial" panose="020B0604020202020204" pitchFamily="34" charset="0"/>
                <a:cs typeface="Arial" panose="020B0604020202020204" pitchFamily="34" charset="0"/>
              </a:rPr>
              <a:t> Snort will be in IPS mode.</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threat detection -</a:t>
            </a:r>
            <a:r>
              <a:rPr lang="en-US" sz="1600">
                <a:latin typeface="Arial" panose="020B0604020202020204" pitchFamily="34" charset="0"/>
                <a:cs typeface="Arial" panose="020B0604020202020204" pitchFamily="34" charset="0"/>
              </a:rPr>
              <a:t> Snort will be in IDS mode.</a:t>
            </a:r>
          </a:p>
        </p:txBody>
      </p:sp>
      <p:pic>
        <p:nvPicPr>
          <p:cNvPr id="7" name="Picture 6">
            <a:extLst>
              <a:ext uri="{FF2B5EF4-FFF2-40B4-BE49-F238E27FC236}">
                <a16:creationId xmlns:a16="http://schemas.microsoft.com/office/drawing/2014/main" id="{E0AC97CB-9569-4D88-B027-7D72DBE771FF}"/>
              </a:ext>
            </a:extLst>
          </p:cNvPr>
          <p:cNvPicPr>
            <a:picLocks noChangeAspect="1"/>
          </p:cNvPicPr>
          <p:nvPr/>
        </p:nvPicPr>
        <p:blipFill>
          <a:blip r:embed="rId3"/>
          <a:stretch>
            <a:fillRect/>
          </a:stretch>
        </p:blipFill>
        <p:spPr>
          <a:xfrm>
            <a:off x="4608559" y="1110542"/>
            <a:ext cx="4405407" cy="24884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56</a:t>
            </a:fld>
            <a:endParaRPr lang="en-US"/>
          </a:p>
        </p:txBody>
      </p:sp>
    </p:spTree>
    <p:extLst>
      <p:ext uri="{BB962C8B-B14F-4D97-AF65-F5344CB8AC3E}">
        <p14:creationId xmlns:p14="http://schemas.microsoft.com/office/powerpoint/2010/main" val="306717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5. Configure Snort Specifics (Cont.)</a:t>
            </a:r>
          </a:p>
        </p:txBody>
      </p:sp>
      <p:sp>
        <p:nvSpPr>
          <p:cNvPr id="5" name="Object4"/>
          <p:cNvSpPr/>
          <p:nvPr/>
        </p:nvSpPr>
        <p:spPr>
          <a:xfrm>
            <a:off x="0" y="982980"/>
            <a:ext cx="8986058"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utd engine standard</a:t>
            </a:r>
            <a:r>
              <a:rPr lang="en-US" sz="1600">
                <a:latin typeface="Arial" panose="020B0604020202020204" pitchFamily="34" charset="0"/>
                <a:cs typeface="Arial" panose="020B0604020202020204" pitchFamily="34" charset="0"/>
              </a:rPr>
              <a:t> command configures the united threat defense (UTD) standard engine and enters UTD standard engine configuration mode.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logging host</a:t>
            </a:r>
            <a:r>
              <a:rPr lang="en-US" sz="1600">
                <a:latin typeface="Arial" panose="020B0604020202020204" pitchFamily="34" charset="0"/>
                <a:cs typeface="Arial" panose="020B0604020202020204" pitchFamily="34" charset="0"/>
              </a:rPr>
              <a:t> and </a:t>
            </a:r>
            <a:r>
              <a:rPr lang="en-US" sz="1600" b="1">
                <a:latin typeface="Arial" panose="020B0604020202020204" pitchFamily="34" charset="0"/>
                <a:cs typeface="Arial" panose="020B0604020202020204" pitchFamily="34" charset="0"/>
              </a:rPr>
              <a:t>logging syslog</a:t>
            </a:r>
            <a:r>
              <a:rPr lang="en-US" sz="1600">
                <a:latin typeface="Arial" panose="020B0604020202020204" pitchFamily="34" charset="0"/>
                <a:cs typeface="Arial" panose="020B0604020202020204" pitchFamily="34" charset="0"/>
              </a:rPr>
              <a:t> commands enable the logging of emergency messages to a server.</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threat-inspection</a:t>
            </a:r>
            <a:r>
              <a:rPr lang="en-US" sz="1600">
                <a:latin typeface="Arial" panose="020B0604020202020204" pitchFamily="34" charset="0"/>
                <a:cs typeface="Arial" panose="020B0604020202020204" pitchFamily="34" charset="0"/>
              </a:rPr>
              <a:t> command configures threat inspection for the Snort engine. From here you can specify which mode Snort will be in:</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threat protection -</a:t>
            </a:r>
            <a:r>
              <a:rPr lang="en-US" sz="1600">
                <a:latin typeface="Arial" panose="020B0604020202020204" pitchFamily="34" charset="0"/>
                <a:cs typeface="Arial" panose="020B0604020202020204" pitchFamily="34" charset="0"/>
              </a:rPr>
              <a:t> Snort will be in IPS mode.</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threat detection -</a:t>
            </a:r>
            <a:r>
              <a:rPr lang="en-US" sz="1600">
                <a:latin typeface="Arial" panose="020B0604020202020204" pitchFamily="34" charset="0"/>
                <a:cs typeface="Arial" panose="020B0604020202020204" pitchFamily="34" charset="0"/>
              </a:rPr>
              <a:t> Snort will be in IDS mode.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57</a:t>
            </a:fld>
            <a:endParaRPr lang="en-US"/>
          </a:p>
        </p:txBody>
      </p:sp>
    </p:spTree>
    <p:extLst>
      <p:ext uri="{BB962C8B-B14F-4D97-AF65-F5344CB8AC3E}">
        <p14:creationId xmlns:p14="http://schemas.microsoft.com/office/powerpoint/2010/main" val="2081689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5. Configure Snort Specifics (Cont.)</a:t>
            </a:r>
          </a:p>
        </p:txBody>
      </p:sp>
      <p:sp>
        <p:nvSpPr>
          <p:cNvPr id="5" name="Object4"/>
          <p:cNvSpPr/>
          <p:nvPr/>
        </p:nvSpPr>
        <p:spPr>
          <a:xfrm>
            <a:off x="0" y="708660"/>
            <a:ext cx="9144000"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The </a:t>
            </a:r>
            <a:r>
              <a:rPr lang="en-US" sz="1600" b="1">
                <a:latin typeface="Arial" panose="020B0604020202020204" pitchFamily="34" charset="0"/>
                <a:cs typeface="Arial" panose="020B0604020202020204" pitchFamily="34" charset="0"/>
              </a:rPr>
              <a:t>policy</a:t>
            </a:r>
            <a:r>
              <a:rPr lang="en-US" sz="1600">
                <a:latin typeface="Arial" panose="020B0604020202020204" pitchFamily="34" charset="0"/>
                <a:cs typeface="Arial" panose="020B0604020202020204" pitchFamily="34" charset="0"/>
              </a:rPr>
              <a:t> command specifies three security policies that can be used by Snort. These are base policies provided by Cisco Talos. The three policy settings in order from least protection to most protection are:</a:t>
            </a:r>
          </a:p>
          <a:p>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connectivity</a:t>
            </a:r>
            <a:r>
              <a:rPr lang="en-US" sz="1600">
                <a:latin typeface="Arial" panose="020B0604020202020204" pitchFamily="34" charset="0"/>
                <a:cs typeface="Arial" panose="020B0604020202020204" pitchFamily="34" charset="0"/>
              </a:rPr>
              <a:t> - This provides the least protection as it prioritizes connectivity over security. Approximately 1,000 rules are pre-loaded using this policy.</a:t>
            </a:r>
          </a:p>
          <a:p>
            <a:pPr marL="742950" lvl="1" indent="-285750">
              <a:buFont typeface="Arial" panose="020B0604020202020204" pitchFamily="34" charset="0"/>
              <a:buChar char="•"/>
            </a:pPr>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balanced</a:t>
            </a:r>
            <a:r>
              <a:rPr lang="en-US" sz="1600">
                <a:latin typeface="Arial" panose="020B0604020202020204" pitchFamily="34" charset="0"/>
                <a:cs typeface="Arial" panose="020B0604020202020204" pitchFamily="34" charset="0"/>
              </a:rPr>
              <a:t> - This is the default policy. It is recommended for initial deployments. This policy attempts to balance security needs and performance characteristics of the network. Approximately 8,000 rules are pre-loaded using this policy.</a:t>
            </a:r>
          </a:p>
          <a:p>
            <a:pPr marL="742950" lvl="1" indent="-285750">
              <a:buFont typeface="Arial" panose="020B0604020202020204" pitchFamily="34" charset="0"/>
              <a:buChar char="•"/>
            </a:pPr>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security</a:t>
            </a:r>
            <a:r>
              <a:rPr lang="en-US" sz="1600">
                <a:latin typeface="Arial" panose="020B0604020202020204" pitchFamily="34" charset="0"/>
                <a:cs typeface="Arial" panose="020B0604020202020204" pitchFamily="34" charset="0"/>
              </a:rPr>
              <a:t> - This provides the most protection. It is designed for organizations that are exceptionally concerned about security. Customers deploy this policy in protected networks, that have a lower bandwidth requirements, but much higher security requirements. Approximately 12,000 rules are pre-loaded using this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58</a:t>
            </a:fld>
            <a:endParaRPr lang="en-US"/>
          </a:p>
        </p:txBody>
      </p:sp>
    </p:spTree>
    <p:extLst>
      <p:ext uri="{BB962C8B-B14F-4D97-AF65-F5344CB8AC3E}">
        <p14:creationId xmlns:p14="http://schemas.microsoft.com/office/powerpoint/2010/main" val="4266824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498566"/>
          </a:xfrm>
          <a:prstGeom prst="rect">
            <a:avLst/>
          </a:prstGeom>
          <a:noFill/>
          <a:ln/>
        </p:spPr>
        <p:txBody>
          <a:bodyPr wrap="square" rtlCol="0"/>
          <a:lstStyle/>
          <a:p>
            <a:pPr marL="0" indent="0">
              <a:buNone/>
            </a:pPr>
            <a:r>
              <a:rPr lang="en-US"/>
              <a:t>Step 6. Enable IPS Globally or on Desired Interfaces</a:t>
            </a:r>
          </a:p>
        </p:txBody>
      </p:sp>
      <p:sp>
        <p:nvSpPr>
          <p:cNvPr id="5" name="Object4"/>
          <p:cNvSpPr/>
          <p:nvPr/>
        </p:nvSpPr>
        <p:spPr>
          <a:xfrm>
            <a:off x="217420" y="1369849"/>
            <a:ext cx="2493124" cy="1088571"/>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You can enable UTD globally on all interfaces or on selected interface.</a:t>
            </a:r>
            <a:endParaRPr lang="en-US" sz="1600"/>
          </a:p>
        </p:txBody>
      </p:sp>
      <p:sp>
        <p:nvSpPr>
          <p:cNvPr id="8" name="Object4">
            <a:extLst>
              <a:ext uri="{FF2B5EF4-FFF2-40B4-BE49-F238E27FC236}">
                <a16:creationId xmlns:a16="http://schemas.microsoft.com/office/drawing/2014/main" id="{C0CCB7DD-78F0-4893-918F-D11DAA4D6BE1}"/>
              </a:ext>
            </a:extLst>
          </p:cNvPr>
          <p:cNvSpPr/>
          <p:nvPr/>
        </p:nvSpPr>
        <p:spPr>
          <a:xfrm>
            <a:off x="3636625" y="843640"/>
            <a:ext cx="1328057" cy="337457"/>
          </a:xfrm>
          <a:prstGeom prst="rect">
            <a:avLst/>
          </a:prstGeom>
          <a:noFill/>
          <a:ln/>
        </p:spPr>
        <p:txBody>
          <a:bodyPr wrap="square" rtlCol="0" anchor="t"/>
          <a:lstStyle/>
          <a:p>
            <a:pPr algn="ctr">
              <a:lnSpc>
                <a:spcPts val="2000"/>
              </a:lnSpc>
            </a:pPr>
            <a:r>
              <a:rPr lang="en-US" sz="1400" b="1">
                <a:solidFill>
                  <a:srgbClr val="000000"/>
                </a:solidFill>
                <a:latin typeface="Arial" pitchFamily="34" charset="0"/>
                <a:ea typeface="Arial" pitchFamily="34" charset="-122"/>
                <a:cs typeface="Arial" pitchFamily="34" charset="-120"/>
              </a:rPr>
              <a:t>Globally</a:t>
            </a:r>
            <a:endParaRPr lang="en-US" sz="1400" b="1"/>
          </a:p>
        </p:txBody>
      </p:sp>
      <p:sp>
        <p:nvSpPr>
          <p:cNvPr id="9" name="Object4">
            <a:extLst>
              <a:ext uri="{FF2B5EF4-FFF2-40B4-BE49-F238E27FC236}">
                <a16:creationId xmlns:a16="http://schemas.microsoft.com/office/drawing/2014/main" id="{8A04D432-8F68-45E3-9E5E-75B8606F67A6}"/>
              </a:ext>
            </a:extLst>
          </p:cNvPr>
          <p:cNvSpPr/>
          <p:nvPr/>
        </p:nvSpPr>
        <p:spPr>
          <a:xfrm>
            <a:off x="6736506" y="827067"/>
            <a:ext cx="1872343" cy="337457"/>
          </a:xfrm>
          <a:prstGeom prst="rect">
            <a:avLst/>
          </a:prstGeom>
          <a:noFill/>
          <a:ln/>
        </p:spPr>
        <p:txBody>
          <a:bodyPr wrap="square" rtlCol="0" anchor="t"/>
          <a:lstStyle/>
          <a:p>
            <a:pPr algn="ctr">
              <a:lnSpc>
                <a:spcPts val="2000"/>
              </a:lnSpc>
            </a:pPr>
            <a:r>
              <a:rPr lang="en-US" sz="1400" b="1">
                <a:solidFill>
                  <a:srgbClr val="000000"/>
                </a:solidFill>
                <a:latin typeface="Arial" pitchFamily="34" charset="0"/>
                <a:ea typeface="Arial" pitchFamily="34" charset="-122"/>
                <a:cs typeface="Arial" pitchFamily="34" charset="-120"/>
              </a:rPr>
              <a:t>Selected Interfaces</a:t>
            </a:r>
            <a:endParaRPr lang="en-US" sz="1400" b="1"/>
          </a:p>
        </p:txBody>
      </p:sp>
      <p:sp>
        <p:nvSpPr>
          <p:cNvPr id="12" name="Object4">
            <a:extLst>
              <a:ext uri="{FF2B5EF4-FFF2-40B4-BE49-F238E27FC236}">
                <a16:creationId xmlns:a16="http://schemas.microsoft.com/office/drawing/2014/main" id="{DB99BAF2-6EB1-47AB-A228-AC237E85A40E}"/>
              </a:ext>
            </a:extLst>
          </p:cNvPr>
          <p:cNvSpPr/>
          <p:nvPr/>
        </p:nvSpPr>
        <p:spPr>
          <a:xfrm>
            <a:off x="217420" y="2887317"/>
            <a:ext cx="2493124" cy="1088571"/>
          </a:xfrm>
          <a:prstGeom prst="rect">
            <a:avLst/>
          </a:prstGeom>
          <a:noFill/>
          <a:ln/>
        </p:spPr>
        <p:txBody>
          <a:bodyPr wrap="square" rtlCol="0" anchor="t"/>
          <a:lstStyle/>
          <a:p>
            <a:pPr>
              <a:lnSpc>
                <a:spcPts val="2000"/>
              </a:lnSpc>
            </a:pPr>
            <a:r>
              <a:rPr lang="en-US" sz="1600">
                <a:solidFill>
                  <a:srgbClr val="000000"/>
                </a:solidFill>
                <a:latin typeface="Arial" pitchFamily="34" charset="0"/>
                <a:ea typeface="Arial" pitchFamily="34" charset="-122"/>
                <a:cs typeface="Arial" pitchFamily="34" charset="-120"/>
              </a:rPr>
              <a:t>You can also enable the UTD allowed list feature. This enables you to identify IPS signature IDs to be suppressed (not used)</a:t>
            </a:r>
            <a:endParaRPr lang="en-US" sz="1600"/>
          </a:p>
        </p:txBody>
      </p:sp>
      <p:pic>
        <p:nvPicPr>
          <p:cNvPr id="6" name="Picture 5">
            <a:extLst>
              <a:ext uri="{FF2B5EF4-FFF2-40B4-BE49-F238E27FC236}">
                <a16:creationId xmlns:a16="http://schemas.microsoft.com/office/drawing/2014/main" id="{0199C5A2-623E-4C52-A8AD-2AD27368A590}"/>
              </a:ext>
            </a:extLst>
          </p:cNvPr>
          <p:cNvPicPr>
            <a:picLocks noChangeAspect="1"/>
          </p:cNvPicPr>
          <p:nvPr/>
        </p:nvPicPr>
        <p:blipFill>
          <a:blip r:embed="rId3"/>
          <a:stretch>
            <a:fillRect/>
          </a:stretch>
        </p:blipFill>
        <p:spPr>
          <a:xfrm>
            <a:off x="2871831" y="1218705"/>
            <a:ext cx="2857647" cy="1568531"/>
          </a:xfrm>
          <a:prstGeom prst="rect">
            <a:avLst/>
          </a:prstGeom>
        </p:spPr>
      </p:pic>
      <p:pic>
        <p:nvPicPr>
          <p:cNvPr id="10" name="Picture 9">
            <a:extLst>
              <a:ext uri="{FF2B5EF4-FFF2-40B4-BE49-F238E27FC236}">
                <a16:creationId xmlns:a16="http://schemas.microsoft.com/office/drawing/2014/main" id="{FA777C3E-1FF3-473B-8A42-8CCDB7B9610A}"/>
              </a:ext>
            </a:extLst>
          </p:cNvPr>
          <p:cNvPicPr>
            <a:picLocks noChangeAspect="1"/>
          </p:cNvPicPr>
          <p:nvPr/>
        </p:nvPicPr>
        <p:blipFill>
          <a:blip r:embed="rId4"/>
          <a:stretch>
            <a:fillRect/>
          </a:stretch>
        </p:blipFill>
        <p:spPr>
          <a:xfrm>
            <a:off x="6466116" y="1218775"/>
            <a:ext cx="2413124" cy="1390721"/>
          </a:xfrm>
          <a:prstGeom prst="rect">
            <a:avLst/>
          </a:prstGeom>
        </p:spPr>
      </p:pic>
      <p:pic>
        <p:nvPicPr>
          <p:cNvPr id="13" name="Picture 12">
            <a:extLst>
              <a:ext uri="{FF2B5EF4-FFF2-40B4-BE49-F238E27FC236}">
                <a16:creationId xmlns:a16="http://schemas.microsoft.com/office/drawing/2014/main" id="{349AC7CF-B8DD-4CBF-8DF2-7C1C5EDA05A6}"/>
              </a:ext>
            </a:extLst>
          </p:cNvPr>
          <p:cNvPicPr>
            <a:picLocks noChangeAspect="1"/>
          </p:cNvPicPr>
          <p:nvPr/>
        </p:nvPicPr>
        <p:blipFill>
          <a:blip r:embed="rId5"/>
          <a:stretch>
            <a:fillRect/>
          </a:stretch>
        </p:blipFill>
        <p:spPr>
          <a:xfrm>
            <a:off x="2871831" y="3215008"/>
            <a:ext cx="6007409" cy="64773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59</a:t>
            </a:fld>
            <a:endParaRPr lang="en-US"/>
          </a:p>
        </p:txBody>
      </p:sp>
    </p:spTree>
    <p:extLst>
      <p:ext uri="{BB962C8B-B14F-4D97-AF65-F5344CB8AC3E}">
        <p14:creationId xmlns:p14="http://schemas.microsoft.com/office/powerpoint/2010/main" val="407990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Step 7. Verify Snort IPS</a:t>
            </a:r>
          </a:p>
        </p:txBody>
      </p:sp>
      <p:sp>
        <p:nvSpPr>
          <p:cNvPr id="5" name="Object4"/>
          <p:cNvSpPr/>
          <p:nvPr/>
        </p:nvSpPr>
        <p:spPr>
          <a:xfrm>
            <a:off x="-1" y="914400"/>
            <a:ext cx="8969433"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After Snort IPS is implemented, it is necessary to verify the configuration to ensure correct operation.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There are several </a:t>
            </a:r>
            <a:r>
              <a:rPr lang="en-US" sz="1600" b="1">
                <a:latin typeface="Arial" panose="020B0604020202020204" pitchFamily="34" charset="0"/>
                <a:cs typeface="Arial" panose="020B0604020202020204" pitchFamily="34" charset="0"/>
              </a:rPr>
              <a:t>show</a:t>
            </a:r>
            <a:r>
              <a:rPr lang="en-US" sz="1600">
                <a:latin typeface="Arial" panose="020B0604020202020204" pitchFamily="34" charset="0"/>
                <a:cs typeface="Arial" panose="020B0604020202020204" pitchFamily="34" charset="0"/>
              </a:rPr>
              <a:t> commands that can be used to verify the Snort IPS configuration and operation.</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show virtual-service list</a:t>
            </a:r>
            <a:r>
              <a:rPr lang="en-US" sz="1600">
                <a:latin typeface="Arial" panose="020B0604020202020204" pitchFamily="34" charset="0"/>
                <a:cs typeface="Arial" panose="020B0604020202020204" pitchFamily="34" charset="0"/>
              </a:rPr>
              <a:t> - The command displays an overview of resources that are utilized by the applications.</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show virtual-service detail</a:t>
            </a:r>
            <a:r>
              <a:rPr lang="en-US" sz="1600">
                <a:latin typeface="Arial" panose="020B0604020202020204" pitchFamily="34" charset="0"/>
                <a:cs typeface="Arial" panose="020B0604020202020204" pitchFamily="34" charset="0"/>
              </a:rPr>
              <a:t> - The command displays a list of resources that are committed to a specified application, including attached devices.</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show utd engine standard config</a:t>
            </a:r>
            <a:r>
              <a:rPr lang="en-US" sz="1600">
                <a:latin typeface="Arial" panose="020B0604020202020204" pitchFamily="34" charset="0"/>
                <a:cs typeface="Arial" panose="020B0604020202020204" pitchFamily="34" charset="0"/>
              </a:rPr>
              <a:t> - The command displays the UTD configuration.</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show utd engine standard status</a:t>
            </a:r>
            <a:r>
              <a:rPr lang="en-US" sz="1600">
                <a:latin typeface="Arial" panose="020B0604020202020204" pitchFamily="34" charset="0"/>
                <a:cs typeface="Arial" panose="020B0604020202020204" pitchFamily="34" charset="0"/>
              </a:rPr>
              <a:t> - The command displays the status of the UTD engine.</a:t>
            </a:r>
          </a:p>
          <a:p>
            <a:pPr marL="742950" lvl="1" indent="-285750">
              <a:buFont typeface="Arial" panose="020B0604020202020204" pitchFamily="34" charset="0"/>
              <a:buChar char="•"/>
            </a:pPr>
            <a:r>
              <a:rPr lang="en-US" sz="1600" b="1">
                <a:latin typeface="Arial" panose="020B0604020202020204" pitchFamily="34" charset="0"/>
                <a:cs typeface="Arial" panose="020B0604020202020204" pitchFamily="34" charset="0"/>
              </a:rPr>
              <a:t>show platform hardware qfp active feature utd stats</a:t>
            </a:r>
            <a:r>
              <a:rPr lang="en-US" sz="1600">
                <a:latin typeface="Arial" panose="020B0604020202020204" pitchFamily="34" charset="0"/>
                <a:cs typeface="Arial" panose="020B0604020202020204" pitchFamily="34" charset="0"/>
              </a:rPr>
              <a:t> - The command checks the data plane. It verifies increments for encap, decap, redirect, and reinject and displays a health of "Green".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60</a:t>
            </a:fld>
            <a:endParaRPr lang="en-US"/>
          </a:p>
        </p:txBody>
      </p:sp>
    </p:spTree>
    <p:extLst>
      <p:ext uri="{BB962C8B-B14F-4D97-AF65-F5344CB8AC3E}">
        <p14:creationId xmlns:p14="http://schemas.microsoft.com/office/powerpoint/2010/main" val="23633014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a:t>Module 13: Endpoint Security</a:t>
            </a:r>
          </a:p>
        </p:txBody>
      </p:sp>
      <p:sp>
        <p:nvSpPr>
          <p:cNvPr id="3" name="Object2"/>
          <p:cNvSpPr/>
          <p:nvPr/>
        </p:nvSpPr>
        <p:spPr>
          <a:xfrm>
            <a:off x="457200" y="3343275"/>
            <a:ext cx="3657600" cy="914400"/>
          </a:xfrm>
          <a:prstGeom prst="rect">
            <a:avLst/>
          </a:prstGeom>
          <a:noFill/>
          <a:ln/>
        </p:spPr>
        <p:txBody>
          <a:bodyPr wrap="square" rtlCol="0" anchor="t"/>
          <a:lstStyle/>
          <a:p>
            <a:r>
              <a:rPr lang="en-US" sz="2000">
                <a:solidFill>
                  <a:srgbClr val="CEE8C3"/>
                </a:solidFill>
                <a:latin typeface="Arial" pitchFamily="34" charset="0"/>
                <a:ea typeface="Arial" pitchFamily="34" charset="-122"/>
                <a:cs typeface="Arial" pitchFamily="34" charset="-120"/>
              </a:rPr>
              <a:t>Instructor Materials</a:t>
            </a:r>
            <a:endParaRPr lang="en-US" sz="200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a:t>Networking Security v1.0</a:t>
            </a:r>
          </a:p>
          <a:p>
            <a:pPr marL="0" indent="0">
              <a:buNone/>
            </a:pPr>
            <a:r>
              <a:rPr lang="en-US"/>
              <a:t>(NETSEC)</a:t>
            </a:r>
          </a:p>
        </p:txBody>
      </p:sp>
    </p:spTree>
    <p:extLst>
      <p:ext uri="{BB962C8B-B14F-4D97-AF65-F5344CB8AC3E}">
        <p14:creationId xmlns:p14="http://schemas.microsoft.com/office/powerpoint/2010/main" val="9016317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Title: </a:t>
            </a:r>
            <a:r>
              <a:rPr lang="en-US" sz="1400" i="0" u="none" strike="noStrike">
                <a:solidFill>
                  <a:srgbClr val="000000"/>
                </a:solidFill>
                <a:effectLst/>
                <a:latin typeface="Arial" panose="020B0604020202020204" pitchFamily="34" charset="0"/>
                <a:cs typeface="Arial" panose="020B0604020202020204" pitchFamily="34" charset="0"/>
              </a:rPr>
              <a:t>Endpoint Security</a:t>
            </a:r>
          </a:p>
          <a:p>
            <a:pPr marL="0" lvl="0" indent="0" defTabSz="914400" eaLnBrk="0" hangingPunct="0">
              <a:spcBef>
                <a:spcPct val="0"/>
              </a:spcBef>
              <a:spcAft>
                <a:spcPct val="0"/>
              </a:spcAft>
              <a:buClrTx/>
              <a:buSzTx/>
              <a:buNone/>
            </a:pPr>
            <a:endParaRPr lang="en-US" altLang="en-US" sz="1600">
              <a:solidFill>
                <a:schemeClr val="tx1"/>
              </a:solidFill>
              <a:latin typeface="Arial" panose="020B0604020202020204" pitchFamily="34" charset="0"/>
              <a:cs typeface="Arial" panose="020B0604020202020204" pitchFamily="34" charset="0"/>
            </a:endParaRPr>
          </a:p>
          <a:p>
            <a:pPr marL="0" lvl="0" indent="0" defTabSz="914400" eaLnBrk="0" hangingPunct="0">
              <a:spcBef>
                <a:spcPct val="0"/>
              </a:spcBef>
              <a:spcAft>
                <a:spcPct val="0"/>
              </a:spcAft>
              <a:buClrTx/>
              <a:buSzTx/>
              <a:buNone/>
            </a:pPr>
            <a:r>
              <a:rPr lang="en-US" altLang="en-US" sz="1400" b="1">
                <a:solidFill>
                  <a:schemeClr val="tx1"/>
                </a:solidFill>
                <a:ea typeface="Calibri" panose="020F0502020204030204" pitchFamily="34" charset="0"/>
                <a:cs typeface="Calibri" panose="020F0502020204030204" pitchFamily="34" charset="0"/>
              </a:rPr>
              <a:t>Module Objective</a:t>
            </a:r>
            <a:r>
              <a:rPr lang="en-US" altLang="en-US" sz="1400">
                <a:solidFill>
                  <a:schemeClr val="tx1"/>
                </a:solidFill>
                <a:ea typeface="Calibri" panose="020F0502020204030204" pitchFamily="34" charset="0"/>
                <a:cs typeface="Calibri" panose="020F0502020204030204" pitchFamily="34" charset="0"/>
              </a:rPr>
              <a:t>: </a:t>
            </a:r>
            <a:r>
              <a:rPr lang="en-US" sz="1400" i="0" u="none" strike="noStrike">
                <a:solidFill>
                  <a:srgbClr val="000000"/>
                </a:solidFill>
                <a:effectLst/>
                <a:latin typeface="Arial" panose="020B0604020202020204" pitchFamily="34" charset="0"/>
                <a:cs typeface="Arial" panose="020B0604020202020204" pitchFamily="34" charset="0"/>
              </a:rPr>
              <a:t>Explain endpoint vulnerabilities and protection methods</a:t>
            </a:r>
            <a:r>
              <a:rPr lang="en-US" sz="2000" i="0" u="none" strike="noStrike">
                <a:solidFill>
                  <a:srgbClr val="000000"/>
                </a:solidFill>
                <a:effectLst/>
                <a:latin typeface="Arial" panose="020B0604020202020204" pitchFamily="34" charset="0"/>
                <a:cs typeface="Arial" panose="020B0604020202020204" pitchFamily="34" charset="0"/>
              </a:rPr>
              <a:t>.</a:t>
            </a:r>
            <a:endParaRPr lang="en-US" altLang="en-US" sz="1600">
              <a:solidFill>
                <a:schemeClr val="tx1"/>
              </a:solidFill>
              <a:latin typeface="Arial" panose="020B0604020202020204" pitchFamily="34" charset="0"/>
              <a:cs typeface="Arial" panose="020B0604020202020204" pitchFamily="34" charset="0"/>
            </a:endParaRPr>
          </a:p>
          <a:p>
            <a:pPr marL="0" indent="0">
              <a:spcBef>
                <a:spcPct val="30000"/>
              </a:spcBef>
              <a:buNone/>
            </a:pPr>
            <a:endParaRPr lang="en-US"/>
          </a:p>
          <a:p>
            <a:pPr marL="89297" indent="0">
              <a:spcBef>
                <a:spcPct val="30000"/>
              </a:spcBef>
              <a:buNone/>
            </a:pPr>
            <a:endParaRPr lang="en-US"/>
          </a:p>
          <a:p>
            <a:pPr marL="89297" indent="0">
              <a:spcBef>
                <a:spcPct val="30000"/>
              </a:spcBef>
              <a:buNone/>
            </a:pP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399480880"/>
              </p:ext>
            </p:extLst>
          </p:nvPr>
        </p:nvGraphicFramePr>
        <p:xfrm>
          <a:off x="423333" y="1625600"/>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a:effectLst/>
                        </a:rPr>
                        <a:t>Topic Title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a:effectLst/>
                        </a:rPr>
                        <a:t>Topic Objective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b="1" i="0" u="none" strike="noStrike" kern="1200">
                          <a:solidFill>
                            <a:schemeClr val="lt1"/>
                          </a:solidFill>
                          <a:effectLst/>
                          <a:latin typeface="Arial" panose="020B0604020202020204" pitchFamily="34" charset="0"/>
                          <a:ea typeface="+mn-ea"/>
                          <a:cs typeface="Arial" panose="020B0604020202020204" pitchFamily="34" charset="0"/>
                        </a:rPr>
                        <a:t>Endpoint Security Overview</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a:solidFill>
                            <a:schemeClr val="dk1"/>
                          </a:solidFill>
                          <a:effectLst/>
                          <a:latin typeface="Arial" panose="020B0604020202020204" pitchFamily="34" charset="0"/>
                          <a:ea typeface="+mn-ea"/>
                          <a:cs typeface="Arial" panose="020B0604020202020204" pitchFamily="34" charset="0"/>
                        </a:rPr>
                        <a:t>Describe endpoint security and the enabling technologies.</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b="1" i="0" u="none" strike="noStrike" kern="1200">
                          <a:solidFill>
                            <a:schemeClr val="lt1"/>
                          </a:solidFill>
                          <a:effectLst/>
                          <a:latin typeface="Arial" panose="020B0604020202020204" pitchFamily="34" charset="0"/>
                          <a:ea typeface="+mn-ea"/>
                          <a:cs typeface="Arial" panose="020B0604020202020204" pitchFamily="34" charset="0"/>
                        </a:rPr>
                        <a:t>802.1X Authentication</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a:solidFill>
                            <a:schemeClr val="dk1"/>
                          </a:solidFill>
                          <a:effectLst/>
                          <a:latin typeface="Arial" panose="020B0604020202020204" pitchFamily="34" charset="0"/>
                          <a:ea typeface="+mn-ea"/>
                          <a:cs typeface="Arial" panose="020B0604020202020204" pitchFamily="34" charset="0"/>
                        </a:rPr>
                        <a:t>Explain the functions of 802.1x components.</a:t>
                      </a:r>
                      <a:endParaRPr lang="en-US" sz="120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163135777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13.1 Endpoint Security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63</a:t>
            </a:fld>
            <a:endParaRPr lang="en-US"/>
          </a:p>
        </p:txBody>
      </p:sp>
    </p:spTree>
    <p:extLst>
      <p:ext uri="{BB962C8B-B14F-4D97-AF65-F5344CB8AC3E}">
        <p14:creationId xmlns:p14="http://schemas.microsoft.com/office/powerpoint/2010/main" val="23217561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LAN Elements Security</a:t>
            </a:r>
          </a:p>
        </p:txBody>
      </p:sp>
      <p:sp>
        <p:nvSpPr>
          <p:cNvPr id="5" name="Object4"/>
          <p:cNvSpPr/>
          <p:nvPr/>
        </p:nvSpPr>
        <p:spPr>
          <a:xfrm>
            <a:off x="0" y="914400"/>
            <a:ext cx="5029200" cy="771896"/>
          </a:xfrm>
          <a:prstGeom prst="rect">
            <a:avLst/>
          </a:prstGeom>
          <a:noFill/>
          <a:ln/>
        </p:spPr>
        <p:txBody>
          <a:bodyPr wrap="square" rtlCol="0" anchor="t"/>
          <a:lstStyle/>
          <a:p>
            <a:pPr>
              <a:lnSpc>
                <a:spcPts val="2000"/>
              </a:lnSpc>
            </a:pPr>
            <a:r>
              <a:rPr lang="en-US" sz="1600">
                <a:latin typeface="Arial" panose="020B0604020202020204" pitchFamily="34" charset="0"/>
                <a:cs typeface="Arial" panose="020B0604020202020204" pitchFamily="34" charset="0"/>
              </a:rPr>
              <a:t>Various network security devices are required to protect the network perimeter from outside access. As shown in the figure, these devices could include a hardened ISR that is providing VPN services, an ASA firewall appliance, an IPS, and a AAA server.</a:t>
            </a:r>
          </a:p>
          <a:p>
            <a:pPr>
              <a:lnSpc>
                <a:spcPts val="2000"/>
              </a:lnSpc>
            </a:pPr>
            <a:endParaRPr lang="en-US" sz="1600">
              <a:latin typeface="Arial" panose="020B0604020202020204" pitchFamily="34" charset="0"/>
              <a:cs typeface="Arial" panose="020B0604020202020204" pitchFamily="34" charset="0"/>
            </a:endParaRPr>
          </a:p>
          <a:p>
            <a:pPr>
              <a:lnSpc>
                <a:spcPts val="2000"/>
              </a:lnSpc>
            </a:pPr>
            <a:r>
              <a:rPr lang="en-US" sz="1600">
                <a:latin typeface="Arial" panose="020B0604020202020204" pitchFamily="34" charset="0"/>
                <a:cs typeface="Arial" panose="020B0604020202020204" pitchFamily="34" charset="0"/>
              </a:rPr>
              <a:t>Because many attacks originate from inside the network,  securing an internal LAN is just as important as securing the outside network perimeter. </a:t>
            </a:r>
          </a:p>
          <a:p>
            <a:pPr>
              <a:lnSpc>
                <a:spcPts val="2000"/>
              </a:lnSpc>
            </a:pPr>
            <a:endParaRPr lang="en-US" sz="1600">
              <a:latin typeface="Arial" panose="020B0604020202020204" pitchFamily="34" charset="0"/>
              <a:cs typeface="Arial" panose="020B0604020202020204" pitchFamily="34" charset="0"/>
            </a:endParaRPr>
          </a:p>
          <a:p>
            <a:pPr>
              <a:lnSpc>
                <a:spcPts val="2000"/>
              </a:lnSpc>
            </a:pPr>
            <a:r>
              <a:rPr lang="en-US" sz="1600">
                <a:latin typeface="Arial" panose="020B0604020202020204" pitchFamily="34" charset="0"/>
                <a:cs typeface="Arial" panose="020B0604020202020204" pitchFamily="34" charset="0"/>
              </a:rPr>
              <a:t>Specifically, there are two internal LAN elements to secure:</a:t>
            </a:r>
          </a:p>
          <a:p>
            <a:pPr marL="285750" indent="-285750">
              <a:lnSpc>
                <a:spcPts val="2000"/>
              </a:lnSpc>
              <a:buFont typeface="Arial" panose="020B0604020202020204" pitchFamily="34" charset="0"/>
              <a:buChar char="•"/>
            </a:pPr>
            <a:r>
              <a:rPr lang="en-US" sz="1600">
                <a:latin typeface="Arial" panose="020B0604020202020204" pitchFamily="34" charset="0"/>
                <a:cs typeface="Arial" panose="020B0604020202020204" pitchFamily="34" charset="0"/>
              </a:rPr>
              <a:t>Endpoints</a:t>
            </a:r>
          </a:p>
          <a:p>
            <a:pPr marL="285750" indent="-285750">
              <a:lnSpc>
                <a:spcPts val="2000"/>
              </a:lnSpc>
              <a:buFont typeface="Arial" panose="020B0604020202020204" pitchFamily="34" charset="0"/>
              <a:buChar char="•"/>
            </a:pPr>
            <a:r>
              <a:rPr lang="en-US" sz="1600">
                <a:latin typeface="Arial" panose="020B0604020202020204" pitchFamily="34" charset="0"/>
                <a:cs typeface="Arial" panose="020B0604020202020204" pitchFamily="34" charset="0"/>
              </a:rPr>
              <a:t>Network infrastructure</a:t>
            </a:r>
          </a:p>
        </p:txBody>
      </p:sp>
      <p:pic>
        <p:nvPicPr>
          <p:cNvPr id="4" name="Picture 3">
            <a:extLst>
              <a:ext uri="{FF2B5EF4-FFF2-40B4-BE49-F238E27FC236}">
                <a16:creationId xmlns:a16="http://schemas.microsoft.com/office/drawing/2014/main" id="{3490A8F2-AA6D-4F07-916D-F42ABB7FC577}"/>
              </a:ext>
            </a:extLst>
          </p:cNvPr>
          <p:cNvPicPr>
            <a:picLocks noChangeAspect="1"/>
          </p:cNvPicPr>
          <p:nvPr/>
        </p:nvPicPr>
        <p:blipFill>
          <a:blip r:embed="rId3"/>
          <a:stretch>
            <a:fillRect/>
          </a:stretch>
        </p:blipFill>
        <p:spPr>
          <a:xfrm>
            <a:off x="4746422" y="880896"/>
            <a:ext cx="4005476" cy="296521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64</a:t>
            </a:fld>
            <a:endParaRPr lang="en-US"/>
          </a:p>
        </p:txBody>
      </p:sp>
    </p:spTree>
    <p:extLst>
      <p:ext uri="{BB962C8B-B14F-4D97-AF65-F5344CB8AC3E}">
        <p14:creationId xmlns:p14="http://schemas.microsoft.com/office/powerpoint/2010/main" val="35809987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Traditional Endpoint Security</a:t>
            </a:r>
          </a:p>
        </p:txBody>
      </p:sp>
      <p:sp>
        <p:nvSpPr>
          <p:cNvPr id="5" name="Object4"/>
          <p:cNvSpPr/>
          <p:nvPr/>
        </p:nvSpPr>
        <p:spPr>
          <a:xfrm>
            <a:off x="108857" y="914400"/>
            <a:ext cx="8926286"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Historically, employee endpoints were company-issued computers which resided within a clearly defined LAN perimeter. These hosts were protected by firewalls and IPS devices which worked well with hosts that were connected to the LAN and behind the firewall.</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endpoints also used traditional host-based security measures:</a:t>
            </a:r>
          </a:p>
          <a:p>
            <a:endParaRPr 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Antivirus/Antimalware Software</a:t>
            </a:r>
          </a:p>
          <a:p>
            <a:endParaRPr 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Host-based IPS</a:t>
            </a:r>
          </a:p>
          <a:p>
            <a:endParaRPr lang="en-US" sz="16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Host-based firewall</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65</a:t>
            </a:fld>
            <a:endParaRPr lang="en-US"/>
          </a:p>
        </p:txBody>
      </p:sp>
    </p:spTree>
    <p:extLst>
      <p:ext uri="{BB962C8B-B14F-4D97-AF65-F5344CB8AC3E}">
        <p14:creationId xmlns:p14="http://schemas.microsoft.com/office/powerpoint/2010/main" val="31618306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The Borderless Network</a:t>
            </a:r>
          </a:p>
        </p:txBody>
      </p:sp>
      <p:sp>
        <p:nvSpPr>
          <p:cNvPr id="5" name="Object4"/>
          <p:cNvSpPr/>
          <p:nvPr/>
        </p:nvSpPr>
        <p:spPr>
          <a:xfrm>
            <a:off x="0" y="914400"/>
            <a:ext cx="8788400" cy="2571750"/>
          </a:xfrm>
          <a:prstGeom prst="rect">
            <a:avLst/>
          </a:prstGeom>
          <a:noFill/>
          <a:ln/>
        </p:spPr>
        <p:txBody>
          <a:bodyPr wrap="square" rtlCol="0" anchor="t"/>
          <a:lstStyle/>
          <a:p>
            <a:pPr>
              <a:lnSpc>
                <a:spcPts val="2000"/>
              </a:lnSpc>
            </a:pPr>
            <a:r>
              <a:rPr lang="en-US">
                <a:latin typeface="Arial" panose="020B0604020202020204" pitchFamily="34" charset="0"/>
                <a:cs typeface="Arial" panose="020B0604020202020204" pitchFamily="34" charset="0"/>
              </a:rPr>
              <a:t>The new bring-your-own-device (BYOD) needs of workers have a required a different way of approaching endpoint security. </a:t>
            </a:r>
          </a:p>
          <a:p>
            <a:pPr>
              <a:lnSpc>
                <a:spcPts val="2000"/>
              </a:lnSpc>
            </a:pPr>
            <a:endParaRPr lang="en-US">
              <a:latin typeface="Arial" panose="020B0604020202020204" pitchFamily="34" charset="0"/>
              <a:cs typeface="Arial" panose="020B0604020202020204" pitchFamily="34" charset="0"/>
            </a:endParaRPr>
          </a:p>
          <a:p>
            <a:pPr>
              <a:lnSpc>
                <a:spcPts val="2000"/>
              </a:lnSpc>
            </a:pPr>
            <a:r>
              <a:rPr lang="en-US">
                <a:latin typeface="Arial" panose="020B0604020202020204" pitchFamily="34" charset="0"/>
                <a:cs typeface="Arial" panose="020B0604020202020204" pitchFamily="34" charset="0"/>
              </a:rPr>
              <a:t>In many networks, the network-based devices are disparate and typically do not share information among themselves. Additionally, new endpoint devices are not good candidates for the traditional host-based endpoint security solutions because of the variety of devices and the variety of operating systems available on those devices.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66</a:t>
            </a:fld>
            <a:endParaRPr lang="en-US"/>
          </a:p>
        </p:txBody>
      </p:sp>
    </p:spTree>
    <p:extLst>
      <p:ext uri="{BB962C8B-B14F-4D97-AF65-F5344CB8AC3E}">
        <p14:creationId xmlns:p14="http://schemas.microsoft.com/office/powerpoint/2010/main" val="24334647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Security for Endpoints in the Borderless Network</a:t>
            </a:r>
          </a:p>
        </p:txBody>
      </p:sp>
      <p:sp>
        <p:nvSpPr>
          <p:cNvPr id="7" name="TextBox 6">
            <a:extLst>
              <a:ext uri="{FF2B5EF4-FFF2-40B4-BE49-F238E27FC236}">
                <a16:creationId xmlns:a16="http://schemas.microsoft.com/office/drawing/2014/main" id="{2AB033F0-6854-4A95-B136-B991C60B821D}"/>
              </a:ext>
            </a:extLst>
          </p:cNvPr>
          <p:cNvSpPr txBox="1"/>
          <p:nvPr/>
        </p:nvSpPr>
        <p:spPr>
          <a:xfrm>
            <a:off x="0" y="896332"/>
            <a:ext cx="8730048" cy="584775"/>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Organizations must also protect their endpoints from new threats and provide the protection measures that are outlined in the table below:</a:t>
            </a:r>
          </a:p>
        </p:txBody>
      </p:sp>
      <p:graphicFrame>
        <p:nvGraphicFramePr>
          <p:cNvPr id="13" name="Table 12"/>
          <p:cNvGraphicFramePr>
            <a:graphicFrameLocks noGrp="1"/>
          </p:cNvGraphicFramePr>
          <p:nvPr>
            <p:extLst>
              <p:ext uri="{D42A27DB-BD31-4B8C-83A1-F6EECF244321}">
                <p14:modId xmlns:p14="http://schemas.microsoft.com/office/powerpoint/2010/main" val="1926287482"/>
              </p:ext>
            </p:extLst>
          </p:nvPr>
        </p:nvGraphicFramePr>
        <p:xfrm>
          <a:off x="91440" y="1671111"/>
          <a:ext cx="8961120" cy="1478280"/>
        </p:xfrm>
        <a:graphic>
          <a:graphicData uri="http://schemas.openxmlformats.org/drawingml/2006/table">
            <a:tbl>
              <a:tblPr/>
              <a:tblGrid>
                <a:gridCol w="2078446">
                  <a:extLst>
                    <a:ext uri="{9D8B030D-6E8A-4147-A177-3AD203B41FA5}">
                      <a16:colId xmlns:a16="http://schemas.microsoft.com/office/drawing/2014/main" val="20000"/>
                    </a:ext>
                  </a:extLst>
                </a:gridCol>
                <a:gridCol w="6882674">
                  <a:extLst>
                    <a:ext uri="{9D8B030D-6E8A-4147-A177-3AD203B41FA5}">
                      <a16:colId xmlns:a16="http://schemas.microsoft.com/office/drawing/2014/main" val="20001"/>
                    </a:ext>
                  </a:extLst>
                </a:gridCol>
              </a:tblGrid>
              <a:tr h="0">
                <a:tc>
                  <a:txBody>
                    <a:bodyPr/>
                    <a:lstStyle/>
                    <a:p>
                      <a:r>
                        <a:rPr lang="en-US" sz="1200">
                          <a:solidFill>
                            <a:srgbClr val="FFFFFF"/>
                          </a:solidFill>
                        </a:rPr>
                        <a:t>Measure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Purpose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a:solidFill>
                            <a:srgbClr val="58585B"/>
                          </a:solidFill>
                        </a:rPr>
                        <a:t>antimalware software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Protect endpoints from malware.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a:solidFill>
                            <a:srgbClr val="58585B"/>
                          </a:solidFill>
                        </a:rPr>
                        <a:t>spam filtering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Prevent spam emails from reaching endpoints.</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102271">
                <a:tc>
                  <a:txBody>
                    <a:bodyPr/>
                    <a:lstStyle/>
                    <a:p>
                      <a:r>
                        <a:rPr lang="en-US" sz="1200">
                          <a:solidFill>
                            <a:srgbClr val="58585B"/>
                          </a:solidFill>
                        </a:rPr>
                        <a:t>blocklisting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Prevent endpoints from connecting to websites with bad reputations by immediately blocking connections based on the latest reputation intelligence.</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a:solidFill>
                            <a:srgbClr val="58585B"/>
                          </a:solidFill>
                        </a:rPr>
                        <a:t>data loss prevention (DLP)</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Prevent sensitive information from being lost or stolen.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67</a:t>
            </a:fld>
            <a:endParaRPr lang="en-US"/>
          </a:p>
        </p:txBody>
      </p:sp>
      <p:sp>
        <p:nvSpPr>
          <p:cNvPr id="4" name="BlokTextu 3">
            <a:extLst>
              <a:ext uri="{FF2B5EF4-FFF2-40B4-BE49-F238E27FC236}">
                <a16:creationId xmlns:a16="http://schemas.microsoft.com/office/drawing/2014/main" id="{C0802551-109E-3BEE-57F0-3C8CDE2C62B6}"/>
              </a:ext>
            </a:extLst>
          </p:cNvPr>
          <p:cNvSpPr txBox="1"/>
          <p:nvPr/>
        </p:nvSpPr>
        <p:spPr>
          <a:xfrm>
            <a:off x="670487" y="3428821"/>
            <a:ext cx="7389074" cy="1200329"/>
          </a:xfrm>
          <a:prstGeom prst="rect">
            <a:avLst/>
          </a:prstGeom>
          <a:noFill/>
        </p:spPr>
        <p:txBody>
          <a:bodyPr wrap="none" rtlCol="0">
            <a:spAutoFit/>
          </a:bodyPr>
          <a:lstStyle/>
          <a:p>
            <a:r>
              <a:rPr lang="sk-SK"/>
              <a:t>Vedeli ste že M365 E5/A5 podporuje DLP? Viac na  </a:t>
            </a:r>
            <a:r>
              <a:rPr lang="sk-SK" b="1" i="0">
                <a:solidFill>
                  <a:srgbClr val="161616"/>
                </a:solidFill>
                <a:effectLst/>
                <a:latin typeface="Segoe UI" panose="020B0502040204020203" pitchFamily="34" charset="0"/>
              </a:rPr>
              <a:t>Microsoft </a:t>
            </a:r>
            <a:r>
              <a:rPr lang="sk-SK" b="1" i="0" err="1">
                <a:solidFill>
                  <a:srgbClr val="161616"/>
                </a:solidFill>
                <a:effectLst/>
                <a:latin typeface="Segoe UI" panose="020B0502040204020203" pitchFamily="34" charset="0"/>
              </a:rPr>
              <a:t>Purview</a:t>
            </a:r>
            <a:endParaRPr lang="sk-SK" b="1" i="0">
              <a:solidFill>
                <a:srgbClr val="161616"/>
              </a:solidFill>
              <a:effectLst/>
              <a:latin typeface="Segoe UI" panose="020B0502040204020203" pitchFamily="34" charset="0"/>
            </a:endParaRPr>
          </a:p>
          <a:p>
            <a:r>
              <a:rPr lang="sk-SK"/>
              <a:t> </a:t>
            </a:r>
            <a:r>
              <a:rPr lang="sk-SK">
                <a:hlinkClick r:id="rId3"/>
              </a:rPr>
              <a:t>Microsoft Purview Information Protection | Microsoft Learn</a:t>
            </a:r>
            <a:r>
              <a:rPr lang="sk-SK"/>
              <a:t> </a:t>
            </a:r>
          </a:p>
          <a:p>
            <a:r>
              <a:rPr lang="sk-SK"/>
              <a:t>a </a:t>
            </a:r>
            <a:r>
              <a:rPr lang="sk-SK" b="1" i="0" err="1">
                <a:solidFill>
                  <a:srgbClr val="161616"/>
                </a:solidFill>
                <a:effectLst/>
                <a:latin typeface="Segoe UI" panose="020B0502040204020203" pitchFamily="34" charset="0"/>
              </a:rPr>
              <a:t>data</a:t>
            </a:r>
            <a:r>
              <a:rPr lang="sk-SK" b="1" i="0">
                <a:solidFill>
                  <a:srgbClr val="161616"/>
                </a:solidFill>
                <a:effectLst/>
                <a:latin typeface="Segoe UI" panose="020B0502040204020203" pitchFamily="34" charset="0"/>
              </a:rPr>
              <a:t> </a:t>
            </a:r>
            <a:r>
              <a:rPr lang="sk-SK" b="1" i="0" err="1">
                <a:solidFill>
                  <a:srgbClr val="161616"/>
                </a:solidFill>
                <a:effectLst/>
                <a:latin typeface="Segoe UI" panose="020B0502040204020203" pitchFamily="34" charset="0"/>
              </a:rPr>
              <a:t>loss</a:t>
            </a:r>
            <a:r>
              <a:rPr lang="sk-SK" b="1" i="0">
                <a:solidFill>
                  <a:srgbClr val="161616"/>
                </a:solidFill>
                <a:effectLst/>
                <a:latin typeface="Segoe UI" panose="020B0502040204020203" pitchFamily="34" charset="0"/>
              </a:rPr>
              <a:t> </a:t>
            </a:r>
            <a:r>
              <a:rPr lang="sk-SK" b="1" i="0" err="1">
                <a:solidFill>
                  <a:srgbClr val="161616"/>
                </a:solidFill>
                <a:effectLst/>
                <a:latin typeface="Segoe UI" panose="020B0502040204020203" pitchFamily="34" charset="0"/>
              </a:rPr>
              <a:t>prevention</a:t>
            </a:r>
            <a:r>
              <a:rPr lang="sk-SK" b="1" i="0">
                <a:solidFill>
                  <a:srgbClr val="161616"/>
                </a:solidFill>
                <a:effectLst/>
                <a:latin typeface="Segoe UI" panose="020B0502040204020203" pitchFamily="34" charset="0"/>
              </a:rPr>
              <a:t> </a:t>
            </a:r>
            <a:r>
              <a:rPr lang="sk-SK">
                <a:hlinkClick r:id="rId4"/>
              </a:rPr>
              <a:t>Learn about data loss prevention | Microsoft Learn</a:t>
            </a:r>
            <a:endParaRPr lang="sk-SK" b="1" i="0">
              <a:solidFill>
                <a:srgbClr val="161616"/>
              </a:solidFill>
              <a:effectLst/>
              <a:latin typeface="Segoe UI" panose="020B0502040204020203" pitchFamily="34" charset="0"/>
            </a:endParaRPr>
          </a:p>
          <a:p>
            <a:r>
              <a:rPr lang="sk-SK"/>
              <a:t> </a:t>
            </a:r>
          </a:p>
        </p:txBody>
      </p:sp>
    </p:spTree>
    <p:extLst>
      <p:ext uri="{BB962C8B-B14F-4D97-AF65-F5344CB8AC3E}">
        <p14:creationId xmlns:p14="http://schemas.microsoft.com/office/powerpoint/2010/main" val="800298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Network-Based Malware Protection</a:t>
            </a:r>
          </a:p>
        </p:txBody>
      </p:sp>
      <p:sp>
        <p:nvSpPr>
          <p:cNvPr id="5" name="Object4"/>
          <p:cNvSpPr/>
          <p:nvPr/>
        </p:nvSpPr>
        <p:spPr>
          <a:xfrm>
            <a:off x="1" y="914400"/>
            <a:ext cx="4123892" cy="2571750"/>
          </a:xfrm>
          <a:prstGeom prst="rect">
            <a:avLst/>
          </a:prstGeom>
          <a:noFill/>
          <a:ln/>
        </p:spPr>
        <p:txBody>
          <a:bodyPr wrap="square" rtlCol="0" anchor="t"/>
          <a:lstStyle/>
          <a:p>
            <a:r>
              <a:rPr lang="en-US" sz="1600">
                <a:latin typeface="Arial" panose="020B0604020202020204" pitchFamily="34" charset="0"/>
                <a:cs typeface="Arial" panose="020B0604020202020204" pitchFamily="34" charset="0"/>
              </a:rPr>
              <a:t>Protecting endpoints in a borderless network can be accomplished using network-based, as well as host-based techniques, as shown in the figure. </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The following are examples of devices and techniques that implement host protections at the network level:</a:t>
            </a:r>
          </a:p>
          <a:p>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Advanced Malware Protection (AMP)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Email Security Appliance (ESA) </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Web Security Appliance (WSA)</a:t>
            </a:r>
          </a:p>
          <a:p>
            <a:pPr marL="742950" lvl="1" indent="-285750">
              <a:buFont typeface="Arial" panose="020B0604020202020204" pitchFamily="34" charset="0"/>
              <a:buChar char="•"/>
            </a:pPr>
            <a:r>
              <a:rPr lang="en-US" sz="1600">
                <a:latin typeface="Arial" panose="020B0604020202020204" pitchFamily="34" charset="0"/>
                <a:cs typeface="Arial" panose="020B0604020202020204" pitchFamily="34" charset="0"/>
              </a:rPr>
              <a:t>Network Admission Control (NAC)</a:t>
            </a:r>
          </a:p>
          <a:p>
            <a:pPr>
              <a:lnSpc>
                <a:spcPts val="2000"/>
              </a:lnSpc>
            </a:pPr>
            <a:endParaRPr lang="en-US" sz="1400"/>
          </a:p>
        </p:txBody>
      </p:sp>
      <p:pic>
        <p:nvPicPr>
          <p:cNvPr id="4" name="Picture 3">
            <a:extLst>
              <a:ext uri="{FF2B5EF4-FFF2-40B4-BE49-F238E27FC236}">
                <a16:creationId xmlns:a16="http://schemas.microsoft.com/office/drawing/2014/main" id="{1DF44A6D-3CF4-4863-B26F-92ED404BCD86}"/>
              </a:ext>
            </a:extLst>
          </p:cNvPr>
          <p:cNvPicPr>
            <a:picLocks noChangeAspect="1"/>
          </p:cNvPicPr>
          <p:nvPr/>
        </p:nvPicPr>
        <p:blipFill>
          <a:blip r:embed="rId3"/>
          <a:stretch>
            <a:fillRect/>
          </a:stretch>
        </p:blipFill>
        <p:spPr>
          <a:xfrm>
            <a:off x="4281055" y="685491"/>
            <a:ext cx="4705782" cy="2223444"/>
          </a:xfrm>
          <a:prstGeom prst="rect">
            <a:avLst/>
          </a:prstGeom>
        </p:spPr>
      </p:pic>
      <p:pic>
        <p:nvPicPr>
          <p:cNvPr id="6" name="Picture 5">
            <a:extLst>
              <a:ext uri="{FF2B5EF4-FFF2-40B4-BE49-F238E27FC236}">
                <a16:creationId xmlns:a16="http://schemas.microsoft.com/office/drawing/2014/main" id="{2690D65F-DCCE-4E7C-9A44-E9CB4D5412E6}"/>
              </a:ext>
            </a:extLst>
          </p:cNvPr>
          <p:cNvPicPr>
            <a:picLocks noChangeAspect="1"/>
          </p:cNvPicPr>
          <p:nvPr/>
        </p:nvPicPr>
        <p:blipFill>
          <a:blip r:embed="rId4"/>
          <a:stretch>
            <a:fillRect/>
          </a:stretch>
        </p:blipFill>
        <p:spPr>
          <a:xfrm>
            <a:off x="4963935" y="2735943"/>
            <a:ext cx="2546652" cy="183841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68</a:t>
            </a:fld>
            <a:endParaRPr lang="en-US"/>
          </a:p>
        </p:txBody>
      </p:sp>
    </p:spTree>
    <p:extLst>
      <p:ext uri="{BB962C8B-B14F-4D97-AF65-F5344CB8AC3E}">
        <p14:creationId xmlns:p14="http://schemas.microsoft.com/office/powerpoint/2010/main" val="26792803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Hardware and Software Encryption of Local Data</a:t>
            </a:r>
          </a:p>
        </p:txBody>
      </p:sp>
      <p:sp>
        <p:nvSpPr>
          <p:cNvPr id="5" name="Object4"/>
          <p:cNvSpPr/>
          <p:nvPr/>
        </p:nvSpPr>
        <p:spPr>
          <a:xfrm>
            <a:off x="261257" y="921657"/>
            <a:ext cx="8229600" cy="2571750"/>
          </a:xfrm>
          <a:prstGeom prst="rect">
            <a:avLst/>
          </a:prstGeom>
          <a:noFill/>
          <a:ln/>
        </p:spPr>
        <p:txBody>
          <a:bodyPr wrap="square" rtlCol="0" anchor="t"/>
          <a:lstStyle/>
          <a:p>
            <a:r>
              <a:rPr lang="en-US">
                <a:latin typeface="Arial" panose="020B0604020202020204" pitchFamily="34" charset="0"/>
                <a:cs typeface="Arial" panose="020B0604020202020204" pitchFamily="34" charset="0"/>
              </a:rPr>
              <a:t>Endpoints are also susceptible to data theft. For instance, if a corporate laptop is lost or stolen, a thief could scour the hard drive for sensitive information, contact information, personal information, and more.</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solution is to locally encrypt the disk drive with a strong encryption algorithm such as 256-bit AES encryption. The encryption protects the confidential data from unauthorized access. The encrypted disk volumes can only be mounted for normal read/write access with the authorized password.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69</a:t>
            </a:fld>
            <a:endParaRPr lang="en-US"/>
          </a:p>
        </p:txBody>
      </p:sp>
    </p:spTree>
    <p:extLst>
      <p:ext uri="{BB962C8B-B14F-4D97-AF65-F5344CB8AC3E}">
        <p14:creationId xmlns:p14="http://schemas.microsoft.com/office/powerpoint/2010/main" val="22713770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Network Access Control </a:t>
            </a:r>
          </a:p>
        </p:txBody>
      </p:sp>
      <p:sp>
        <p:nvSpPr>
          <p:cNvPr id="5" name="Object4"/>
          <p:cNvSpPr/>
          <p:nvPr/>
        </p:nvSpPr>
        <p:spPr>
          <a:xfrm>
            <a:off x="0" y="746034"/>
            <a:ext cx="8817429" cy="2571750"/>
          </a:xfrm>
          <a:prstGeom prst="rect">
            <a:avLst/>
          </a:prstGeom>
          <a:noFill/>
          <a:ln/>
        </p:spPr>
        <p:txBody>
          <a:bodyPr wrap="square" lIns="91440" tIns="45720" rIns="91440" bIns="45720" rtlCol="0" anchor="t"/>
          <a:lstStyle/>
          <a:p>
            <a:pPr>
              <a:lnSpc>
                <a:spcPts val="2000"/>
              </a:lnSpc>
            </a:pPr>
            <a:r>
              <a:rPr lang="en-US" sz="1600">
                <a:latin typeface="Arial"/>
                <a:cs typeface="Arial"/>
              </a:rPr>
              <a:t>The purpose of network access control (NAC) is to allow only </a:t>
            </a:r>
            <a:r>
              <a:rPr lang="en-US" sz="1600" u="sng">
                <a:latin typeface="Arial"/>
                <a:cs typeface="Arial"/>
              </a:rPr>
              <a:t>authorized and compliant systems</a:t>
            </a:r>
            <a:r>
              <a:rPr lang="en-US" sz="1600">
                <a:latin typeface="Arial"/>
                <a:cs typeface="Arial"/>
              </a:rPr>
              <a:t>, whether managed or unmanaged, to access the network. It unifies endpoint security technologies with user or device authentication and network security policy enforcement.</a:t>
            </a:r>
          </a:p>
          <a:p>
            <a:pPr>
              <a:lnSpc>
                <a:spcPts val="2000"/>
              </a:lnSpc>
            </a:pPr>
            <a:endParaRPr lang="en-US" sz="1600">
              <a:latin typeface="Arial" panose="020B0604020202020204" pitchFamily="34" charset="0"/>
              <a:cs typeface="Arial" panose="020B0604020202020204" pitchFamily="34" charset="0"/>
            </a:endParaRPr>
          </a:p>
          <a:p>
            <a:r>
              <a:rPr lang="en-US" sz="1600">
                <a:latin typeface="Arial"/>
                <a:cs typeface="Arial"/>
              </a:rPr>
              <a:t>NAC systems can have the following capabilities:</a:t>
            </a:r>
          </a:p>
          <a:p>
            <a:endParaRPr lang="en-US" sz="160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a:latin typeface="Arial"/>
                <a:cs typeface="Arial"/>
              </a:rPr>
              <a:t>Profiling and visibility</a:t>
            </a:r>
            <a:r>
              <a:rPr lang="en-US" sz="1600">
                <a:latin typeface="Arial"/>
                <a:cs typeface="Arial"/>
              </a:rPr>
              <a:t> – This recognizes users and their devices before malicious code can cause damage.</a:t>
            </a:r>
          </a:p>
          <a:p>
            <a:pPr marL="742950" lvl="1" indent="-285750">
              <a:buFont typeface="Arial" panose="020B0604020202020204" pitchFamily="34" charset="0"/>
              <a:buChar char="•"/>
            </a:pPr>
            <a:r>
              <a:rPr lang="en-US" sz="1600" b="1">
                <a:latin typeface="Arial"/>
                <a:cs typeface="Arial"/>
              </a:rPr>
              <a:t>Guest network access</a:t>
            </a:r>
            <a:r>
              <a:rPr lang="en-US" sz="1600">
                <a:latin typeface="Arial"/>
                <a:cs typeface="Arial"/>
              </a:rPr>
              <a:t> – This manages guests through a customizable, self-service portal that includes guest registration, guest authentication, guest sponsoring, and a guest management portal.</a:t>
            </a:r>
          </a:p>
          <a:p>
            <a:pPr marL="742950" lvl="1" indent="-285750">
              <a:buFont typeface="Arial" panose="020B0604020202020204" pitchFamily="34" charset="0"/>
              <a:buChar char="•"/>
            </a:pPr>
            <a:r>
              <a:rPr lang="en-US" sz="1600" b="1">
                <a:latin typeface="Arial"/>
                <a:cs typeface="Arial"/>
              </a:rPr>
              <a:t>Security posture checking</a:t>
            </a:r>
            <a:r>
              <a:rPr lang="en-US" sz="1600">
                <a:latin typeface="Arial"/>
                <a:cs typeface="Arial"/>
              </a:rPr>
              <a:t> – This evaluates security-policy compliance by user type, device type, and operating system.</a:t>
            </a:r>
          </a:p>
          <a:p>
            <a:pPr marL="742950" lvl="1" indent="-285750">
              <a:buFont typeface="Arial" panose="020B0604020202020204" pitchFamily="34" charset="0"/>
              <a:buChar char="•"/>
            </a:pPr>
            <a:r>
              <a:rPr lang="en-US" sz="1600" b="1">
                <a:latin typeface="Arial"/>
                <a:cs typeface="Arial"/>
              </a:rPr>
              <a:t>Incident response</a:t>
            </a:r>
            <a:r>
              <a:rPr lang="en-US" sz="1600">
                <a:latin typeface="Arial"/>
                <a:cs typeface="Arial"/>
              </a:rPr>
              <a:t> - Mitigating network threats by enforcing security policies that block, isolate, and repair noncompliant machines without administrator attention.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70</a:t>
            </a:fld>
            <a:endParaRPr lang="en-US"/>
          </a:p>
        </p:txBody>
      </p:sp>
    </p:spTree>
    <p:extLst>
      <p:ext uri="{BB962C8B-B14F-4D97-AF65-F5344CB8AC3E}">
        <p14:creationId xmlns:p14="http://schemas.microsoft.com/office/powerpoint/2010/main" val="18255741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Endpoint Security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NAC Functions</a:t>
            </a:r>
          </a:p>
        </p:txBody>
      </p:sp>
      <p:sp>
        <p:nvSpPr>
          <p:cNvPr id="5" name="Object4"/>
          <p:cNvSpPr/>
          <p:nvPr/>
        </p:nvSpPr>
        <p:spPr>
          <a:xfrm>
            <a:off x="1" y="914400"/>
            <a:ext cx="3687730" cy="2571750"/>
          </a:xfrm>
          <a:prstGeom prst="rect">
            <a:avLst/>
          </a:prstGeom>
          <a:noFill/>
          <a:ln/>
        </p:spPr>
        <p:txBody>
          <a:bodyPr wrap="square" rtlCol="0" anchor="t"/>
          <a:lstStyle/>
          <a:p>
            <a:pPr>
              <a:lnSpc>
                <a:spcPts val="2000"/>
              </a:lnSpc>
            </a:pPr>
            <a:r>
              <a:rPr lang="en-US" sz="1600">
                <a:latin typeface="Arial" panose="020B0604020202020204" pitchFamily="34" charset="0"/>
                <a:cs typeface="Arial" panose="020B0604020202020204" pitchFamily="34" charset="0"/>
              </a:rPr>
              <a:t>The goal of NAC systems is to ensure that only hosts that are authenticated and have had their security posture examined and approved are permitted onto the network.</a:t>
            </a:r>
          </a:p>
          <a:p>
            <a:pPr>
              <a:lnSpc>
                <a:spcPts val="2000"/>
              </a:lnSpc>
            </a:pPr>
            <a:endParaRPr lang="en-US" sz="1600">
              <a:latin typeface="Arial" panose="020B0604020202020204" pitchFamily="34" charset="0"/>
              <a:cs typeface="Arial" panose="020B0604020202020204" pitchFamily="34" charset="0"/>
            </a:endParaRPr>
          </a:p>
          <a:p>
            <a:pPr>
              <a:lnSpc>
                <a:spcPts val="2000"/>
              </a:lnSpc>
            </a:pPr>
            <a:r>
              <a:rPr lang="en-US" sz="1600">
                <a:latin typeface="Arial" panose="020B0604020202020204" pitchFamily="34" charset="0"/>
                <a:cs typeface="Arial" panose="020B0604020202020204" pitchFamily="34" charset="0"/>
              </a:rPr>
              <a:t>Network access devices can function as the enforcement layer, as shown in the figure. They force the clients to query a RADIUS server for authentication and authorization. The RADIUS server can query other devices, such as an antivirus server, and reply to the network enforcers.</a:t>
            </a:r>
          </a:p>
        </p:txBody>
      </p:sp>
      <p:pic>
        <p:nvPicPr>
          <p:cNvPr id="4" name="Picture 3">
            <a:extLst>
              <a:ext uri="{FF2B5EF4-FFF2-40B4-BE49-F238E27FC236}">
                <a16:creationId xmlns:a16="http://schemas.microsoft.com/office/drawing/2014/main" id="{F1C4D050-DB24-46A3-A51C-10AB526C38CE}"/>
              </a:ext>
            </a:extLst>
          </p:cNvPr>
          <p:cNvPicPr>
            <a:picLocks noChangeAspect="1"/>
          </p:cNvPicPr>
          <p:nvPr/>
        </p:nvPicPr>
        <p:blipFill>
          <a:blip r:embed="rId3"/>
          <a:stretch>
            <a:fillRect/>
          </a:stretch>
        </p:blipFill>
        <p:spPr>
          <a:xfrm>
            <a:off x="3687730" y="914400"/>
            <a:ext cx="5227670" cy="28738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71</a:t>
            </a:fld>
            <a:endParaRPr lang="en-US"/>
          </a:p>
        </p:txBody>
      </p:sp>
    </p:spTree>
    <p:extLst>
      <p:ext uri="{BB962C8B-B14F-4D97-AF65-F5344CB8AC3E}">
        <p14:creationId xmlns:p14="http://schemas.microsoft.com/office/powerpoint/2010/main" val="4081731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a:t>13.2 802.1X Authentication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72</a:t>
            </a:fld>
            <a:endParaRPr lang="en-US"/>
          </a:p>
        </p:txBody>
      </p:sp>
    </p:spTree>
    <p:extLst>
      <p:ext uri="{BB962C8B-B14F-4D97-AF65-F5344CB8AC3E}">
        <p14:creationId xmlns:p14="http://schemas.microsoft.com/office/powerpoint/2010/main" val="1560625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Security Using 802.1X Port-Based Authentication</a:t>
            </a:r>
          </a:p>
        </p:txBody>
      </p:sp>
      <p:sp>
        <p:nvSpPr>
          <p:cNvPr id="5" name="Object4"/>
          <p:cNvSpPr/>
          <p:nvPr/>
        </p:nvSpPr>
        <p:spPr>
          <a:xfrm>
            <a:off x="-1" y="914400"/>
            <a:ext cx="8911771" cy="1433384"/>
          </a:xfrm>
          <a:prstGeom prst="rect">
            <a:avLst/>
          </a:prstGeom>
          <a:noFill/>
          <a:ln/>
        </p:spPr>
        <p:txBody>
          <a:bodyPr wrap="square" rtlCol="0" anchor="t"/>
          <a:lstStyle/>
          <a:p>
            <a:r>
              <a:rPr lang="en-US" sz="1400">
                <a:latin typeface="Arial" panose="020B0604020202020204" pitchFamily="34" charset="0"/>
                <a:cs typeface="Arial" panose="020B0604020202020204" pitchFamily="34" charset="0"/>
              </a:rPr>
              <a:t>The IEEE 802.1X standard defines a port-based access control and authentication protocol that restricts unauthorized workstations from connecting to a LAN through publicly accessible switch ports. The authentication server authenticates each workstation that is connected to a switch port before making available any services offered by the switch or the LAN.</a:t>
            </a:r>
          </a:p>
          <a:p>
            <a:endParaRPr lang="en-US" sz="1400">
              <a:latin typeface="Arial" panose="020B0604020202020204" pitchFamily="34" charset="0"/>
              <a:cs typeface="Arial" panose="020B0604020202020204" pitchFamily="34" charset="0"/>
            </a:endParaRPr>
          </a:p>
          <a:p>
            <a:r>
              <a:rPr lang="en-US" sz="1400">
                <a:latin typeface="Arial" panose="020B0604020202020204" pitchFamily="34" charset="0"/>
                <a:cs typeface="Arial" panose="020B0604020202020204" pitchFamily="34" charset="0"/>
              </a:rPr>
              <a:t>The figure shows that with 802.1X port-based authentication, the devices in the network have specific roles.</a:t>
            </a:r>
          </a:p>
          <a:p>
            <a:pPr>
              <a:lnSpc>
                <a:spcPts val="2000"/>
              </a:lnSpc>
            </a:pPr>
            <a:endParaRPr lang="en-US" sz="1400"/>
          </a:p>
        </p:txBody>
      </p:sp>
      <p:pic>
        <p:nvPicPr>
          <p:cNvPr id="4" name="Picture 3">
            <a:extLst>
              <a:ext uri="{FF2B5EF4-FFF2-40B4-BE49-F238E27FC236}">
                <a16:creationId xmlns:a16="http://schemas.microsoft.com/office/drawing/2014/main" id="{F1E717FA-2251-4CEF-928E-B1B5E6322DC4}"/>
              </a:ext>
            </a:extLst>
          </p:cNvPr>
          <p:cNvPicPr>
            <a:picLocks noChangeAspect="1"/>
          </p:cNvPicPr>
          <p:nvPr/>
        </p:nvPicPr>
        <p:blipFill>
          <a:blip r:embed="rId3"/>
          <a:stretch>
            <a:fillRect/>
          </a:stretch>
        </p:blipFill>
        <p:spPr>
          <a:xfrm>
            <a:off x="1425108" y="2347783"/>
            <a:ext cx="4820344" cy="239838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73</a:t>
            </a:fld>
            <a:endParaRPr lang="en-US"/>
          </a:p>
        </p:txBody>
      </p:sp>
    </p:spTree>
    <p:extLst>
      <p:ext uri="{BB962C8B-B14F-4D97-AF65-F5344CB8AC3E}">
        <p14:creationId xmlns:p14="http://schemas.microsoft.com/office/powerpoint/2010/main" val="9238657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Security Using 802.1X Port-Based Authentication (Cont.)</a:t>
            </a:r>
          </a:p>
        </p:txBody>
      </p:sp>
      <p:sp>
        <p:nvSpPr>
          <p:cNvPr id="5" name="Object4"/>
          <p:cNvSpPr/>
          <p:nvPr/>
        </p:nvSpPr>
        <p:spPr>
          <a:xfrm>
            <a:off x="50800" y="737689"/>
            <a:ext cx="8773886" cy="2571750"/>
          </a:xfrm>
          <a:prstGeom prst="rect">
            <a:avLst/>
          </a:prstGeom>
          <a:noFill/>
          <a:ln/>
        </p:spPr>
        <p:txBody>
          <a:bodyPr wrap="square" rtlCol="0" anchor="t"/>
          <a:lstStyle/>
          <a:p>
            <a:r>
              <a:rPr lang="en-US" sz="1400"/>
              <a:t>The 802.1x roles include:</a:t>
            </a:r>
          </a:p>
          <a:p>
            <a:endParaRPr lang="en-US" sz="1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a:latin typeface="Arial" panose="020B0604020202020204" pitchFamily="34" charset="0"/>
                <a:cs typeface="Arial" panose="020B0604020202020204" pitchFamily="34" charset="0"/>
              </a:rPr>
              <a:t>Supplicant (Client)</a:t>
            </a:r>
            <a:r>
              <a:rPr lang="en-US" sz="1400">
                <a:latin typeface="Arial" panose="020B0604020202020204" pitchFamily="34" charset="0"/>
                <a:cs typeface="Arial" panose="020B0604020202020204" pitchFamily="34" charset="0"/>
              </a:rPr>
              <a:t> - The device (workstation) that requests access to LAN and switch services and then responds to requests from the switch. The workstation must be running 802.1X-compliant client software. (The port that the client is attached to is the supplicant [client] in the IEEE 802.1X specification.)</a:t>
            </a:r>
          </a:p>
          <a:p>
            <a:pPr marL="285750" indent="-285750">
              <a:buFont typeface="Arial" panose="020B0604020202020204" pitchFamily="34" charset="0"/>
              <a:buChar char="•"/>
            </a:pPr>
            <a:endParaRPr lang="en-US" sz="1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a:latin typeface="Arial" panose="020B0604020202020204" pitchFamily="34" charset="0"/>
                <a:cs typeface="Arial" panose="020B0604020202020204" pitchFamily="34" charset="0"/>
              </a:rPr>
              <a:t>Authenticator (Switch)</a:t>
            </a:r>
            <a:r>
              <a:rPr lang="en-US" sz="1400">
                <a:latin typeface="Arial" panose="020B0604020202020204" pitchFamily="34" charset="0"/>
                <a:cs typeface="Arial" panose="020B0604020202020204" pitchFamily="34" charset="0"/>
              </a:rPr>
              <a:t> - Controls physical access to the network based on the authentication status of the client. The switch acts as an intermediary (proxy) between the client (supplicant) and the authentication server, requesting identifying information from the client, verifying that information with the authentication server, and relaying a response to the client. The switch uses a RADIUS software agent, which is responsible for encapsulating and de-encapsulating the EAP (Extensible Authentication Protocol) frames and interacting with the authentication server.</a:t>
            </a:r>
          </a:p>
          <a:p>
            <a:pPr marL="285750" indent="-285750">
              <a:buFont typeface="Arial" panose="020B0604020202020204" pitchFamily="34" charset="0"/>
              <a:buChar char="•"/>
            </a:pPr>
            <a:endParaRPr lang="en-US" sz="14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a:latin typeface="Arial" panose="020B0604020202020204" pitchFamily="34" charset="0"/>
                <a:cs typeface="Arial" panose="020B0604020202020204" pitchFamily="34" charset="0"/>
              </a:rPr>
              <a:t>Authentication server</a:t>
            </a:r>
            <a:r>
              <a:rPr lang="en-US" sz="1400">
                <a:latin typeface="Arial" panose="020B0604020202020204" pitchFamily="34" charset="0"/>
                <a:cs typeface="Arial" panose="020B0604020202020204" pitchFamily="34" charset="0"/>
              </a:rPr>
              <a:t> - Performs the actual authentication of the client. The authentication server validates the identity of the client and notifies the switch whether the client is authorized to access the LAN and switch services. Because the switch acts as the proxy, the authentication service is transparent to the client. The RADIUS security system with EAP extensions is the only supported authentication server.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74</a:t>
            </a:fld>
            <a:endParaRPr lang="en-US"/>
          </a:p>
        </p:txBody>
      </p:sp>
    </p:spTree>
    <p:extLst>
      <p:ext uri="{BB962C8B-B14F-4D97-AF65-F5344CB8AC3E}">
        <p14:creationId xmlns:p14="http://schemas.microsoft.com/office/powerpoint/2010/main" val="12077724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Security Using 802.1X Port-Based Authentication (Cont.)</a:t>
            </a:r>
          </a:p>
        </p:txBody>
      </p:sp>
      <p:sp>
        <p:nvSpPr>
          <p:cNvPr id="5" name="Object4"/>
          <p:cNvSpPr/>
          <p:nvPr/>
        </p:nvSpPr>
        <p:spPr>
          <a:xfrm>
            <a:off x="-30892" y="715917"/>
            <a:ext cx="4053650" cy="1693328"/>
          </a:xfrm>
          <a:prstGeom prst="rect">
            <a:avLst/>
          </a:prstGeom>
          <a:noFill/>
          <a:ln/>
        </p:spPr>
        <p:txBody>
          <a:bodyPr wrap="square" rtlCol="0" anchor="t"/>
          <a:lstStyle/>
          <a:p>
            <a:r>
              <a:rPr lang="en-US" sz="1200"/>
              <a:t>The figure shows the complete message exchange between the supplicant, authenticator, and the authentication server. The encapsulation occurs as follows:</a:t>
            </a:r>
          </a:p>
          <a:p>
            <a:endParaRPr lang="en-US" sz="1200"/>
          </a:p>
          <a:p>
            <a:pPr marL="742950" lvl="1" indent="-285750">
              <a:buFont typeface="Arial" panose="020B0604020202020204" pitchFamily="34" charset="0"/>
              <a:buChar char="•"/>
            </a:pPr>
            <a:r>
              <a:rPr lang="en-US" sz="1200" b="1"/>
              <a:t>Between the supplicant and the authenticator</a:t>
            </a:r>
            <a:r>
              <a:rPr lang="en-US" sz="1200"/>
              <a:t> - EAP data is encapsulated in EAPOL frames.</a:t>
            </a:r>
          </a:p>
          <a:p>
            <a:pPr marL="742950" lvl="1" indent="-285750">
              <a:buFont typeface="Arial" panose="020B0604020202020204" pitchFamily="34" charset="0"/>
              <a:buChar char="•"/>
            </a:pPr>
            <a:r>
              <a:rPr lang="en-US" sz="1200" b="1"/>
              <a:t>Between the authenticator and the authentication server</a:t>
            </a:r>
            <a:r>
              <a:rPr lang="en-US" sz="1200"/>
              <a:t> - EAP data is encapsulated using RADIUS.</a:t>
            </a:r>
          </a:p>
        </p:txBody>
      </p:sp>
      <p:pic>
        <p:nvPicPr>
          <p:cNvPr id="4" name="Picture 3">
            <a:extLst>
              <a:ext uri="{FF2B5EF4-FFF2-40B4-BE49-F238E27FC236}">
                <a16:creationId xmlns:a16="http://schemas.microsoft.com/office/drawing/2014/main" id="{13C59B45-7D7B-4870-B165-970D01D9F9CB}"/>
              </a:ext>
            </a:extLst>
          </p:cNvPr>
          <p:cNvPicPr>
            <a:picLocks noChangeAspect="1"/>
          </p:cNvPicPr>
          <p:nvPr/>
        </p:nvPicPr>
        <p:blipFill>
          <a:blip r:embed="rId3"/>
          <a:stretch>
            <a:fillRect/>
          </a:stretch>
        </p:blipFill>
        <p:spPr>
          <a:xfrm>
            <a:off x="125415" y="2476712"/>
            <a:ext cx="3930004" cy="26667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75</a:t>
            </a:fld>
            <a:endParaRPr lang="en-US"/>
          </a:p>
        </p:txBody>
      </p:sp>
      <p:sp>
        <p:nvSpPr>
          <p:cNvPr id="6" name="BlokTextu 5">
            <a:extLst>
              <a:ext uri="{FF2B5EF4-FFF2-40B4-BE49-F238E27FC236}">
                <a16:creationId xmlns:a16="http://schemas.microsoft.com/office/drawing/2014/main" id="{9485BDB2-1B2F-F8C6-7D86-6A87B28F5848}"/>
              </a:ext>
            </a:extLst>
          </p:cNvPr>
          <p:cNvSpPr txBox="1"/>
          <p:nvPr/>
        </p:nvSpPr>
        <p:spPr>
          <a:xfrm>
            <a:off x="4055419" y="809166"/>
            <a:ext cx="4664042" cy="3898503"/>
          </a:xfrm>
          <a:prstGeom prst="rect">
            <a:avLst/>
          </a:prstGeom>
          <a:noFill/>
        </p:spPr>
        <p:txBody>
          <a:bodyPr wrap="square" rtlCol="0">
            <a:spAutoFit/>
          </a:bodyPr>
          <a:lstStyle/>
          <a:p>
            <a:pPr algn="l"/>
            <a:r>
              <a:rPr lang="sk-SK" sz="1100" b="0" i="0">
                <a:solidFill>
                  <a:srgbClr val="242424"/>
                </a:solidFill>
                <a:effectLst/>
                <a:latin typeface="Segoe UI" panose="020B0502040204020203" pitchFamily="34" charset="0"/>
              </a:rPr>
              <a:t>Rozdiel medzi EAP (</a:t>
            </a:r>
            <a:r>
              <a:rPr lang="sk-SK" sz="1100" b="0" i="0" err="1">
                <a:solidFill>
                  <a:srgbClr val="242424"/>
                </a:solidFill>
                <a:effectLst/>
                <a:latin typeface="Segoe UI" panose="020B0502040204020203" pitchFamily="34" charset="0"/>
              </a:rPr>
              <a:t>Extensible</a:t>
            </a:r>
            <a:r>
              <a:rPr lang="sk-SK" sz="1100" b="0" i="0">
                <a:solidFill>
                  <a:srgbClr val="242424"/>
                </a:solidFill>
                <a:effectLst/>
                <a:latin typeface="Segoe UI" panose="020B0502040204020203" pitchFamily="34" charset="0"/>
              </a:rPr>
              <a:t> </a:t>
            </a:r>
            <a:r>
              <a:rPr lang="sk-SK" sz="1100" b="0" i="0" err="1">
                <a:solidFill>
                  <a:srgbClr val="242424"/>
                </a:solidFill>
                <a:effectLst/>
                <a:latin typeface="Segoe UI" panose="020B0502040204020203" pitchFamily="34" charset="0"/>
              </a:rPr>
              <a:t>Authentication</a:t>
            </a:r>
            <a:r>
              <a:rPr lang="sk-SK" sz="1100" b="0" i="0">
                <a:solidFill>
                  <a:srgbClr val="242424"/>
                </a:solidFill>
                <a:effectLst/>
                <a:latin typeface="Segoe UI" panose="020B0502040204020203" pitchFamily="34" charset="0"/>
              </a:rPr>
              <a:t> </a:t>
            </a:r>
            <a:r>
              <a:rPr lang="sk-SK" sz="1100" b="0" i="0" err="1">
                <a:solidFill>
                  <a:srgbClr val="242424"/>
                </a:solidFill>
                <a:effectLst/>
                <a:latin typeface="Segoe UI" panose="020B0502040204020203" pitchFamily="34" charset="0"/>
              </a:rPr>
              <a:t>Protocol</a:t>
            </a:r>
            <a:r>
              <a:rPr lang="sk-SK" sz="1100" b="0" i="0">
                <a:solidFill>
                  <a:srgbClr val="242424"/>
                </a:solidFill>
                <a:effectLst/>
                <a:latin typeface="Segoe UI" panose="020B0502040204020203" pitchFamily="34" charset="0"/>
              </a:rPr>
              <a:t>) a EAPOL (</a:t>
            </a:r>
            <a:r>
              <a:rPr lang="sk-SK" sz="1100" b="0" i="0" err="1">
                <a:solidFill>
                  <a:srgbClr val="242424"/>
                </a:solidFill>
                <a:effectLst/>
                <a:latin typeface="Segoe UI" panose="020B0502040204020203" pitchFamily="34" charset="0"/>
              </a:rPr>
              <a:t>Extensible</a:t>
            </a:r>
            <a:r>
              <a:rPr lang="sk-SK" sz="1100" b="0" i="0">
                <a:solidFill>
                  <a:srgbClr val="242424"/>
                </a:solidFill>
                <a:effectLst/>
                <a:latin typeface="Segoe UI" panose="020B0502040204020203" pitchFamily="34" charset="0"/>
              </a:rPr>
              <a:t> </a:t>
            </a:r>
            <a:r>
              <a:rPr lang="sk-SK" sz="1100" b="0" i="0" err="1">
                <a:solidFill>
                  <a:srgbClr val="242424"/>
                </a:solidFill>
                <a:effectLst/>
                <a:latin typeface="Segoe UI" panose="020B0502040204020203" pitchFamily="34" charset="0"/>
              </a:rPr>
              <a:t>Authentication</a:t>
            </a:r>
            <a:r>
              <a:rPr lang="sk-SK" sz="1100" b="0" i="0">
                <a:solidFill>
                  <a:srgbClr val="242424"/>
                </a:solidFill>
                <a:effectLst/>
                <a:latin typeface="Segoe UI" panose="020B0502040204020203" pitchFamily="34" charset="0"/>
              </a:rPr>
              <a:t> </a:t>
            </a:r>
            <a:r>
              <a:rPr lang="sk-SK" sz="1100" b="0" i="0" err="1">
                <a:solidFill>
                  <a:srgbClr val="242424"/>
                </a:solidFill>
                <a:effectLst/>
                <a:latin typeface="Segoe UI" panose="020B0502040204020203" pitchFamily="34" charset="0"/>
              </a:rPr>
              <a:t>Protocol</a:t>
            </a:r>
            <a:r>
              <a:rPr lang="sk-SK" sz="1100" b="0" i="0">
                <a:solidFill>
                  <a:srgbClr val="242424"/>
                </a:solidFill>
                <a:effectLst/>
                <a:latin typeface="Segoe UI" panose="020B0502040204020203" pitchFamily="34" charset="0"/>
              </a:rPr>
              <a:t> over LAN) spočíva v ich použití a spôsoboch prenosu:</a:t>
            </a:r>
          </a:p>
          <a:p>
            <a:pPr algn="l">
              <a:buFont typeface="+mj-lt"/>
              <a:buAutoNum type="arabicPeriod"/>
            </a:pPr>
            <a:r>
              <a:rPr lang="sk-SK" sz="1100" b="1" i="0">
                <a:solidFill>
                  <a:srgbClr val="242424"/>
                </a:solidFill>
                <a:effectLst/>
                <a:latin typeface="Segoe UI" panose="020B0502040204020203" pitchFamily="34" charset="0"/>
              </a:rPr>
              <a:t>EAP</a:t>
            </a:r>
            <a:r>
              <a:rPr lang="sk-SK" sz="1100" b="0" i="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sk-SK" sz="1100" b="0" i="0">
                <a:solidFill>
                  <a:srgbClr val="242424"/>
                </a:solidFill>
                <a:effectLst/>
                <a:latin typeface="Segoe UI" panose="020B0502040204020203" pitchFamily="34" charset="0"/>
              </a:rPr>
              <a:t>EAP je samotný autentifikačný protokol, ktorý podporuje rôzne autentifikačné metódy, ako sú napríklad EAP-TLS, EAP-TTLS, PEAP a ďalšie.</a:t>
            </a:r>
          </a:p>
          <a:p>
            <a:pPr marL="742950" lvl="1" indent="-285750" algn="l">
              <a:spcBef>
                <a:spcPts val="750"/>
              </a:spcBef>
              <a:spcAft>
                <a:spcPts val="750"/>
              </a:spcAft>
              <a:buFont typeface="+mj-lt"/>
              <a:buAutoNum type="arabicPeriod"/>
            </a:pPr>
            <a:r>
              <a:rPr lang="sk-SK" sz="1100" b="0" i="0">
                <a:solidFill>
                  <a:srgbClr val="242424"/>
                </a:solidFill>
                <a:effectLst/>
                <a:latin typeface="Segoe UI" panose="020B0502040204020203" pitchFamily="34" charset="0"/>
              </a:rPr>
              <a:t>Používa sa na autentifikáciu medzi klientom (</a:t>
            </a:r>
            <a:r>
              <a:rPr lang="sk-SK" sz="1100" b="0" i="0" err="1">
                <a:solidFill>
                  <a:srgbClr val="242424"/>
                </a:solidFill>
                <a:effectLst/>
                <a:latin typeface="Segoe UI" panose="020B0502040204020203" pitchFamily="34" charset="0"/>
              </a:rPr>
              <a:t>supplicant</a:t>
            </a:r>
            <a:r>
              <a:rPr lang="sk-SK" sz="1100" b="0" i="0">
                <a:solidFill>
                  <a:srgbClr val="242424"/>
                </a:solidFill>
                <a:effectLst/>
                <a:latin typeface="Segoe UI" panose="020B0502040204020203" pitchFamily="34" charset="0"/>
              </a:rPr>
              <a:t>) a autentifikačným serverom (napríklad RADIUS serverom).</a:t>
            </a:r>
          </a:p>
          <a:p>
            <a:pPr algn="l">
              <a:buFont typeface="+mj-lt"/>
              <a:buAutoNum type="arabicPeriod"/>
            </a:pPr>
            <a:r>
              <a:rPr lang="sk-SK" sz="1100" b="1" i="0">
                <a:solidFill>
                  <a:srgbClr val="242424"/>
                </a:solidFill>
                <a:effectLst/>
                <a:latin typeface="Segoe UI" panose="020B0502040204020203" pitchFamily="34" charset="0"/>
              </a:rPr>
              <a:t>EAPOL</a:t>
            </a:r>
            <a:r>
              <a:rPr lang="sk-SK" sz="1100" b="0" i="0">
                <a:solidFill>
                  <a:srgbClr val="242424"/>
                </a:solidFill>
                <a:effectLst/>
                <a:latin typeface="Segoe UI" panose="020B0502040204020203" pitchFamily="34" charset="0"/>
              </a:rPr>
              <a:t>:</a:t>
            </a:r>
          </a:p>
          <a:p>
            <a:pPr marL="742950" lvl="1" indent="-285750" algn="l">
              <a:spcBef>
                <a:spcPts val="750"/>
              </a:spcBef>
              <a:spcAft>
                <a:spcPts val="750"/>
              </a:spcAft>
              <a:buFont typeface="+mj-lt"/>
              <a:buAutoNum type="arabicPeriod"/>
            </a:pPr>
            <a:r>
              <a:rPr lang="sk-SK" sz="1100" b="0" i="0">
                <a:solidFill>
                  <a:srgbClr val="242424"/>
                </a:solidFill>
                <a:effectLst/>
                <a:latin typeface="Segoe UI" panose="020B0502040204020203" pitchFamily="34" charset="0"/>
              </a:rPr>
              <a:t>EAPOL je spôsob, akým sa EAP správy prenášajú cez lokálne siete (LAN), ako sú Ethernet alebo bezdrôtové siete.</a:t>
            </a:r>
          </a:p>
          <a:p>
            <a:pPr marL="742950" lvl="1" indent="-285750" algn="l">
              <a:spcBef>
                <a:spcPts val="750"/>
              </a:spcBef>
              <a:spcAft>
                <a:spcPts val="750"/>
              </a:spcAft>
              <a:buFont typeface="+mj-lt"/>
              <a:buAutoNum type="arabicPeriod"/>
            </a:pPr>
            <a:r>
              <a:rPr lang="sk-SK" sz="1100" b="0" i="0">
                <a:solidFill>
                  <a:srgbClr val="242424"/>
                </a:solidFill>
                <a:effectLst/>
                <a:latin typeface="Segoe UI" panose="020B0502040204020203" pitchFamily="34" charset="0"/>
              </a:rPr>
              <a:t>EAPOL sa používa v rámci 802.1X autentifikácie, kde sa autentifikačné správy prenášajú medzi klientom (</a:t>
            </a:r>
            <a:r>
              <a:rPr lang="sk-SK" sz="1100" b="0" i="0" err="1">
                <a:solidFill>
                  <a:srgbClr val="242424"/>
                </a:solidFill>
                <a:effectLst/>
                <a:latin typeface="Segoe UI" panose="020B0502040204020203" pitchFamily="34" charset="0"/>
              </a:rPr>
              <a:t>supplicant</a:t>
            </a:r>
            <a:r>
              <a:rPr lang="sk-SK" sz="1100" b="0" i="0">
                <a:solidFill>
                  <a:srgbClr val="242424"/>
                </a:solidFill>
                <a:effectLst/>
                <a:latin typeface="Segoe UI" panose="020B0502040204020203" pitchFamily="34" charset="0"/>
              </a:rPr>
              <a:t>) a </a:t>
            </a:r>
            <a:r>
              <a:rPr lang="sk-SK" sz="1100" b="0" i="0" err="1">
                <a:solidFill>
                  <a:srgbClr val="242424"/>
                </a:solidFill>
                <a:effectLst/>
                <a:latin typeface="Segoe UI" panose="020B0502040204020203" pitchFamily="34" charset="0"/>
              </a:rPr>
              <a:t>autentifikátorom</a:t>
            </a:r>
            <a:r>
              <a:rPr lang="sk-SK" sz="1100" b="0" i="0">
                <a:solidFill>
                  <a:srgbClr val="242424"/>
                </a:solidFill>
                <a:effectLst/>
                <a:latin typeface="Segoe UI" panose="020B0502040204020203" pitchFamily="34" charset="0"/>
              </a:rPr>
              <a:t> (napríklad prístupovým bodom alebo switchom) predtým, než sa dostanú na autentifikačný server</a:t>
            </a:r>
          </a:p>
          <a:p>
            <a:endParaRPr lang="sk-SK"/>
          </a:p>
        </p:txBody>
      </p:sp>
    </p:spTree>
    <p:extLst>
      <p:ext uri="{BB962C8B-B14F-4D97-AF65-F5344CB8AC3E}">
        <p14:creationId xmlns:p14="http://schemas.microsoft.com/office/powerpoint/2010/main" val="199133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Control the 802.1X Authorization State</a:t>
            </a:r>
          </a:p>
        </p:txBody>
      </p:sp>
      <p:sp>
        <p:nvSpPr>
          <p:cNvPr id="7" name="TextBox 6">
            <a:extLst>
              <a:ext uri="{FF2B5EF4-FFF2-40B4-BE49-F238E27FC236}">
                <a16:creationId xmlns:a16="http://schemas.microsoft.com/office/drawing/2014/main" id="{A0E9F426-40F1-4E80-96C2-184592635E01}"/>
              </a:ext>
            </a:extLst>
          </p:cNvPr>
          <p:cNvSpPr txBox="1"/>
          <p:nvPr/>
        </p:nvSpPr>
        <p:spPr>
          <a:xfrm>
            <a:off x="0" y="650333"/>
            <a:ext cx="8961120" cy="1015663"/>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It may be necessary to configure a switch port to override the 802.1X authentication process. To do this, use the </a:t>
            </a:r>
            <a:r>
              <a:rPr lang="en-US" sz="1400" b="1">
                <a:latin typeface="Arial" panose="020B0604020202020204" pitchFamily="34" charset="0"/>
                <a:cs typeface="Arial" panose="020B0604020202020204" pitchFamily="34" charset="0"/>
              </a:rPr>
              <a:t>authentication port-control</a:t>
            </a:r>
            <a:r>
              <a:rPr lang="en-US" sz="1400">
                <a:latin typeface="Arial" panose="020B0604020202020204" pitchFamily="34" charset="0"/>
                <a:cs typeface="Arial" panose="020B0604020202020204" pitchFamily="34" charset="0"/>
              </a:rPr>
              <a:t> interface configuration command to control the port authorization state. The syntax for the command and a description of the parameters are shown below.</a:t>
            </a:r>
          </a:p>
          <a:p>
            <a:endParaRPr lang="en-US"/>
          </a:p>
        </p:txBody>
      </p:sp>
      <p:pic>
        <p:nvPicPr>
          <p:cNvPr id="6" name="Picture 5">
            <a:extLst>
              <a:ext uri="{FF2B5EF4-FFF2-40B4-BE49-F238E27FC236}">
                <a16:creationId xmlns:a16="http://schemas.microsoft.com/office/drawing/2014/main" id="{3F294ABE-E513-48D8-BC9B-4EBC0FC504D9}"/>
              </a:ext>
            </a:extLst>
          </p:cNvPr>
          <p:cNvPicPr>
            <a:picLocks noChangeAspect="1"/>
          </p:cNvPicPr>
          <p:nvPr/>
        </p:nvPicPr>
        <p:blipFill>
          <a:blip r:embed="rId3"/>
          <a:stretch>
            <a:fillRect/>
          </a:stretch>
        </p:blipFill>
        <p:spPr>
          <a:xfrm>
            <a:off x="2284563" y="1290724"/>
            <a:ext cx="4735755" cy="1827396"/>
          </a:xfrm>
          <a:prstGeom prst="rect">
            <a:avLst/>
          </a:prstGeom>
        </p:spPr>
      </p:pic>
      <p:graphicFrame>
        <p:nvGraphicFramePr>
          <p:cNvPr id="21" name="Table 20"/>
          <p:cNvGraphicFramePr>
            <a:graphicFrameLocks noGrp="1"/>
          </p:cNvGraphicFramePr>
          <p:nvPr>
            <p:extLst>
              <p:ext uri="{D42A27DB-BD31-4B8C-83A1-F6EECF244321}">
                <p14:modId xmlns:p14="http://schemas.microsoft.com/office/powerpoint/2010/main" val="1286902980"/>
              </p:ext>
            </p:extLst>
          </p:nvPr>
        </p:nvGraphicFramePr>
        <p:xfrm>
          <a:off x="1187446" y="3116815"/>
          <a:ext cx="7241309" cy="1950720"/>
        </p:xfrm>
        <a:graphic>
          <a:graphicData uri="http://schemas.openxmlformats.org/drawingml/2006/table">
            <a:tbl>
              <a:tblPr/>
              <a:tblGrid>
                <a:gridCol w="1469831">
                  <a:extLst>
                    <a:ext uri="{9D8B030D-6E8A-4147-A177-3AD203B41FA5}">
                      <a16:colId xmlns:a16="http://schemas.microsoft.com/office/drawing/2014/main" val="20000"/>
                    </a:ext>
                  </a:extLst>
                </a:gridCol>
                <a:gridCol w="5771478">
                  <a:extLst>
                    <a:ext uri="{9D8B030D-6E8A-4147-A177-3AD203B41FA5}">
                      <a16:colId xmlns:a16="http://schemas.microsoft.com/office/drawing/2014/main" val="20001"/>
                    </a:ext>
                  </a:extLst>
                </a:gridCol>
              </a:tblGrid>
              <a:tr h="0">
                <a:tc>
                  <a:txBody>
                    <a:bodyPr/>
                    <a:lstStyle/>
                    <a:p>
                      <a:r>
                        <a:rPr lang="en-US" sz="1200">
                          <a:solidFill>
                            <a:srgbClr val="FFFFFF"/>
                          </a:solidFill>
                        </a:rPr>
                        <a:t>Parameter</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a:solidFill>
                            <a:srgbClr val="FFFFFF"/>
                          </a:solidFill>
                        </a:rPr>
                        <a:t>Description</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119449">
                <a:tc>
                  <a:txBody>
                    <a:bodyPr/>
                    <a:lstStyle/>
                    <a:p>
                      <a:r>
                        <a:rPr lang="en-US" sz="1200" b="1">
                          <a:solidFill>
                            <a:srgbClr val="58585B"/>
                          </a:solidFill>
                          <a:latin typeface="Courier New" panose="02070309020205020404" pitchFamily="49" charset="0"/>
                          <a:cs typeface="Courier New" panose="02070309020205020404" pitchFamily="49" charset="0"/>
                        </a:rPr>
                        <a:t>auto</a:t>
                      </a:r>
                      <a:endParaRPr lang="en-US" sz="1200" b="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Enables 802.1X port-based authentication and causes the port to begin in the unauthorized state. During this time only EAPOL, STP, and CDP frames are the only type of frames that can be sent or received through the port until the client device has been authenticated.</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a:solidFill>
                            <a:srgbClr val="58585B"/>
                          </a:solidFill>
                          <a:latin typeface="Courier New" panose="02070309020205020404" pitchFamily="49" charset="0"/>
                          <a:cs typeface="Courier New" panose="02070309020205020404" pitchFamily="49" charset="0"/>
                        </a:rPr>
                        <a:t>force-authorized</a:t>
                      </a:r>
                      <a:endParaRPr lang="en-US" sz="1200" b="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a:solidFill>
                            <a:srgbClr val="58585B"/>
                          </a:solidFill>
                        </a:rPr>
                        <a:t>The port sends and receives normal traffic without 802.1x-based authentication of the client. This is the default setting.</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a:solidFill>
                            <a:srgbClr val="58585B"/>
                          </a:solidFill>
                          <a:latin typeface="Courier New" panose="02070309020205020404" pitchFamily="49" charset="0"/>
                          <a:cs typeface="Courier New" panose="02070309020205020404" pitchFamily="49" charset="0"/>
                        </a:rPr>
                        <a:t>force-unauthorized</a:t>
                      </a:r>
                      <a:endParaRPr lang="en-US" sz="1200" b="1">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Causes the port to remain in the unauthorized state, ignoring all attempts by the client to authenticate. The switch cannot provide authentication services to the client through the port.</a:t>
                      </a:r>
                      <a:endParaRPr lang="en-US" sz="120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76</a:t>
            </a:fld>
            <a:endParaRPr lang="en-US"/>
          </a:p>
        </p:txBody>
      </p:sp>
    </p:spTree>
    <p:extLst>
      <p:ext uri="{BB962C8B-B14F-4D97-AF65-F5344CB8AC3E}">
        <p14:creationId xmlns:p14="http://schemas.microsoft.com/office/powerpoint/2010/main" val="25751249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802.1X Configuration</a:t>
            </a:r>
          </a:p>
        </p:txBody>
      </p:sp>
      <p:sp>
        <p:nvSpPr>
          <p:cNvPr id="5" name="Object4"/>
          <p:cNvSpPr/>
          <p:nvPr/>
        </p:nvSpPr>
        <p:spPr>
          <a:xfrm>
            <a:off x="0" y="667265"/>
            <a:ext cx="8822724" cy="2818885"/>
          </a:xfrm>
          <a:prstGeom prst="rect">
            <a:avLst/>
          </a:prstGeom>
          <a:noFill/>
          <a:ln/>
        </p:spPr>
        <p:txBody>
          <a:bodyPr wrap="square" rtlCol="0" anchor="t"/>
          <a:lstStyle/>
          <a:p>
            <a:r>
              <a:rPr lang="en-US" sz="1400">
                <a:latin typeface="Arial" panose="020B0604020202020204" pitchFamily="34" charset="0"/>
                <a:cs typeface="Arial" panose="020B0604020202020204" pitchFamily="34" charset="0"/>
              </a:rPr>
              <a:t>802.1X Configuration requires a few basic steps:</a:t>
            </a:r>
          </a:p>
          <a:p>
            <a:endParaRPr lang="en-US" sz="1400">
              <a:latin typeface="Arial" panose="020B0604020202020204" pitchFamily="34" charset="0"/>
              <a:cs typeface="Arial" panose="020B0604020202020204" pitchFamily="34" charset="0"/>
            </a:endParaRPr>
          </a:p>
          <a:p>
            <a:r>
              <a:rPr lang="en-US" sz="1400" b="1">
                <a:latin typeface="Arial" panose="020B0604020202020204" pitchFamily="34" charset="0"/>
                <a:cs typeface="Arial" panose="020B0604020202020204" pitchFamily="34" charset="0"/>
              </a:rPr>
              <a:t>Step 1</a:t>
            </a:r>
            <a:r>
              <a:rPr lang="en-US" sz="1400">
                <a:latin typeface="Arial" panose="020B0604020202020204" pitchFamily="34" charset="0"/>
                <a:cs typeface="Arial" panose="020B0604020202020204" pitchFamily="34" charset="0"/>
              </a:rPr>
              <a:t>. Enable AAA using the </a:t>
            </a:r>
            <a:r>
              <a:rPr lang="en-US" sz="1400" b="1">
                <a:latin typeface="Arial" panose="020B0604020202020204" pitchFamily="34" charset="0"/>
                <a:cs typeface="Arial" panose="020B0604020202020204" pitchFamily="34" charset="0"/>
              </a:rPr>
              <a:t>aaa new-model</a:t>
            </a:r>
            <a:r>
              <a:rPr lang="en-US" sz="1400">
                <a:latin typeface="Arial" panose="020B0604020202020204" pitchFamily="34" charset="0"/>
                <a:cs typeface="Arial" panose="020B0604020202020204" pitchFamily="34" charset="0"/>
              </a:rPr>
              <a:t> command.</a:t>
            </a:r>
          </a:p>
          <a:p>
            <a:br>
              <a:rPr lang="en-US" sz="1400">
                <a:latin typeface="Arial" panose="020B0604020202020204" pitchFamily="34" charset="0"/>
                <a:cs typeface="Arial" panose="020B0604020202020204" pitchFamily="34" charset="0"/>
              </a:rPr>
            </a:br>
            <a:r>
              <a:rPr lang="en-US" sz="1400" b="1">
                <a:latin typeface="Arial" panose="020B0604020202020204" pitchFamily="34" charset="0"/>
                <a:cs typeface="Arial" panose="020B0604020202020204" pitchFamily="34" charset="0"/>
              </a:rPr>
              <a:t>Step 2</a:t>
            </a:r>
            <a:r>
              <a:rPr lang="en-US" sz="1400">
                <a:latin typeface="Arial" panose="020B0604020202020204" pitchFamily="34" charset="0"/>
                <a:cs typeface="Arial" panose="020B0604020202020204" pitchFamily="34" charset="0"/>
              </a:rPr>
              <a:t>. Designate the RADIUS server and configure its address and ports.</a:t>
            </a:r>
          </a:p>
          <a:p>
            <a:br>
              <a:rPr lang="en-US" sz="1400">
                <a:latin typeface="Arial" panose="020B0604020202020204" pitchFamily="34" charset="0"/>
                <a:cs typeface="Arial" panose="020B0604020202020204" pitchFamily="34" charset="0"/>
              </a:rPr>
            </a:br>
            <a:r>
              <a:rPr lang="en-US" sz="1400" b="1">
                <a:latin typeface="Arial" panose="020B0604020202020204" pitchFamily="34" charset="0"/>
                <a:cs typeface="Arial" panose="020B0604020202020204" pitchFamily="34" charset="0"/>
              </a:rPr>
              <a:t>Step 3</a:t>
            </a:r>
            <a:r>
              <a:rPr lang="en-US" sz="1400">
                <a:latin typeface="Arial" panose="020B0604020202020204" pitchFamily="34" charset="0"/>
                <a:cs typeface="Arial" panose="020B0604020202020204" pitchFamily="34" charset="0"/>
              </a:rPr>
              <a:t>. Create an 802.1X port-based authentication method list using the </a:t>
            </a:r>
            <a:r>
              <a:rPr lang="en-US" sz="1400" b="1">
                <a:latin typeface="Arial" panose="020B0604020202020204" pitchFamily="34" charset="0"/>
                <a:cs typeface="Arial" panose="020B0604020202020204" pitchFamily="34" charset="0"/>
              </a:rPr>
              <a:t>aaa authentication dot1x</a:t>
            </a:r>
            <a:r>
              <a:rPr lang="en-US" sz="1400">
                <a:latin typeface="Arial" panose="020B0604020202020204" pitchFamily="34" charset="0"/>
                <a:cs typeface="Arial" panose="020B0604020202020204" pitchFamily="34" charset="0"/>
              </a:rPr>
              <a:t> command.</a:t>
            </a:r>
            <a:br>
              <a:rPr lang="en-US" sz="1400"/>
            </a:br>
            <a:endParaRPr lang="en-US" sz="1400"/>
          </a:p>
        </p:txBody>
      </p:sp>
      <p:pic>
        <p:nvPicPr>
          <p:cNvPr id="9" name="Picture 8">
            <a:extLst>
              <a:ext uri="{FF2B5EF4-FFF2-40B4-BE49-F238E27FC236}">
                <a16:creationId xmlns:a16="http://schemas.microsoft.com/office/drawing/2014/main" id="{6A48249B-51D3-4978-A234-3D55F033B067}"/>
              </a:ext>
            </a:extLst>
          </p:cNvPr>
          <p:cNvPicPr>
            <a:picLocks noChangeAspect="1"/>
          </p:cNvPicPr>
          <p:nvPr/>
        </p:nvPicPr>
        <p:blipFill>
          <a:blip r:embed="rId3"/>
          <a:stretch>
            <a:fillRect/>
          </a:stretch>
        </p:blipFill>
        <p:spPr>
          <a:xfrm>
            <a:off x="2013866" y="2694594"/>
            <a:ext cx="4794991" cy="20488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77</a:t>
            </a:fld>
            <a:endParaRPr lang="en-US"/>
          </a:p>
        </p:txBody>
      </p:sp>
    </p:spTree>
    <p:extLst>
      <p:ext uri="{BB962C8B-B14F-4D97-AF65-F5344CB8AC3E}">
        <p14:creationId xmlns:p14="http://schemas.microsoft.com/office/powerpoint/2010/main" val="30062983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a:t>802.1X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a:t>802.1X Configuration (Cont.)</a:t>
            </a:r>
          </a:p>
        </p:txBody>
      </p:sp>
      <p:sp>
        <p:nvSpPr>
          <p:cNvPr id="5" name="Object4"/>
          <p:cNvSpPr/>
          <p:nvPr/>
        </p:nvSpPr>
        <p:spPr>
          <a:xfrm>
            <a:off x="0" y="667265"/>
            <a:ext cx="8822724" cy="2818885"/>
          </a:xfrm>
          <a:prstGeom prst="rect">
            <a:avLst/>
          </a:prstGeom>
          <a:noFill/>
          <a:ln/>
        </p:spPr>
        <p:txBody>
          <a:bodyPr wrap="square" rtlCol="0" anchor="t"/>
          <a:lstStyle/>
          <a:p>
            <a:br>
              <a:rPr lang="en-US" sz="1400">
                <a:latin typeface="Arial" panose="020B0604020202020204" pitchFamily="34" charset="0"/>
                <a:cs typeface="Arial" panose="020B0604020202020204" pitchFamily="34" charset="0"/>
              </a:rPr>
            </a:br>
            <a:r>
              <a:rPr lang="en-US" sz="1400" b="1">
                <a:latin typeface="Arial" panose="020B0604020202020204" pitchFamily="34" charset="0"/>
                <a:cs typeface="Arial" panose="020B0604020202020204" pitchFamily="34" charset="0"/>
              </a:rPr>
              <a:t>Step 4</a:t>
            </a:r>
            <a:r>
              <a:rPr lang="en-US" sz="1400">
                <a:latin typeface="Arial" panose="020B0604020202020204" pitchFamily="34" charset="0"/>
                <a:cs typeface="Arial" panose="020B0604020202020204" pitchFamily="34" charset="0"/>
              </a:rPr>
              <a:t>. Globally enable 802.1X port-based authentication using the </a:t>
            </a:r>
            <a:r>
              <a:rPr lang="en-US" sz="1400" b="1">
                <a:latin typeface="Arial" panose="020B0604020202020204" pitchFamily="34" charset="0"/>
                <a:cs typeface="Arial" panose="020B0604020202020204" pitchFamily="34" charset="0"/>
              </a:rPr>
              <a:t>dot1x system-auth-control</a:t>
            </a:r>
            <a:r>
              <a:rPr lang="en-US" sz="1400">
                <a:latin typeface="Arial" panose="020B0604020202020204" pitchFamily="34" charset="0"/>
                <a:cs typeface="Arial" panose="020B0604020202020204" pitchFamily="34" charset="0"/>
              </a:rPr>
              <a:t> command.</a:t>
            </a:r>
          </a:p>
          <a:p>
            <a:br>
              <a:rPr lang="en-US" sz="1400">
                <a:latin typeface="Arial" panose="020B0604020202020204" pitchFamily="34" charset="0"/>
                <a:cs typeface="Arial" panose="020B0604020202020204" pitchFamily="34" charset="0"/>
              </a:rPr>
            </a:br>
            <a:r>
              <a:rPr lang="en-US" sz="1400" b="1">
                <a:latin typeface="Arial" panose="020B0604020202020204" pitchFamily="34" charset="0"/>
                <a:cs typeface="Arial" panose="020B0604020202020204" pitchFamily="34" charset="0"/>
              </a:rPr>
              <a:t>Step 5</a:t>
            </a:r>
            <a:r>
              <a:rPr lang="en-US" sz="1400">
                <a:latin typeface="Arial" panose="020B0604020202020204" pitchFamily="34" charset="0"/>
                <a:cs typeface="Arial" panose="020B0604020202020204" pitchFamily="34" charset="0"/>
              </a:rPr>
              <a:t>. Enable port-based authentication on the interface using the </a:t>
            </a:r>
            <a:r>
              <a:rPr lang="en-US" sz="1400" b="1">
                <a:latin typeface="Arial" panose="020B0604020202020204" pitchFamily="34" charset="0"/>
                <a:cs typeface="Arial" panose="020B0604020202020204" pitchFamily="34" charset="0"/>
              </a:rPr>
              <a:t>authentication port-control auto</a:t>
            </a:r>
            <a:r>
              <a:rPr lang="en-US" sz="1400">
                <a:latin typeface="Arial" panose="020B0604020202020204" pitchFamily="34" charset="0"/>
                <a:cs typeface="Arial" panose="020B0604020202020204" pitchFamily="34" charset="0"/>
              </a:rPr>
              <a:t> command.</a:t>
            </a:r>
          </a:p>
          <a:p>
            <a:br>
              <a:rPr lang="en-US" sz="1400">
                <a:latin typeface="Arial" panose="020B0604020202020204" pitchFamily="34" charset="0"/>
                <a:cs typeface="Arial" panose="020B0604020202020204" pitchFamily="34" charset="0"/>
              </a:rPr>
            </a:br>
            <a:r>
              <a:rPr lang="en-US" sz="1400" b="1">
                <a:latin typeface="Arial" panose="020B0604020202020204" pitchFamily="34" charset="0"/>
                <a:cs typeface="Arial" panose="020B0604020202020204" pitchFamily="34" charset="0"/>
              </a:rPr>
              <a:t>Step 6</a:t>
            </a:r>
            <a:r>
              <a:rPr lang="en-US" sz="1400">
                <a:latin typeface="Arial" panose="020B0604020202020204" pitchFamily="34" charset="0"/>
                <a:cs typeface="Arial" panose="020B0604020202020204" pitchFamily="34" charset="0"/>
              </a:rPr>
              <a:t>. Enable 802.1X authentication on the interface using the </a:t>
            </a:r>
            <a:r>
              <a:rPr lang="en-US" sz="1400" b="1">
                <a:latin typeface="Arial" panose="020B0604020202020204" pitchFamily="34" charset="0"/>
                <a:cs typeface="Arial" panose="020B0604020202020204" pitchFamily="34" charset="0"/>
              </a:rPr>
              <a:t>dot1x pae</a:t>
            </a:r>
            <a:r>
              <a:rPr lang="en-US" sz="1400">
                <a:latin typeface="Arial" panose="020B0604020202020204" pitchFamily="34" charset="0"/>
                <a:cs typeface="Arial" panose="020B0604020202020204" pitchFamily="34" charset="0"/>
              </a:rPr>
              <a:t> command. The </a:t>
            </a:r>
            <a:r>
              <a:rPr lang="en-US" sz="1400" b="1">
                <a:latin typeface="Arial" panose="020B0604020202020204" pitchFamily="34" charset="0"/>
                <a:cs typeface="Arial" panose="020B0604020202020204" pitchFamily="34" charset="0"/>
              </a:rPr>
              <a:t>authenticator</a:t>
            </a:r>
            <a:r>
              <a:rPr lang="en-US" sz="1400">
                <a:latin typeface="Arial" panose="020B0604020202020204" pitchFamily="34" charset="0"/>
                <a:cs typeface="Arial" panose="020B0604020202020204" pitchFamily="34" charset="0"/>
              </a:rPr>
              <a:t> options sets the Port Access Entity (PAE) type so the interface acts only as an authenticator and will not respond to any messages meant for a supplicant.</a:t>
            </a:r>
          </a:p>
        </p:txBody>
      </p:sp>
      <p:pic>
        <p:nvPicPr>
          <p:cNvPr id="9" name="Picture 8">
            <a:extLst>
              <a:ext uri="{FF2B5EF4-FFF2-40B4-BE49-F238E27FC236}">
                <a16:creationId xmlns:a16="http://schemas.microsoft.com/office/drawing/2014/main" id="{1E005740-2286-4D6B-BA98-709A3C92EC0C}"/>
              </a:ext>
            </a:extLst>
          </p:cNvPr>
          <p:cNvPicPr>
            <a:picLocks noChangeAspect="1"/>
          </p:cNvPicPr>
          <p:nvPr/>
        </p:nvPicPr>
        <p:blipFill>
          <a:blip r:embed="rId3"/>
          <a:stretch>
            <a:fillRect/>
          </a:stretch>
        </p:blipFill>
        <p:spPr>
          <a:xfrm>
            <a:off x="2013866" y="2694594"/>
            <a:ext cx="4794991" cy="20488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78</a:t>
            </a:fld>
            <a:endParaRPr lang="en-US"/>
          </a:p>
        </p:txBody>
      </p:sp>
    </p:spTree>
    <p:extLst>
      <p:ext uri="{BB962C8B-B14F-4D97-AF65-F5344CB8AC3E}">
        <p14:creationId xmlns:p14="http://schemas.microsoft.com/office/powerpoint/2010/main" val="1297085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407993711"/>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79</Slides>
  <Notes>78</Notes>
  <HiddenSlides>13</HiddenSlides>
  <ScaleCrop>false</ScaleCrop>
  <HeadingPairs>
    <vt:vector size="4" baseType="variant">
      <vt:variant>
        <vt:lpstr>Theme</vt:lpstr>
      </vt:variant>
      <vt:variant>
        <vt:i4>4</vt:i4>
      </vt:variant>
      <vt:variant>
        <vt:lpstr>Slide Titles</vt:lpstr>
      </vt:variant>
      <vt:variant>
        <vt:i4>79</vt:i4>
      </vt:variant>
    </vt:vector>
  </HeadingPairs>
  <TitlesOfParts>
    <vt:vector size="83" baseType="lpstr">
      <vt:lpstr>Office Theme</vt:lpstr>
      <vt:lpstr>Default Theme</vt:lpstr>
      <vt:lpstr>1_Office Theme</vt:lpstr>
      <vt:lpstr>1_Default Theme</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Snort IPS Rule Alarms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2020-12-08T18:27:12Z</dcterms:created>
  <dcterms:modified xsi:type="dcterms:W3CDTF">2025-02-27T08:58:04Z</dcterms:modified>
</cp:coreProperties>
</file>
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tags/tag3.xml" ContentType="application/vnd.openxmlformats-officedocument.presentationml.tags+xml"/>
  <Override PartName="/ppt/notesSlides/notesSlide9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95"/>
  </p:notesMasterIdLst>
  <p:sldIdLst>
    <p:sldId id="256" r:id="rId3"/>
    <p:sldId id="925" r:id="rId4"/>
    <p:sldId id="263" r:id="rId5"/>
    <p:sldId id="264" r:id="rId6"/>
    <p:sldId id="266" r:id="rId7"/>
    <p:sldId id="1081" r:id="rId8"/>
    <p:sldId id="1082" r:id="rId9"/>
    <p:sldId id="1083" r:id="rId10"/>
    <p:sldId id="267" r:id="rId11"/>
    <p:sldId id="269" r:id="rId12"/>
    <p:sldId id="270" r:id="rId13"/>
    <p:sldId id="1073" r:id="rId14"/>
    <p:sldId id="1074" r:id="rId15"/>
    <p:sldId id="271" r:id="rId16"/>
    <p:sldId id="272" r:id="rId17"/>
    <p:sldId id="273" r:id="rId18"/>
    <p:sldId id="1086" r:id="rId19"/>
    <p:sldId id="1075" r:id="rId20"/>
    <p:sldId id="274" r:id="rId21"/>
    <p:sldId id="1076" r:id="rId22"/>
    <p:sldId id="1077" r:id="rId23"/>
    <p:sldId id="275" r:id="rId24"/>
    <p:sldId id="1078" r:id="rId25"/>
    <p:sldId id="1087" r:id="rId26"/>
    <p:sldId id="1097" r:id="rId27"/>
    <p:sldId id="1098" r:id="rId28"/>
    <p:sldId id="1099" r:id="rId29"/>
    <p:sldId id="1100" r:id="rId30"/>
    <p:sldId id="1101" r:id="rId31"/>
    <p:sldId id="1102" r:id="rId32"/>
    <p:sldId id="1103" r:id="rId33"/>
    <p:sldId id="1104" r:id="rId34"/>
    <p:sldId id="1105" r:id="rId35"/>
    <p:sldId id="1106" r:id="rId36"/>
    <p:sldId id="320" r:id="rId37"/>
    <p:sldId id="1107" r:id="rId38"/>
    <p:sldId id="322" r:id="rId39"/>
    <p:sldId id="321" r:id="rId40"/>
    <p:sldId id="1084" r:id="rId41"/>
    <p:sldId id="1108" r:id="rId42"/>
    <p:sldId id="1109" r:id="rId43"/>
    <p:sldId id="323" r:id="rId44"/>
    <p:sldId id="1110" r:id="rId45"/>
    <p:sldId id="278" r:id="rId46"/>
    <p:sldId id="280" r:id="rId47"/>
    <p:sldId id="1112" r:id="rId48"/>
    <p:sldId id="282" r:id="rId49"/>
    <p:sldId id="283" r:id="rId50"/>
    <p:sldId id="324" r:id="rId51"/>
    <p:sldId id="284" r:id="rId52"/>
    <p:sldId id="1113" r:id="rId53"/>
    <p:sldId id="285" r:id="rId54"/>
    <p:sldId id="1114" r:id="rId55"/>
    <p:sldId id="286" r:id="rId56"/>
    <p:sldId id="325" r:id="rId57"/>
    <p:sldId id="287" r:id="rId58"/>
    <p:sldId id="289" r:id="rId59"/>
    <p:sldId id="290" r:id="rId60"/>
    <p:sldId id="291" r:id="rId61"/>
    <p:sldId id="1115" r:id="rId62"/>
    <p:sldId id="326" r:id="rId63"/>
    <p:sldId id="292" r:id="rId64"/>
    <p:sldId id="1117" r:id="rId65"/>
    <p:sldId id="1118" r:id="rId66"/>
    <p:sldId id="293" r:id="rId67"/>
    <p:sldId id="1119" r:id="rId68"/>
    <p:sldId id="294" r:id="rId69"/>
    <p:sldId id="295" r:id="rId70"/>
    <p:sldId id="1120" r:id="rId71"/>
    <p:sldId id="296" r:id="rId72"/>
    <p:sldId id="1121" r:id="rId73"/>
    <p:sldId id="298" r:id="rId74"/>
    <p:sldId id="299" r:id="rId75"/>
    <p:sldId id="300" r:id="rId76"/>
    <p:sldId id="1122" r:id="rId77"/>
    <p:sldId id="1123" r:id="rId78"/>
    <p:sldId id="1124" r:id="rId79"/>
    <p:sldId id="302" r:id="rId80"/>
    <p:sldId id="303" r:id="rId81"/>
    <p:sldId id="1125" r:id="rId82"/>
    <p:sldId id="305" r:id="rId83"/>
    <p:sldId id="306" r:id="rId84"/>
    <p:sldId id="307" r:id="rId85"/>
    <p:sldId id="308" r:id="rId86"/>
    <p:sldId id="1126" r:id="rId87"/>
    <p:sldId id="310" r:id="rId88"/>
    <p:sldId id="311" r:id="rId89"/>
    <p:sldId id="1127" r:id="rId90"/>
    <p:sldId id="312" r:id="rId91"/>
    <p:sldId id="313" r:id="rId92"/>
    <p:sldId id="1128" r:id="rId93"/>
    <p:sldId id="1133" r:id="rId9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09"/>
    <p:restoredTop sz="96327" autoAdjust="0"/>
  </p:normalViewPr>
  <p:slideViewPr>
    <p:cSldViewPr snapToGrid="0" snapToObjects="1">
      <p:cViewPr varScale="1">
        <p:scale>
          <a:sx n="174" d="100"/>
          <a:sy n="174" d="100"/>
        </p:scale>
        <p:origin x="168" y="1080"/>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D84D7E1C-D458-FE4F-A0A3-2249A13BA0CA}"/>
    <pc:docChg chg="custSel modSld">
      <pc:chgData name="Baráth, Július" userId="aebde9b9-dccc-4475-a9ac-c05e78323d7a" providerId="ADAL" clId="{D84D7E1C-D458-FE4F-A0A3-2249A13BA0CA}" dt="2023-05-10T08:16:14.771" v="96" actId="20577"/>
      <pc:docMkLst>
        <pc:docMk/>
      </pc:docMkLst>
      <pc:sldChg chg="modSp mod">
        <pc:chgData name="Baráth, Július" userId="aebde9b9-dccc-4475-a9ac-c05e78323d7a" providerId="ADAL" clId="{D84D7E1C-D458-FE4F-A0A3-2249A13BA0CA}" dt="2023-05-09T04:44:12.640" v="5" actId="20577"/>
        <pc:sldMkLst>
          <pc:docMk/>
          <pc:sldMk cId="0" sldId="264"/>
        </pc:sldMkLst>
      </pc:sldChg>
      <pc:sldChg chg="modSp mod">
        <pc:chgData name="Baráth, Július" userId="aebde9b9-dccc-4475-a9ac-c05e78323d7a" providerId="ADAL" clId="{D84D7E1C-D458-FE4F-A0A3-2249A13BA0CA}" dt="2023-05-09T04:58:48.577" v="10" actId="1036"/>
        <pc:sldMkLst>
          <pc:docMk/>
          <pc:sldMk cId="0" sldId="275"/>
        </pc:sldMkLst>
      </pc:sldChg>
      <pc:sldChg chg="addSp modSp mod">
        <pc:chgData name="Baráth, Július" userId="aebde9b9-dccc-4475-a9ac-c05e78323d7a" providerId="ADAL" clId="{D84D7E1C-D458-FE4F-A0A3-2249A13BA0CA}" dt="2023-05-10T08:16:14.771" v="96" actId="20577"/>
        <pc:sldMkLst>
          <pc:docMk/>
          <pc:sldMk cId="1115704639" sldId="278"/>
        </pc:sldMkLst>
      </pc:sldChg>
      <pc:sldChg chg="modSp mod">
        <pc:chgData name="Baráth, Július" userId="aebde9b9-dccc-4475-a9ac-c05e78323d7a" providerId="ADAL" clId="{D84D7E1C-D458-FE4F-A0A3-2249A13BA0CA}" dt="2023-05-09T06:20:23.294" v="13" actId="115"/>
        <pc:sldMkLst>
          <pc:docMk/>
          <pc:sldMk cId="803534978" sldId="292"/>
        </pc:sldMkLst>
      </pc:sldChg>
      <pc:sldChg chg="modSp mod">
        <pc:chgData name="Baráth, Július" userId="aebde9b9-dccc-4475-a9ac-c05e78323d7a" providerId="ADAL" clId="{D84D7E1C-D458-FE4F-A0A3-2249A13BA0CA}" dt="2023-05-09T06:24:32.704" v="17" actId="113"/>
        <pc:sldMkLst>
          <pc:docMk/>
          <pc:sldMk cId="1232724781" sldId="295"/>
        </pc:sldMkLst>
      </pc:sldChg>
      <pc:sldChg chg="modSp mod">
        <pc:chgData name="Baráth, Július" userId="aebde9b9-dccc-4475-a9ac-c05e78323d7a" providerId="ADAL" clId="{D84D7E1C-D458-FE4F-A0A3-2249A13BA0CA}" dt="2023-05-09T06:29:26.325" v="18" actId="113"/>
        <pc:sldMkLst>
          <pc:docMk/>
          <pc:sldMk cId="2826582143" sldId="311"/>
        </pc:sldMkLst>
      </pc:sldChg>
      <pc:sldChg chg="modSp mod">
        <pc:chgData name="Baráth, Július" userId="aebde9b9-dccc-4475-a9ac-c05e78323d7a" providerId="ADAL" clId="{D84D7E1C-D458-FE4F-A0A3-2249A13BA0CA}" dt="2023-05-09T04:53:56.906" v="8" actId="115"/>
        <pc:sldMkLst>
          <pc:docMk/>
          <pc:sldMk cId="746898668" sldId="1076"/>
        </pc:sldMkLst>
      </pc:sldChg>
      <pc:sldChg chg="modSp mod">
        <pc:chgData name="Baráth, Július" userId="aebde9b9-dccc-4475-a9ac-c05e78323d7a" providerId="ADAL" clId="{D84D7E1C-D458-FE4F-A0A3-2249A13BA0CA}" dt="2023-05-09T04:58:54.845" v="11"/>
        <pc:sldMkLst>
          <pc:docMk/>
          <pc:sldMk cId="1073816820" sldId="1078"/>
        </pc:sldMkLst>
      </pc:sldChg>
      <pc:sldChg chg="addSp modSp mod">
        <pc:chgData name="Baráth, Július" userId="aebde9b9-dccc-4475-a9ac-c05e78323d7a" providerId="ADAL" clId="{D84D7E1C-D458-FE4F-A0A3-2249A13BA0CA}" dt="2023-05-10T08:15:47.356" v="53" actId="20577"/>
        <pc:sldMkLst>
          <pc:docMk/>
          <pc:sldMk cId="3346017130" sldId="1112"/>
        </pc:sldMkLst>
      </pc:sldChg>
      <pc:sldChg chg="modSp mod">
        <pc:chgData name="Baráth, Július" userId="aebde9b9-dccc-4475-a9ac-c05e78323d7a" providerId="ADAL" clId="{D84D7E1C-D458-FE4F-A0A3-2249A13BA0CA}" dt="2023-05-09T06:21:24.877" v="15" actId="113"/>
        <pc:sldMkLst>
          <pc:docMk/>
          <pc:sldMk cId="1053286084" sldId="1118"/>
        </pc:sldMkLst>
      </pc:sldChg>
    </pc:docChg>
  </pc:docChgLst>
  <pc:docChgLst>
    <pc:chgData name="Baráth, Július" userId="aebde9b9-dccc-4475-a9ac-c05e78323d7a" providerId="ADAL" clId="{91598345-2E1A-4640-9B91-33DA173EB6C5}"/>
    <pc:docChg chg="addSld delSld modSld">
      <pc:chgData name="Baráth, Július" userId="aebde9b9-dccc-4475-a9ac-c05e78323d7a" providerId="ADAL" clId="{91598345-2E1A-4640-9B91-33DA173EB6C5}" dt="2023-02-07T07:15:04.998" v="7" actId="2696"/>
      <pc:docMkLst>
        <pc:docMk/>
      </pc:docMkLst>
      <pc:sldChg chg="del">
        <pc:chgData name="Baráth, Július" userId="aebde9b9-dccc-4475-a9ac-c05e78323d7a" providerId="ADAL" clId="{91598345-2E1A-4640-9B91-33DA173EB6C5}" dt="2023-02-07T07:13:18.730" v="1" actId="2696"/>
        <pc:sldMkLst>
          <pc:docMk/>
          <pc:sldMk cId="0" sldId="262"/>
        </pc:sldMkLst>
      </pc:sldChg>
      <pc:sldChg chg="del">
        <pc:chgData name="Baráth, Július" userId="aebde9b9-dccc-4475-a9ac-c05e78323d7a" providerId="ADAL" clId="{91598345-2E1A-4640-9B91-33DA173EB6C5}" dt="2023-02-07T07:13:23.574" v="2" actId="2696"/>
        <pc:sldMkLst>
          <pc:docMk/>
          <pc:sldMk cId="0" sldId="265"/>
        </pc:sldMkLst>
      </pc:sldChg>
      <pc:sldChg chg="del">
        <pc:chgData name="Baráth, Július" userId="aebde9b9-dccc-4475-a9ac-c05e78323d7a" providerId="ADAL" clId="{91598345-2E1A-4640-9B91-33DA173EB6C5}" dt="2023-02-07T07:13:28.232" v="3" actId="2696"/>
        <pc:sldMkLst>
          <pc:docMk/>
          <pc:sldMk cId="0" sldId="268"/>
        </pc:sldMkLst>
      </pc:sldChg>
      <pc:sldChg chg="del">
        <pc:chgData name="Baráth, Július" userId="aebde9b9-dccc-4475-a9ac-c05e78323d7a" providerId="ADAL" clId="{91598345-2E1A-4640-9B91-33DA173EB6C5}" dt="2023-02-07T07:13:55.852" v="4" actId="2696"/>
        <pc:sldMkLst>
          <pc:docMk/>
          <pc:sldMk cId="0" sldId="276"/>
        </pc:sldMkLst>
      </pc:sldChg>
      <pc:sldChg chg="del">
        <pc:chgData name="Baráth, Július" userId="aebde9b9-dccc-4475-a9ac-c05e78323d7a" providerId="ADAL" clId="{91598345-2E1A-4640-9B91-33DA173EB6C5}" dt="2023-02-07T07:13:55.852" v="4" actId="2696"/>
        <pc:sldMkLst>
          <pc:docMk/>
          <pc:sldMk cId="0" sldId="277"/>
        </pc:sldMkLst>
      </pc:sldChg>
      <pc:sldChg chg="add">
        <pc:chgData name="Baráth, Július" userId="aebde9b9-dccc-4475-a9ac-c05e78323d7a" providerId="ADAL" clId="{91598345-2E1A-4640-9B91-33DA173EB6C5}" dt="2023-02-07T07:13:10.093" v="0"/>
        <pc:sldMkLst>
          <pc:docMk/>
          <pc:sldMk cId="1115704639" sldId="278"/>
        </pc:sldMkLst>
      </pc:sldChg>
      <pc:sldChg chg="del">
        <pc:chgData name="Baráth, Július" userId="aebde9b9-dccc-4475-a9ac-c05e78323d7a" providerId="ADAL" clId="{91598345-2E1A-4640-9B91-33DA173EB6C5}" dt="2023-02-07T07:13:18.730" v="1" actId="2696"/>
        <pc:sldMkLst>
          <pc:docMk/>
          <pc:sldMk cId="0" sldId="279"/>
        </pc:sldMkLst>
      </pc:sldChg>
      <pc:sldChg chg="add">
        <pc:chgData name="Baráth, Július" userId="aebde9b9-dccc-4475-a9ac-c05e78323d7a" providerId="ADAL" clId="{91598345-2E1A-4640-9B91-33DA173EB6C5}" dt="2023-02-07T07:13:10.093" v="0"/>
        <pc:sldMkLst>
          <pc:docMk/>
          <pc:sldMk cId="407114619" sldId="280"/>
        </pc:sldMkLst>
      </pc:sldChg>
      <pc:sldChg chg="add">
        <pc:chgData name="Baráth, Július" userId="aebde9b9-dccc-4475-a9ac-c05e78323d7a" providerId="ADAL" clId="{91598345-2E1A-4640-9B91-33DA173EB6C5}" dt="2023-02-07T07:13:10.093" v="0"/>
        <pc:sldMkLst>
          <pc:docMk/>
          <pc:sldMk cId="390145462" sldId="282"/>
        </pc:sldMkLst>
      </pc:sldChg>
      <pc:sldChg chg="add">
        <pc:chgData name="Baráth, Július" userId="aebde9b9-dccc-4475-a9ac-c05e78323d7a" providerId="ADAL" clId="{91598345-2E1A-4640-9B91-33DA173EB6C5}" dt="2023-02-07T07:13:10.093" v="0"/>
        <pc:sldMkLst>
          <pc:docMk/>
          <pc:sldMk cId="462546939" sldId="283"/>
        </pc:sldMkLst>
      </pc:sldChg>
      <pc:sldChg chg="add">
        <pc:chgData name="Baráth, Július" userId="aebde9b9-dccc-4475-a9ac-c05e78323d7a" providerId="ADAL" clId="{91598345-2E1A-4640-9B91-33DA173EB6C5}" dt="2023-02-07T07:13:10.093" v="0"/>
        <pc:sldMkLst>
          <pc:docMk/>
          <pc:sldMk cId="1283130863" sldId="284"/>
        </pc:sldMkLst>
      </pc:sldChg>
      <pc:sldChg chg="add">
        <pc:chgData name="Baráth, Július" userId="aebde9b9-dccc-4475-a9ac-c05e78323d7a" providerId="ADAL" clId="{91598345-2E1A-4640-9B91-33DA173EB6C5}" dt="2023-02-07T07:13:10.093" v="0"/>
        <pc:sldMkLst>
          <pc:docMk/>
          <pc:sldMk cId="1567824134" sldId="285"/>
        </pc:sldMkLst>
      </pc:sldChg>
      <pc:sldChg chg="add">
        <pc:chgData name="Baráth, Július" userId="aebde9b9-dccc-4475-a9ac-c05e78323d7a" providerId="ADAL" clId="{91598345-2E1A-4640-9B91-33DA173EB6C5}" dt="2023-02-07T07:13:10.093" v="0"/>
        <pc:sldMkLst>
          <pc:docMk/>
          <pc:sldMk cId="2797006113" sldId="286"/>
        </pc:sldMkLst>
      </pc:sldChg>
      <pc:sldChg chg="add">
        <pc:chgData name="Baráth, Július" userId="aebde9b9-dccc-4475-a9ac-c05e78323d7a" providerId="ADAL" clId="{91598345-2E1A-4640-9B91-33DA173EB6C5}" dt="2023-02-07T07:13:10.093" v="0"/>
        <pc:sldMkLst>
          <pc:docMk/>
          <pc:sldMk cId="93872399" sldId="287"/>
        </pc:sldMkLst>
      </pc:sldChg>
      <pc:sldChg chg="add">
        <pc:chgData name="Baráth, Július" userId="aebde9b9-dccc-4475-a9ac-c05e78323d7a" providerId="ADAL" clId="{91598345-2E1A-4640-9B91-33DA173EB6C5}" dt="2023-02-07T07:13:10.093" v="0"/>
        <pc:sldMkLst>
          <pc:docMk/>
          <pc:sldMk cId="2197446153" sldId="289"/>
        </pc:sldMkLst>
      </pc:sldChg>
      <pc:sldChg chg="add">
        <pc:chgData name="Baráth, Július" userId="aebde9b9-dccc-4475-a9ac-c05e78323d7a" providerId="ADAL" clId="{91598345-2E1A-4640-9B91-33DA173EB6C5}" dt="2023-02-07T07:13:10.093" v="0"/>
        <pc:sldMkLst>
          <pc:docMk/>
          <pc:sldMk cId="1078813356" sldId="290"/>
        </pc:sldMkLst>
      </pc:sldChg>
      <pc:sldChg chg="add">
        <pc:chgData name="Baráth, Július" userId="aebde9b9-dccc-4475-a9ac-c05e78323d7a" providerId="ADAL" clId="{91598345-2E1A-4640-9B91-33DA173EB6C5}" dt="2023-02-07T07:13:10.093" v="0"/>
        <pc:sldMkLst>
          <pc:docMk/>
          <pc:sldMk cId="279525630" sldId="291"/>
        </pc:sldMkLst>
      </pc:sldChg>
      <pc:sldChg chg="add">
        <pc:chgData name="Baráth, Július" userId="aebde9b9-dccc-4475-a9ac-c05e78323d7a" providerId="ADAL" clId="{91598345-2E1A-4640-9B91-33DA173EB6C5}" dt="2023-02-07T07:13:10.093" v="0"/>
        <pc:sldMkLst>
          <pc:docMk/>
          <pc:sldMk cId="803534978" sldId="292"/>
        </pc:sldMkLst>
      </pc:sldChg>
      <pc:sldChg chg="add">
        <pc:chgData name="Baráth, Július" userId="aebde9b9-dccc-4475-a9ac-c05e78323d7a" providerId="ADAL" clId="{91598345-2E1A-4640-9B91-33DA173EB6C5}" dt="2023-02-07T07:13:10.093" v="0"/>
        <pc:sldMkLst>
          <pc:docMk/>
          <pc:sldMk cId="262535010" sldId="293"/>
        </pc:sldMkLst>
      </pc:sldChg>
      <pc:sldChg chg="add">
        <pc:chgData name="Baráth, Július" userId="aebde9b9-dccc-4475-a9ac-c05e78323d7a" providerId="ADAL" clId="{91598345-2E1A-4640-9B91-33DA173EB6C5}" dt="2023-02-07T07:13:10.093" v="0"/>
        <pc:sldMkLst>
          <pc:docMk/>
          <pc:sldMk cId="2408132506" sldId="294"/>
        </pc:sldMkLst>
      </pc:sldChg>
      <pc:sldChg chg="add">
        <pc:chgData name="Baráth, Július" userId="aebde9b9-dccc-4475-a9ac-c05e78323d7a" providerId="ADAL" clId="{91598345-2E1A-4640-9B91-33DA173EB6C5}" dt="2023-02-07T07:13:10.093" v="0"/>
        <pc:sldMkLst>
          <pc:docMk/>
          <pc:sldMk cId="1232724781" sldId="295"/>
        </pc:sldMkLst>
      </pc:sldChg>
      <pc:sldChg chg="add">
        <pc:chgData name="Baráth, Július" userId="aebde9b9-dccc-4475-a9ac-c05e78323d7a" providerId="ADAL" clId="{91598345-2E1A-4640-9B91-33DA173EB6C5}" dt="2023-02-07T07:13:10.093" v="0"/>
        <pc:sldMkLst>
          <pc:docMk/>
          <pc:sldMk cId="1161268415" sldId="296"/>
        </pc:sldMkLst>
      </pc:sldChg>
      <pc:sldChg chg="add">
        <pc:chgData name="Baráth, Július" userId="aebde9b9-dccc-4475-a9ac-c05e78323d7a" providerId="ADAL" clId="{91598345-2E1A-4640-9B91-33DA173EB6C5}" dt="2023-02-07T07:13:10.093" v="0"/>
        <pc:sldMkLst>
          <pc:docMk/>
          <pc:sldMk cId="3729259741" sldId="298"/>
        </pc:sldMkLst>
      </pc:sldChg>
      <pc:sldChg chg="add">
        <pc:chgData name="Baráth, Július" userId="aebde9b9-dccc-4475-a9ac-c05e78323d7a" providerId="ADAL" clId="{91598345-2E1A-4640-9B91-33DA173EB6C5}" dt="2023-02-07T07:13:10.093" v="0"/>
        <pc:sldMkLst>
          <pc:docMk/>
          <pc:sldMk cId="813007743" sldId="299"/>
        </pc:sldMkLst>
      </pc:sldChg>
      <pc:sldChg chg="add">
        <pc:chgData name="Baráth, Július" userId="aebde9b9-dccc-4475-a9ac-c05e78323d7a" providerId="ADAL" clId="{91598345-2E1A-4640-9B91-33DA173EB6C5}" dt="2023-02-07T07:13:10.093" v="0"/>
        <pc:sldMkLst>
          <pc:docMk/>
          <pc:sldMk cId="680197128" sldId="300"/>
        </pc:sldMkLst>
      </pc:sldChg>
      <pc:sldChg chg="add">
        <pc:chgData name="Baráth, Július" userId="aebde9b9-dccc-4475-a9ac-c05e78323d7a" providerId="ADAL" clId="{91598345-2E1A-4640-9B91-33DA173EB6C5}" dt="2023-02-07T07:13:10.093" v="0"/>
        <pc:sldMkLst>
          <pc:docMk/>
          <pc:sldMk cId="2539389132" sldId="302"/>
        </pc:sldMkLst>
      </pc:sldChg>
      <pc:sldChg chg="add">
        <pc:chgData name="Baráth, Július" userId="aebde9b9-dccc-4475-a9ac-c05e78323d7a" providerId="ADAL" clId="{91598345-2E1A-4640-9B91-33DA173EB6C5}" dt="2023-02-07T07:13:10.093" v="0"/>
        <pc:sldMkLst>
          <pc:docMk/>
          <pc:sldMk cId="3959618586" sldId="303"/>
        </pc:sldMkLst>
      </pc:sldChg>
      <pc:sldChg chg="add">
        <pc:chgData name="Baráth, Július" userId="aebde9b9-dccc-4475-a9ac-c05e78323d7a" providerId="ADAL" clId="{91598345-2E1A-4640-9B91-33DA173EB6C5}" dt="2023-02-07T07:13:10.093" v="0"/>
        <pc:sldMkLst>
          <pc:docMk/>
          <pc:sldMk cId="3856772333" sldId="305"/>
        </pc:sldMkLst>
      </pc:sldChg>
      <pc:sldChg chg="add">
        <pc:chgData name="Baráth, Július" userId="aebde9b9-dccc-4475-a9ac-c05e78323d7a" providerId="ADAL" clId="{91598345-2E1A-4640-9B91-33DA173EB6C5}" dt="2023-02-07T07:13:10.093" v="0"/>
        <pc:sldMkLst>
          <pc:docMk/>
          <pc:sldMk cId="202878491" sldId="306"/>
        </pc:sldMkLst>
      </pc:sldChg>
      <pc:sldChg chg="add">
        <pc:chgData name="Baráth, Július" userId="aebde9b9-dccc-4475-a9ac-c05e78323d7a" providerId="ADAL" clId="{91598345-2E1A-4640-9B91-33DA173EB6C5}" dt="2023-02-07T07:13:10.093" v="0"/>
        <pc:sldMkLst>
          <pc:docMk/>
          <pc:sldMk cId="3711685276" sldId="307"/>
        </pc:sldMkLst>
      </pc:sldChg>
      <pc:sldChg chg="add">
        <pc:chgData name="Baráth, Július" userId="aebde9b9-dccc-4475-a9ac-c05e78323d7a" providerId="ADAL" clId="{91598345-2E1A-4640-9B91-33DA173EB6C5}" dt="2023-02-07T07:13:10.093" v="0"/>
        <pc:sldMkLst>
          <pc:docMk/>
          <pc:sldMk cId="2524741119" sldId="308"/>
        </pc:sldMkLst>
      </pc:sldChg>
      <pc:sldChg chg="add">
        <pc:chgData name="Baráth, Július" userId="aebde9b9-dccc-4475-a9ac-c05e78323d7a" providerId="ADAL" clId="{91598345-2E1A-4640-9B91-33DA173EB6C5}" dt="2023-02-07T07:13:10.093" v="0"/>
        <pc:sldMkLst>
          <pc:docMk/>
          <pc:sldMk cId="1536296965" sldId="310"/>
        </pc:sldMkLst>
      </pc:sldChg>
      <pc:sldChg chg="add">
        <pc:chgData name="Baráth, Július" userId="aebde9b9-dccc-4475-a9ac-c05e78323d7a" providerId="ADAL" clId="{91598345-2E1A-4640-9B91-33DA173EB6C5}" dt="2023-02-07T07:13:10.093" v="0"/>
        <pc:sldMkLst>
          <pc:docMk/>
          <pc:sldMk cId="2826582143" sldId="311"/>
        </pc:sldMkLst>
      </pc:sldChg>
      <pc:sldChg chg="add">
        <pc:chgData name="Baráth, Július" userId="aebde9b9-dccc-4475-a9ac-c05e78323d7a" providerId="ADAL" clId="{91598345-2E1A-4640-9B91-33DA173EB6C5}" dt="2023-02-07T07:13:10.093" v="0"/>
        <pc:sldMkLst>
          <pc:docMk/>
          <pc:sldMk cId="4235799010" sldId="312"/>
        </pc:sldMkLst>
      </pc:sldChg>
      <pc:sldChg chg="add">
        <pc:chgData name="Baráth, Július" userId="aebde9b9-dccc-4475-a9ac-c05e78323d7a" providerId="ADAL" clId="{91598345-2E1A-4640-9B91-33DA173EB6C5}" dt="2023-02-07T07:13:10.093" v="0"/>
        <pc:sldMkLst>
          <pc:docMk/>
          <pc:sldMk cId="1438236539" sldId="313"/>
        </pc:sldMkLst>
      </pc:sldChg>
      <pc:sldChg chg="add del">
        <pc:chgData name="Baráth, Július" userId="aebde9b9-dccc-4475-a9ac-c05e78323d7a" providerId="ADAL" clId="{91598345-2E1A-4640-9B91-33DA173EB6C5}" dt="2023-02-07T07:15:04.998" v="7" actId="2696"/>
        <pc:sldMkLst>
          <pc:docMk/>
          <pc:sldMk cId="1602530583" sldId="315"/>
        </pc:sldMkLst>
      </pc:sldChg>
      <pc:sldChg chg="add del">
        <pc:chgData name="Baráth, Július" userId="aebde9b9-dccc-4475-a9ac-c05e78323d7a" providerId="ADAL" clId="{91598345-2E1A-4640-9B91-33DA173EB6C5}" dt="2023-02-07T07:15:04.998" v="7" actId="2696"/>
        <pc:sldMkLst>
          <pc:docMk/>
          <pc:sldMk cId="1045282652" sldId="316"/>
        </pc:sldMkLst>
      </pc:sldChg>
      <pc:sldChg chg="add del">
        <pc:chgData name="Baráth, Július" userId="aebde9b9-dccc-4475-a9ac-c05e78323d7a" providerId="ADAL" clId="{91598345-2E1A-4640-9B91-33DA173EB6C5}" dt="2023-02-07T07:15:04.998" v="7" actId="2696"/>
        <pc:sldMkLst>
          <pc:docMk/>
          <pc:sldMk cId="1825221121" sldId="317"/>
        </pc:sldMkLst>
      </pc:sldChg>
      <pc:sldChg chg="add del">
        <pc:chgData name="Baráth, Július" userId="aebde9b9-dccc-4475-a9ac-c05e78323d7a" providerId="ADAL" clId="{91598345-2E1A-4640-9B91-33DA173EB6C5}" dt="2023-02-07T07:15:04.998" v="7" actId="2696"/>
        <pc:sldMkLst>
          <pc:docMk/>
          <pc:sldMk cId="4083499475" sldId="318"/>
        </pc:sldMkLst>
      </pc:sldChg>
      <pc:sldChg chg="add">
        <pc:chgData name="Baráth, Július" userId="aebde9b9-dccc-4475-a9ac-c05e78323d7a" providerId="ADAL" clId="{91598345-2E1A-4640-9B91-33DA173EB6C5}" dt="2023-02-07T07:13:10.093" v="0"/>
        <pc:sldMkLst>
          <pc:docMk/>
          <pc:sldMk cId="320424310" sldId="320"/>
        </pc:sldMkLst>
      </pc:sldChg>
      <pc:sldChg chg="add">
        <pc:chgData name="Baráth, Július" userId="aebde9b9-dccc-4475-a9ac-c05e78323d7a" providerId="ADAL" clId="{91598345-2E1A-4640-9B91-33DA173EB6C5}" dt="2023-02-07T07:13:10.093" v="0"/>
        <pc:sldMkLst>
          <pc:docMk/>
          <pc:sldMk cId="2895481517" sldId="321"/>
        </pc:sldMkLst>
      </pc:sldChg>
      <pc:sldChg chg="add">
        <pc:chgData name="Baráth, Július" userId="aebde9b9-dccc-4475-a9ac-c05e78323d7a" providerId="ADAL" clId="{91598345-2E1A-4640-9B91-33DA173EB6C5}" dt="2023-02-07T07:13:10.093" v="0"/>
        <pc:sldMkLst>
          <pc:docMk/>
          <pc:sldMk cId="1019230810" sldId="322"/>
        </pc:sldMkLst>
      </pc:sldChg>
      <pc:sldChg chg="add">
        <pc:chgData name="Baráth, Július" userId="aebde9b9-dccc-4475-a9ac-c05e78323d7a" providerId="ADAL" clId="{91598345-2E1A-4640-9B91-33DA173EB6C5}" dt="2023-02-07T07:13:10.093" v="0"/>
        <pc:sldMkLst>
          <pc:docMk/>
          <pc:sldMk cId="755267775" sldId="323"/>
        </pc:sldMkLst>
      </pc:sldChg>
      <pc:sldChg chg="add">
        <pc:chgData name="Baráth, Július" userId="aebde9b9-dccc-4475-a9ac-c05e78323d7a" providerId="ADAL" clId="{91598345-2E1A-4640-9B91-33DA173EB6C5}" dt="2023-02-07T07:13:10.093" v="0"/>
        <pc:sldMkLst>
          <pc:docMk/>
          <pc:sldMk cId="2167442010" sldId="324"/>
        </pc:sldMkLst>
      </pc:sldChg>
      <pc:sldChg chg="add">
        <pc:chgData name="Baráth, Július" userId="aebde9b9-dccc-4475-a9ac-c05e78323d7a" providerId="ADAL" clId="{91598345-2E1A-4640-9B91-33DA173EB6C5}" dt="2023-02-07T07:13:10.093" v="0"/>
        <pc:sldMkLst>
          <pc:docMk/>
          <pc:sldMk cId="3939502906" sldId="325"/>
        </pc:sldMkLst>
      </pc:sldChg>
      <pc:sldChg chg="add">
        <pc:chgData name="Baráth, Július" userId="aebde9b9-dccc-4475-a9ac-c05e78323d7a" providerId="ADAL" clId="{91598345-2E1A-4640-9B91-33DA173EB6C5}" dt="2023-02-07T07:13:10.093" v="0"/>
        <pc:sldMkLst>
          <pc:docMk/>
          <pc:sldMk cId="2165183896" sldId="326"/>
        </pc:sldMkLst>
      </pc:sldChg>
      <pc:sldChg chg="add del">
        <pc:chgData name="Baráth, Július" userId="aebde9b9-dccc-4475-a9ac-c05e78323d7a" providerId="ADAL" clId="{91598345-2E1A-4640-9B91-33DA173EB6C5}" dt="2023-02-07T07:14:04.551" v="5" actId="2696"/>
        <pc:sldMkLst>
          <pc:docMk/>
          <pc:sldMk cId="3880471223" sldId="328"/>
        </pc:sldMkLst>
      </pc:sldChg>
      <pc:sldChg chg="del">
        <pc:chgData name="Baráth, Július" userId="aebde9b9-dccc-4475-a9ac-c05e78323d7a" providerId="ADAL" clId="{91598345-2E1A-4640-9B91-33DA173EB6C5}" dt="2023-02-07T07:13:18.730" v="1" actId="2696"/>
        <pc:sldMkLst>
          <pc:docMk/>
          <pc:sldMk cId="1533357529" sldId="880"/>
        </pc:sldMkLst>
      </pc:sldChg>
      <pc:sldChg chg="del">
        <pc:chgData name="Baráth, Július" userId="aebde9b9-dccc-4475-a9ac-c05e78323d7a" providerId="ADAL" clId="{91598345-2E1A-4640-9B91-33DA173EB6C5}" dt="2023-02-07T07:13:18.730" v="1" actId="2696"/>
        <pc:sldMkLst>
          <pc:docMk/>
          <pc:sldMk cId="122153960" sldId="1070"/>
        </pc:sldMkLst>
      </pc:sldChg>
      <pc:sldChg chg="del">
        <pc:chgData name="Baráth, Július" userId="aebde9b9-dccc-4475-a9ac-c05e78323d7a" providerId="ADAL" clId="{91598345-2E1A-4640-9B91-33DA173EB6C5}" dt="2023-02-07T07:13:18.730" v="1" actId="2696"/>
        <pc:sldMkLst>
          <pc:docMk/>
          <pc:sldMk cId="1736058053" sldId="1071"/>
        </pc:sldMkLst>
      </pc:sldChg>
      <pc:sldChg chg="del">
        <pc:chgData name="Baráth, Július" userId="aebde9b9-dccc-4475-a9ac-c05e78323d7a" providerId="ADAL" clId="{91598345-2E1A-4640-9B91-33DA173EB6C5}" dt="2023-02-07T07:13:18.730" v="1" actId="2696"/>
        <pc:sldMkLst>
          <pc:docMk/>
          <pc:sldMk cId="0" sldId="1072"/>
        </pc:sldMkLst>
      </pc:sldChg>
      <pc:sldChg chg="del">
        <pc:chgData name="Baráth, Július" userId="aebde9b9-dccc-4475-a9ac-c05e78323d7a" providerId="ADAL" clId="{91598345-2E1A-4640-9B91-33DA173EB6C5}" dt="2023-02-07T07:13:55.852" v="4" actId="2696"/>
        <pc:sldMkLst>
          <pc:docMk/>
          <pc:sldMk cId="3645693150" sldId="1079"/>
        </pc:sldMkLst>
      </pc:sldChg>
      <pc:sldChg chg="del">
        <pc:chgData name="Baráth, Július" userId="aebde9b9-dccc-4475-a9ac-c05e78323d7a" providerId="ADAL" clId="{91598345-2E1A-4640-9B91-33DA173EB6C5}" dt="2023-02-07T07:13:55.852" v="4" actId="2696"/>
        <pc:sldMkLst>
          <pc:docMk/>
          <pc:sldMk cId="4190828277" sldId="1080"/>
        </pc:sldMkLst>
      </pc:sldChg>
      <pc:sldChg chg="add">
        <pc:chgData name="Baráth, Július" userId="aebde9b9-dccc-4475-a9ac-c05e78323d7a" providerId="ADAL" clId="{91598345-2E1A-4640-9B91-33DA173EB6C5}" dt="2023-02-07T07:13:10.093" v="0"/>
        <pc:sldMkLst>
          <pc:docMk/>
          <pc:sldMk cId="421361434" sldId="1084"/>
        </pc:sldMkLst>
      </pc:sldChg>
      <pc:sldChg chg="del">
        <pc:chgData name="Baráth, Július" userId="aebde9b9-dccc-4475-a9ac-c05e78323d7a" providerId="ADAL" clId="{91598345-2E1A-4640-9B91-33DA173EB6C5}" dt="2023-02-07T07:13:18.730" v="1" actId="2696"/>
        <pc:sldMkLst>
          <pc:docMk/>
          <pc:sldMk cId="435369535" sldId="1085"/>
        </pc:sldMkLst>
      </pc:sldChg>
      <pc:sldChg chg="add">
        <pc:chgData name="Baráth, Július" userId="aebde9b9-dccc-4475-a9ac-c05e78323d7a" providerId="ADAL" clId="{91598345-2E1A-4640-9B91-33DA173EB6C5}" dt="2023-02-07T07:13:10.093" v="0"/>
        <pc:sldMkLst>
          <pc:docMk/>
          <pc:sldMk cId="2651847286" sldId="1087"/>
        </pc:sldMkLst>
      </pc:sldChg>
      <pc:sldChg chg="add del">
        <pc:chgData name="Baráth, Július" userId="aebde9b9-dccc-4475-a9ac-c05e78323d7a" providerId="ADAL" clId="{91598345-2E1A-4640-9B91-33DA173EB6C5}" dt="2023-02-07T07:14:04.551" v="5" actId="2696"/>
        <pc:sldMkLst>
          <pc:docMk/>
          <pc:sldMk cId="1872366087" sldId="1088"/>
        </pc:sldMkLst>
      </pc:sldChg>
      <pc:sldChg chg="add del">
        <pc:chgData name="Baráth, Július" userId="aebde9b9-dccc-4475-a9ac-c05e78323d7a" providerId="ADAL" clId="{91598345-2E1A-4640-9B91-33DA173EB6C5}" dt="2023-02-07T07:14:04.551" v="5" actId="2696"/>
        <pc:sldMkLst>
          <pc:docMk/>
          <pc:sldMk cId="1025013853" sldId="1089"/>
        </pc:sldMkLst>
      </pc:sldChg>
      <pc:sldChg chg="add del">
        <pc:chgData name="Baráth, Július" userId="aebde9b9-dccc-4475-a9ac-c05e78323d7a" providerId="ADAL" clId="{91598345-2E1A-4640-9B91-33DA173EB6C5}" dt="2023-02-07T07:14:04.551" v="5" actId="2696"/>
        <pc:sldMkLst>
          <pc:docMk/>
          <pc:sldMk cId="3167395248" sldId="1090"/>
        </pc:sldMkLst>
      </pc:sldChg>
      <pc:sldChg chg="add del">
        <pc:chgData name="Baráth, Július" userId="aebde9b9-dccc-4475-a9ac-c05e78323d7a" providerId="ADAL" clId="{91598345-2E1A-4640-9B91-33DA173EB6C5}" dt="2023-02-07T07:14:04.551" v="5" actId="2696"/>
        <pc:sldMkLst>
          <pc:docMk/>
          <pc:sldMk cId="2892021013" sldId="1091"/>
        </pc:sldMkLst>
      </pc:sldChg>
      <pc:sldChg chg="add del">
        <pc:chgData name="Baráth, Július" userId="aebde9b9-dccc-4475-a9ac-c05e78323d7a" providerId="ADAL" clId="{91598345-2E1A-4640-9B91-33DA173EB6C5}" dt="2023-02-07T07:14:04.551" v="5" actId="2696"/>
        <pc:sldMkLst>
          <pc:docMk/>
          <pc:sldMk cId="3428605343" sldId="1092"/>
        </pc:sldMkLst>
      </pc:sldChg>
      <pc:sldChg chg="add del">
        <pc:chgData name="Baráth, Július" userId="aebde9b9-dccc-4475-a9ac-c05e78323d7a" providerId="ADAL" clId="{91598345-2E1A-4640-9B91-33DA173EB6C5}" dt="2023-02-07T07:14:04.551" v="5" actId="2696"/>
        <pc:sldMkLst>
          <pc:docMk/>
          <pc:sldMk cId="3312602439" sldId="1093"/>
        </pc:sldMkLst>
      </pc:sldChg>
      <pc:sldChg chg="add del">
        <pc:chgData name="Baráth, Július" userId="aebde9b9-dccc-4475-a9ac-c05e78323d7a" providerId="ADAL" clId="{91598345-2E1A-4640-9B91-33DA173EB6C5}" dt="2023-02-07T07:14:04.551" v="5" actId="2696"/>
        <pc:sldMkLst>
          <pc:docMk/>
          <pc:sldMk cId="2450685562" sldId="1094"/>
        </pc:sldMkLst>
      </pc:sldChg>
      <pc:sldChg chg="add del">
        <pc:chgData name="Baráth, Július" userId="aebde9b9-dccc-4475-a9ac-c05e78323d7a" providerId="ADAL" clId="{91598345-2E1A-4640-9B91-33DA173EB6C5}" dt="2023-02-07T07:14:04.551" v="5" actId="2696"/>
        <pc:sldMkLst>
          <pc:docMk/>
          <pc:sldMk cId="1028265495" sldId="1095"/>
        </pc:sldMkLst>
      </pc:sldChg>
      <pc:sldChg chg="add del">
        <pc:chgData name="Baráth, Július" userId="aebde9b9-dccc-4475-a9ac-c05e78323d7a" providerId="ADAL" clId="{91598345-2E1A-4640-9B91-33DA173EB6C5}" dt="2023-02-07T07:14:04.551" v="5" actId="2696"/>
        <pc:sldMkLst>
          <pc:docMk/>
          <pc:sldMk cId="648543685" sldId="1096"/>
        </pc:sldMkLst>
      </pc:sldChg>
      <pc:sldChg chg="add">
        <pc:chgData name="Baráth, Július" userId="aebde9b9-dccc-4475-a9ac-c05e78323d7a" providerId="ADAL" clId="{91598345-2E1A-4640-9B91-33DA173EB6C5}" dt="2023-02-07T07:13:10.093" v="0"/>
        <pc:sldMkLst>
          <pc:docMk/>
          <pc:sldMk cId="932013836" sldId="1097"/>
        </pc:sldMkLst>
      </pc:sldChg>
      <pc:sldChg chg="add">
        <pc:chgData name="Baráth, Július" userId="aebde9b9-dccc-4475-a9ac-c05e78323d7a" providerId="ADAL" clId="{91598345-2E1A-4640-9B91-33DA173EB6C5}" dt="2023-02-07T07:13:10.093" v="0"/>
        <pc:sldMkLst>
          <pc:docMk/>
          <pc:sldMk cId="1694306073" sldId="1098"/>
        </pc:sldMkLst>
      </pc:sldChg>
      <pc:sldChg chg="add">
        <pc:chgData name="Baráth, Július" userId="aebde9b9-dccc-4475-a9ac-c05e78323d7a" providerId="ADAL" clId="{91598345-2E1A-4640-9B91-33DA173EB6C5}" dt="2023-02-07T07:13:10.093" v="0"/>
        <pc:sldMkLst>
          <pc:docMk/>
          <pc:sldMk cId="1616894332" sldId="1099"/>
        </pc:sldMkLst>
      </pc:sldChg>
      <pc:sldChg chg="add">
        <pc:chgData name="Baráth, Július" userId="aebde9b9-dccc-4475-a9ac-c05e78323d7a" providerId="ADAL" clId="{91598345-2E1A-4640-9B91-33DA173EB6C5}" dt="2023-02-07T07:13:10.093" v="0"/>
        <pc:sldMkLst>
          <pc:docMk/>
          <pc:sldMk cId="3073541864" sldId="1100"/>
        </pc:sldMkLst>
      </pc:sldChg>
      <pc:sldChg chg="add">
        <pc:chgData name="Baráth, Július" userId="aebde9b9-dccc-4475-a9ac-c05e78323d7a" providerId="ADAL" clId="{91598345-2E1A-4640-9B91-33DA173EB6C5}" dt="2023-02-07T07:13:10.093" v="0"/>
        <pc:sldMkLst>
          <pc:docMk/>
          <pc:sldMk cId="2011509754" sldId="1101"/>
        </pc:sldMkLst>
      </pc:sldChg>
      <pc:sldChg chg="add">
        <pc:chgData name="Baráth, Július" userId="aebde9b9-dccc-4475-a9ac-c05e78323d7a" providerId="ADAL" clId="{91598345-2E1A-4640-9B91-33DA173EB6C5}" dt="2023-02-07T07:13:10.093" v="0"/>
        <pc:sldMkLst>
          <pc:docMk/>
          <pc:sldMk cId="1077907537" sldId="1102"/>
        </pc:sldMkLst>
      </pc:sldChg>
      <pc:sldChg chg="add">
        <pc:chgData name="Baráth, Július" userId="aebde9b9-dccc-4475-a9ac-c05e78323d7a" providerId="ADAL" clId="{91598345-2E1A-4640-9B91-33DA173EB6C5}" dt="2023-02-07T07:13:10.093" v="0"/>
        <pc:sldMkLst>
          <pc:docMk/>
          <pc:sldMk cId="1332731326" sldId="1103"/>
        </pc:sldMkLst>
      </pc:sldChg>
      <pc:sldChg chg="add">
        <pc:chgData name="Baráth, Július" userId="aebde9b9-dccc-4475-a9ac-c05e78323d7a" providerId="ADAL" clId="{91598345-2E1A-4640-9B91-33DA173EB6C5}" dt="2023-02-07T07:13:10.093" v="0"/>
        <pc:sldMkLst>
          <pc:docMk/>
          <pc:sldMk cId="1166478039" sldId="1104"/>
        </pc:sldMkLst>
      </pc:sldChg>
      <pc:sldChg chg="add">
        <pc:chgData name="Baráth, Július" userId="aebde9b9-dccc-4475-a9ac-c05e78323d7a" providerId="ADAL" clId="{91598345-2E1A-4640-9B91-33DA173EB6C5}" dt="2023-02-07T07:13:10.093" v="0"/>
        <pc:sldMkLst>
          <pc:docMk/>
          <pc:sldMk cId="3348863353" sldId="1105"/>
        </pc:sldMkLst>
      </pc:sldChg>
      <pc:sldChg chg="add">
        <pc:chgData name="Baráth, Július" userId="aebde9b9-dccc-4475-a9ac-c05e78323d7a" providerId="ADAL" clId="{91598345-2E1A-4640-9B91-33DA173EB6C5}" dt="2023-02-07T07:13:10.093" v="0"/>
        <pc:sldMkLst>
          <pc:docMk/>
          <pc:sldMk cId="2187003319" sldId="1106"/>
        </pc:sldMkLst>
      </pc:sldChg>
      <pc:sldChg chg="add">
        <pc:chgData name="Baráth, Július" userId="aebde9b9-dccc-4475-a9ac-c05e78323d7a" providerId="ADAL" clId="{91598345-2E1A-4640-9B91-33DA173EB6C5}" dt="2023-02-07T07:13:10.093" v="0"/>
        <pc:sldMkLst>
          <pc:docMk/>
          <pc:sldMk cId="207321125" sldId="1107"/>
        </pc:sldMkLst>
      </pc:sldChg>
      <pc:sldChg chg="add">
        <pc:chgData name="Baráth, Július" userId="aebde9b9-dccc-4475-a9ac-c05e78323d7a" providerId="ADAL" clId="{91598345-2E1A-4640-9B91-33DA173EB6C5}" dt="2023-02-07T07:13:10.093" v="0"/>
        <pc:sldMkLst>
          <pc:docMk/>
          <pc:sldMk cId="690644126" sldId="1108"/>
        </pc:sldMkLst>
      </pc:sldChg>
      <pc:sldChg chg="add">
        <pc:chgData name="Baráth, Július" userId="aebde9b9-dccc-4475-a9ac-c05e78323d7a" providerId="ADAL" clId="{91598345-2E1A-4640-9B91-33DA173EB6C5}" dt="2023-02-07T07:13:10.093" v="0"/>
        <pc:sldMkLst>
          <pc:docMk/>
          <pc:sldMk cId="1794276338" sldId="1109"/>
        </pc:sldMkLst>
      </pc:sldChg>
      <pc:sldChg chg="add">
        <pc:chgData name="Baráth, Július" userId="aebde9b9-dccc-4475-a9ac-c05e78323d7a" providerId="ADAL" clId="{91598345-2E1A-4640-9B91-33DA173EB6C5}" dt="2023-02-07T07:13:10.093" v="0"/>
        <pc:sldMkLst>
          <pc:docMk/>
          <pc:sldMk cId="1914509946" sldId="1110"/>
        </pc:sldMkLst>
      </pc:sldChg>
      <pc:sldChg chg="add del">
        <pc:chgData name="Baráth, Július" userId="aebde9b9-dccc-4475-a9ac-c05e78323d7a" providerId="ADAL" clId="{91598345-2E1A-4640-9B91-33DA173EB6C5}" dt="2023-02-07T07:14:20.002" v="6" actId="2696"/>
        <pc:sldMkLst>
          <pc:docMk/>
          <pc:sldMk cId="3417225372" sldId="1111"/>
        </pc:sldMkLst>
      </pc:sldChg>
      <pc:sldChg chg="add">
        <pc:chgData name="Baráth, Július" userId="aebde9b9-dccc-4475-a9ac-c05e78323d7a" providerId="ADAL" clId="{91598345-2E1A-4640-9B91-33DA173EB6C5}" dt="2023-02-07T07:13:10.093" v="0"/>
        <pc:sldMkLst>
          <pc:docMk/>
          <pc:sldMk cId="3346017130" sldId="1112"/>
        </pc:sldMkLst>
      </pc:sldChg>
      <pc:sldChg chg="add">
        <pc:chgData name="Baráth, Július" userId="aebde9b9-dccc-4475-a9ac-c05e78323d7a" providerId="ADAL" clId="{91598345-2E1A-4640-9B91-33DA173EB6C5}" dt="2023-02-07T07:13:10.093" v="0"/>
        <pc:sldMkLst>
          <pc:docMk/>
          <pc:sldMk cId="1407218477" sldId="1113"/>
        </pc:sldMkLst>
      </pc:sldChg>
      <pc:sldChg chg="add">
        <pc:chgData name="Baráth, Július" userId="aebde9b9-dccc-4475-a9ac-c05e78323d7a" providerId="ADAL" clId="{91598345-2E1A-4640-9B91-33DA173EB6C5}" dt="2023-02-07T07:13:10.093" v="0"/>
        <pc:sldMkLst>
          <pc:docMk/>
          <pc:sldMk cId="1598321646" sldId="1114"/>
        </pc:sldMkLst>
      </pc:sldChg>
      <pc:sldChg chg="add">
        <pc:chgData name="Baráth, Július" userId="aebde9b9-dccc-4475-a9ac-c05e78323d7a" providerId="ADAL" clId="{91598345-2E1A-4640-9B91-33DA173EB6C5}" dt="2023-02-07T07:13:10.093" v="0"/>
        <pc:sldMkLst>
          <pc:docMk/>
          <pc:sldMk cId="1995647190" sldId="1115"/>
        </pc:sldMkLst>
      </pc:sldChg>
      <pc:sldChg chg="add">
        <pc:chgData name="Baráth, Július" userId="aebde9b9-dccc-4475-a9ac-c05e78323d7a" providerId="ADAL" clId="{91598345-2E1A-4640-9B91-33DA173EB6C5}" dt="2023-02-07T07:13:10.093" v="0"/>
        <pc:sldMkLst>
          <pc:docMk/>
          <pc:sldMk cId="762468989" sldId="1116"/>
        </pc:sldMkLst>
      </pc:sldChg>
      <pc:sldChg chg="add">
        <pc:chgData name="Baráth, Július" userId="aebde9b9-dccc-4475-a9ac-c05e78323d7a" providerId="ADAL" clId="{91598345-2E1A-4640-9B91-33DA173EB6C5}" dt="2023-02-07T07:13:10.093" v="0"/>
        <pc:sldMkLst>
          <pc:docMk/>
          <pc:sldMk cId="861386846" sldId="1117"/>
        </pc:sldMkLst>
      </pc:sldChg>
      <pc:sldChg chg="add">
        <pc:chgData name="Baráth, Július" userId="aebde9b9-dccc-4475-a9ac-c05e78323d7a" providerId="ADAL" clId="{91598345-2E1A-4640-9B91-33DA173EB6C5}" dt="2023-02-07T07:13:10.093" v="0"/>
        <pc:sldMkLst>
          <pc:docMk/>
          <pc:sldMk cId="1053286084" sldId="1118"/>
        </pc:sldMkLst>
      </pc:sldChg>
      <pc:sldChg chg="add">
        <pc:chgData name="Baráth, Július" userId="aebde9b9-dccc-4475-a9ac-c05e78323d7a" providerId="ADAL" clId="{91598345-2E1A-4640-9B91-33DA173EB6C5}" dt="2023-02-07T07:13:10.093" v="0"/>
        <pc:sldMkLst>
          <pc:docMk/>
          <pc:sldMk cId="641716093" sldId="1119"/>
        </pc:sldMkLst>
      </pc:sldChg>
      <pc:sldChg chg="add">
        <pc:chgData name="Baráth, Július" userId="aebde9b9-dccc-4475-a9ac-c05e78323d7a" providerId="ADAL" clId="{91598345-2E1A-4640-9B91-33DA173EB6C5}" dt="2023-02-07T07:13:10.093" v="0"/>
        <pc:sldMkLst>
          <pc:docMk/>
          <pc:sldMk cId="2761679310" sldId="1120"/>
        </pc:sldMkLst>
      </pc:sldChg>
      <pc:sldChg chg="add">
        <pc:chgData name="Baráth, Július" userId="aebde9b9-dccc-4475-a9ac-c05e78323d7a" providerId="ADAL" clId="{91598345-2E1A-4640-9B91-33DA173EB6C5}" dt="2023-02-07T07:13:10.093" v="0"/>
        <pc:sldMkLst>
          <pc:docMk/>
          <pc:sldMk cId="1053594779" sldId="1121"/>
        </pc:sldMkLst>
      </pc:sldChg>
      <pc:sldChg chg="add">
        <pc:chgData name="Baráth, Július" userId="aebde9b9-dccc-4475-a9ac-c05e78323d7a" providerId="ADAL" clId="{91598345-2E1A-4640-9B91-33DA173EB6C5}" dt="2023-02-07T07:13:10.093" v="0"/>
        <pc:sldMkLst>
          <pc:docMk/>
          <pc:sldMk cId="2113063468" sldId="1122"/>
        </pc:sldMkLst>
      </pc:sldChg>
      <pc:sldChg chg="add">
        <pc:chgData name="Baráth, Július" userId="aebde9b9-dccc-4475-a9ac-c05e78323d7a" providerId="ADAL" clId="{91598345-2E1A-4640-9B91-33DA173EB6C5}" dt="2023-02-07T07:13:10.093" v="0"/>
        <pc:sldMkLst>
          <pc:docMk/>
          <pc:sldMk cId="3798189809" sldId="1123"/>
        </pc:sldMkLst>
      </pc:sldChg>
      <pc:sldChg chg="add">
        <pc:chgData name="Baráth, Július" userId="aebde9b9-dccc-4475-a9ac-c05e78323d7a" providerId="ADAL" clId="{91598345-2E1A-4640-9B91-33DA173EB6C5}" dt="2023-02-07T07:13:10.093" v="0"/>
        <pc:sldMkLst>
          <pc:docMk/>
          <pc:sldMk cId="3164454359" sldId="1124"/>
        </pc:sldMkLst>
      </pc:sldChg>
      <pc:sldChg chg="add">
        <pc:chgData name="Baráth, Július" userId="aebde9b9-dccc-4475-a9ac-c05e78323d7a" providerId="ADAL" clId="{91598345-2E1A-4640-9B91-33DA173EB6C5}" dt="2023-02-07T07:13:10.093" v="0"/>
        <pc:sldMkLst>
          <pc:docMk/>
          <pc:sldMk cId="974386620" sldId="1125"/>
        </pc:sldMkLst>
      </pc:sldChg>
      <pc:sldChg chg="add">
        <pc:chgData name="Baráth, Július" userId="aebde9b9-dccc-4475-a9ac-c05e78323d7a" providerId="ADAL" clId="{91598345-2E1A-4640-9B91-33DA173EB6C5}" dt="2023-02-07T07:13:10.093" v="0"/>
        <pc:sldMkLst>
          <pc:docMk/>
          <pc:sldMk cId="2103181165" sldId="1126"/>
        </pc:sldMkLst>
      </pc:sldChg>
      <pc:sldChg chg="add">
        <pc:chgData name="Baráth, Július" userId="aebde9b9-dccc-4475-a9ac-c05e78323d7a" providerId="ADAL" clId="{91598345-2E1A-4640-9B91-33DA173EB6C5}" dt="2023-02-07T07:13:10.093" v="0"/>
        <pc:sldMkLst>
          <pc:docMk/>
          <pc:sldMk cId="489933249" sldId="1127"/>
        </pc:sldMkLst>
      </pc:sldChg>
      <pc:sldChg chg="add">
        <pc:chgData name="Baráth, Július" userId="aebde9b9-dccc-4475-a9ac-c05e78323d7a" providerId="ADAL" clId="{91598345-2E1A-4640-9B91-33DA173EB6C5}" dt="2023-02-07T07:13:10.093" v="0"/>
        <pc:sldMkLst>
          <pc:docMk/>
          <pc:sldMk cId="2710911231" sldId="1128"/>
        </pc:sldMkLst>
      </pc:sldChg>
      <pc:sldChg chg="add del">
        <pc:chgData name="Baráth, Július" userId="aebde9b9-dccc-4475-a9ac-c05e78323d7a" providerId="ADAL" clId="{91598345-2E1A-4640-9B91-33DA173EB6C5}" dt="2023-02-07T07:15:04.998" v="7" actId="2696"/>
        <pc:sldMkLst>
          <pc:docMk/>
          <pc:sldMk cId="2664542339" sldId="1129"/>
        </pc:sldMkLst>
      </pc:sldChg>
      <pc:sldChg chg="add del">
        <pc:chgData name="Baráth, Július" userId="aebde9b9-dccc-4475-a9ac-c05e78323d7a" providerId="ADAL" clId="{91598345-2E1A-4640-9B91-33DA173EB6C5}" dt="2023-02-07T07:15:04.998" v="7" actId="2696"/>
        <pc:sldMkLst>
          <pc:docMk/>
          <pc:sldMk cId="850440744" sldId="1130"/>
        </pc:sldMkLst>
      </pc:sldChg>
      <pc:sldChg chg="add del">
        <pc:chgData name="Baráth, Július" userId="aebde9b9-dccc-4475-a9ac-c05e78323d7a" providerId="ADAL" clId="{91598345-2E1A-4640-9B91-33DA173EB6C5}" dt="2023-02-07T07:15:04.998" v="7" actId="2696"/>
        <pc:sldMkLst>
          <pc:docMk/>
          <pc:sldMk cId="791318670" sldId="1131"/>
        </pc:sldMkLst>
      </pc:sldChg>
      <pc:sldChg chg="add del">
        <pc:chgData name="Baráth, Július" userId="aebde9b9-dccc-4475-a9ac-c05e78323d7a" providerId="ADAL" clId="{91598345-2E1A-4640-9B91-33DA173EB6C5}" dt="2023-02-07T07:15:04.998" v="7" actId="2696"/>
        <pc:sldMkLst>
          <pc:docMk/>
          <pc:sldMk cId="3858177173" sldId="1132"/>
        </pc:sldMkLst>
      </pc:sldChg>
      <pc:sldChg chg="add">
        <pc:chgData name="Baráth, Július" userId="aebde9b9-dccc-4475-a9ac-c05e78323d7a" providerId="ADAL" clId="{91598345-2E1A-4640-9B91-33DA173EB6C5}" dt="2023-02-07T07:13:10.093" v="0"/>
        <pc:sldMkLst>
          <pc:docMk/>
          <pc:sldMk cId="1521104163" sldId="1133"/>
        </pc:sldMkLst>
      </pc:sldChg>
    </pc:docChg>
  </pc:docChgLst>
  <pc:docChgLst>
    <pc:chgData name="Baráth, Július" userId="aebde9b9-dccc-4475-a9ac-c05e78323d7a" providerId="ADAL" clId="{11F37564-3EA7-F34F-9656-F24AD085AEA5}"/>
    <pc:docChg chg="custSel delSld modSld">
      <pc:chgData name="Baráth, Július" userId="aebde9b9-dccc-4475-a9ac-c05e78323d7a" providerId="ADAL" clId="{11F37564-3EA7-F34F-9656-F24AD085AEA5}" dt="2024-04-02T13:01:19.745" v="447" actId="113"/>
      <pc:docMkLst>
        <pc:docMk/>
      </pc:docMkLst>
      <pc:sldChg chg="modSp mod">
        <pc:chgData name="Baráth, Július" userId="aebde9b9-dccc-4475-a9ac-c05e78323d7a" providerId="ADAL" clId="{11F37564-3EA7-F34F-9656-F24AD085AEA5}" dt="2024-04-02T13:01:19.745" v="447" actId="113"/>
        <pc:sldMkLst>
          <pc:docMk/>
          <pc:sldMk cId="1078813356" sldId="290"/>
        </pc:sldMkLst>
      </pc:sldChg>
      <pc:sldChg chg="modSp mod">
        <pc:chgData name="Baráth, Július" userId="aebde9b9-dccc-4475-a9ac-c05e78323d7a" providerId="ADAL" clId="{11F37564-3EA7-F34F-9656-F24AD085AEA5}" dt="2024-04-02T11:34:00.290" v="90" actId="5793"/>
        <pc:sldMkLst>
          <pc:docMk/>
          <pc:sldMk cId="279525630" sldId="291"/>
        </pc:sldMkLst>
      </pc:sldChg>
      <pc:sldChg chg="addSp modSp mod">
        <pc:chgData name="Baráth, Július" userId="aebde9b9-dccc-4475-a9ac-c05e78323d7a" providerId="ADAL" clId="{11F37564-3EA7-F34F-9656-F24AD085AEA5}" dt="2024-04-02T11:44:17.379" v="168" actId="13926"/>
        <pc:sldMkLst>
          <pc:docMk/>
          <pc:sldMk cId="262535010" sldId="293"/>
        </pc:sldMkLst>
      </pc:sldChg>
      <pc:sldChg chg="addSp modSp">
        <pc:chgData name="Baráth, Július" userId="aebde9b9-dccc-4475-a9ac-c05e78323d7a" providerId="ADAL" clId="{11F37564-3EA7-F34F-9656-F24AD085AEA5}" dt="2024-04-02T11:44:46.503" v="169"/>
        <pc:sldMkLst>
          <pc:docMk/>
          <pc:sldMk cId="1232724781" sldId="295"/>
        </pc:sldMkLst>
      </pc:sldChg>
      <pc:sldChg chg="modSp mod">
        <pc:chgData name="Baráth, Július" userId="aebde9b9-dccc-4475-a9ac-c05e78323d7a" providerId="ADAL" clId="{11F37564-3EA7-F34F-9656-F24AD085AEA5}" dt="2024-04-02T10:47:39.076" v="0" actId="115"/>
        <pc:sldMkLst>
          <pc:docMk/>
          <pc:sldMk cId="320424310" sldId="320"/>
        </pc:sldMkLst>
      </pc:sldChg>
      <pc:sldChg chg="addSp modSp mod">
        <pc:chgData name="Baráth, Július" userId="aebde9b9-dccc-4475-a9ac-c05e78323d7a" providerId="ADAL" clId="{11F37564-3EA7-F34F-9656-F24AD085AEA5}" dt="2024-04-02T11:28:16.156" v="88" actId="20577"/>
        <pc:sldMkLst>
          <pc:docMk/>
          <pc:sldMk cId="1598321646" sldId="1114"/>
        </pc:sldMkLst>
      </pc:sldChg>
      <pc:sldChg chg="addSp delSp modSp mod">
        <pc:chgData name="Baráth, Július" userId="aebde9b9-dccc-4475-a9ac-c05e78323d7a" providerId="ADAL" clId="{11F37564-3EA7-F34F-9656-F24AD085AEA5}" dt="2024-04-02T11:36:11.144" v="114" actId="1076"/>
        <pc:sldMkLst>
          <pc:docMk/>
          <pc:sldMk cId="1995647190" sldId="1115"/>
        </pc:sldMkLst>
      </pc:sldChg>
      <pc:sldChg chg="delSp modSp del mod">
        <pc:chgData name="Baráth, Július" userId="aebde9b9-dccc-4475-a9ac-c05e78323d7a" providerId="ADAL" clId="{11F37564-3EA7-F34F-9656-F24AD085AEA5}" dt="2024-04-02T11:36:16.654" v="115" actId="2696"/>
        <pc:sldMkLst>
          <pc:docMk/>
          <pc:sldMk cId="762468989" sldId="1116"/>
        </pc:sldMkLst>
      </pc:sldChg>
      <pc:sldChg chg="addSp modSp mod">
        <pc:chgData name="Baráth, Július" userId="aebde9b9-dccc-4475-a9ac-c05e78323d7a" providerId="ADAL" clId="{11F37564-3EA7-F34F-9656-F24AD085AEA5}" dt="2024-04-02T12:00:04.734" v="282" actId="164"/>
        <pc:sldMkLst>
          <pc:docMk/>
          <pc:sldMk cId="2113063468" sldId="1122"/>
        </pc:sldMkLst>
      </pc:sldChg>
      <pc:sldChg chg="addSp delSp modSp mod">
        <pc:chgData name="Baráth, Július" userId="aebde9b9-dccc-4475-a9ac-c05e78323d7a" providerId="ADAL" clId="{11F37564-3EA7-F34F-9656-F24AD085AEA5}" dt="2024-04-02T12:03:06.916" v="358" actId="1076"/>
        <pc:sldMkLst>
          <pc:docMk/>
          <pc:sldMk cId="3798189809" sldId="1123"/>
        </pc:sldMkLst>
      </pc:sldChg>
      <pc:sldChg chg="addSp modSp mod">
        <pc:chgData name="Baráth, Július" userId="aebde9b9-dccc-4475-a9ac-c05e78323d7a" providerId="ADAL" clId="{11F37564-3EA7-F34F-9656-F24AD085AEA5}" dt="2024-04-02T12:10:24.724" v="446" actId="20577"/>
        <pc:sldMkLst>
          <pc:docMk/>
          <pc:sldMk cId="3164454359" sldId="1124"/>
        </pc:sldMkLst>
      </pc:sldChg>
    </pc:docChg>
  </pc:docChgLst>
  <pc:docChgLst>
    <pc:chgData name="Baráth, Július" userId="aebde9b9-dccc-4475-a9ac-c05e78323d7a" providerId="ADAL" clId="{03B6A806-170C-8E44-8712-AFBD498BE0B6}"/>
    <pc:docChg chg="modSld">
      <pc:chgData name="Baráth, Július" userId="aebde9b9-dccc-4475-a9ac-c05e78323d7a" providerId="ADAL" clId="{03B6A806-170C-8E44-8712-AFBD498BE0B6}" dt="2025-03-24T12:07:28.169" v="64" actId="20577"/>
      <pc:docMkLst>
        <pc:docMk/>
      </pc:docMkLst>
      <pc:sldChg chg="modSp mod">
        <pc:chgData name="Baráth, Július" userId="aebde9b9-dccc-4475-a9ac-c05e78323d7a" providerId="ADAL" clId="{03B6A806-170C-8E44-8712-AFBD498BE0B6}" dt="2025-03-24T09:27:06.651" v="0" actId="113"/>
        <pc:sldMkLst>
          <pc:docMk/>
          <pc:sldMk cId="0" sldId="274"/>
        </pc:sldMkLst>
        <pc:spChg chg="mod">
          <ac:chgData name="Baráth, Július" userId="aebde9b9-dccc-4475-a9ac-c05e78323d7a" providerId="ADAL" clId="{03B6A806-170C-8E44-8712-AFBD498BE0B6}" dt="2025-03-24T09:27:06.651" v="0" actId="113"/>
          <ac:spMkLst>
            <pc:docMk/>
            <pc:sldMk cId="0" sldId="274"/>
            <ac:spMk id="7" creationId="{B656DE72-523C-4AC6-93A3-3F44A54673EE}"/>
          </ac:spMkLst>
        </pc:spChg>
      </pc:sldChg>
      <pc:sldChg chg="modSp mod">
        <pc:chgData name="Baráth, Július" userId="aebde9b9-dccc-4475-a9ac-c05e78323d7a" providerId="ADAL" clId="{03B6A806-170C-8E44-8712-AFBD498BE0B6}" dt="2025-03-24T10:42:55.695" v="19" actId="20577"/>
        <pc:sldMkLst>
          <pc:docMk/>
          <pc:sldMk cId="1567824134" sldId="285"/>
        </pc:sldMkLst>
        <pc:spChg chg="mod">
          <ac:chgData name="Baráth, Július" userId="aebde9b9-dccc-4475-a9ac-c05e78323d7a" providerId="ADAL" clId="{03B6A806-170C-8E44-8712-AFBD498BE0B6}" dt="2025-03-24T10:42:55.695" v="19" actId="20577"/>
          <ac:spMkLst>
            <pc:docMk/>
            <pc:sldMk cId="1567824134" sldId="285"/>
            <ac:spMk id="3" creationId="{00000000-0000-0000-0000-000000000000}"/>
          </ac:spMkLst>
        </pc:spChg>
      </pc:sldChg>
      <pc:sldChg chg="modSp mod">
        <pc:chgData name="Baráth, Július" userId="aebde9b9-dccc-4475-a9ac-c05e78323d7a" providerId="ADAL" clId="{03B6A806-170C-8E44-8712-AFBD498BE0B6}" dt="2025-03-24T10:51:37.278" v="36" actId="20577"/>
        <pc:sldMkLst>
          <pc:docMk/>
          <pc:sldMk cId="680197128" sldId="300"/>
        </pc:sldMkLst>
        <pc:spChg chg="mod">
          <ac:chgData name="Baráth, Július" userId="aebde9b9-dccc-4475-a9ac-c05e78323d7a" providerId="ADAL" clId="{03B6A806-170C-8E44-8712-AFBD498BE0B6}" dt="2025-03-24T10:51:37.278" v="36" actId="20577"/>
          <ac:spMkLst>
            <pc:docMk/>
            <pc:sldMk cId="680197128" sldId="300"/>
            <ac:spMk id="3" creationId="{00000000-0000-0000-0000-000000000000}"/>
          </ac:spMkLst>
        </pc:spChg>
      </pc:sldChg>
      <pc:sldChg chg="modSp mod">
        <pc:chgData name="Baráth, Július" userId="aebde9b9-dccc-4475-a9ac-c05e78323d7a" providerId="ADAL" clId="{03B6A806-170C-8E44-8712-AFBD498BE0B6}" dt="2025-03-24T12:07:28.169" v="64" actId="20577"/>
        <pc:sldMkLst>
          <pc:docMk/>
          <pc:sldMk cId="3711685276" sldId="307"/>
        </pc:sldMkLst>
        <pc:spChg chg="mod">
          <ac:chgData name="Baráth, Július" userId="aebde9b9-dccc-4475-a9ac-c05e78323d7a" providerId="ADAL" clId="{03B6A806-170C-8E44-8712-AFBD498BE0B6}" dt="2025-03-24T12:07:28.169" v="64" actId="20577"/>
          <ac:spMkLst>
            <pc:docMk/>
            <pc:sldMk cId="3711685276" sldId="30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98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20: Introduction to the ASA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20 – Introduction to the ASA</a:t>
            </a:r>
          </a:p>
          <a:p>
            <a:r>
              <a:rPr lang="en-GB" dirty="0"/>
              <a:t>20.0.2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20.1.1: ASA Firewall Models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20.1.3: Advanced ASA Firewall Features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20.1.3: Advanced ASA Firewall Features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3766463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20.1.3: Advanced ASA Firewall Features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3354709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20.1.3: Advanced ASA Firewall Features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2368163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20.1.4: Cisco Firepower Series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20.1.6: Review of Firewalls in Network Design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20.1.7: ASA Firewall Modes of Operation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20.1.7: ASA Firewall Modes of Operation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3330575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20.1.7: ASA Firewall Modes of Operation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2313929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20.1: ASA Solutions
20.1.8: ASA Licensing Requirements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20.2: The ASA 5506-X with FirePOWER Services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20.2: The ASA 5506-X with FirePOWER Services
20.2.1: Overview of ASA 5506-X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20.2: The ASA 5506-X with FirePOWER Services
20.2.1: Overview of ASA 5506-X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30671433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20.2: The ASA 5506-X with FirePOWER Services
20.2.1: Overview of ASA 5506-X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3701049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20.2: The ASA 5506-X with FirePOWER Services
20.2.2: ASA Security Levels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20.2: The ASA 5506-X with FirePOWER Services
20.2.2: ASA Security Levels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20435195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20.2: The ASA 5506-X with FirePOWER Services
20.2.3: ASA 5506-X Deployment Scenarios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8091433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20.2: The ASA 5506-X with FirePOWER Services
20.2.3: ASA 5506-X Deployment Scenarios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Introduction to the ASA
20.2: The ASA 5506-X with FirePOWER Services
20.2.3: ASA 5506-X Deployment Scenarios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30399252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21: ASA Firewall Configuration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530581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25</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21 – ASA Firewall Configuration</a:t>
            </a:r>
          </a:p>
          <a:p>
            <a:r>
              <a:rPr lang="en-GB" dirty="0"/>
              <a:t>21.0.2 – What will I learn to do in this module?</a:t>
            </a:r>
          </a:p>
        </p:txBody>
      </p:sp>
    </p:spTree>
    <p:extLst>
      <p:ext uri="{BB962C8B-B14F-4D97-AF65-F5344CB8AC3E}">
        <p14:creationId xmlns:p14="http://schemas.microsoft.com/office/powerpoint/2010/main" val="27269740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21.1: Basic ASA Firewall Configuration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26749146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21.1: Basic ASA Firewall Configuration
21.1.1: Basic ASA Settings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9130521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21.1: Basic ASA Firewall Configuration
21.1.1: Basic ASA Settings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36308079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21.1: Basic ASA Firewall Configuration
21.1.1: Basic ASA Settings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36369518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21.1: Basic ASA Firewall Configuration
21.1.2: ASA Default Configuration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31827540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21.1: Basic ASA Firewall Configuration
21.1.3: ASA Interactive Setup Initialization Wizard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6533722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553468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21.2.1: Enter Global Configuration Mode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659530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21.2.2: Configure Basic Settings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6638806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21.2.2: Configure Basic Settings</a:t>
            </a:r>
          </a:p>
          <a:p>
            <a:r>
              <a:rPr lang="en-US" dirty="0"/>
              <a:t>21.2.3: Syntax Checker - Configure Basic Settings on an ASA 5506-X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7018288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21.2.4: Configure Interfaces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2469740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21.2.4: Configure Interfaces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20575536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21.2.4: Configure Interfaces</a:t>
            </a:r>
          </a:p>
          <a:p>
            <a:r>
              <a:rPr lang="en-US" dirty="0"/>
              <a:t>21.2.5: Syntax Checker - Configure Inside, Outside, and DMZ Interfaces on an ASA 5506-X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7998625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21.2.4: Configure Interfaces</a:t>
            </a:r>
          </a:p>
          <a:p>
            <a:r>
              <a:rPr lang="en-US" dirty="0"/>
              <a:t>21.2.5: Syntax Checker - Configure Inside, Outside, and DMZ Interfaces on an ASA 5506-X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5923726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21.2.6: Configure a Default Static Route</a:t>
            </a:r>
          </a:p>
          <a:p>
            <a:r>
              <a:rPr lang="en-US" dirty="0"/>
              <a:t>21.2.7: Syntax Checker - Configure a Default Static Route on an ASA 5506-X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10002658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21.2.8: Configure Remote Access Services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1903700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21.2.8: Configure Remote Access Services</a:t>
            </a:r>
          </a:p>
          <a:p>
            <a:r>
              <a:rPr lang="en-US" dirty="0"/>
              <a:t>21.2.9: Syntax Checker - Enable SSH Remote Access Using the Local Database on an ASA 5506-X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14263326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21.2.8: Configure Remote Access Services</a:t>
            </a:r>
          </a:p>
          <a:p>
            <a:r>
              <a:rPr lang="en-US" dirty="0"/>
              <a:t>21.2.9: Syntax Checker - Enable SSH Remote Access Using the Local Database on an ASA 5506-X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9893145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21.2.11: Configure Network Time Protocol Services</a:t>
            </a:r>
          </a:p>
          <a:p>
            <a:r>
              <a:rPr lang="en-US" dirty="0"/>
              <a:t>21.2.12: Syntax Checker - Enable NTP with Authentication on an ASA 5506-X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20787974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21.2.13: Configure DHCP Services</a:t>
            </a:r>
          </a:p>
          <a:p>
            <a:r>
              <a:rPr lang="en-US" dirty="0"/>
              <a:t>21.2.14: Syntax Checker - Configure DHCP Services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dirty="0"/>
          </a:p>
        </p:txBody>
      </p:sp>
    </p:spTree>
    <p:extLst>
      <p:ext uri="{BB962C8B-B14F-4D97-AF65-F5344CB8AC3E}">
        <p14:creationId xmlns:p14="http://schemas.microsoft.com/office/powerpoint/2010/main" val="15394923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21.2: Configure Management Settings and Services
21.2.13: Configure DHCP Services</a:t>
            </a:r>
          </a:p>
          <a:p>
            <a:r>
              <a:rPr lang="en-US" dirty="0"/>
              <a:t>21.2.14: Syntax Checker - Configure DHCP Services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dirty="0"/>
          </a:p>
        </p:txBody>
      </p:sp>
    </p:spTree>
    <p:extLst>
      <p:ext uri="{BB962C8B-B14F-4D97-AF65-F5344CB8AC3E}">
        <p14:creationId xmlns:p14="http://schemas.microsoft.com/office/powerpoint/2010/main" val="21353349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21.3: Object Groups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dirty="0"/>
          </a:p>
        </p:txBody>
      </p:sp>
    </p:spTree>
    <p:extLst>
      <p:ext uri="{BB962C8B-B14F-4D97-AF65-F5344CB8AC3E}">
        <p14:creationId xmlns:p14="http://schemas.microsoft.com/office/powerpoint/2010/main" val="22118000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21.3: Object Groups
21.3.1: Introduction to Objects and Object Groups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dirty="0"/>
          </a:p>
        </p:txBody>
      </p:sp>
    </p:spTree>
    <p:extLst>
      <p:ext uri="{BB962C8B-B14F-4D97-AF65-F5344CB8AC3E}">
        <p14:creationId xmlns:p14="http://schemas.microsoft.com/office/powerpoint/2010/main" val="11803812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21.3: Object Groups
21.3.2: Configure Network Objects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dirty="0"/>
          </a:p>
        </p:txBody>
      </p:sp>
    </p:spTree>
    <p:extLst>
      <p:ext uri="{BB962C8B-B14F-4D97-AF65-F5344CB8AC3E}">
        <p14:creationId xmlns:p14="http://schemas.microsoft.com/office/powerpoint/2010/main" val="35292145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21.3: Object Groups
21.3.2: Configure Network Objects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dirty="0"/>
          </a:p>
        </p:txBody>
      </p:sp>
    </p:spTree>
    <p:extLst>
      <p:ext uri="{BB962C8B-B14F-4D97-AF65-F5344CB8AC3E}">
        <p14:creationId xmlns:p14="http://schemas.microsoft.com/office/powerpoint/2010/main" val="20745473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21.3: Object Groups
21.3.2: Configure Network Objects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dirty="0"/>
          </a:p>
        </p:txBody>
      </p:sp>
    </p:spTree>
    <p:extLst>
      <p:ext uri="{BB962C8B-B14F-4D97-AF65-F5344CB8AC3E}">
        <p14:creationId xmlns:p14="http://schemas.microsoft.com/office/powerpoint/2010/main" val="31174776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21.3: Object Groups
21.3.3: Configure Service Objects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dirty="0"/>
          </a:p>
        </p:txBody>
      </p:sp>
    </p:spTree>
    <p:extLst>
      <p:ext uri="{BB962C8B-B14F-4D97-AF65-F5344CB8AC3E}">
        <p14:creationId xmlns:p14="http://schemas.microsoft.com/office/powerpoint/2010/main" val="3040114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21.3: Object Groups
21.3.3: Configure Service Objects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dirty="0"/>
          </a:p>
        </p:txBody>
      </p:sp>
    </p:spTree>
    <p:extLst>
      <p:ext uri="{BB962C8B-B14F-4D97-AF65-F5344CB8AC3E}">
        <p14:creationId xmlns:p14="http://schemas.microsoft.com/office/powerpoint/2010/main" val="29239214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21.3: Object Groups
21.3.4: Object Groups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dirty="0"/>
          </a:p>
        </p:txBody>
      </p:sp>
    </p:spTree>
    <p:extLst>
      <p:ext uri="{BB962C8B-B14F-4D97-AF65-F5344CB8AC3E}">
        <p14:creationId xmlns:p14="http://schemas.microsoft.com/office/powerpoint/2010/main" val="5493451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21.3: Object Groups
21.3.4: Object Groups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dirty="0"/>
          </a:p>
        </p:txBody>
      </p:sp>
    </p:spTree>
    <p:extLst>
      <p:ext uri="{BB962C8B-B14F-4D97-AF65-F5344CB8AC3E}">
        <p14:creationId xmlns:p14="http://schemas.microsoft.com/office/powerpoint/2010/main" val="24553993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21.3: Object Groups
21.3.5: Configure Common Object Groups</a:t>
            </a:r>
          </a:p>
          <a:p>
            <a:r>
              <a:rPr lang="en-US" dirty="0"/>
              <a:t>21.3.6: Check Your Understanding - Identify Types of Object Groups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dirty="0"/>
          </a:p>
        </p:txBody>
      </p:sp>
    </p:spTree>
    <p:extLst>
      <p:ext uri="{BB962C8B-B14F-4D97-AF65-F5344CB8AC3E}">
        <p14:creationId xmlns:p14="http://schemas.microsoft.com/office/powerpoint/2010/main" val="31449087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dirty="0"/>
          </a:p>
        </p:txBody>
      </p:sp>
    </p:spTree>
    <p:extLst>
      <p:ext uri="{BB962C8B-B14F-4D97-AF65-F5344CB8AC3E}">
        <p14:creationId xmlns:p14="http://schemas.microsoft.com/office/powerpoint/2010/main" val="270405232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21.4.1: ASA ACLs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dirty="0"/>
          </a:p>
        </p:txBody>
      </p:sp>
    </p:spTree>
    <p:extLst>
      <p:ext uri="{BB962C8B-B14F-4D97-AF65-F5344CB8AC3E}">
        <p14:creationId xmlns:p14="http://schemas.microsoft.com/office/powerpoint/2010/main" val="20413547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21.4.2: Types of ASA ACL Filtering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dirty="0"/>
          </a:p>
        </p:txBody>
      </p:sp>
    </p:spTree>
    <p:extLst>
      <p:ext uri="{BB962C8B-B14F-4D97-AF65-F5344CB8AC3E}">
        <p14:creationId xmlns:p14="http://schemas.microsoft.com/office/powerpoint/2010/main" val="31214842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21.4.2: Types of ASA ACL Filtering
</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dirty="0"/>
          </a:p>
        </p:txBody>
      </p:sp>
    </p:spTree>
    <p:extLst>
      <p:ext uri="{BB962C8B-B14F-4D97-AF65-F5344CB8AC3E}">
        <p14:creationId xmlns:p14="http://schemas.microsoft.com/office/powerpoint/2010/main" val="38423126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21.4.2: Types of ASA ACL Filtering
</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dirty="0"/>
          </a:p>
        </p:txBody>
      </p:sp>
    </p:spTree>
    <p:extLst>
      <p:ext uri="{BB962C8B-B14F-4D97-AF65-F5344CB8AC3E}">
        <p14:creationId xmlns:p14="http://schemas.microsoft.com/office/powerpoint/2010/main" val="6948744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21.4.3: Types of ASA ACLs
</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dirty="0"/>
          </a:p>
        </p:txBody>
      </p:sp>
    </p:spTree>
    <p:extLst>
      <p:ext uri="{BB962C8B-B14F-4D97-AF65-F5344CB8AC3E}">
        <p14:creationId xmlns:p14="http://schemas.microsoft.com/office/powerpoint/2010/main" val="8291968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21.4.3: Types of ASA ACLs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dirty="0"/>
          </a:p>
        </p:txBody>
      </p:sp>
    </p:spTree>
    <p:extLst>
      <p:ext uri="{BB962C8B-B14F-4D97-AF65-F5344CB8AC3E}">
        <p14:creationId xmlns:p14="http://schemas.microsoft.com/office/powerpoint/2010/main" val="16776691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21.4.3: Types of ASA ACLs
</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dirty="0"/>
          </a:p>
        </p:txBody>
      </p:sp>
    </p:spTree>
    <p:extLst>
      <p:ext uri="{BB962C8B-B14F-4D97-AF65-F5344CB8AC3E}">
        <p14:creationId xmlns:p14="http://schemas.microsoft.com/office/powerpoint/2010/main" val="219364286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21.4.4: Configure ACLs
</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dirty="0"/>
          </a:p>
        </p:txBody>
      </p:sp>
    </p:spTree>
    <p:extLst>
      <p:ext uri="{BB962C8B-B14F-4D97-AF65-F5344CB8AC3E}">
        <p14:creationId xmlns:p14="http://schemas.microsoft.com/office/powerpoint/2010/main" val="30684402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21.4.4: Configure ACLs
</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dirty="0"/>
          </a:p>
        </p:txBody>
      </p:sp>
    </p:spTree>
    <p:extLst>
      <p:ext uri="{BB962C8B-B14F-4D97-AF65-F5344CB8AC3E}">
        <p14:creationId xmlns:p14="http://schemas.microsoft.com/office/powerpoint/2010/main" val="238527645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21.4.5: Apply ACLs
</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dirty="0"/>
          </a:p>
        </p:txBody>
      </p:sp>
    </p:spTree>
    <p:extLst>
      <p:ext uri="{BB962C8B-B14F-4D97-AF65-F5344CB8AC3E}">
        <p14:creationId xmlns:p14="http://schemas.microsoft.com/office/powerpoint/2010/main" val="116043727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21.4.6: ACLs and Object Groups
</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dirty="0"/>
          </a:p>
        </p:txBody>
      </p:sp>
    </p:spTree>
    <p:extLst>
      <p:ext uri="{BB962C8B-B14F-4D97-AF65-F5344CB8AC3E}">
        <p14:creationId xmlns:p14="http://schemas.microsoft.com/office/powerpoint/2010/main" val="25612257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21.4.7: ACLs and Object Groups
</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dirty="0"/>
          </a:p>
        </p:txBody>
      </p:sp>
    </p:spTree>
    <p:extLst>
      <p:ext uri="{BB962C8B-B14F-4D97-AF65-F5344CB8AC3E}">
        <p14:creationId xmlns:p14="http://schemas.microsoft.com/office/powerpoint/2010/main" val="184875327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21.4.7: ACL Using Object Groups Examples</a:t>
            </a:r>
          </a:p>
          <a:p>
            <a:r>
              <a:rPr lang="en-US" dirty="0"/>
              <a:t>21.4.8: Syntax Checker - Configure an ASA ACL Using Object Groups with the CLI
</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dirty="0"/>
          </a:p>
        </p:txBody>
      </p:sp>
    </p:spTree>
    <p:extLst>
      <p:ext uri="{BB962C8B-B14F-4D97-AF65-F5344CB8AC3E}">
        <p14:creationId xmlns:p14="http://schemas.microsoft.com/office/powerpoint/2010/main" val="315312635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21.4: ASA ACLs
21.4.7: ACL Using Object Groups Examples</a:t>
            </a:r>
          </a:p>
          <a:p>
            <a:r>
              <a:rPr lang="en-US" dirty="0"/>
              <a:t>21.4.8: Syntax Checker - Configure an ASA ACL Using Object Groups with the CLI
</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dirty="0"/>
          </a:p>
        </p:txBody>
      </p:sp>
    </p:spTree>
    <p:extLst>
      <p:ext uri="{BB962C8B-B14F-4D97-AF65-F5344CB8AC3E}">
        <p14:creationId xmlns:p14="http://schemas.microsoft.com/office/powerpoint/2010/main" val="378210921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21.5: NAT Services on an ASA
</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dirty="0"/>
          </a:p>
        </p:txBody>
      </p:sp>
    </p:spTree>
    <p:extLst>
      <p:ext uri="{BB962C8B-B14F-4D97-AF65-F5344CB8AC3E}">
        <p14:creationId xmlns:p14="http://schemas.microsoft.com/office/powerpoint/2010/main" val="65583008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21.5: NAT Services on an ASA
21.5.1: ASA NAT Overview
</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dirty="0"/>
          </a:p>
        </p:txBody>
      </p:sp>
    </p:spTree>
    <p:extLst>
      <p:ext uri="{BB962C8B-B14F-4D97-AF65-F5344CB8AC3E}">
        <p14:creationId xmlns:p14="http://schemas.microsoft.com/office/powerpoint/2010/main" val="187036253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21.5: NAT Services on an ASA
21.5.2: Configure Dynamic NAT</a:t>
            </a:r>
          </a:p>
          <a:p>
            <a:r>
              <a:rPr lang="en-US" dirty="0"/>
              <a:t>21.5.3: Syntax Checker - Configure ASA Dynamic NAT with the CLI
</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dirty="0"/>
          </a:p>
        </p:txBody>
      </p:sp>
    </p:spTree>
    <p:extLst>
      <p:ext uri="{BB962C8B-B14F-4D97-AF65-F5344CB8AC3E}">
        <p14:creationId xmlns:p14="http://schemas.microsoft.com/office/powerpoint/2010/main" val="92359157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21.5: NAT Services on an ASA
21.5.2: Configure Dynamic NAT</a:t>
            </a:r>
          </a:p>
          <a:p>
            <a:r>
              <a:rPr lang="en-US" dirty="0"/>
              <a:t>21.5.3: Syntax Checker - Configure ASA Dynamic NAT with the CLI
</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dirty="0"/>
          </a:p>
        </p:txBody>
      </p:sp>
    </p:spTree>
    <p:extLst>
      <p:ext uri="{BB962C8B-B14F-4D97-AF65-F5344CB8AC3E}">
        <p14:creationId xmlns:p14="http://schemas.microsoft.com/office/powerpoint/2010/main" val="399506641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21.5: NAT Services on an ASA
21.5.2: Configure Dynamic NAT</a:t>
            </a:r>
          </a:p>
          <a:p>
            <a:r>
              <a:rPr lang="en-US" dirty="0"/>
              <a:t>21.5.3: Syntax Checker - Configure ASA Dynamic NAT with the CLI
</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dirty="0"/>
          </a:p>
        </p:txBody>
      </p:sp>
    </p:spTree>
    <p:extLst>
      <p:ext uri="{BB962C8B-B14F-4D97-AF65-F5344CB8AC3E}">
        <p14:creationId xmlns:p14="http://schemas.microsoft.com/office/powerpoint/2010/main" val="320096545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21.5: NAT Services on an ASA
21.5.2: Configure Dynamic NAT</a:t>
            </a:r>
          </a:p>
          <a:p>
            <a:r>
              <a:rPr lang="en-US" dirty="0"/>
              <a:t>21.5.3: Syntax Checker - Configure ASA Dynamic NAT with the CLI
</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dirty="0"/>
          </a:p>
        </p:txBody>
      </p:sp>
    </p:spTree>
    <p:extLst>
      <p:ext uri="{BB962C8B-B14F-4D97-AF65-F5344CB8AC3E}">
        <p14:creationId xmlns:p14="http://schemas.microsoft.com/office/powerpoint/2010/main" val="401459328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21.5: NAT Services on an ASA
21.5.4: Configure Dynamic PAT
</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dirty="0"/>
          </a:p>
        </p:txBody>
      </p:sp>
    </p:spTree>
    <p:extLst>
      <p:ext uri="{BB962C8B-B14F-4D97-AF65-F5344CB8AC3E}">
        <p14:creationId xmlns:p14="http://schemas.microsoft.com/office/powerpoint/2010/main" val="100097001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21.5: NAT Services on an ASA
21.5.5: Configure Static NAT</a:t>
            </a:r>
          </a:p>
          <a:p>
            <a:r>
              <a:rPr lang="en-US" dirty="0"/>
              <a:t>21.5.6: Syntax Checker - Configure the ASA DMZ and Static NAT with the CLI
</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dirty="0"/>
          </a:p>
        </p:txBody>
      </p:sp>
    </p:spTree>
    <p:extLst>
      <p:ext uri="{BB962C8B-B14F-4D97-AF65-F5344CB8AC3E}">
        <p14:creationId xmlns:p14="http://schemas.microsoft.com/office/powerpoint/2010/main" val="149575532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21.5: NAT Services on an ASA
21.5.5: Configure Static NAT</a:t>
            </a:r>
          </a:p>
          <a:p>
            <a:r>
              <a:rPr lang="en-US" dirty="0"/>
              <a:t>21.5.6: Syntax Checker - Configure the ASA DMZ and Static NAT with the CLI
</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dirty="0"/>
          </a:p>
        </p:txBody>
      </p:sp>
    </p:spTree>
    <p:extLst>
      <p:ext uri="{BB962C8B-B14F-4D97-AF65-F5344CB8AC3E}">
        <p14:creationId xmlns:p14="http://schemas.microsoft.com/office/powerpoint/2010/main" val="372646250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21.6: AAA
</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dirty="0"/>
          </a:p>
        </p:txBody>
      </p:sp>
    </p:spTree>
    <p:extLst>
      <p:ext uri="{BB962C8B-B14F-4D97-AF65-F5344CB8AC3E}">
        <p14:creationId xmlns:p14="http://schemas.microsoft.com/office/powerpoint/2010/main" val="239062819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21.6: AAA
21.6.1: AAA Review
</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dirty="0"/>
          </a:p>
        </p:txBody>
      </p:sp>
    </p:spTree>
    <p:extLst>
      <p:ext uri="{BB962C8B-B14F-4D97-AF65-F5344CB8AC3E}">
        <p14:creationId xmlns:p14="http://schemas.microsoft.com/office/powerpoint/2010/main" val="321441359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21.6: AAA
21.6.2: Local Database and Servers
</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dirty="0"/>
          </a:p>
        </p:txBody>
      </p:sp>
    </p:spTree>
    <p:extLst>
      <p:ext uri="{BB962C8B-B14F-4D97-AF65-F5344CB8AC3E}">
        <p14:creationId xmlns:p14="http://schemas.microsoft.com/office/powerpoint/2010/main" val="15714090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21.6: AAA
21.6.3: AAA Configuration</a:t>
            </a:r>
          </a:p>
          <a:p>
            <a:r>
              <a:rPr lang="en-US" dirty="0"/>
              <a:t>21.6.4: Syntax Checker - Configure AAA on the ASA with the CLI
</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dirty="0"/>
          </a:p>
        </p:txBody>
      </p:sp>
    </p:spTree>
    <p:extLst>
      <p:ext uri="{BB962C8B-B14F-4D97-AF65-F5344CB8AC3E}">
        <p14:creationId xmlns:p14="http://schemas.microsoft.com/office/powerpoint/2010/main" val="303964337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21.6: AAA
21.6.3: AAA Configuration</a:t>
            </a:r>
          </a:p>
          <a:p>
            <a:r>
              <a:rPr lang="en-US" dirty="0"/>
              <a:t>21.6.4: Syntax Checker - Configure AAA on the ASA with the CLI
</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dirty="0"/>
          </a:p>
        </p:txBody>
      </p:sp>
    </p:spTree>
    <p:extLst>
      <p:ext uri="{BB962C8B-B14F-4D97-AF65-F5344CB8AC3E}">
        <p14:creationId xmlns:p14="http://schemas.microsoft.com/office/powerpoint/2010/main" val="336057681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21.7: Service Policies on an ASA
</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dirty="0"/>
          </a:p>
        </p:txBody>
      </p:sp>
    </p:spTree>
    <p:extLst>
      <p:ext uri="{BB962C8B-B14F-4D97-AF65-F5344CB8AC3E}">
        <p14:creationId xmlns:p14="http://schemas.microsoft.com/office/powerpoint/2010/main" val="232167869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21.7: Service Policies on an ASA
21.7.1: Overview of MPF
</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dirty="0"/>
          </a:p>
        </p:txBody>
      </p:sp>
    </p:spTree>
    <p:extLst>
      <p:ext uri="{BB962C8B-B14F-4D97-AF65-F5344CB8AC3E}">
        <p14:creationId xmlns:p14="http://schemas.microsoft.com/office/powerpoint/2010/main" val="36654376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21.7: Service Policies on an ASA
21.7.1: Overview of MPF
</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dirty="0"/>
          </a:p>
        </p:txBody>
      </p:sp>
    </p:spTree>
    <p:extLst>
      <p:ext uri="{BB962C8B-B14F-4D97-AF65-F5344CB8AC3E}">
        <p14:creationId xmlns:p14="http://schemas.microsoft.com/office/powerpoint/2010/main" val="371763439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21.7: Service Policies on an ASA
21.7.2: Configure Class Maps
</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dirty="0"/>
          </a:p>
        </p:txBody>
      </p:sp>
    </p:spTree>
    <p:extLst>
      <p:ext uri="{BB962C8B-B14F-4D97-AF65-F5344CB8AC3E}">
        <p14:creationId xmlns:p14="http://schemas.microsoft.com/office/powerpoint/2010/main" val="54872036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21.7: Service Policies on an ASA
21.7.3: Define and Activate a Policy</a:t>
            </a:r>
          </a:p>
          <a:p>
            <a:r>
              <a:rPr lang="en-US" dirty="0"/>
              <a:t>21.7.4: Syntax Checker - Define and Activate a Policy
</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dirty="0"/>
          </a:p>
        </p:txBody>
      </p:sp>
    </p:spTree>
    <p:extLst>
      <p:ext uri="{BB962C8B-B14F-4D97-AF65-F5344CB8AC3E}">
        <p14:creationId xmlns:p14="http://schemas.microsoft.com/office/powerpoint/2010/main" val="136252046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ASA Firewall Configuration
21.7: Service Policies on an ASA
21.7.3: Define and Activate a Policy</a:t>
            </a:r>
          </a:p>
          <a:p>
            <a:r>
              <a:rPr lang="en-US" dirty="0"/>
              <a:t>21.7.4: Syntax Checker - Define and Activate a Policy
</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dirty="0"/>
          </a:p>
        </p:txBody>
      </p:sp>
    </p:spTree>
    <p:extLst>
      <p:ext uri="{BB962C8B-B14F-4D97-AF65-F5344CB8AC3E}">
        <p14:creationId xmlns:p14="http://schemas.microsoft.com/office/powerpoint/2010/main" val="269121001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5811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8758826"/>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83325014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620161554"/>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19396831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04899088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0380349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1737802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35431470"/>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508113498"/>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1303466643"/>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2348672695"/>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181937529"/>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46795597"/>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214730343"/>
      </p:ext>
    </p:extLst>
  </p:cSld>
  <p:clrMapOvr>
    <a:masterClrMapping/>
  </p:clrMapOvr>
  <p:transition spd="slow">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5"/>
            <a:ext cx="8853286" cy="378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113352089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 id="2147483671"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106578949"/>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0.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8.xml"/><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6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1.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6.xml"/><Relationship Id="rId1" Type="http://schemas.openxmlformats.org/officeDocument/2006/relationships/slideLayout" Target="../slideLayouts/slideLayout6.xml"/><Relationship Id="rId4" Type="http://schemas.openxmlformats.org/officeDocument/2006/relationships/image" Target="../media/image50.png"/></Relationships>
</file>

<file path=ppt/slides/_rels/slide7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7.xml"/><Relationship Id="rId1" Type="http://schemas.openxmlformats.org/officeDocument/2006/relationships/slideLayout" Target="../slideLayouts/slideLayout6.xml"/><Relationship Id="rId5" Type="http://schemas.openxmlformats.org/officeDocument/2006/relationships/image" Target="../media/image61.png"/><Relationship Id="rId4" Type="http://schemas.openxmlformats.org/officeDocument/2006/relationships/image" Target="../media/image60.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7.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20: Introduction to the ASA</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Introduction to the ASA</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how the ASA operates as an advanced stateful firewall.</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773482184"/>
              </p:ext>
            </p:extLst>
          </p:nvPr>
        </p:nvGraphicFramePr>
        <p:xfrm>
          <a:off x="423333" y="1625600"/>
          <a:ext cx="8263467" cy="1047076"/>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r>
                        <a:rPr lang="en-US" dirty="0"/>
                        <a:t>ASA Solutions</a:t>
                      </a:r>
                    </a:p>
                  </a:txBody>
                  <a:tcPr anchor="ctr"/>
                </a:tc>
                <a:tc>
                  <a:txBody>
                    <a:bodyPr/>
                    <a:lstStyle/>
                    <a:p>
                      <a:r>
                        <a:rPr lang="en-US" dirty="0"/>
                        <a:t>Compare ASA solutions to other routing firewall technologies.</a:t>
                      </a:r>
                    </a:p>
                  </a:txBody>
                  <a:tcPr anchor="ctr"/>
                </a:tc>
                <a:extLst>
                  <a:ext uri="{0D108BD9-81ED-4DB2-BD59-A6C34878D82A}">
                    <a16:rowId xmlns:a16="http://schemas.microsoft.com/office/drawing/2014/main" val="3530891527"/>
                  </a:ext>
                </a:extLst>
              </a:tr>
              <a:tr h="263724">
                <a:tc>
                  <a:txBody>
                    <a:bodyPr/>
                    <a:lstStyle/>
                    <a:p>
                      <a:r>
                        <a:rPr lang="en-US" b="1" dirty="0"/>
                        <a:t>The ASA 5506-X with FirePOWER Services</a:t>
                      </a:r>
                      <a:endParaRPr lang="en-US" dirty="0"/>
                    </a:p>
                  </a:txBody>
                  <a:tcPr anchor="ctr"/>
                </a:tc>
                <a:tc>
                  <a:txBody>
                    <a:bodyPr/>
                    <a:lstStyle/>
                    <a:p>
                      <a:r>
                        <a:rPr lang="en-US" dirty="0"/>
                        <a:t>Describe three ASA deployment scenarios.</a:t>
                      </a:r>
                    </a:p>
                  </a:txBody>
                  <a:tcPr anchor="ctr"/>
                </a:tc>
                <a:extLst>
                  <a:ext uri="{0D108BD9-81ED-4DB2-BD59-A6C34878D82A}">
                    <a16:rowId xmlns:a16="http://schemas.microsoft.com/office/drawing/2014/main" val="66289294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20.1 ASA Solutions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Solutions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Firewall Models</a:t>
            </a:r>
          </a:p>
        </p:txBody>
      </p:sp>
      <p:sp>
        <p:nvSpPr>
          <p:cNvPr id="5" name="Object4"/>
          <p:cNvSpPr/>
          <p:nvPr/>
        </p:nvSpPr>
        <p:spPr>
          <a:xfrm>
            <a:off x="65313" y="779780"/>
            <a:ext cx="9020629" cy="2571750"/>
          </a:xfrm>
          <a:prstGeom prst="rect">
            <a:avLst/>
          </a:prstGeom>
          <a:noFill/>
          <a:ln/>
        </p:spPr>
        <p:txBody>
          <a:bodyPr wrap="square" rtlCol="0" anchor="t"/>
          <a:lstStyle/>
          <a:p>
            <a:pPr>
              <a:lnSpc>
                <a:spcPts val="2000"/>
              </a:lnSpc>
            </a:pPr>
            <a:r>
              <a:rPr lang="en-US" sz="1500" dirty="0">
                <a:latin typeface="Arial" panose="020B0604020202020204" pitchFamily="34" charset="0"/>
                <a:cs typeface="Arial" panose="020B0604020202020204" pitchFamily="34" charset="0"/>
              </a:rPr>
              <a:t>The </a:t>
            </a:r>
            <a:r>
              <a:rPr lang="en-US" sz="1500" b="1" dirty="0">
                <a:latin typeface="Arial" panose="020B0604020202020204" pitchFamily="34" charset="0"/>
                <a:cs typeface="Arial" panose="020B0604020202020204" pitchFamily="34" charset="0"/>
              </a:rPr>
              <a:t>Cisco ASA with FirePOWER Services </a:t>
            </a:r>
            <a:r>
              <a:rPr lang="en-US" sz="1500" dirty="0">
                <a:latin typeface="Arial" panose="020B0604020202020204" pitchFamily="34" charset="0"/>
                <a:cs typeface="Arial" panose="020B0604020202020204" pitchFamily="34" charset="0"/>
              </a:rPr>
              <a:t>family of products provides dedicated firewall services in one device. These are next-generation firewall (NGFW) devices that deliver integrated threat defense across the entire attack continuum. They combine proven </a:t>
            </a:r>
            <a:r>
              <a:rPr lang="en-US" sz="1500" u="sng" dirty="0">
                <a:latin typeface="Arial" panose="020B0604020202020204" pitchFamily="34" charset="0"/>
                <a:cs typeface="Arial" panose="020B0604020202020204" pitchFamily="34" charset="0"/>
              </a:rPr>
              <a:t>ASA firewalls </a:t>
            </a:r>
            <a:r>
              <a:rPr lang="en-US" sz="1500" dirty="0">
                <a:latin typeface="Arial" panose="020B0604020202020204" pitchFamily="34" charset="0"/>
                <a:cs typeface="Arial" panose="020B0604020202020204" pitchFamily="34" charset="0"/>
              </a:rPr>
              <a:t>with </a:t>
            </a:r>
            <a:r>
              <a:rPr lang="en-US" sz="1500" u="sng" dirty="0">
                <a:latin typeface="Arial" panose="020B0604020202020204" pitchFamily="34" charset="0"/>
                <a:cs typeface="Arial" panose="020B0604020202020204" pitchFamily="34" charset="0"/>
              </a:rPr>
              <a:t>Sourcefire threat and advanced malware protection in a single device</a:t>
            </a:r>
            <a:r>
              <a:rPr lang="en-US" sz="1500" dirty="0">
                <a:latin typeface="Arial" panose="020B0604020202020204" pitchFamily="34" charset="0"/>
                <a:cs typeface="Arial" panose="020B0604020202020204" pitchFamily="34" charset="0"/>
              </a:rPr>
              <a:t>. These include Cisco Firepower 1000, Cisco Firepower 2100, Cisco Firepower 4100, Cisco Firepower 9300. All models provide advanced stateful firewall features and VPN functionality. The biggest difference between the models is the maximum traffic throughput handled by each model and the number and types of interfaces.</a:t>
            </a:r>
          </a:p>
          <a:p>
            <a:pPr>
              <a:lnSpc>
                <a:spcPts val="2000"/>
              </a:lnSpc>
            </a:pPr>
            <a:endParaRPr lang="en-US" sz="1500" dirty="0">
              <a:latin typeface="Arial" panose="020B0604020202020204" pitchFamily="34" charset="0"/>
              <a:cs typeface="Arial" panose="020B0604020202020204" pitchFamily="34" charset="0"/>
            </a:endParaRPr>
          </a:p>
          <a:p>
            <a:pPr>
              <a:lnSpc>
                <a:spcPts val="2000"/>
              </a:lnSpc>
            </a:pPr>
            <a:r>
              <a:rPr lang="en-US" sz="1500" dirty="0">
                <a:latin typeface="Arial" panose="020B0604020202020204" pitchFamily="34" charset="0"/>
                <a:cs typeface="Arial" panose="020B0604020202020204" pitchFamily="34" charset="0"/>
              </a:rPr>
              <a:t>Cisco also supports the virtualization of computing infrastructure by taking advantage of the increased power availability of modern x86 servers. The </a:t>
            </a:r>
            <a:r>
              <a:rPr lang="en-US" sz="1500" b="1" dirty="0">
                <a:latin typeface="Arial" panose="020B0604020202020204" pitchFamily="34" charset="0"/>
                <a:cs typeface="Arial" panose="020B0604020202020204" pitchFamily="34" charset="0"/>
              </a:rPr>
              <a:t>Cisco Adaptive Security Virtual Appliance </a:t>
            </a:r>
            <a:r>
              <a:rPr lang="en-US" sz="1500" dirty="0">
                <a:latin typeface="Arial" panose="020B0604020202020204" pitchFamily="34" charset="0"/>
                <a:cs typeface="Arial" panose="020B0604020202020204" pitchFamily="34" charset="0"/>
              </a:rPr>
              <a:t>(ASAv) brings the power of ASA appliances to the virtual domain.</a:t>
            </a:r>
          </a:p>
          <a:p>
            <a:pPr>
              <a:lnSpc>
                <a:spcPts val="2000"/>
              </a:lnSpc>
            </a:pP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To provide a suitable fit for customer needs, Cisco ASAv is available in five models: Cisco ASAv5, Cisco ASAv10, Cisco ASAv30, Cisco ASAv50, Cisco ASAv100. The focus of this module will be on the ASA 5506-X which is designed for small business, branch office, and enterprise teleworker implementations.</a:t>
            </a:r>
            <a:endParaRPr lang="en-US" sz="1400" dirty="0"/>
          </a:p>
          <a:p>
            <a:pPr>
              <a:lnSpc>
                <a:spcPts val="2000"/>
              </a:lnSpc>
            </a:pPr>
            <a:endParaRPr lang="en-US" sz="1400" dirty="0"/>
          </a:p>
          <a:p>
            <a:pPr>
              <a:lnSpc>
                <a:spcPts val="2000"/>
              </a:lnSpc>
            </a:pPr>
            <a:endParaRPr lang="en-US" sz="1400" dirty="0"/>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Solutions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Advanced ASA Firewall Features</a:t>
            </a:r>
          </a:p>
        </p:txBody>
      </p:sp>
      <p:sp>
        <p:nvSpPr>
          <p:cNvPr id="5" name="Object4"/>
          <p:cNvSpPr/>
          <p:nvPr/>
        </p:nvSpPr>
        <p:spPr>
          <a:xfrm>
            <a:off x="0" y="914399"/>
            <a:ext cx="4317455" cy="3288145"/>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 single ASA can be partitioned into multiple virtual devices, as illustrated here. Each virtual device is called a security context. Each context is an independent device, with its own security policy, interfaces, and administrators. Multiple contexts are similar to having multiple standalone devices. Many features are supported in multiple context modes, including routing tables, firewall features, IPS, and management. Some features are not supported, including VPN and dynamic routing protocols.</a:t>
            </a:r>
          </a:p>
        </p:txBody>
      </p:sp>
      <p:pic>
        <p:nvPicPr>
          <p:cNvPr id="6" name="Picture 5">
            <a:extLst>
              <a:ext uri="{FF2B5EF4-FFF2-40B4-BE49-F238E27FC236}">
                <a16:creationId xmlns:a16="http://schemas.microsoft.com/office/drawing/2014/main" id="{4ADCE4D2-C2BA-474B-A24F-748359FBFC45}"/>
              </a:ext>
            </a:extLst>
          </p:cNvPr>
          <p:cNvPicPr>
            <a:picLocks noChangeAspect="1"/>
          </p:cNvPicPr>
          <p:nvPr/>
        </p:nvPicPr>
        <p:blipFill>
          <a:blip r:embed="rId3"/>
          <a:stretch>
            <a:fillRect/>
          </a:stretch>
        </p:blipFill>
        <p:spPr>
          <a:xfrm>
            <a:off x="4413219" y="847312"/>
            <a:ext cx="4502181" cy="286743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Solutions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Advanced ASA Firewall Features (Cont.)</a:t>
            </a:r>
          </a:p>
        </p:txBody>
      </p:sp>
      <p:sp>
        <p:nvSpPr>
          <p:cNvPr id="5" name="Object4"/>
          <p:cNvSpPr/>
          <p:nvPr/>
        </p:nvSpPr>
        <p:spPr>
          <a:xfrm>
            <a:off x="0" y="914400"/>
            <a:ext cx="3962399"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As shown here, two identical ASAs can be paired into an active / standby failover configuration to provide device redundancy. Both platforms must be identical in software, licensing, memory, and interfaces, including the Security Services Module (SSM). In the example, ASA-1 is the primary/active forwarding device and traffic leaving PC-1 takes the preferred path using ASA-1. ASA-1 and ASA-2 monitor each other using the LAN failover link. If ASA-1 fails, then ASA-2 would immediately assume the primary role and become active.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a:t>
            </a:fld>
            <a:endParaRPr lang="en-US" dirty="0"/>
          </a:p>
        </p:txBody>
      </p:sp>
      <p:pic>
        <p:nvPicPr>
          <p:cNvPr id="6" name="Picture 5">
            <a:extLst>
              <a:ext uri="{FF2B5EF4-FFF2-40B4-BE49-F238E27FC236}">
                <a16:creationId xmlns:a16="http://schemas.microsoft.com/office/drawing/2014/main" id="{EF61C247-C90B-48F3-823C-A1836932FCD7}"/>
              </a:ext>
            </a:extLst>
          </p:cNvPr>
          <p:cNvPicPr>
            <a:picLocks noChangeAspect="1"/>
          </p:cNvPicPr>
          <p:nvPr/>
        </p:nvPicPr>
        <p:blipFill>
          <a:blip r:embed="rId3"/>
          <a:stretch>
            <a:fillRect/>
          </a:stretch>
        </p:blipFill>
        <p:spPr>
          <a:xfrm>
            <a:off x="3962399" y="936914"/>
            <a:ext cx="4865657" cy="2979304"/>
          </a:xfrm>
          <a:prstGeom prst="rect">
            <a:avLst/>
          </a:prstGeom>
        </p:spPr>
      </p:pic>
    </p:spTree>
    <p:extLst>
      <p:ext uri="{BB962C8B-B14F-4D97-AF65-F5344CB8AC3E}">
        <p14:creationId xmlns:p14="http://schemas.microsoft.com/office/powerpoint/2010/main" val="3214891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Solutions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Advanced ASA Firewall Features (Cont.)</a:t>
            </a:r>
          </a:p>
        </p:txBody>
      </p:sp>
      <p:sp>
        <p:nvSpPr>
          <p:cNvPr id="5" name="Object4"/>
          <p:cNvSpPr/>
          <p:nvPr/>
        </p:nvSpPr>
        <p:spPr>
          <a:xfrm>
            <a:off x="0" y="914400"/>
            <a:ext cx="4230255"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ASA provides optional, granular access control based on an association of IP addresses to Windows Active Directory login information. For example, in the figure, when a client attempts to access the server resources, it must first be authenticated using the Microsoft Active Directory Identity-based firewall services. These services enhance the existing access control and security policy mechanisms by allowing users, or groups, to be specified in place of source IP addresses. Identity-based security policies can be interleaved without restriction between traditional IP address-based rules.</a:t>
            </a:r>
          </a:p>
        </p:txBody>
      </p:sp>
      <p:pic>
        <p:nvPicPr>
          <p:cNvPr id="6" name="Picture 5">
            <a:extLst>
              <a:ext uri="{FF2B5EF4-FFF2-40B4-BE49-F238E27FC236}">
                <a16:creationId xmlns:a16="http://schemas.microsoft.com/office/drawing/2014/main" id="{ACF61DD1-3995-4792-8C62-A654C9380B81}"/>
              </a:ext>
            </a:extLst>
          </p:cNvPr>
          <p:cNvPicPr>
            <a:picLocks noChangeAspect="1"/>
          </p:cNvPicPr>
          <p:nvPr/>
        </p:nvPicPr>
        <p:blipFill>
          <a:blip r:embed="rId3"/>
          <a:stretch>
            <a:fillRect/>
          </a:stretch>
        </p:blipFill>
        <p:spPr>
          <a:xfrm>
            <a:off x="4331837" y="1090423"/>
            <a:ext cx="4354963" cy="221970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a:t>
            </a:fld>
            <a:endParaRPr lang="en-US" dirty="0"/>
          </a:p>
        </p:txBody>
      </p:sp>
    </p:spTree>
    <p:extLst>
      <p:ext uri="{BB962C8B-B14F-4D97-AF65-F5344CB8AC3E}">
        <p14:creationId xmlns:p14="http://schemas.microsoft.com/office/powerpoint/2010/main" val="223746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Solutions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Advanced ASA Firewall Features (Cont.)</a:t>
            </a:r>
          </a:p>
        </p:txBody>
      </p:sp>
      <p:sp>
        <p:nvSpPr>
          <p:cNvPr id="5" name="Object4"/>
          <p:cNvSpPr/>
          <p:nvPr/>
        </p:nvSpPr>
        <p:spPr>
          <a:xfrm>
            <a:off x="1" y="914400"/>
            <a:ext cx="3953164"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ASA uses the Advanced Inspection and Prevention (AIP) modules. Antimalware capabilities can be deployed by integrating the Content Security and Control (CSC) module. The Cisco Advanced Inspection and Prevention Security Services Module (AIP-SSM) and Cisco Advanced Inspection and Prevention Security Services Card (AIP-SSC) deliver protection against tens of thousands of known exploits. </a:t>
            </a:r>
          </a:p>
        </p:txBody>
      </p:sp>
      <p:pic>
        <p:nvPicPr>
          <p:cNvPr id="6" name="Picture 5">
            <a:extLst>
              <a:ext uri="{FF2B5EF4-FFF2-40B4-BE49-F238E27FC236}">
                <a16:creationId xmlns:a16="http://schemas.microsoft.com/office/drawing/2014/main" id="{CD139A7A-D0F8-41BF-A86B-44C0594806C8}"/>
              </a:ext>
            </a:extLst>
          </p:cNvPr>
          <p:cNvPicPr>
            <a:picLocks noChangeAspect="1"/>
          </p:cNvPicPr>
          <p:nvPr/>
        </p:nvPicPr>
        <p:blipFill>
          <a:blip r:embed="rId3"/>
          <a:stretch>
            <a:fillRect/>
          </a:stretch>
        </p:blipFill>
        <p:spPr>
          <a:xfrm>
            <a:off x="4183313" y="821317"/>
            <a:ext cx="4902630" cy="303223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a:t>
            </a:fld>
            <a:endParaRPr lang="en-US" dirty="0"/>
          </a:p>
        </p:txBody>
      </p:sp>
    </p:spTree>
    <p:extLst>
      <p:ext uri="{BB962C8B-B14F-4D97-AF65-F5344CB8AC3E}">
        <p14:creationId xmlns:p14="http://schemas.microsoft.com/office/powerpoint/2010/main" val="2273407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Solutions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Cisco Firepower Series</a:t>
            </a:r>
          </a:p>
        </p:txBody>
      </p:sp>
      <p:sp>
        <p:nvSpPr>
          <p:cNvPr id="5" name="Object4"/>
          <p:cNvSpPr/>
          <p:nvPr/>
        </p:nvSpPr>
        <p:spPr>
          <a:xfrm>
            <a:off x="0" y="914400"/>
            <a:ext cx="8847274"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Cisco has introduced a new line of next-generation firewalls (NGFW) which combines their proven firewall technology with Sourcefire advanced threat and malware detection capabilities.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These NGFWs consolidate multiple security layers into a single platform, eliminating the cost of buying and managing multiple solutions. This integrated approach combines best-in-class security technology with multilayer protection that is integrated into a single device.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Cisco ASA 5500-X with FirePOWER Services devices are part of the new Cisco NGFWs. Designed for small to medium branch offices, the ASA 5500-X with FirePOWER Services merges the ASA 5500 stateful firewall features with some of the following advanced threat and malware detection capabilities: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Next-generation IPS (NGIPS)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Advanced Malware Protection (AMP)</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Application control and URL filtering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Solutions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Review of Firewalls in Network Design</a:t>
            </a:r>
          </a:p>
        </p:txBody>
      </p:sp>
      <p:sp>
        <p:nvSpPr>
          <p:cNvPr id="5" name="Object4"/>
          <p:cNvSpPr/>
          <p:nvPr/>
        </p:nvSpPr>
        <p:spPr>
          <a:xfrm>
            <a:off x="-1" y="708660"/>
            <a:ext cx="9259058" cy="2571750"/>
          </a:xfrm>
          <a:prstGeom prst="rect">
            <a:avLst/>
          </a:prstGeom>
          <a:noFill/>
          <a:ln/>
        </p:spPr>
        <p:txBody>
          <a:bodyPr wrap="square" rtlCol="0" anchor="t"/>
          <a:lstStyle/>
          <a:p>
            <a:r>
              <a:rPr lang="en-US" sz="1400" dirty="0">
                <a:effectLst/>
                <a:latin typeface="Arial" panose="020B0604020202020204" pitchFamily="34" charset="0"/>
                <a:cs typeface="Arial" panose="020B0604020202020204" pitchFamily="34" charset="0"/>
              </a:rPr>
              <a:t>When discussing networks that are connected to a firewall, there are some general terms to consider:</a:t>
            </a:r>
          </a:p>
          <a:p>
            <a:endParaRPr lang="en-US" sz="14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Outside network</a:t>
            </a:r>
            <a:r>
              <a:rPr lang="en-US" sz="1400" dirty="0">
                <a:effectLst/>
                <a:latin typeface="Arial" panose="020B0604020202020204" pitchFamily="34" charset="0"/>
                <a:cs typeface="Arial" panose="020B0604020202020204" pitchFamily="34" charset="0"/>
              </a:rPr>
              <a:t> - The network/zone that is outside the protection of the firewall.</a:t>
            </a: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Inside network</a:t>
            </a:r>
            <a:r>
              <a:rPr lang="en-US" sz="1400" dirty="0">
                <a:effectLst/>
                <a:latin typeface="Arial" panose="020B0604020202020204" pitchFamily="34" charset="0"/>
                <a:cs typeface="Arial" panose="020B0604020202020204" pitchFamily="34" charset="0"/>
              </a:rPr>
              <a:t> - The network/zone that is protected and behind the firewall.</a:t>
            </a:r>
          </a:p>
          <a:p>
            <a:pPr marL="742950" lvl="1" indent="-285750">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DMZ</a:t>
            </a:r>
            <a:r>
              <a:rPr lang="en-US" sz="1400" dirty="0">
                <a:effectLst/>
                <a:latin typeface="Arial" panose="020B0604020202020204" pitchFamily="34" charset="0"/>
                <a:cs typeface="Arial" panose="020B0604020202020204" pitchFamily="34" charset="0"/>
              </a:rPr>
              <a:t> - The demilitarized zone that allows both inside and outside users access to protected network resources.</a:t>
            </a:r>
          </a:p>
          <a:p>
            <a:endParaRPr lang="en-US" sz="1400" dirty="0">
              <a:effectLst/>
              <a:latin typeface="Arial" panose="020B0604020202020204" pitchFamily="34" charset="0"/>
              <a:cs typeface="Arial" panose="020B0604020202020204" pitchFamily="34" charset="0"/>
            </a:endParaRPr>
          </a:p>
          <a:p>
            <a:r>
              <a:rPr lang="en-US" sz="1400" dirty="0">
                <a:effectLst/>
                <a:latin typeface="Arial" panose="020B0604020202020204" pitchFamily="34" charset="0"/>
                <a:cs typeface="Arial" panose="020B0604020202020204" pitchFamily="34" charset="0"/>
              </a:rPr>
              <a:t>Firewalls protect inside networks from unauthorized access by users who are on an outside network. They also protect inside network users from each other. For example, by creating zones, an administrator can keep the network that is hosting the accounting servers separate from other networks in an organization.</a:t>
            </a:r>
          </a:p>
          <a:p>
            <a:endParaRPr lang="en-US" sz="1400" dirty="0">
              <a:effectLst/>
            </a:endParaRPr>
          </a:p>
        </p:txBody>
      </p:sp>
      <p:sp>
        <p:nvSpPr>
          <p:cNvPr id="8" name="TextBox 7">
            <a:extLst>
              <a:ext uri="{FF2B5EF4-FFF2-40B4-BE49-F238E27FC236}">
                <a16:creationId xmlns:a16="http://schemas.microsoft.com/office/drawing/2014/main" id="{FABF12A4-9B1B-41B2-A65B-D7153CEC3D6E}"/>
              </a:ext>
            </a:extLst>
          </p:cNvPr>
          <p:cNvSpPr txBox="1"/>
          <p:nvPr/>
        </p:nvSpPr>
        <p:spPr>
          <a:xfrm>
            <a:off x="51472" y="2908340"/>
            <a:ext cx="4611360" cy="209288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figure illustrates how these zones interact for permitted traffic:</a:t>
            </a:r>
          </a:p>
          <a:p>
            <a:pPr marL="171450" indent="-171450">
              <a:buFont typeface="Arial" panose="020B0604020202020204" pitchFamily="34" charset="0"/>
              <a:buChar char="•"/>
            </a:pPr>
            <a:r>
              <a:rPr lang="en-US" sz="1400" dirty="0">
                <a:latin typeface="Arial" panose="020B0604020202020204" pitchFamily="34" charset="0"/>
                <a:cs typeface="Arial" panose="020B0604020202020204" pitchFamily="34" charset="0"/>
              </a:rPr>
              <a:t>Traffic originating from the inside network going to the outside network is permitted.</a:t>
            </a:r>
          </a:p>
          <a:p>
            <a:pPr marL="171450" indent="-171450">
              <a:buFont typeface="Arial" panose="020B0604020202020204" pitchFamily="34" charset="0"/>
              <a:buChar char="•"/>
            </a:pPr>
            <a:r>
              <a:rPr lang="en-US" sz="1400" dirty="0">
                <a:latin typeface="Arial" panose="020B0604020202020204" pitchFamily="34" charset="0"/>
                <a:cs typeface="Arial" panose="020B0604020202020204" pitchFamily="34" charset="0"/>
              </a:rPr>
              <a:t>Traffic originating from the inside network going to the DMZ network is permitted.</a:t>
            </a:r>
          </a:p>
          <a:p>
            <a:pPr marL="171450" indent="-171450">
              <a:buFont typeface="Arial" panose="020B0604020202020204" pitchFamily="34" charset="0"/>
              <a:buChar char="•"/>
            </a:pPr>
            <a:r>
              <a:rPr lang="en-US" sz="1400" dirty="0">
                <a:latin typeface="Arial" panose="020B0604020202020204" pitchFamily="34" charset="0"/>
                <a:cs typeface="Arial" panose="020B0604020202020204" pitchFamily="34" charset="0"/>
              </a:rPr>
              <a:t>Traffic originating from the outside network going to the DMZ network is </a:t>
            </a:r>
            <a:r>
              <a:rPr lang="en-US" sz="1400" dirty="0">
                <a:effectLst/>
                <a:latin typeface="Arial" panose="020B0604020202020204" pitchFamily="34" charset="0"/>
                <a:cs typeface="Arial" panose="020B0604020202020204" pitchFamily="34" charset="0"/>
              </a:rPr>
              <a:t>selectively permitted.</a:t>
            </a:r>
          </a:p>
          <a:p>
            <a:endParaRPr lang="en-US" dirty="0"/>
          </a:p>
        </p:txBody>
      </p:sp>
      <p:pic>
        <p:nvPicPr>
          <p:cNvPr id="7" name="Picture 6">
            <a:extLst>
              <a:ext uri="{FF2B5EF4-FFF2-40B4-BE49-F238E27FC236}">
                <a16:creationId xmlns:a16="http://schemas.microsoft.com/office/drawing/2014/main" id="{131C11F0-4556-412F-A406-4D407408E71B}"/>
              </a:ext>
            </a:extLst>
          </p:cNvPr>
          <p:cNvPicPr>
            <a:picLocks noChangeAspect="1"/>
          </p:cNvPicPr>
          <p:nvPr/>
        </p:nvPicPr>
        <p:blipFill>
          <a:blip r:embed="rId3"/>
          <a:stretch>
            <a:fillRect/>
          </a:stretch>
        </p:blipFill>
        <p:spPr>
          <a:xfrm>
            <a:off x="5153889" y="3025418"/>
            <a:ext cx="2557931" cy="188948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Solutions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Review of Firewalls in Network Design (Cont.)</a:t>
            </a:r>
          </a:p>
        </p:txBody>
      </p:sp>
      <p:sp>
        <p:nvSpPr>
          <p:cNvPr id="5" name="Object4"/>
          <p:cNvSpPr/>
          <p:nvPr/>
        </p:nvSpPr>
        <p:spPr>
          <a:xfrm>
            <a:off x="0" y="914400"/>
            <a:ext cx="4329776" cy="16573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The figure illustrates how these zones interact for denied traffic:</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Traffic originating from the outside network going to the inside network is denied.</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Traffic originating from the DMZ network going to the inside network is denied.</a:t>
            </a:r>
          </a:p>
          <a:p>
            <a:pPr lvl="1"/>
            <a:endParaRPr lang="en-US" sz="1400" dirty="0">
              <a:effectLst/>
            </a:endParaRPr>
          </a:p>
          <a:p>
            <a:pPr lvl="1"/>
            <a:endParaRPr lang="en-US" sz="1400" dirty="0"/>
          </a:p>
        </p:txBody>
      </p:sp>
      <p:sp>
        <p:nvSpPr>
          <p:cNvPr id="8" name="TextBox 7">
            <a:extLst>
              <a:ext uri="{FF2B5EF4-FFF2-40B4-BE49-F238E27FC236}">
                <a16:creationId xmlns:a16="http://schemas.microsoft.com/office/drawing/2014/main" id="{9C31D6E5-AB42-416D-9C62-C39EB92D5091}"/>
              </a:ext>
            </a:extLst>
          </p:cNvPr>
          <p:cNvSpPr txBox="1"/>
          <p:nvPr/>
        </p:nvSpPr>
        <p:spPr>
          <a:xfrm>
            <a:off x="71154" y="2896280"/>
            <a:ext cx="4173842"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Cisco ISRs can provide firewall features by using either the Zone-Based Policy Firewall (ZPF) or by using the older context-based access control (CBAC) feature.</a:t>
            </a:r>
          </a:p>
        </p:txBody>
      </p:sp>
      <p:pic>
        <p:nvPicPr>
          <p:cNvPr id="7" name="Picture 6">
            <a:extLst>
              <a:ext uri="{FF2B5EF4-FFF2-40B4-BE49-F238E27FC236}">
                <a16:creationId xmlns:a16="http://schemas.microsoft.com/office/drawing/2014/main" id="{C977F6F5-096C-4721-961A-077AC087BB77}"/>
              </a:ext>
            </a:extLst>
          </p:cNvPr>
          <p:cNvPicPr>
            <a:picLocks noChangeAspect="1"/>
          </p:cNvPicPr>
          <p:nvPr/>
        </p:nvPicPr>
        <p:blipFill>
          <a:blip r:embed="rId3"/>
          <a:stretch>
            <a:fillRect/>
          </a:stretch>
        </p:blipFill>
        <p:spPr>
          <a:xfrm>
            <a:off x="4814226" y="1137934"/>
            <a:ext cx="3873629" cy="282632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Solutions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Firewall Modes of Operation</a:t>
            </a:r>
          </a:p>
        </p:txBody>
      </p:sp>
      <p:sp>
        <p:nvSpPr>
          <p:cNvPr id="5" name="Object4"/>
          <p:cNvSpPr/>
          <p:nvPr/>
        </p:nvSpPr>
        <p:spPr>
          <a:xfrm>
            <a:off x="0" y="914400"/>
            <a:ext cx="5020118" cy="16573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There are two firewall interface modes of operation available on ASA devices: routed mode and transparent mode.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In routed mode, two or more interfaces separate Layer 3 networks, i.e. domains.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In the figure, the ASA is considered to be a router hop in the network and can perform NAT between connected networks. Routed mode supports multiple interfaces. Each interface is on a different subnet and requires an IP address on that subnet. The ASA applies policies to flows as they transit the firewall.</a:t>
            </a:r>
          </a:p>
          <a:p>
            <a:pPr lvl="1"/>
            <a:endParaRPr lang="en-US" sz="1400" dirty="0">
              <a:effectLst/>
            </a:endParaRPr>
          </a:p>
          <a:p>
            <a:pPr lvl="1"/>
            <a:endParaRPr lang="en-US" sz="1400" dirty="0"/>
          </a:p>
        </p:txBody>
      </p:sp>
      <p:sp>
        <p:nvSpPr>
          <p:cNvPr id="9" name="Object4">
            <a:extLst>
              <a:ext uri="{FF2B5EF4-FFF2-40B4-BE49-F238E27FC236}">
                <a16:creationId xmlns:a16="http://schemas.microsoft.com/office/drawing/2014/main" id="{06D59F67-C84C-45A4-B92D-7977851F9D36}"/>
              </a:ext>
            </a:extLst>
          </p:cNvPr>
          <p:cNvSpPr/>
          <p:nvPr/>
        </p:nvSpPr>
        <p:spPr>
          <a:xfrm>
            <a:off x="5645729" y="710103"/>
            <a:ext cx="2484581" cy="390872"/>
          </a:xfrm>
          <a:prstGeom prst="rect">
            <a:avLst/>
          </a:prstGeom>
          <a:noFill/>
          <a:ln/>
        </p:spPr>
        <p:txBody>
          <a:bodyPr wrap="square" rtlCol="0" anchor="t"/>
          <a:lstStyle/>
          <a:p>
            <a:pPr algn="ctr"/>
            <a:r>
              <a:rPr lang="en-US" sz="1600" b="1" dirty="0">
                <a:latin typeface="Arial" panose="020B0604020202020204" pitchFamily="34" charset="0"/>
                <a:cs typeface="Arial" panose="020B0604020202020204" pitchFamily="34" charset="0"/>
              </a:rPr>
              <a:t>Routed Mode</a:t>
            </a:r>
            <a:endParaRPr lang="en-US" sz="1400" b="1" dirty="0"/>
          </a:p>
        </p:txBody>
      </p:sp>
      <p:pic>
        <p:nvPicPr>
          <p:cNvPr id="7" name="Picture 6">
            <a:extLst>
              <a:ext uri="{FF2B5EF4-FFF2-40B4-BE49-F238E27FC236}">
                <a16:creationId xmlns:a16="http://schemas.microsoft.com/office/drawing/2014/main" id="{29D5555E-950A-45DB-8331-B19BA6AC0EFF}"/>
              </a:ext>
            </a:extLst>
          </p:cNvPr>
          <p:cNvPicPr>
            <a:picLocks noChangeAspect="1"/>
          </p:cNvPicPr>
          <p:nvPr/>
        </p:nvPicPr>
        <p:blipFill rotWithShape="1">
          <a:blip r:embed="rId3"/>
          <a:srcRect l="6141" t="8413" r="4332" b="7725"/>
          <a:stretch/>
        </p:blipFill>
        <p:spPr>
          <a:xfrm>
            <a:off x="5255490" y="1025237"/>
            <a:ext cx="3431309" cy="292792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spTree>
    <p:extLst>
      <p:ext uri="{BB962C8B-B14F-4D97-AF65-F5344CB8AC3E}">
        <p14:creationId xmlns:p14="http://schemas.microsoft.com/office/powerpoint/2010/main" val="41870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Solutions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Firewall Modes of Operation (Cont.)</a:t>
            </a:r>
          </a:p>
        </p:txBody>
      </p:sp>
      <p:sp>
        <p:nvSpPr>
          <p:cNvPr id="5" name="Object4"/>
          <p:cNvSpPr/>
          <p:nvPr/>
        </p:nvSpPr>
        <p:spPr>
          <a:xfrm>
            <a:off x="0" y="914399"/>
            <a:ext cx="4174836" cy="2410691"/>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An ASA in transparent mode is often referred to as a “bump in the wire,” or a “stealth firewall” because the ASA functions like a Layer 2 device and is not considered a router hop. In the figure below, the ASA is only assigned an IP address on the local network for management purposes. This mode is useful to simplify a network configuration, or when the existing IP addressing cannot be altered. However, the drawbacks include no support for dynamic routing protocols, VPNs, QoS, or DHCP Relay.</a:t>
            </a:r>
            <a:endParaRPr lang="en-US" sz="1600" dirty="0">
              <a:effectLst/>
              <a:latin typeface="Arial" panose="020B0604020202020204" pitchFamily="34" charset="0"/>
              <a:cs typeface="Arial" panose="020B0604020202020204" pitchFamily="34" charset="0"/>
            </a:endParaRPr>
          </a:p>
          <a:p>
            <a:pPr lvl="1"/>
            <a:endParaRPr lang="en-US" sz="1400" dirty="0"/>
          </a:p>
        </p:txBody>
      </p:sp>
      <p:sp>
        <p:nvSpPr>
          <p:cNvPr id="11" name="Object4">
            <a:extLst>
              <a:ext uri="{FF2B5EF4-FFF2-40B4-BE49-F238E27FC236}">
                <a16:creationId xmlns:a16="http://schemas.microsoft.com/office/drawing/2014/main" id="{91C1CA7E-EB0A-4A76-B920-C1D1A6A404F1}"/>
              </a:ext>
            </a:extLst>
          </p:cNvPr>
          <p:cNvSpPr/>
          <p:nvPr/>
        </p:nvSpPr>
        <p:spPr>
          <a:xfrm>
            <a:off x="5515819" y="718963"/>
            <a:ext cx="2484581" cy="390872"/>
          </a:xfrm>
          <a:prstGeom prst="rect">
            <a:avLst/>
          </a:prstGeom>
          <a:noFill/>
          <a:ln/>
        </p:spPr>
        <p:txBody>
          <a:bodyPr wrap="square" rtlCol="0" anchor="t"/>
          <a:lstStyle/>
          <a:p>
            <a:pPr algn="ctr"/>
            <a:r>
              <a:rPr lang="en-US" sz="1600" b="1" dirty="0">
                <a:latin typeface="Arial" panose="020B0604020202020204" pitchFamily="34" charset="0"/>
                <a:cs typeface="Arial" panose="020B0604020202020204" pitchFamily="34" charset="0"/>
              </a:rPr>
              <a:t>Transparent Mode</a:t>
            </a:r>
            <a:endParaRPr lang="en-US" sz="1400" b="1" dirty="0"/>
          </a:p>
        </p:txBody>
      </p:sp>
      <p:pic>
        <p:nvPicPr>
          <p:cNvPr id="9" name="Picture 8">
            <a:extLst>
              <a:ext uri="{FF2B5EF4-FFF2-40B4-BE49-F238E27FC236}">
                <a16:creationId xmlns:a16="http://schemas.microsoft.com/office/drawing/2014/main" id="{A7B3B812-6F9F-4DC5-9359-5B740AFE51C9}"/>
              </a:ext>
            </a:extLst>
          </p:cNvPr>
          <p:cNvPicPr>
            <a:picLocks noChangeAspect="1"/>
          </p:cNvPicPr>
          <p:nvPr/>
        </p:nvPicPr>
        <p:blipFill>
          <a:blip r:embed="rId3"/>
          <a:stretch>
            <a:fillRect/>
          </a:stretch>
        </p:blipFill>
        <p:spPr>
          <a:xfrm>
            <a:off x="5064345" y="1100975"/>
            <a:ext cx="3387531" cy="320201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extLst>
      <p:ext uri="{BB962C8B-B14F-4D97-AF65-F5344CB8AC3E}">
        <p14:creationId xmlns:p14="http://schemas.microsoft.com/office/powerpoint/2010/main" val="917909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Solutions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Licensing Requirements</a:t>
            </a:r>
          </a:p>
        </p:txBody>
      </p:sp>
      <p:sp>
        <p:nvSpPr>
          <p:cNvPr id="5" name="Object4"/>
          <p:cNvSpPr/>
          <p:nvPr/>
        </p:nvSpPr>
        <p:spPr>
          <a:xfrm>
            <a:off x="0" y="914400"/>
            <a:ext cx="457200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 license specifies the options that are enabled on a given ASA. Most ASA appliances come pre-installed with either a Base license or a Security Plus license.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To provide more features to the ASA, additional time-based or optional licenses can be purchased.</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To verify the license information on an ASA device, use the </a:t>
            </a:r>
            <a:r>
              <a:rPr lang="en-US" sz="1600" b="1" dirty="0">
                <a:latin typeface="Arial" panose="020B0604020202020204" pitchFamily="34" charset="0"/>
                <a:cs typeface="Arial" panose="020B0604020202020204" pitchFamily="34" charset="0"/>
              </a:rPr>
              <a:t>show activation-key</a:t>
            </a:r>
            <a:r>
              <a:rPr lang="en-US" sz="1600" dirty="0">
                <a:latin typeface="Arial" panose="020B0604020202020204" pitchFamily="34" charset="0"/>
                <a:cs typeface="Arial" panose="020B0604020202020204" pitchFamily="34" charset="0"/>
              </a:rPr>
              <a:t> command, as shown below, or the </a:t>
            </a:r>
            <a:r>
              <a:rPr lang="en-US" sz="1600" b="1" dirty="0">
                <a:latin typeface="Arial" panose="020B0604020202020204" pitchFamily="34" charset="0"/>
                <a:cs typeface="Arial" panose="020B0604020202020204" pitchFamily="34" charset="0"/>
              </a:rPr>
              <a:t>show version</a:t>
            </a:r>
            <a:r>
              <a:rPr lang="en-US" sz="1600" dirty="0">
                <a:latin typeface="Arial" panose="020B0604020202020204" pitchFamily="34" charset="0"/>
                <a:cs typeface="Arial" panose="020B0604020202020204" pitchFamily="34" charset="0"/>
              </a:rPr>
              <a:t> command</a:t>
            </a:r>
            <a:r>
              <a:rPr lang="en-US" sz="1600" b="1"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F6EEF92-0165-4D21-95CF-BFE021AFA286}"/>
              </a:ext>
            </a:extLst>
          </p:cNvPr>
          <p:cNvPicPr>
            <a:picLocks noChangeAspect="1"/>
          </p:cNvPicPr>
          <p:nvPr/>
        </p:nvPicPr>
        <p:blipFill>
          <a:blip r:embed="rId3"/>
          <a:stretch>
            <a:fillRect/>
          </a:stretch>
        </p:blipFill>
        <p:spPr>
          <a:xfrm>
            <a:off x="4572000" y="840509"/>
            <a:ext cx="4343662" cy="331470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20.2 The ASA 5506-X with FirePOWER Services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The ASA 5506-X with FirePOWER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Overview of ASA 5506-X</a:t>
            </a:r>
          </a:p>
        </p:txBody>
      </p:sp>
      <p:sp>
        <p:nvSpPr>
          <p:cNvPr id="5" name="Object4"/>
          <p:cNvSpPr/>
          <p:nvPr/>
        </p:nvSpPr>
        <p:spPr>
          <a:xfrm>
            <a:off x="0" y="914400"/>
            <a:ext cx="8608291" cy="1657350"/>
          </a:xfrm>
          <a:prstGeom prst="rect">
            <a:avLst/>
          </a:prstGeom>
          <a:noFill/>
          <a:ln/>
        </p:spPr>
        <p:txBody>
          <a:bodyPr wrap="square" rtlCol="0" anchor="t"/>
          <a:lstStyle/>
          <a:p>
            <a:r>
              <a:rPr lang="en-US" sz="1500" dirty="0">
                <a:effectLst/>
                <a:latin typeface="Arial" panose="020B0604020202020204" pitchFamily="34" charset="0"/>
                <a:cs typeface="Arial" panose="020B0604020202020204" pitchFamily="34" charset="0"/>
              </a:rPr>
              <a:t>The Cisco ASA 5506-X delivers a high-performance firewall, SSL VPN, IPsec VPN, and rich networking services in a modular, plug-and-play appliance. </a:t>
            </a:r>
            <a:r>
              <a:rPr lang="en-US" sz="1500" dirty="0">
                <a:latin typeface="Arial" panose="020B0604020202020204" pitchFamily="34" charset="0"/>
                <a:cs typeface="Arial" panose="020B0604020202020204" pitchFamily="34" charset="0"/>
              </a:rPr>
              <a:t>The default DRAM memory is 4 GB and the default internal flash memory is 8 GB. In a failover configuration, the two units must be identical models with the same hardware configuration, the same number and types of interfaces, and the same amount of RAM. Failover is available with the Security Plus license.</a:t>
            </a:r>
          </a:p>
          <a:p>
            <a:endParaRPr lang="en-US" sz="1500" dirty="0">
              <a:effectLst/>
              <a:latin typeface="Arial" panose="020B0604020202020204" pitchFamily="34" charset="0"/>
              <a:cs typeface="Arial" panose="020B0604020202020204" pitchFamily="34" charset="0"/>
            </a:endParaRPr>
          </a:p>
          <a:p>
            <a:r>
              <a:rPr lang="en-US" sz="1500" dirty="0">
                <a:effectLst/>
                <a:latin typeface="Arial" panose="020B0604020202020204" pitchFamily="34" charset="0"/>
                <a:cs typeface="Arial" panose="020B0604020202020204" pitchFamily="34" charset="0"/>
              </a:rPr>
              <a:t>The figure illustrates the front panel of the ASA 5506-X.</a:t>
            </a:r>
          </a:p>
        </p:txBody>
      </p:sp>
      <p:pic>
        <p:nvPicPr>
          <p:cNvPr id="7" name="Picture 6">
            <a:extLst>
              <a:ext uri="{FF2B5EF4-FFF2-40B4-BE49-F238E27FC236}">
                <a16:creationId xmlns:a16="http://schemas.microsoft.com/office/drawing/2014/main" id="{CFBCE870-88BF-4B32-A1FC-7F6770EBF055}"/>
              </a:ext>
            </a:extLst>
          </p:cNvPr>
          <p:cNvPicPr>
            <a:picLocks noChangeAspect="1"/>
          </p:cNvPicPr>
          <p:nvPr/>
        </p:nvPicPr>
        <p:blipFill>
          <a:blip r:embed="rId3"/>
          <a:stretch>
            <a:fillRect/>
          </a:stretch>
        </p:blipFill>
        <p:spPr>
          <a:xfrm>
            <a:off x="1635456" y="2650836"/>
            <a:ext cx="5873088" cy="200050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The ASA 5506-X with FirePOWER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Overview of ASA 5506-X</a:t>
            </a:r>
          </a:p>
        </p:txBody>
      </p:sp>
      <p:sp>
        <p:nvSpPr>
          <p:cNvPr id="5" name="Object4"/>
          <p:cNvSpPr/>
          <p:nvPr/>
        </p:nvSpPr>
        <p:spPr>
          <a:xfrm>
            <a:off x="0" y="637309"/>
            <a:ext cx="6918036" cy="655782"/>
          </a:xfrm>
          <a:prstGeom prst="rect">
            <a:avLst/>
          </a:prstGeom>
          <a:noFill/>
          <a:ln/>
        </p:spPr>
        <p:txBody>
          <a:bodyPr wrap="square" rtlCol="0" anchor="t"/>
          <a:lstStyle/>
          <a:p>
            <a:endParaRPr lang="en-US" sz="1500" dirty="0">
              <a:effectLst/>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The figure illustrates the back panel of the Cisco ASA 5506-X.</a:t>
            </a:r>
            <a:endParaRPr lang="en-US" sz="1500" dirty="0">
              <a:effectLst/>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3347276-256D-430C-A4B6-B1D12FF25566}"/>
              </a:ext>
            </a:extLst>
          </p:cNvPr>
          <p:cNvPicPr>
            <a:picLocks noChangeAspect="1"/>
          </p:cNvPicPr>
          <p:nvPr/>
        </p:nvPicPr>
        <p:blipFill>
          <a:blip r:embed="rId3"/>
          <a:stretch>
            <a:fillRect/>
          </a:stretch>
        </p:blipFill>
        <p:spPr>
          <a:xfrm>
            <a:off x="640525" y="1248011"/>
            <a:ext cx="7862949" cy="348011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dirty="0"/>
          </a:p>
        </p:txBody>
      </p:sp>
    </p:spTree>
    <p:extLst>
      <p:ext uri="{BB962C8B-B14F-4D97-AF65-F5344CB8AC3E}">
        <p14:creationId xmlns:p14="http://schemas.microsoft.com/office/powerpoint/2010/main" val="502529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The ASA 5506-X with FirePOWER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Overview of ASA 5506-X (Cont.)</a:t>
            </a:r>
          </a:p>
        </p:txBody>
      </p:sp>
      <p:sp>
        <p:nvSpPr>
          <p:cNvPr id="5" name="Object4"/>
          <p:cNvSpPr/>
          <p:nvPr/>
        </p:nvSpPr>
        <p:spPr>
          <a:xfrm>
            <a:off x="0" y="914399"/>
            <a:ext cx="3048000" cy="3186546"/>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figure shows the inside components of the Cisco ASA 5506-X.</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Unlike the ASA 5505, the ASA 5506-X does not use switchports. All interfaces are routed and require IP addresses</a:t>
            </a:r>
            <a:r>
              <a:rPr lang="en-US" sz="1400" dirty="0"/>
              <a:t>.</a:t>
            </a:r>
          </a:p>
        </p:txBody>
      </p:sp>
      <p:pic>
        <p:nvPicPr>
          <p:cNvPr id="7" name="Picture 6">
            <a:extLst>
              <a:ext uri="{FF2B5EF4-FFF2-40B4-BE49-F238E27FC236}">
                <a16:creationId xmlns:a16="http://schemas.microsoft.com/office/drawing/2014/main" id="{FFC0339C-37AE-4469-BA31-3D2DAEB29305}"/>
              </a:ext>
            </a:extLst>
          </p:cNvPr>
          <p:cNvPicPr>
            <a:picLocks noChangeAspect="1"/>
          </p:cNvPicPr>
          <p:nvPr/>
        </p:nvPicPr>
        <p:blipFill>
          <a:blip r:embed="rId3"/>
          <a:stretch>
            <a:fillRect/>
          </a:stretch>
        </p:blipFill>
        <p:spPr>
          <a:xfrm>
            <a:off x="3149599" y="668798"/>
            <a:ext cx="5294073" cy="407465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extLst>
      <p:ext uri="{BB962C8B-B14F-4D97-AF65-F5344CB8AC3E}">
        <p14:creationId xmlns:p14="http://schemas.microsoft.com/office/powerpoint/2010/main" val="457140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The ASA 5506-X with FirePOWER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Security Levels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pic>
        <p:nvPicPr>
          <p:cNvPr id="5" name="Picture 4">
            <a:extLst>
              <a:ext uri="{FF2B5EF4-FFF2-40B4-BE49-F238E27FC236}">
                <a16:creationId xmlns:a16="http://schemas.microsoft.com/office/drawing/2014/main" id="{DBF148AC-2B23-4857-98C1-3069DDEDC511}"/>
              </a:ext>
            </a:extLst>
          </p:cNvPr>
          <p:cNvPicPr>
            <a:picLocks noChangeAspect="1"/>
          </p:cNvPicPr>
          <p:nvPr/>
        </p:nvPicPr>
        <p:blipFill>
          <a:blip r:embed="rId3"/>
          <a:stretch>
            <a:fillRect/>
          </a:stretch>
        </p:blipFill>
        <p:spPr>
          <a:xfrm>
            <a:off x="3770745" y="598016"/>
            <a:ext cx="5273964" cy="3776839"/>
          </a:xfrm>
          <a:prstGeom prst="rect">
            <a:avLst/>
          </a:prstGeom>
        </p:spPr>
      </p:pic>
      <p:sp>
        <p:nvSpPr>
          <p:cNvPr id="7" name="TextBox 6">
            <a:extLst>
              <a:ext uri="{FF2B5EF4-FFF2-40B4-BE49-F238E27FC236}">
                <a16:creationId xmlns:a16="http://schemas.microsoft.com/office/drawing/2014/main" id="{B656DE72-523C-4AC6-93A3-3F44A54673EE}"/>
              </a:ext>
            </a:extLst>
          </p:cNvPr>
          <p:cNvSpPr txBox="1"/>
          <p:nvPr/>
        </p:nvSpPr>
        <p:spPr>
          <a:xfrm>
            <a:off x="0" y="794559"/>
            <a:ext cx="3519055" cy="3323987"/>
          </a:xfrm>
          <a:prstGeom prst="rect">
            <a:avLst/>
          </a:prstGeom>
          <a:noFill/>
        </p:spPr>
        <p:txBody>
          <a:bodyPr wrap="square">
            <a:spAutoFit/>
          </a:bodyPr>
          <a:lstStyle/>
          <a:p>
            <a:r>
              <a:rPr lang="en-US" sz="1500" dirty="0">
                <a:effectLst/>
                <a:latin typeface="Arial" panose="020B0604020202020204" pitchFamily="34" charset="0"/>
                <a:cs typeface="Arial" panose="020B0604020202020204" pitchFamily="34" charset="0"/>
              </a:rPr>
              <a:t>Security levels define the level of trustworthiness of an interface. Each operational interface must have a name and a security level from 0 (lowest) to </a:t>
            </a:r>
            <a:r>
              <a:rPr lang="en-US" sz="1500" b="1" dirty="0">
                <a:effectLst/>
                <a:latin typeface="Arial" panose="020B0604020202020204" pitchFamily="34" charset="0"/>
                <a:cs typeface="Arial" panose="020B0604020202020204" pitchFamily="34" charset="0"/>
              </a:rPr>
              <a:t>100 (highest) </a:t>
            </a:r>
            <a:r>
              <a:rPr lang="en-US" sz="1500" dirty="0">
                <a:effectLst/>
                <a:latin typeface="Arial" panose="020B0604020202020204" pitchFamily="34" charset="0"/>
                <a:cs typeface="Arial" panose="020B0604020202020204" pitchFamily="34" charset="0"/>
              </a:rPr>
              <a:t>assigned.</a:t>
            </a:r>
          </a:p>
          <a:p>
            <a:endParaRPr lang="en-US" sz="1500" dirty="0">
              <a:effectLst/>
              <a:latin typeface="Arial" panose="020B0604020202020204" pitchFamily="34" charset="0"/>
              <a:cs typeface="Arial" panose="020B0604020202020204" pitchFamily="34" charset="0"/>
            </a:endParaRPr>
          </a:p>
          <a:p>
            <a:r>
              <a:rPr lang="en-US" sz="1500" dirty="0">
                <a:effectLst/>
                <a:latin typeface="Arial" panose="020B0604020202020204" pitchFamily="34" charset="0"/>
                <a:cs typeface="Arial" panose="020B0604020202020204" pitchFamily="34" charset="0"/>
              </a:rPr>
              <a:t>As shown in the figure, level 100 should be assigned to the most secure network, such as the inside network. Level 0 can be assigned to the outside network, which is connected to the internet. DMZs and other networks can be assigned a security level between 0 and 100</a:t>
            </a:r>
            <a:endParaRPr lang="en-US" sz="1400" dirty="0">
              <a:effectLst/>
              <a:latin typeface="Arial" panose="020B060402020202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The ASA 5506-X with FirePOWER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Security Levels (Cont.)</a:t>
            </a:r>
          </a:p>
        </p:txBody>
      </p:sp>
      <p:graphicFrame>
        <p:nvGraphicFramePr>
          <p:cNvPr id="20" name="Table 19"/>
          <p:cNvGraphicFramePr>
            <a:graphicFrameLocks noGrp="1"/>
          </p:cNvGraphicFramePr>
          <p:nvPr>
            <p:extLst>
              <p:ext uri="{D42A27DB-BD31-4B8C-83A1-F6EECF244321}">
                <p14:modId xmlns:p14="http://schemas.microsoft.com/office/powerpoint/2010/main" val="3346285533"/>
              </p:ext>
            </p:extLst>
          </p:nvPr>
        </p:nvGraphicFramePr>
        <p:xfrm>
          <a:off x="91440" y="1656214"/>
          <a:ext cx="8961120" cy="1950720"/>
        </p:xfrm>
        <a:graphic>
          <a:graphicData uri="http://schemas.openxmlformats.org/drawingml/2006/table">
            <a:tbl>
              <a:tblPr/>
              <a:tblGrid>
                <a:gridCol w="1440634">
                  <a:extLst>
                    <a:ext uri="{9D8B030D-6E8A-4147-A177-3AD203B41FA5}">
                      <a16:colId xmlns:a16="http://schemas.microsoft.com/office/drawing/2014/main" val="20000"/>
                    </a:ext>
                  </a:extLst>
                </a:gridCol>
                <a:gridCol w="7520486">
                  <a:extLst>
                    <a:ext uri="{9D8B030D-6E8A-4147-A177-3AD203B41FA5}">
                      <a16:colId xmlns:a16="http://schemas.microsoft.com/office/drawing/2014/main" val="20001"/>
                    </a:ext>
                  </a:extLst>
                </a:gridCol>
              </a:tblGrid>
              <a:tr h="0">
                <a:tc>
                  <a:txBody>
                    <a:bodyPr/>
                    <a:lstStyle/>
                    <a:p>
                      <a:r>
                        <a:rPr lang="en-US" sz="1200" dirty="0">
                          <a:solidFill>
                            <a:srgbClr val="FFFFFF"/>
                          </a:solidFill>
                        </a:rPr>
                        <a:t>Aspect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Effect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Network Access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By default, there is an </a:t>
                      </a:r>
                      <a:r>
                        <a:rPr lang="en-US" sz="1200" u="sng" dirty="0">
                          <a:solidFill>
                            <a:srgbClr val="58585B"/>
                          </a:solidFill>
                        </a:rPr>
                        <a:t>implicit permit from a higher security interface to a lower security inter</a:t>
                      </a:r>
                      <a:r>
                        <a:rPr lang="en-US" sz="1200" dirty="0">
                          <a:solidFill>
                            <a:srgbClr val="58585B"/>
                          </a:solidFill>
                        </a:rPr>
                        <a:t>face (outbound). Hosts on the higher security interface can access hosts on a lower security interface. Multiple interfaces can be assigned the same security level. If communication is enabled for interfaces with the same security level, there is an implicit permit for traffic between the interfaces.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Inspection Engines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Some application inspection engines are dependent on the security level. When interfaces have the </a:t>
                      </a:r>
                      <a:r>
                        <a:rPr lang="en-US" sz="1200" u="sng" dirty="0">
                          <a:solidFill>
                            <a:srgbClr val="58585B"/>
                          </a:solidFill>
                        </a:rPr>
                        <a:t>same security level, the ASA inspects traffic in either direction.</a:t>
                      </a:r>
                      <a:endParaRPr lang="en-US" sz="1200" u="sng"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Application Filtering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HTTPS and FTP filtering applies </a:t>
                      </a:r>
                      <a:r>
                        <a:rPr lang="en-US" sz="1200" u="sng" dirty="0">
                          <a:solidFill>
                            <a:srgbClr val="58585B"/>
                          </a:solidFill>
                        </a:rPr>
                        <a:t>only for outbound connections </a:t>
                      </a:r>
                      <a:r>
                        <a:rPr lang="en-US" sz="1200" dirty="0">
                          <a:solidFill>
                            <a:srgbClr val="58585B"/>
                          </a:solidFill>
                        </a:rPr>
                        <a:t>that are from a higher level to a lower level. If communication is enabled for interfaces with the same security level, traffic can be filtered in either direction.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B656DE72-523C-4AC6-93A3-3F44A54673EE}"/>
              </a:ext>
            </a:extLst>
          </p:cNvPr>
          <p:cNvSpPr txBox="1"/>
          <p:nvPr/>
        </p:nvSpPr>
        <p:spPr>
          <a:xfrm>
            <a:off x="91440" y="1019443"/>
            <a:ext cx="7866263"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Security levels help to control many aspects of network traffic as shown in the table below.</a:t>
            </a:r>
            <a:endParaRPr lang="en-US" sz="1600" dirty="0">
              <a:effectLst/>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spTree>
    <p:extLst>
      <p:ext uri="{BB962C8B-B14F-4D97-AF65-F5344CB8AC3E}">
        <p14:creationId xmlns:p14="http://schemas.microsoft.com/office/powerpoint/2010/main" val="746898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The ASA 5506-X with FirePOWER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5506-X Deployment Scenarios</a:t>
            </a:r>
          </a:p>
        </p:txBody>
      </p:sp>
      <p:sp>
        <p:nvSpPr>
          <p:cNvPr id="5" name="Object4"/>
          <p:cNvSpPr/>
          <p:nvPr/>
        </p:nvSpPr>
        <p:spPr>
          <a:xfrm>
            <a:off x="-1" y="914400"/>
            <a:ext cx="4008583" cy="3408218"/>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The ASA 5506-X is commonly used as an edge security device. It connects a small business to an ISP device, such as a DSL or cable modem, for access to the internet. It can be deployed to interconnect and protect several workstations, network printers, and IP phones.</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In a small branch, a common deployment would include an inside network (VLAN 1) with security level 100 and an outside network (VLAN 2) with security level 0, as shown in the figure.</a:t>
            </a:r>
          </a:p>
        </p:txBody>
      </p:sp>
      <p:sp>
        <p:nvSpPr>
          <p:cNvPr id="8" name="Object4">
            <a:extLst>
              <a:ext uri="{FF2B5EF4-FFF2-40B4-BE49-F238E27FC236}">
                <a16:creationId xmlns:a16="http://schemas.microsoft.com/office/drawing/2014/main" id="{CD88D855-3DC0-4BAF-943C-D60939A1531C}"/>
              </a:ext>
            </a:extLst>
          </p:cNvPr>
          <p:cNvSpPr/>
          <p:nvPr/>
        </p:nvSpPr>
        <p:spPr>
          <a:xfrm>
            <a:off x="5515819" y="718963"/>
            <a:ext cx="2484581" cy="390872"/>
          </a:xfrm>
          <a:prstGeom prst="rect">
            <a:avLst/>
          </a:prstGeom>
          <a:noFill/>
          <a:ln/>
        </p:spPr>
        <p:txBody>
          <a:bodyPr wrap="square" rtlCol="0" anchor="t"/>
          <a:lstStyle/>
          <a:p>
            <a:pPr algn="ctr"/>
            <a:r>
              <a:rPr lang="en-US" sz="1600" b="1" dirty="0">
                <a:latin typeface="Arial" panose="020B0604020202020204" pitchFamily="34" charset="0"/>
                <a:cs typeface="Arial" panose="020B0604020202020204" pitchFamily="34" charset="0"/>
              </a:rPr>
              <a:t>Small Branch</a:t>
            </a:r>
            <a:endParaRPr lang="en-US" sz="1400" b="1" dirty="0"/>
          </a:p>
        </p:txBody>
      </p:sp>
      <p:pic>
        <p:nvPicPr>
          <p:cNvPr id="6" name="Picture 5">
            <a:extLst>
              <a:ext uri="{FF2B5EF4-FFF2-40B4-BE49-F238E27FC236}">
                <a16:creationId xmlns:a16="http://schemas.microsoft.com/office/drawing/2014/main" id="{1BFA530B-8E10-4789-A4CB-E013EA03924B}"/>
              </a:ext>
            </a:extLst>
          </p:cNvPr>
          <p:cNvPicPr>
            <a:picLocks noChangeAspect="1"/>
          </p:cNvPicPr>
          <p:nvPr/>
        </p:nvPicPr>
        <p:blipFill>
          <a:blip r:embed="rId3"/>
          <a:stretch>
            <a:fillRect/>
          </a:stretch>
        </p:blipFill>
        <p:spPr>
          <a:xfrm>
            <a:off x="4775512" y="1098319"/>
            <a:ext cx="3830985" cy="331470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extLst>
      <p:ext uri="{BB962C8B-B14F-4D97-AF65-F5344CB8AC3E}">
        <p14:creationId xmlns:p14="http://schemas.microsoft.com/office/powerpoint/2010/main" val="40851186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The ASA 5506-X with FirePOWER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5506-X Deployment Scenarios (Cont.)</a:t>
            </a:r>
          </a:p>
        </p:txBody>
      </p:sp>
      <p:sp>
        <p:nvSpPr>
          <p:cNvPr id="5" name="Object4"/>
          <p:cNvSpPr/>
          <p:nvPr/>
        </p:nvSpPr>
        <p:spPr>
          <a:xfrm>
            <a:off x="0" y="914400"/>
            <a:ext cx="4027056" cy="3714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In the small business, shown here, the ASA </a:t>
            </a:r>
            <a:r>
              <a:rPr lang="en-US" sz="1600" dirty="0">
                <a:effectLst/>
                <a:latin typeface="Arial" panose="020B0604020202020204" pitchFamily="34" charset="0"/>
                <a:cs typeface="Arial" panose="020B0604020202020204" pitchFamily="34" charset="0"/>
              </a:rPr>
              <a:t>5506-X</a:t>
            </a:r>
            <a:r>
              <a:rPr lang="en-US" sz="1600" dirty="0">
                <a:latin typeface="Arial" panose="020B0604020202020204" pitchFamily="34" charset="0"/>
                <a:cs typeface="Arial" panose="020B0604020202020204" pitchFamily="34" charset="0"/>
              </a:rPr>
              <a:t> can be deployed with two different protected network segments. One segment is the inside network (VLAN 1), which connects workstations and IP phones. The other segment is the DMZ (VLAN 3), which connects a company web server. The outside interface (VLAN 2) is used to connect to the internet.</a:t>
            </a:r>
          </a:p>
        </p:txBody>
      </p:sp>
      <p:sp>
        <p:nvSpPr>
          <p:cNvPr id="8" name="Object4">
            <a:extLst>
              <a:ext uri="{FF2B5EF4-FFF2-40B4-BE49-F238E27FC236}">
                <a16:creationId xmlns:a16="http://schemas.microsoft.com/office/drawing/2014/main" id="{FA2068C2-B563-4D90-86E6-E3B8DF9B31BD}"/>
              </a:ext>
            </a:extLst>
          </p:cNvPr>
          <p:cNvSpPr/>
          <p:nvPr/>
        </p:nvSpPr>
        <p:spPr>
          <a:xfrm>
            <a:off x="5515819" y="718963"/>
            <a:ext cx="2484581" cy="390872"/>
          </a:xfrm>
          <a:prstGeom prst="rect">
            <a:avLst/>
          </a:prstGeom>
          <a:noFill/>
          <a:ln/>
        </p:spPr>
        <p:txBody>
          <a:bodyPr wrap="square" rtlCol="0" anchor="t"/>
          <a:lstStyle/>
          <a:p>
            <a:pPr algn="ctr"/>
            <a:r>
              <a:rPr lang="en-US" sz="1600" b="1" dirty="0">
                <a:latin typeface="Arial" panose="020B0604020202020204" pitchFamily="34" charset="0"/>
                <a:cs typeface="Arial" panose="020B0604020202020204" pitchFamily="34" charset="0"/>
              </a:rPr>
              <a:t>Small Business</a:t>
            </a:r>
            <a:endParaRPr lang="en-US" sz="1400" b="1" dirty="0"/>
          </a:p>
        </p:txBody>
      </p:sp>
      <p:pic>
        <p:nvPicPr>
          <p:cNvPr id="6" name="Picture 5">
            <a:extLst>
              <a:ext uri="{FF2B5EF4-FFF2-40B4-BE49-F238E27FC236}">
                <a16:creationId xmlns:a16="http://schemas.microsoft.com/office/drawing/2014/main" id="{B06AFF8F-ED32-4E93-9D00-9ED6CACC4729}"/>
              </a:ext>
            </a:extLst>
          </p:cNvPr>
          <p:cNvPicPr>
            <a:picLocks noChangeAspect="1"/>
          </p:cNvPicPr>
          <p:nvPr/>
        </p:nvPicPr>
        <p:blipFill>
          <a:blip r:embed="rId3"/>
          <a:stretch>
            <a:fillRect/>
          </a:stretch>
        </p:blipFill>
        <p:spPr>
          <a:xfrm>
            <a:off x="4483370" y="1194658"/>
            <a:ext cx="4204315" cy="314960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The ASA 5506-X with FirePOWER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5506-X Deployment Scenarios (Cont.)</a:t>
            </a:r>
          </a:p>
        </p:txBody>
      </p:sp>
      <p:sp>
        <p:nvSpPr>
          <p:cNvPr id="5" name="Object4"/>
          <p:cNvSpPr/>
          <p:nvPr/>
        </p:nvSpPr>
        <p:spPr>
          <a:xfrm>
            <a:off x="0" y="914399"/>
            <a:ext cx="4082474" cy="3491345"/>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In an enterprise deployment, as shown here, the ASA </a:t>
            </a:r>
            <a:r>
              <a:rPr lang="en-US" sz="1600" dirty="0">
                <a:effectLst/>
                <a:latin typeface="Arial" panose="020B0604020202020204" pitchFamily="34" charset="0"/>
                <a:cs typeface="Arial" panose="020B0604020202020204" pitchFamily="34" charset="0"/>
              </a:rPr>
              <a:t>5506-X</a:t>
            </a:r>
            <a:r>
              <a:rPr lang="en-US" sz="1600" dirty="0">
                <a:latin typeface="Arial" panose="020B0604020202020204" pitchFamily="34" charset="0"/>
                <a:cs typeface="Arial" panose="020B0604020202020204" pitchFamily="34" charset="0"/>
              </a:rPr>
              <a:t> can be used by telecommuters and home users to connect to a centralized location using a VPN.</a:t>
            </a:r>
          </a:p>
        </p:txBody>
      </p:sp>
      <p:sp>
        <p:nvSpPr>
          <p:cNvPr id="8" name="Object4">
            <a:extLst>
              <a:ext uri="{FF2B5EF4-FFF2-40B4-BE49-F238E27FC236}">
                <a16:creationId xmlns:a16="http://schemas.microsoft.com/office/drawing/2014/main" id="{ABB1F001-A417-4DDA-9A2A-3FB4D85B08B1}"/>
              </a:ext>
            </a:extLst>
          </p:cNvPr>
          <p:cNvSpPr/>
          <p:nvPr/>
        </p:nvSpPr>
        <p:spPr>
          <a:xfrm>
            <a:off x="5515819" y="718963"/>
            <a:ext cx="2484581" cy="390872"/>
          </a:xfrm>
          <a:prstGeom prst="rect">
            <a:avLst/>
          </a:prstGeom>
          <a:noFill/>
          <a:ln/>
        </p:spPr>
        <p:txBody>
          <a:bodyPr wrap="square" rtlCol="0" anchor="t"/>
          <a:lstStyle/>
          <a:p>
            <a:pPr algn="ctr"/>
            <a:r>
              <a:rPr lang="en-US" sz="1600" b="1" dirty="0">
                <a:latin typeface="Arial" panose="020B0604020202020204" pitchFamily="34" charset="0"/>
                <a:cs typeface="Arial" panose="020B0604020202020204" pitchFamily="34" charset="0"/>
              </a:rPr>
              <a:t>Enterprise</a:t>
            </a:r>
            <a:endParaRPr lang="en-US" sz="1400" b="1" dirty="0"/>
          </a:p>
        </p:txBody>
      </p:sp>
      <p:pic>
        <p:nvPicPr>
          <p:cNvPr id="6" name="Picture 5">
            <a:extLst>
              <a:ext uri="{FF2B5EF4-FFF2-40B4-BE49-F238E27FC236}">
                <a16:creationId xmlns:a16="http://schemas.microsoft.com/office/drawing/2014/main" id="{DAEF6016-F1B4-4F67-9C9F-13BFD6F732C7}"/>
              </a:ext>
            </a:extLst>
          </p:cNvPr>
          <p:cNvPicPr>
            <a:picLocks noChangeAspect="1"/>
          </p:cNvPicPr>
          <p:nvPr/>
        </p:nvPicPr>
        <p:blipFill>
          <a:blip r:embed="rId3"/>
          <a:stretch>
            <a:fillRect/>
          </a:stretch>
        </p:blipFill>
        <p:spPr>
          <a:xfrm>
            <a:off x="4451664" y="1109835"/>
            <a:ext cx="4235136" cy="349134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extLst>
      <p:ext uri="{BB962C8B-B14F-4D97-AF65-F5344CB8AC3E}">
        <p14:creationId xmlns:p14="http://schemas.microsoft.com/office/powerpoint/2010/main" val="1073816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21: ASA Firewall Configuration</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extLst>
      <p:ext uri="{BB962C8B-B14F-4D97-AF65-F5344CB8AC3E}">
        <p14:creationId xmlns:p14="http://schemas.microsoft.com/office/powerpoint/2010/main" val="2651847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ASA Firewall Configuration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Implement an ASA firewall configuration.</a:t>
            </a: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834905893"/>
              </p:ext>
            </p:extLst>
          </p:nvPr>
        </p:nvGraphicFramePr>
        <p:xfrm>
          <a:off x="211666" y="1625600"/>
          <a:ext cx="8720667" cy="2601556"/>
        </p:xfrm>
        <a:graphic>
          <a:graphicData uri="http://schemas.openxmlformats.org/drawingml/2006/table">
            <a:tbl>
              <a:tblPr firstRow="1" firstCol="1" bandRow="1">
                <a:tableStyleId>{5C22544A-7EE6-4342-B048-85BDC9FD1C3A}</a:tableStyleId>
              </a:tblPr>
              <a:tblGrid>
                <a:gridCol w="2846844">
                  <a:extLst>
                    <a:ext uri="{9D8B030D-6E8A-4147-A177-3AD203B41FA5}">
                      <a16:colId xmlns:a16="http://schemas.microsoft.com/office/drawing/2014/main" val="399010295"/>
                    </a:ext>
                  </a:extLst>
                </a:gridCol>
                <a:gridCol w="5873823">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200" dirty="0">
                          <a:effectLst/>
                        </a:rPr>
                        <a:t>Topic Title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dirty="0">
                          <a:effectLst/>
                        </a:rPr>
                        <a:t>Topic Objective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r>
                        <a:rPr lang="en-US" sz="1200" dirty="0"/>
                        <a:t>Basic ASA Firewall Configuration</a:t>
                      </a:r>
                    </a:p>
                  </a:txBody>
                  <a:tcPr anchor="ctr"/>
                </a:tc>
                <a:tc>
                  <a:txBody>
                    <a:bodyPr/>
                    <a:lstStyle/>
                    <a:p>
                      <a:r>
                        <a:rPr lang="en-US" sz="1200" dirty="0"/>
                        <a:t>Explain how to configure an ASA-5506-X with FirePOWER Services.</a:t>
                      </a:r>
                    </a:p>
                  </a:txBody>
                  <a:tcPr anchor="ctr"/>
                </a:tc>
                <a:extLst>
                  <a:ext uri="{0D108BD9-81ED-4DB2-BD59-A6C34878D82A}">
                    <a16:rowId xmlns:a16="http://schemas.microsoft.com/office/drawing/2014/main" val="3530891527"/>
                  </a:ext>
                </a:extLst>
              </a:tr>
              <a:tr h="263724">
                <a:tc>
                  <a:txBody>
                    <a:bodyPr/>
                    <a:lstStyle/>
                    <a:p>
                      <a:r>
                        <a:rPr lang="en-US" sz="1200" dirty="0"/>
                        <a:t>Configure Management Settings and Services</a:t>
                      </a:r>
                    </a:p>
                  </a:txBody>
                  <a:tcPr anchor="ctr"/>
                </a:tc>
                <a:tc>
                  <a:txBody>
                    <a:bodyPr/>
                    <a:lstStyle/>
                    <a:p>
                      <a:r>
                        <a:rPr lang="en-US" sz="1200" dirty="0"/>
                        <a:t>Configure management settings and services on an ASA 5506-X firewall.</a:t>
                      </a:r>
                    </a:p>
                  </a:txBody>
                  <a:tcPr anchor="ctr"/>
                </a:tc>
                <a:extLst>
                  <a:ext uri="{0D108BD9-81ED-4DB2-BD59-A6C34878D82A}">
                    <a16:rowId xmlns:a16="http://schemas.microsoft.com/office/drawing/2014/main" val="662892947"/>
                  </a:ext>
                </a:extLst>
              </a:tr>
              <a:tr h="254659">
                <a:tc>
                  <a:txBody>
                    <a:bodyPr/>
                    <a:lstStyle/>
                    <a:p>
                      <a:r>
                        <a:rPr lang="en-US" sz="1200" dirty="0"/>
                        <a:t>Object Groups</a:t>
                      </a:r>
                    </a:p>
                  </a:txBody>
                  <a:tcPr anchor="ctr"/>
                </a:tc>
                <a:tc>
                  <a:txBody>
                    <a:bodyPr/>
                    <a:lstStyle/>
                    <a:p>
                      <a:r>
                        <a:rPr lang="en-US" sz="1200" dirty="0"/>
                        <a:t>Explain how to configure object groups on an ASA.</a:t>
                      </a:r>
                    </a:p>
                  </a:txBody>
                  <a:tcPr anchor="ctr"/>
                </a:tc>
                <a:extLst>
                  <a:ext uri="{0D108BD9-81ED-4DB2-BD59-A6C34878D82A}">
                    <a16:rowId xmlns:a16="http://schemas.microsoft.com/office/drawing/2014/main" val="1283686363"/>
                  </a:ext>
                </a:extLst>
              </a:tr>
              <a:tr h="249911">
                <a:tc>
                  <a:txBody>
                    <a:bodyPr/>
                    <a:lstStyle/>
                    <a:p>
                      <a:r>
                        <a:rPr lang="en-US" sz="1200" dirty="0"/>
                        <a:t>ASA ACLs</a:t>
                      </a:r>
                    </a:p>
                  </a:txBody>
                  <a:tcPr anchor="ctr"/>
                </a:tc>
                <a:tc>
                  <a:txBody>
                    <a:bodyPr/>
                    <a:lstStyle/>
                    <a:p>
                      <a:r>
                        <a:rPr lang="en-US" sz="1200" dirty="0"/>
                        <a:t>Use the correct commands to configure access lists with object groups on an ASA.</a:t>
                      </a:r>
                    </a:p>
                  </a:txBody>
                  <a:tcPr anchor="ctr"/>
                </a:tc>
                <a:extLst>
                  <a:ext uri="{0D108BD9-81ED-4DB2-BD59-A6C34878D82A}">
                    <a16:rowId xmlns:a16="http://schemas.microsoft.com/office/drawing/2014/main" val="2466644772"/>
                  </a:ext>
                </a:extLst>
              </a:tr>
              <a:tr h="249911">
                <a:tc>
                  <a:txBody>
                    <a:bodyPr/>
                    <a:lstStyle/>
                    <a:p>
                      <a:r>
                        <a:rPr lang="en-US" sz="1200" dirty="0"/>
                        <a:t>NAT Services on an ASA</a:t>
                      </a:r>
                    </a:p>
                  </a:txBody>
                  <a:tcPr anchor="ctr"/>
                </a:tc>
                <a:tc>
                  <a:txBody>
                    <a:bodyPr/>
                    <a:lstStyle/>
                    <a:p>
                      <a:r>
                        <a:rPr lang="en-US" sz="1200" dirty="0"/>
                        <a:t>Use the correct commands to configure an ASA to provide NAT services.</a:t>
                      </a:r>
                    </a:p>
                  </a:txBody>
                  <a:tcPr anchor="ctr"/>
                </a:tc>
                <a:extLst>
                  <a:ext uri="{0D108BD9-81ED-4DB2-BD59-A6C34878D82A}">
                    <a16:rowId xmlns:a16="http://schemas.microsoft.com/office/drawing/2014/main" val="1200124898"/>
                  </a:ext>
                </a:extLst>
              </a:tr>
              <a:tr h="249911">
                <a:tc>
                  <a:txBody>
                    <a:bodyPr/>
                    <a:lstStyle/>
                    <a:p>
                      <a:r>
                        <a:rPr lang="en-US" sz="1200" dirty="0"/>
                        <a:t>AAA</a:t>
                      </a:r>
                    </a:p>
                  </a:txBody>
                  <a:tcPr anchor="ctr"/>
                </a:tc>
                <a:tc>
                  <a:txBody>
                    <a:bodyPr/>
                    <a:lstStyle/>
                    <a:p>
                      <a:r>
                        <a:rPr lang="en-US" sz="1200" dirty="0"/>
                        <a:t>Use correct commands to configure access control using the local database and AAA server.</a:t>
                      </a:r>
                    </a:p>
                  </a:txBody>
                  <a:tcPr anchor="ctr"/>
                </a:tc>
                <a:extLst>
                  <a:ext uri="{0D108BD9-81ED-4DB2-BD59-A6C34878D82A}">
                    <a16:rowId xmlns:a16="http://schemas.microsoft.com/office/drawing/2014/main" val="3952757980"/>
                  </a:ext>
                </a:extLst>
              </a:tr>
              <a:tr h="249911">
                <a:tc>
                  <a:txBody>
                    <a:bodyPr/>
                    <a:lstStyle/>
                    <a:p>
                      <a:r>
                        <a:rPr lang="en-US" sz="1200" dirty="0"/>
                        <a:t>Service Policies on an ASA</a:t>
                      </a:r>
                    </a:p>
                  </a:txBody>
                  <a:tcPr anchor="ctr"/>
                </a:tc>
                <a:tc>
                  <a:txBody>
                    <a:bodyPr/>
                    <a:lstStyle/>
                    <a:p>
                      <a:r>
                        <a:rPr lang="en-US" sz="1200" dirty="0"/>
                        <a:t>Configure service policies on an ASA</a:t>
                      </a:r>
                    </a:p>
                  </a:txBody>
                  <a:tcPr anchor="ctr"/>
                </a:tc>
                <a:extLst>
                  <a:ext uri="{0D108BD9-81ED-4DB2-BD59-A6C34878D82A}">
                    <a16:rowId xmlns:a16="http://schemas.microsoft.com/office/drawing/2014/main" val="2109705516"/>
                  </a:ext>
                </a:extLst>
              </a:tr>
              <a:tr h="249911">
                <a:tc>
                  <a:txBody>
                    <a:bodyPr/>
                    <a:lstStyle/>
                    <a:p>
                      <a:r>
                        <a:rPr lang="en-US" sz="1200" dirty="0"/>
                        <a:t>Introduction to ASDM (Optional)</a:t>
                      </a:r>
                    </a:p>
                  </a:txBody>
                  <a:tcPr anchor="ctr"/>
                </a:tc>
                <a:tc>
                  <a:txBody>
                    <a:bodyPr/>
                    <a:lstStyle/>
                    <a:p>
                      <a:r>
                        <a:rPr lang="en-US" sz="1200" dirty="0"/>
                        <a:t>Note: This is an optional topic that is not assessed.</a:t>
                      </a:r>
                    </a:p>
                  </a:txBody>
                  <a:tcPr anchor="ctr"/>
                </a:tc>
                <a:extLst>
                  <a:ext uri="{0D108BD9-81ED-4DB2-BD59-A6C34878D82A}">
                    <a16:rowId xmlns:a16="http://schemas.microsoft.com/office/drawing/2014/main" val="245003690"/>
                  </a:ext>
                </a:extLst>
              </a:tr>
            </a:tbl>
          </a:graphicData>
        </a:graphic>
      </p:graphicFrame>
    </p:spTree>
    <p:custDataLst>
      <p:tags r:id="rId1"/>
    </p:custDataLst>
    <p:extLst>
      <p:ext uri="{BB962C8B-B14F-4D97-AF65-F5344CB8AC3E}">
        <p14:creationId xmlns:p14="http://schemas.microsoft.com/office/powerpoint/2010/main" val="932013836"/>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21.1 Basic ASA Firewall Configuration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26</a:t>
            </a:fld>
            <a:endParaRPr lang="en-US" dirty="0"/>
          </a:p>
        </p:txBody>
      </p:sp>
    </p:spTree>
    <p:extLst>
      <p:ext uri="{BB962C8B-B14F-4D97-AF65-F5344CB8AC3E}">
        <p14:creationId xmlns:p14="http://schemas.microsoft.com/office/powerpoint/2010/main" val="1694306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Basic ASA Firewall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Basic ASA Settings</a:t>
            </a:r>
          </a:p>
        </p:txBody>
      </p:sp>
      <p:sp>
        <p:nvSpPr>
          <p:cNvPr id="5" name="Object4"/>
          <p:cNvSpPr/>
          <p:nvPr/>
        </p:nvSpPr>
        <p:spPr>
          <a:xfrm>
            <a:off x="0" y="914400"/>
            <a:ext cx="8812924"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The ASA command line interface (CLI) is a proprietary OS, which has a similar look and feel to the router IOS. </a:t>
            </a:r>
          </a:p>
          <a:p>
            <a:endParaRPr lang="en-US" dirty="0">
              <a:latin typeface="Arial" panose="020B0604020202020204" pitchFamily="34" charset="0"/>
              <a:cs typeface="Arial" panose="020B0604020202020204" pitchFamily="34" charset="0"/>
            </a:endParaRPr>
          </a:p>
          <a:p>
            <a:r>
              <a:rPr lang="en-US" dirty="0">
                <a:effectLst/>
                <a:latin typeface="Arial" panose="020B0604020202020204" pitchFamily="34" charset="0"/>
                <a:cs typeface="Arial" panose="020B0604020202020204" pitchFamily="34" charset="0"/>
              </a:rPr>
              <a:t>For example, the ASA CLI contains command prompts similar to that of a Cisco IOS router.</a:t>
            </a:r>
          </a:p>
          <a:p>
            <a:endParaRPr lang="en-US"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Abbreviation of commands and keywords</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Use of the Tab key to complete a partial command</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Use of the help key (</a:t>
            </a:r>
            <a:r>
              <a:rPr lang="en-US" b="1" dirty="0">
                <a:effectLst/>
                <a:latin typeface="Arial" panose="020B0604020202020204" pitchFamily="34" charset="0"/>
                <a:cs typeface="Arial" panose="020B0604020202020204" pitchFamily="34" charset="0"/>
              </a:rPr>
              <a:t>?</a:t>
            </a:r>
            <a:r>
              <a:rPr lang="en-US" dirty="0">
                <a:effectLst/>
                <a:latin typeface="Arial" panose="020B0604020202020204" pitchFamily="34" charset="0"/>
                <a:cs typeface="Arial" panose="020B0604020202020204" pitchFamily="34" charset="0"/>
              </a:rPr>
              <a:t>) after a command to view additional syntax</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27</a:t>
            </a:fld>
            <a:endParaRPr lang="en-US" dirty="0"/>
          </a:p>
        </p:txBody>
      </p:sp>
    </p:spTree>
    <p:extLst>
      <p:ext uri="{BB962C8B-B14F-4D97-AF65-F5344CB8AC3E}">
        <p14:creationId xmlns:p14="http://schemas.microsoft.com/office/powerpoint/2010/main" val="16168943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Basic ASA Firewall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Basic ASA Settings (Cont.)</a:t>
            </a:r>
          </a:p>
        </p:txBody>
      </p:sp>
      <p:sp>
        <p:nvSpPr>
          <p:cNvPr id="5" name="Object4"/>
          <p:cNvSpPr/>
          <p:nvPr/>
        </p:nvSpPr>
        <p:spPr>
          <a:xfrm>
            <a:off x="0" y="914400"/>
            <a:ext cx="8812924" cy="431515"/>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The table contrasts common IOS router and ASA commands.</a:t>
            </a:r>
          </a:p>
        </p:txBody>
      </p:sp>
      <p:pic>
        <p:nvPicPr>
          <p:cNvPr id="6" name="Picture 5">
            <a:extLst>
              <a:ext uri="{FF2B5EF4-FFF2-40B4-BE49-F238E27FC236}">
                <a16:creationId xmlns:a16="http://schemas.microsoft.com/office/drawing/2014/main" id="{38DA5E7B-D46F-4B22-8F29-FE2BFD837EBB}"/>
              </a:ext>
            </a:extLst>
          </p:cNvPr>
          <p:cNvPicPr>
            <a:picLocks noChangeAspect="1"/>
          </p:cNvPicPr>
          <p:nvPr/>
        </p:nvPicPr>
        <p:blipFill>
          <a:blip r:embed="rId3"/>
          <a:stretch>
            <a:fillRect/>
          </a:stretch>
        </p:blipFill>
        <p:spPr>
          <a:xfrm>
            <a:off x="1210739" y="1368981"/>
            <a:ext cx="5797848" cy="307990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28</a:t>
            </a:fld>
            <a:endParaRPr lang="en-US" dirty="0"/>
          </a:p>
        </p:txBody>
      </p:sp>
    </p:spTree>
    <p:extLst>
      <p:ext uri="{BB962C8B-B14F-4D97-AF65-F5344CB8AC3E}">
        <p14:creationId xmlns:p14="http://schemas.microsoft.com/office/powerpoint/2010/main" val="3073541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Basic ASA Firewall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Basic ASA Settings (Cont.)</a:t>
            </a:r>
          </a:p>
        </p:txBody>
      </p:sp>
      <p:sp>
        <p:nvSpPr>
          <p:cNvPr id="5" name="Object4"/>
          <p:cNvSpPr/>
          <p:nvPr/>
        </p:nvSpPr>
        <p:spPr>
          <a:xfrm>
            <a:off x="803081" y="1345915"/>
            <a:ext cx="7447068" cy="431515"/>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ASA CLI commands can be executed regardless of the current configuration mode prompt. </a:t>
            </a:r>
          </a:p>
        </p:txBody>
      </p:sp>
      <p:pic>
        <p:nvPicPr>
          <p:cNvPr id="7" name="Picture 6">
            <a:extLst>
              <a:ext uri="{FF2B5EF4-FFF2-40B4-BE49-F238E27FC236}">
                <a16:creationId xmlns:a16="http://schemas.microsoft.com/office/drawing/2014/main" id="{99D237BD-3532-41E2-8863-BA6B8231C928}"/>
              </a:ext>
            </a:extLst>
          </p:cNvPr>
          <p:cNvPicPr>
            <a:picLocks noChangeAspect="1"/>
          </p:cNvPicPr>
          <p:nvPr/>
        </p:nvPicPr>
        <p:blipFill>
          <a:blip r:embed="rId3"/>
          <a:stretch>
            <a:fillRect/>
          </a:stretch>
        </p:blipFill>
        <p:spPr>
          <a:xfrm>
            <a:off x="803081" y="2112623"/>
            <a:ext cx="7537837" cy="95254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29</a:t>
            </a:fld>
            <a:endParaRPr lang="en-US" dirty="0"/>
          </a:p>
        </p:txBody>
      </p:sp>
    </p:spTree>
    <p:extLst>
      <p:ext uri="{BB962C8B-B14F-4D97-AF65-F5344CB8AC3E}">
        <p14:creationId xmlns:p14="http://schemas.microsoft.com/office/powerpoint/2010/main" val="20115097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Basic ASA Firewall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Default Configuration</a:t>
            </a:r>
          </a:p>
        </p:txBody>
      </p:sp>
      <p:sp>
        <p:nvSpPr>
          <p:cNvPr id="5" name="Object4"/>
          <p:cNvSpPr/>
          <p:nvPr/>
        </p:nvSpPr>
        <p:spPr>
          <a:xfrm>
            <a:off x="0" y="698403"/>
            <a:ext cx="5198724" cy="3514001"/>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The ASA 5506-X with FirePOWER Services ships with a default configuration that, in most instances, is sufficient for a basic SOHO deployment. Use the </a:t>
            </a:r>
            <a:r>
              <a:rPr lang="en-US" sz="1600" b="1" dirty="0">
                <a:effectLst/>
                <a:latin typeface="Arial" panose="020B0604020202020204" pitchFamily="34" charset="0"/>
                <a:cs typeface="Arial" panose="020B0604020202020204" pitchFamily="34" charset="0"/>
              </a:rPr>
              <a:t>configure factory-default</a:t>
            </a:r>
            <a:r>
              <a:rPr lang="en-US" sz="1600" dirty="0">
                <a:effectLst/>
                <a:latin typeface="Arial" panose="020B0604020202020204" pitchFamily="34" charset="0"/>
                <a:cs typeface="Arial" panose="020B0604020202020204" pitchFamily="34" charset="0"/>
              </a:rPr>
              <a:t> global configuration mode command to restore the factory default configuration.</a:t>
            </a:r>
            <a:endParaRPr lang="en-US" sz="1600" dirty="0">
              <a:latin typeface="Arial" panose="020B0604020202020204" pitchFamily="34" charset="0"/>
              <a:cs typeface="Arial" panose="020B0604020202020204" pitchFamily="34" charset="0"/>
            </a:endParaRP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The default hostname is </a:t>
            </a:r>
            <a:r>
              <a:rPr lang="en-US" sz="1600" b="1" dirty="0">
                <a:effectLst/>
                <a:latin typeface="Arial" panose="020B0604020202020204" pitchFamily="34" charset="0"/>
                <a:cs typeface="Arial" panose="020B0604020202020204" pitchFamily="34" charset="0"/>
              </a:rPr>
              <a:t>ciscoasa</a:t>
            </a:r>
            <a:r>
              <a:rPr lang="en-US" sz="1600" dirty="0">
                <a:effectLst/>
                <a:latin typeface="Arial" panose="020B0604020202020204" pitchFamily="34" charset="0"/>
                <a:cs typeface="Arial" panose="020B0604020202020204" pitchFamily="34" charset="0"/>
              </a:rPr>
              <a:t>. By default, the privileged EXEC and console line passwords are not configured. </a:t>
            </a:r>
          </a:p>
          <a:p>
            <a:endParaRPr lang="en-US" sz="1600" dirty="0">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These settings can be changed by:</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Manually using the CLI</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Interactively using the CLI Setup Initialization wizard</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Using the ASDM Startup wizard</a:t>
            </a:r>
          </a:p>
        </p:txBody>
      </p:sp>
      <p:pic>
        <p:nvPicPr>
          <p:cNvPr id="6" name="Picture 5">
            <a:extLst>
              <a:ext uri="{FF2B5EF4-FFF2-40B4-BE49-F238E27FC236}">
                <a16:creationId xmlns:a16="http://schemas.microsoft.com/office/drawing/2014/main" id="{AD2887C0-CA3C-45FB-B5D0-7D7B53BFCCA7}"/>
              </a:ext>
            </a:extLst>
          </p:cNvPr>
          <p:cNvPicPr>
            <a:picLocks noChangeAspect="1"/>
          </p:cNvPicPr>
          <p:nvPr/>
        </p:nvPicPr>
        <p:blipFill>
          <a:blip r:embed="rId3"/>
          <a:stretch>
            <a:fillRect/>
          </a:stretch>
        </p:blipFill>
        <p:spPr>
          <a:xfrm>
            <a:off x="5352867" y="698403"/>
            <a:ext cx="3562533" cy="374669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30</a:t>
            </a:fld>
            <a:endParaRPr lang="en-US" dirty="0"/>
          </a:p>
        </p:txBody>
      </p:sp>
    </p:spTree>
    <p:extLst>
      <p:ext uri="{BB962C8B-B14F-4D97-AF65-F5344CB8AC3E}">
        <p14:creationId xmlns:p14="http://schemas.microsoft.com/office/powerpoint/2010/main" val="1077907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Basic ASA Firewall Configuration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Interactive Setup Initialization Wizard</a:t>
            </a:r>
          </a:p>
        </p:txBody>
      </p:sp>
      <p:sp>
        <p:nvSpPr>
          <p:cNvPr id="5" name="Object4"/>
          <p:cNvSpPr/>
          <p:nvPr/>
        </p:nvSpPr>
        <p:spPr>
          <a:xfrm>
            <a:off x="0" y="914400"/>
            <a:ext cx="4068566"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wizard is displayed when there is no startup configuration, and prompts “</a:t>
            </a:r>
            <a:r>
              <a:rPr lang="en-US" sz="1600" b="1" dirty="0">
                <a:latin typeface="Arial" panose="020B0604020202020204" pitchFamily="34" charset="0"/>
                <a:cs typeface="Arial" panose="020B0604020202020204" pitchFamily="34" charset="0"/>
              </a:rPr>
              <a:t>Pre-configure Firewall now through interactive prompts [yes]?</a:t>
            </a:r>
            <a:r>
              <a:rPr lang="en-US" sz="1600" dirty="0">
                <a:latin typeface="Arial" panose="020B0604020202020204" pitchFamily="34" charset="0"/>
                <a:cs typeface="Arial" panose="020B0604020202020204" pitchFamily="34" charset="0"/>
              </a:rPr>
              <a:t>” To cancel and display the ASA default user EXEC mode prompt, enter </a:t>
            </a:r>
            <a:r>
              <a:rPr lang="en-US" sz="1600" b="1" dirty="0">
                <a:latin typeface="Arial" panose="020B0604020202020204" pitchFamily="34" charset="0"/>
                <a:cs typeface="Arial" panose="020B0604020202020204" pitchFamily="34" charset="0"/>
              </a:rPr>
              <a:t>no</a:t>
            </a:r>
            <a:r>
              <a:rPr lang="en-US" sz="1600" dirty="0">
                <a:latin typeface="Arial" panose="020B0604020202020204" pitchFamily="34" charset="0"/>
                <a:cs typeface="Arial" panose="020B0604020202020204" pitchFamily="34" charset="0"/>
              </a:rPr>
              <a:t>. Otherwise, enter </a:t>
            </a:r>
            <a:r>
              <a:rPr lang="en-US" sz="1600" b="1" dirty="0">
                <a:latin typeface="Arial" panose="020B0604020202020204" pitchFamily="34" charset="0"/>
                <a:cs typeface="Arial" panose="020B0604020202020204" pitchFamily="34" charset="0"/>
              </a:rPr>
              <a:t>yes</a:t>
            </a:r>
            <a:r>
              <a:rPr lang="en-US" sz="1600" dirty="0">
                <a:latin typeface="Arial" panose="020B0604020202020204" pitchFamily="34" charset="0"/>
                <a:cs typeface="Arial" panose="020B0604020202020204" pitchFamily="34" charset="0"/>
              </a:rPr>
              <a:t> or simply press </a:t>
            </a:r>
            <a:r>
              <a:rPr lang="en-US" sz="1600" b="1" dirty="0">
                <a:latin typeface="Arial" panose="020B0604020202020204" pitchFamily="34" charset="0"/>
                <a:cs typeface="Arial" panose="020B0604020202020204" pitchFamily="34" charset="0"/>
              </a:rPr>
              <a:t>Enter</a:t>
            </a:r>
            <a:r>
              <a:rPr lang="en-US" sz="1600" dirty="0">
                <a:latin typeface="Arial" panose="020B0604020202020204" pitchFamily="34" charset="0"/>
                <a:cs typeface="Arial" panose="020B0604020202020204" pitchFamily="34" charset="0"/>
              </a:rPr>
              <a:t> to accept the default [yes]. This initiates the wizard and the ASA interactively guides an administrator to configure the default settings.</a:t>
            </a:r>
          </a:p>
        </p:txBody>
      </p:sp>
      <p:pic>
        <p:nvPicPr>
          <p:cNvPr id="6" name="Picture 5">
            <a:extLst>
              <a:ext uri="{FF2B5EF4-FFF2-40B4-BE49-F238E27FC236}">
                <a16:creationId xmlns:a16="http://schemas.microsoft.com/office/drawing/2014/main" id="{16502212-5A24-40DA-95DB-A3DCD617CC01}"/>
              </a:ext>
            </a:extLst>
          </p:cNvPr>
          <p:cNvPicPr>
            <a:picLocks noChangeAspect="1"/>
          </p:cNvPicPr>
          <p:nvPr/>
        </p:nvPicPr>
        <p:blipFill>
          <a:blip r:embed="rId3"/>
          <a:stretch>
            <a:fillRect/>
          </a:stretch>
        </p:blipFill>
        <p:spPr>
          <a:xfrm>
            <a:off x="4245968" y="731520"/>
            <a:ext cx="4363775" cy="400504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31</a:t>
            </a:fld>
            <a:endParaRPr lang="en-US" dirty="0"/>
          </a:p>
        </p:txBody>
      </p:sp>
    </p:spTree>
    <p:extLst>
      <p:ext uri="{BB962C8B-B14F-4D97-AF65-F5344CB8AC3E}">
        <p14:creationId xmlns:p14="http://schemas.microsoft.com/office/powerpoint/2010/main" val="1332731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21.2 Configure Management Settings and Services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32</a:t>
            </a:fld>
            <a:endParaRPr lang="en-US" dirty="0"/>
          </a:p>
        </p:txBody>
      </p:sp>
    </p:spTree>
    <p:extLst>
      <p:ext uri="{BB962C8B-B14F-4D97-AF65-F5344CB8AC3E}">
        <p14:creationId xmlns:p14="http://schemas.microsoft.com/office/powerpoint/2010/main" val="1166478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Enter Global Configuration Mode</a:t>
            </a:r>
          </a:p>
        </p:txBody>
      </p:sp>
      <p:sp>
        <p:nvSpPr>
          <p:cNvPr id="5" name="Object4"/>
          <p:cNvSpPr/>
          <p:nvPr/>
        </p:nvSpPr>
        <p:spPr>
          <a:xfrm>
            <a:off x="0" y="914400"/>
            <a:ext cx="8913886"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default ASA user prompt of </a:t>
            </a:r>
            <a:r>
              <a:rPr lang="en-US" sz="1600" b="1" dirty="0">
                <a:latin typeface="Arial" panose="020B0604020202020204" pitchFamily="34" charset="0"/>
                <a:cs typeface="Arial" panose="020B0604020202020204" pitchFamily="34" charset="0"/>
              </a:rPr>
              <a:t>ciscoasa&gt;</a:t>
            </a:r>
            <a:r>
              <a:rPr lang="en-US" sz="1600" dirty="0">
                <a:latin typeface="Arial" panose="020B0604020202020204" pitchFamily="34" charset="0"/>
                <a:cs typeface="Arial" panose="020B0604020202020204" pitchFamily="34" charset="0"/>
              </a:rPr>
              <a:t> is displayed when an ASA configuration is erased, the device is rebooted, and the user does not use the interactive setup wizard.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enter privileged EXEC mode, use the </a:t>
            </a:r>
            <a:r>
              <a:rPr lang="en-US" sz="1600" b="1" dirty="0">
                <a:latin typeface="Arial" panose="020B0604020202020204" pitchFamily="34" charset="0"/>
                <a:cs typeface="Arial" panose="020B0604020202020204" pitchFamily="34" charset="0"/>
              </a:rPr>
              <a:t>enable</a:t>
            </a:r>
            <a:r>
              <a:rPr lang="en-US" sz="1600" dirty="0">
                <a:latin typeface="Arial" panose="020B0604020202020204" pitchFamily="34" charset="0"/>
                <a:cs typeface="Arial" panose="020B0604020202020204" pitchFamily="34" charset="0"/>
              </a:rPr>
              <a:t> user EXEC mode command. Initially, an ASA does not have a password configured; therefore, when prompted, leave the enable password prompt blank and press </a:t>
            </a:r>
            <a:r>
              <a:rPr lang="en-US" sz="1600" b="1" dirty="0">
                <a:latin typeface="Arial" panose="020B0604020202020204" pitchFamily="34" charset="0"/>
                <a:cs typeface="Arial" panose="020B0604020202020204" pitchFamily="34" charset="0"/>
              </a:rPr>
              <a:t>Enter</a:t>
            </a:r>
            <a:r>
              <a:rPr lang="en-US" sz="1600" dirty="0">
                <a:latin typeface="Arial" panose="020B0604020202020204" pitchFamily="34" charset="0"/>
                <a:cs typeface="Arial" panose="020B0604020202020204" pitchFamily="34" charset="0"/>
              </a:rPr>
              <a:t>.</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ASA date and time should be set either manually or by using Network Time Protocol (NTP). To set the date and time, use the </a:t>
            </a:r>
            <a:r>
              <a:rPr lang="en-US" sz="1600" b="1" dirty="0">
                <a:latin typeface="Arial" panose="020B0604020202020204" pitchFamily="34" charset="0"/>
                <a:cs typeface="Arial" panose="020B0604020202020204" pitchFamily="34" charset="0"/>
              </a:rPr>
              <a:t>clock set</a:t>
            </a:r>
            <a:r>
              <a:rPr lang="en-US" sz="1600" dirty="0">
                <a:latin typeface="Arial" panose="020B0604020202020204" pitchFamily="34" charset="0"/>
                <a:cs typeface="Arial" panose="020B0604020202020204" pitchFamily="34" charset="0"/>
              </a:rPr>
              <a:t> privileged EXEC </a:t>
            </a:r>
            <a:r>
              <a:rPr lang="en-US" sz="1600" b="1" dirty="0">
                <a:latin typeface="Arial" panose="020B0604020202020204" pitchFamily="34" charset="0"/>
                <a:cs typeface="Arial" panose="020B0604020202020204" pitchFamily="34" charset="0"/>
              </a:rPr>
              <a:t>command.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Enter global configuration mode using the </a:t>
            </a:r>
            <a:r>
              <a:rPr lang="en-US" sz="1600" b="1" dirty="0">
                <a:latin typeface="Arial" panose="020B0604020202020204" pitchFamily="34" charset="0"/>
                <a:cs typeface="Arial" panose="020B0604020202020204" pitchFamily="34" charset="0"/>
              </a:rPr>
              <a:t>configure terminal</a:t>
            </a:r>
            <a:r>
              <a:rPr lang="en-US" sz="1600" dirty="0">
                <a:latin typeface="Arial" panose="020B0604020202020204" pitchFamily="34" charset="0"/>
                <a:cs typeface="Arial" panose="020B0604020202020204" pitchFamily="34" charset="0"/>
              </a:rPr>
              <a:t> privileged EXEC command.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33</a:t>
            </a:fld>
            <a:endParaRPr lang="en-US" dirty="0"/>
          </a:p>
        </p:txBody>
      </p:sp>
    </p:spTree>
    <p:extLst>
      <p:ext uri="{BB962C8B-B14F-4D97-AF65-F5344CB8AC3E}">
        <p14:creationId xmlns:p14="http://schemas.microsoft.com/office/powerpoint/2010/main" val="3348863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50097"/>
            <a:ext cx="9144000" cy="531079"/>
          </a:xfrm>
          <a:prstGeom prst="rect">
            <a:avLst/>
          </a:prstGeom>
          <a:noFill/>
          <a:ln/>
        </p:spPr>
        <p:txBody>
          <a:bodyPr wrap="square" rtlCol="0"/>
          <a:lstStyle/>
          <a:p>
            <a:pPr marL="0" indent="0">
              <a:buNone/>
            </a:pPr>
            <a:r>
              <a:rPr lang="en-US" dirty="0"/>
              <a:t>Configure Basic Settings</a:t>
            </a:r>
          </a:p>
        </p:txBody>
      </p:sp>
      <p:sp>
        <p:nvSpPr>
          <p:cNvPr id="7" name="TextBox 6">
            <a:extLst>
              <a:ext uri="{FF2B5EF4-FFF2-40B4-BE49-F238E27FC236}">
                <a16:creationId xmlns:a16="http://schemas.microsoft.com/office/drawing/2014/main" id="{2837D461-E9FB-4A8E-9A46-F05D13884EC8}"/>
              </a:ext>
            </a:extLst>
          </p:cNvPr>
          <p:cNvSpPr txBox="1"/>
          <p:nvPr/>
        </p:nvSpPr>
        <p:spPr>
          <a:xfrm>
            <a:off x="91439" y="746105"/>
            <a:ext cx="8870891"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An ASA must be configured with basic management settings. The table displays the commands to accomplish this task.</a:t>
            </a:r>
          </a:p>
        </p:txBody>
      </p:sp>
      <p:graphicFrame>
        <p:nvGraphicFramePr>
          <p:cNvPr id="15" name="Table 14"/>
          <p:cNvGraphicFramePr>
            <a:graphicFrameLocks noGrp="1"/>
          </p:cNvGraphicFramePr>
          <p:nvPr>
            <p:extLst>
              <p:ext uri="{D42A27DB-BD31-4B8C-83A1-F6EECF244321}">
                <p14:modId xmlns:p14="http://schemas.microsoft.com/office/powerpoint/2010/main" val="1782947743"/>
              </p:ext>
            </p:extLst>
          </p:nvPr>
        </p:nvGraphicFramePr>
        <p:xfrm>
          <a:off x="611916" y="1371600"/>
          <a:ext cx="7829935" cy="3093720"/>
        </p:xfrm>
        <a:graphic>
          <a:graphicData uri="http://schemas.openxmlformats.org/drawingml/2006/table">
            <a:tbl>
              <a:tblPr/>
              <a:tblGrid>
                <a:gridCol w="2864633">
                  <a:extLst>
                    <a:ext uri="{9D8B030D-6E8A-4147-A177-3AD203B41FA5}">
                      <a16:colId xmlns:a16="http://schemas.microsoft.com/office/drawing/2014/main" val="20000"/>
                    </a:ext>
                  </a:extLst>
                </a:gridCol>
                <a:gridCol w="4965302">
                  <a:extLst>
                    <a:ext uri="{9D8B030D-6E8A-4147-A177-3AD203B41FA5}">
                      <a16:colId xmlns:a16="http://schemas.microsoft.com/office/drawing/2014/main" val="20001"/>
                    </a:ext>
                  </a:extLst>
                </a:gridCol>
              </a:tblGrid>
              <a:tr h="0">
                <a:tc>
                  <a:txBody>
                    <a:bodyPr/>
                    <a:lstStyle/>
                    <a:p>
                      <a:r>
                        <a:rPr lang="en-US" sz="1200" dirty="0">
                          <a:solidFill>
                            <a:srgbClr val="FFFFFF"/>
                          </a:solidFill>
                        </a:rPr>
                        <a:t>ASA 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hostname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Specifies a hostname up to 63 characters.</a:t>
                      </a:r>
                      <a:endParaRPr lang="en-US" sz="1200" dirty="0"/>
                    </a:p>
                    <a:p>
                      <a:pPr marL="171450" indent="-171450">
                        <a:buFont typeface="Arial" panose="020B0604020202020204" pitchFamily="34" charset="0"/>
                        <a:buChar char="•"/>
                      </a:pPr>
                      <a:r>
                        <a:rPr lang="en-US" sz="1200" dirty="0">
                          <a:solidFill>
                            <a:srgbClr val="58585B"/>
                          </a:solidFill>
                        </a:rPr>
                        <a:t>A hostname must start and end with a letter or digit, and have as interior characters only letters, digits, or a hyphen.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166955">
                <a:tc>
                  <a:txBody>
                    <a:bodyPr/>
                    <a:lstStyle/>
                    <a:p>
                      <a:r>
                        <a:rPr lang="en-US" sz="1200" b="1" dirty="0">
                          <a:solidFill>
                            <a:srgbClr val="58585B"/>
                          </a:solidFill>
                          <a:latin typeface="Courier New" panose="02070309020205020404" pitchFamily="49" charset="0"/>
                          <a:cs typeface="Courier New" panose="02070309020205020404" pitchFamily="49" charset="0"/>
                        </a:rPr>
                        <a:t>domain-name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Sets the default domain name.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enable password </a:t>
                      </a:r>
                      <a:r>
                        <a:rPr lang="en-US" sz="1200" i="1" dirty="0">
                          <a:solidFill>
                            <a:srgbClr val="58585B"/>
                          </a:solidFill>
                          <a:latin typeface="Courier New" panose="02070309020205020404" pitchFamily="49" charset="0"/>
                          <a:cs typeface="Courier New" panose="02070309020205020404" pitchFamily="49" charset="0"/>
                        </a:rPr>
                        <a:t>password</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Sets the enable password for privileged EXEC mode.</a:t>
                      </a:r>
                      <a:endParaRPr lang="en-US" sz="1200" dirty="0"/>
                    </a:p>
                    <a:p>
                      <a:pPr marL="171450" indent="-171450">
                        <a:buFont typeface="Arial" panose="020B0604020202020204" pitchFamily="34" charset="0"/>
                        <a:buChar char="•"/>
                      </a:pPr>
                      <a:r>
                        <a:rPr lang="en-US" sz="1200" dirty="0">
                          <a:solidFill>
                            <a:srgbClr val="58585B"/>
                          </a:solidFill>
                        </a:rPr>
                        <a:t>Sets the password as a case-sensitive string of 3 to 32 alphanumeric and special characters (not including a question mark or a space).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banner motd </a:t>
                      </a:r>
                      <a:r>
                        <a:rPr lang="en-US" sz="1200" i="1" dirty="0">
                          <a:solidFill>
                            <a:srgbClr val="58585B"/>
                          </a:solidFill>
                          <a:latin typeface="Courier New" panose="02070309020205020404" pitchFamily="49" charset="0"/>
                          <a:cs typeface="Courier New" panose="02070309020205020404" pitchFamily="49" charset="0"/>
                        </a:rPr>
                        <a:t>message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Provides legal notification and configures the system to display a message-of-the-day banner when connecting to the ASA.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key config-key password-encryption </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new-pass </a:t>
                      </a:r>
                      <a:r>
                        <a:rPr lang="en-US" sz="1200" dirty="0">
                          <a:solidFill>
                            <a:srgbClr val="58585B"/>
                          </a:solidFill>
                          <a:latin typeface="Courier New" panose="02070309020205020404" pitchFamily="49" charset="0"/>
                          <a:cs typeface="Courier New" panose="02070309020205020404" pitchFamily="49" charset="0"/>
                        </a:rPr>
                        <a:t>[</a:t>
                      </a:r>
                      <a:r>
                        <a:rPr lang="en-US" sz="1200" i="1" dirty="0">
                          <a:solidFill>
                            <a:srgbClr val="58585B"/>
                          </a:solidFill>
                          <a:latin typeface="Courier New" panose="02070309020205020404" pitchFamily="49" charset="0"/>
                          <a:cs typeface="Courier New" panose="02070309020205020404" pitchFamily="49" charset="0"/>
                        </a:rPr>
                        <a:t> old-pass </a:t>
                      </a:r>
                      <a:r>
                        <a:rPr lang="en-US" sz="1200" dirty="0">
                          <a:solidFill>
                            <a:srgbClr val="58585B"/>
                          </a:solidFill>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Sets the passphrase between 8 and 128 character long.</a:t>
                      </a:r>
                      <a:endParaRPr lang="en-US" sz="1200" dirty="0"/>
                    </a:p>
                    <a:p>
                      <a:pPr marL="171450" indent="-171450">
                        <a:buFont typeface="Arial" panose="020B0604020202020204" pitchFamily="34" charset="0"/>
                        <a:buChar char="•"/>
                      </a:pPr>
                      <a:r>
                        <a:rPr lang="en-US" sz="1200" dirty="0">
                          <a:solidFill>
                            <a:srgbClr val="58585B"/>
                          </a:solidFill>
                        </a:rPr>
                        <a:t>Used to generate the encryption key.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password encryption aes</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Enables password encryption and encrypts all user passwords.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34</a:t>
            </a:fld>
            <a:endParaRPr lang="en-US" dirty="0"/>
          </a:p>
        </p:txBody>
      </p:sp>
    </p:spTree>
    <p:extLst>
      <p:ext uri="{BB962C8B-B14F-4D97-AF65-F5344CB8AC3E}">
        <p14:creationId xmlns:p14="http://schemas.microsoft.com/office/powerpoint/2010/main" val="2187003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50097"/>
            <a:ext cx="9144000" cy="531079"/>
          </a:xfrm>
          <a:prstGeom prst="rect">
            <a:avLst/>
          </a:prstGeom>
          <a:noFill/>
          <a:ln/>
        </p:spPr>
        <p:txBody>
          <a:bodyPr wrap="square" rtlCol="0"/>
          <a:lstStyle/>
          <a:p>
            <a:pPr marL="0" indent="0">
              <a:buNone/>
            </a:pPr>
            <a:r>
              <a:rPr lang="en-US" dirty="0"/>
              <a:t>Configure Basic Settings (Cont.)</a:t>
            </a:r>
          </a:p>
        </p:txBody>
      </p:sp>
      <p:sp>
        <p:nvSpPr>
          <p:cNvPr id="7" name="TextBox 6">
            <a:extLst>
              <a:ext uri="{FF2B5EF4-FFF2-40B4-BE49-F238E27FC236}">
                <a16:creationId xmlns:a16="http://schemas.microsoft.com/office/drawing/2014/main" id="{2837D461-E9FB-4A8E-9A46-F05D13884EC8}"/>
              </a:ext>
            </a:extLst>
          </p:cNvPr>
          <p:cNvSpPr txBox="1"/>
          <p:nvPr/>
        </p:nvSpPr>
        <p:spPr>
          <a:xfrm>
            <a:off x="91439" y="895877"/>
            <a:ext cx="4357271" cy="3785652"/>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To configure a banner with several lines, the </a:t>
            </a:r>
            <a:r>
              <a:rPr lang="en-US" sz="1600" b="1" dirty="0">
                <a:latin typeface="Arial" panose="020B0604020202020204" pitchFamily="34" charset="0"/>
                <a:cs typeface="Arial" panose="020B0604020202020204" pitchFamily="34" charset="0"/>
              </a:rPr>
              <a:t>banner motd</a:t>
            </a:r>
            <a:r>
              <a:rPr lang="en-US" sz="1600" dirty="0">
                <a:latin typeface="Arial" panose="020B0604020202020204" pitchFamily="34" charset="0"/>
                <a:cs typeface="Arial" panose="020B0604020202020204" pitchFamily="34" charset="0"/>
              </a:rPr>
              <a:t> must be entered multiple times.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privileged EXEC password is </a:t>
            </a:r>
            <a:r>
              <a:rPr lang="en-US" sz="1600" u="sng" dirty="0">
                <a:latin typeface="Arial" panose="020B0604020202020204" pitchFamily="34" charset="0"/>
                <a:cs typeface="Arial" panose="020B0604020202020204" pitchFamily="34" charset="0"/>
              </a:rPr>
              <a:t>automatically encrypted using MD5</a:t>
            </a:r>
            <a:r>
              <a:rPr lang="en-US" sz="1600" dirty="0">
                <a:latin typeface="Arial" panose="020B0604020202020204" pitchFamily="34" charset="0"/>
                <a:cs typeface="Arial" panose="020B0604020202020204" pitchFamily="34" charset="0"/>
              </a:rPr>
              <a:t>. However, stronger encryption using AES should be enabled. To do so, a master passphrase must be configured, and AES encryption must be enabled.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change the master passphrase, use the </a:t>
            </a:r>
            <a:r>
              <a:rPr lang="en-US" sz="1600" b="1" dirty="0">
                <a:latin typeface="Arial" panose="020B0604020202020204" pitchFamily="34" charset="0"/>
                <a:cs typeface="Arial" panose="020B0604020202020204" pitchFamily="34" charset="0"/>
              </a:rPr>
              <a:t>key config-key password-encryption</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password </a:t>
            </a:r>
            <a:r>
              <a:rPr lang="en-US" sz="1600" dirty="0">
                <a:latin typeface="Arial" panose="020B0604020202020204" pitchFamily="34" charset="0"/>
                <a:cs typeface="Arial" panose="020B0604020202020204" pitchFamily="34" charset="0"/>
              </a:rPr>
              <a:t>command. To determine if password encryption is enabled, use the </a:t>
            </a:r>
            <a:r>
              <a:rPr lang="en-US" sz="1600" b="1" dirty="0">
                <a:latin typeface="Arial" panose="020B0604020202020204" pitchFamily="34" charset="0"/>
                <a:cs typeface="Arial" panose="020B0604020202020204" pitchFamily="34" charset="0"/>
              </a:rPr>
              <a:t>show password encryption</a:t>
            </a:r>
            <a:r>
              <a:rPr lang="en-US" sz="1600" dirty="0">
                <a:latin typeface="Arial" panose="020B0604020202020204" pitchFamily="34" charset="0"/>
                <a:cs typeface="Arial" panose="020B0604020202020204" pitchFamily="34" charset="0"/>
              </a:rPr>
              <a:t> command.</a:t>
            </a:r>
          </a:p>
        </p:txBody>
      </p:sp>
      <p:pic>
        <p:nvPicPr>
          <p:cNvPr id="5" name="Picture 4">
            <a:extLst>
              <a:ext uri="{FF2B5EF4-FFF2-40B4-BE49-F238E27FC236}">
                <a16:creationId xmlns:a16="http://schemas.microsoft.com/office/drawing/2014/main" id="{C8B18277-BD97-40CA-916A-4C52EF1C19F7}"/>
              </a:ext>
            </a:extLst>
          </p:cNvPr>
          <p:cNvPicPr>
            <a:picLocks noChangeAspect="1"/>
          </p:cNvPicPr>
          <p:nvPr/>
        </p:nvPicPr>
        <p:blipFill>
          <a:blip r:embed="rId3"/>
          <a:stretch>
            <a:fillRect/>
          </a:stretch>
        </p:blipFill>
        <p:spPr>
          <a:xfrm>
            <a:off x="4401283" y="1222235"/>
            <a:ext cx="4514117" cy="269903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35</a:t>
            </a:fld>
            <a:endParaRPr lang="en-US" dirty="0"/>
          </a:p>
        </p:txBody>
      </p:sp>
    </p:spTree>
    <p:extLst>
      <p:ext uri="{BB962C8B-B14F-4D97-AF65-F5344CB8AC3E}">
        <p14:creationId xmlns:p14="http://schemas.microsoft.com/office/powerpoint/2010/main" val="320424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Interfaces</a:t>
            </a:r>
          </a:p>
        </p:txBody>
      </p:sp>
      <p:sp>
        <p:nvSpPr>
          <p:cNvPr id="8" name="TextBox 7">
            <a:extLst>
              <a:ext uri="{FF2B5EF4-FFF2-40B4-BE49-F238E27FC236}">
                <a16:creationId xmlns:a16="http://schemas.microsoft.com/office/drawing/2014/main" id="{FFE6C467-1012-4668-A66F-B4B6F307BD83}"/>
              </a:ext>
            </a:extLst>
          </p:cNvPr>
          <p:cNvSpPr txBox="1"/>
          <p:nvPr/>
        </p:nvSpPr>
        <p:spPr>
          <a:xfrm>
            <a:off x="165537" y="731520"/>
            <a:ext cx="8749863" cy="2062103"/>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ASA-5506-X has eight Gigabit Ethernet interfaces that can be configured to carry traffic from different networks. The G1/1 interface is used by convention as the outside interface and is set to receive its IP address over DHCP by default.</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remaining interfaces, G1/2-G1/8, can be assigned to inside networks or DMZs. In addition, a Gigabit Ethernet port is dedicated to in-band management. It is designated as Management1/1. There are also RJ45 and USB console connections for out-of-band management.</a:t>
            </a:r>
          </a:p>
        </p:txBody>
      </p:sp>
      <p:pic>
        <p:nvPicPr>
          <p:cNvPr id="5" name="Picture 4">
            <a:extLst>
              <a:ext uri="{FF2B5EF4-FFF2-40B4-BE49-F238E27FC236}">
                <a16:creationId xmlns:a16="http://schemas.microsoft.com/office/drawing/2014/main" id="{8F5A5029-907C-423C-935F-5D2FF0BBEF08}"/>
              </a:ext>
            </a:extLst>
          </p:cNvPr>
          <p:cNvPicPr>
            <a:picLocks noChangeAspect="1"/>
          </p:cNvPicPr>
          <p:nvPr/>
        </p:nvPicPr>
        <p:blipFill>
          <a:blip r:embed="rId3"/>
          <a:stretch>
            <a:fillRect/>
          </a:stretch>
        </p:blipFill>
        <p:spPr>
          <a:xfrm>
            <a:off x="1198741" y="2896448"/>
            <a:ext cx="6229475" cy="173270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36</a:t>
            </a:fld>
            <a:endParaRPr lang="en-US" dirty="0"/>
          </a:p>
        </p:txBody>
      </p:sp>
    </p:spTree>
    <p:extLst>
      <p:ext uri="{BB962C8B-B14F-4D97-AF65-F5344CB8AC3E}">
        <p14:creationId xmlns:p14="http://schemas.microsoft.com/office/powerpoint/2010/main" val="207321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Interfaces (Cont.)</a:t>
            </a:r>
          </a:p>
        </p:txBody>
      </p:sp>
      <p:sp>
        <p:nvSpPr>
          <p:cNvPr id="7" name="TextBox 6">
            <a:extLst>
              <a:ext uri="{FF2B5EF4-FFF2-40B4-BE49-F238E27FC236}">
                <a16:creationId xmlns:a16="http://schemas.microsoft.com/office/drawing/2014/main" id="{4B6AAEE3-5575-4565-8096-BDA5ADD474ED}"/>
              </a:ext>
            </a:extLst>
          </p:cNvPr>
          <p:cNvSpPr txBox="1"/>
          <p:nvPr/>
        </p:nvSpPr>
        <p:spPr>
          <a:xfrm>
            <a:off x="91440" y="745102"/>
            <a:ext cx="9144000" cy="1692771"/>
          </a:xfrm>
          <a:prstGeom prst="rect">
            <a:avLst/>
          </a:prstGeom>
          <a:noFill/>
        </p:spPr>
        <p:txBody>
          <a:bodyPr wrap="square">
            <a:spAutoFit/>
          </a:bodyPr>
          <a:lstStyle/>
          <a:p>
            <a:r>
              <a:rPr lang="en-US" sz="1300" dirty="0">
                <a:effectLst/>
                <a:latin typeface="Arial" panose="020B0604020202020204" pitchFamily="34" charset="0"/>
                <a:cs typeface="Arial" panose="020B0604020202020204" pitchFamily="34" charset="0"/>
              </a:rPr>
              <a:t>The IP address of an interface can be configured using one of the following options:</a:t>
            </a:r>
          </a:p>
          <a:p>
            <a:endParaRPr lang="en-US" sz="130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300" b="1" dirty="0">
                <a:effectLst/>
                <a:latin typeface="Arial" panose="020B0604020202020204" pitchFamily="34" charset="0"/>
                <a:cs typeface="Arial" panose="020B0604020202020204" pitchFamily="34" charset="0"/>
              </a:rPr>
              <a:t>Manually</a:t>
            </a:r>
            <a:r>
              <a:rPr lang="en-US" sz="1300" dirty="0">
                <a:effectLst/>
                <a:latin typeface="Arial" panose="020B0604020202020204" pitchFamily="34" charset="0"/>
                <a:cs typeface="Arial" panose="020B0604020202020204" pitchFamily="34" charset="0"/>
              </a:rPr>
              <a:t> - Commonly used to assign an IP address and mask to the interface.</a:t>
            </a:r>
          </a:p>
          <a:p>
            <a:pPr marL="285750" indent="-285750">
              <a:buFont typeface="Arial" panose="020B0604020202020204" pitchFamily="34" charset="0"/>
              <a:buChar char="•"/>
            </a:pPr>
            <a:r>
              <a:rPr lang="en-US" sz="1300" b="1" dirty="0">
                <a:effectLst/>
                <a:latin typeface="Arial" panose="020B0604020202020204" pitchFamily="34" charset="0"/>
                <a:cs typeface="Arial" panose="020B0604020202020204" pitchFamily="34" charset="0"/>
              </a:rPr>
              <a:t>DHCP</a:t>
            </a:r>
            <a:r>
              <a:rPr lang="en-US" sz="1300" dirty="0">
                <a:effectLst/>
                <a:latin typeface="Arial" panose="020B0604020202020204" pitchFamily="34" charset="0"/>
                <a:cs typeface="Arial" panose="020B0604020202020204" pitchFamily="34" charset="0"/>
              </a:rPr>
              <a:t> - Used when an interface is connecting to an upstream device providing DHCP services.</a:t>
            </a:r>
          </a:p>
          <a:p>
            <a:pPr marL="285750" indent="-285750">
              <a:buFont typeface="Arial" panose="020B0604020202020204" pitchFamily="34" charset="0"/>
              <a:buChar char="•"/>
            </a:pPr>
            <a:r>
              <a:rPr lang="en-US" sz="1300" b="1" dirty="0">
                <a:effectLst/>
                <a:latin typeface="Arial" panose="020B0604020202020204" pitchFamily="34" charset="0"/>
                <a:cs typeface="Arial" panose="020B0604020202020204" pitchFamily="34" charset="0"/>
              </a:rPr>
              <a:t>PPPoE</a:t>
            </a:r>
            <a:r>
              <a:rPr lang="en-US" sz="1300" dirty="0">
                <a:effectLst/>
                <a:latin typeface="Arial" panose="020B0604020202020204" pitchFamily="34" charset="0"/>
                <a:cs typeface="Arial" panose="020B0604020202020204" pitchFamily="34" charset="0"/>
              </a:rPr>
              <a:t> - Used when an interface is connecting to an upstream DSL device providing point-to-point connectivity over Ethernet services</a:t>
            </a:r>
          </a:p>
          <a:p>
            <a:endParaRPr lang="en-US" sz="1300" dirty="0">
              <a:effectLst/>
              <a:latin typeface="Arial" panose="020B0604020202020204" pitchFamily="34" charset="0"/>
              <a:cs typeface="Arial" panose="020B0604020202020204" pitchFamily="34" charset="0"/>
            </a:endParaRPr>
          </a:p>
          <a:p>
            <a:r>
              <a:rPr lang="en-US" sz="1300" dirty="0">
                <a:effectLst/>
                <a:latin typeface="Arial" panose="020B0604020202020204" pitchFamily="34" charset="0"/>
                <a:cs typeface="Arial" panose="020B0604020202020204" pitchFamily="34" charset="0"/>
              </a:rPr>
              <a:t>The table lists the commands to configure an IP address on an interface.</a:t>
            </a:r>
          </a:p>
        </p:txBody>
      </p:sp>
      <p:graphicFrame>
        <p:nvGraphicFramePr>
          <p:cNvPr id="17" name="Table 16"/>
          <p:cNvGraphicFramePr>
            <a:graphicFrameLocks noGrp="1"/>
          </p:cNvGraphicFramePr>
          <p:nvPr>
            <p:extLst>
              <p:ext uri="{D42A27DB-BD31-4B8C-83A1-F6EECF244321}">
                <p14:modId xmlns:p14="http://schemas.microsoft.com/office/powerpoint/2010/main" val="4243443004"/>
              </p:ext>
            </p:extLst>
          </p:nvPr>
        </p:nvGraphicFramePr>
        <p:xfrm>
          <a:off x="91440" y="2700633"/>
          <a:ext cx="8961120" cy="2103120"/>
        </p:xfrm>
        <a:graphic>
          <a:graphicData uri="http://schemas.openxmlformats.org/drawingml/2006/table">
            <a:tbl>
              <a:tblPr/>
              <a:tblGrid>
                <a:gridCol w="1122505">
                  <a:extLst>
                    <a:ext uri="{9D8B030D-6E8A-4147-A177-3AD203B41FA5}">
                      <a16:colId xmlns:a16="http://schemas.microsoft.com/office/drawing/2014/main" val="20000"/>
                    </a:ext>
                  </a:extLst>
                </a:gridCol>
                <a:gridCol w="2490952">
                  <a:extLst>
                    <a:ext uri="{9D8B030D-6E8A-4147-A177-3AD203B41FA5}">
                      <a16:colId xmlns:a16="http://schemas.microsoft.com/office/drawing/2014/main" val="20001"/>
                    </a:ext>
                  </a:extLst>
                </a:gridCol>
                <a:gridCol w="5347663">
                  <a:extLst>
                    <a:ext uri="{9D8B030D-6E8A-4147-A177-3AD203B41FA5}">
                      <a16:colId xmlns:a16="http://schemas.microsoft.com/office/drawing/2014/main" val="20002"/>
                    </a:ext>
                  </a:extLst>
                </a:gridCol>
              </a:tblGrid>
              <a:tr h="0">
                <a:tc>
                  <a:txBody>
                    <a:bodyPr/>
                    <a:lstStyle/>
                    <a:p>
                      <a:r>
                        <a:rPr lang="en-US" sz="1200" dirty="0">
                          <a:solidFill>
                            <a:srgbClr val="FFFFFF"/>
                          </a:solidFill>
                        </a:rPr>
                        <a:t>To Configure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ASA 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rPr>
                        <a:t>Manually</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ip address </a:t>
                      </a:r>
                      <a:r>
                        <a:rPr lang="en-US" sz="1200" i="1" dirty="0">
                          <a:solidFill>
                            <a:srgbClr val="58585B"/>
                          </a:solidFill>
                          <a:latin typeface="Courier New" panose="02070309020205020404" pitchFamily="49" charset="0"/>
                          <a:cs typeface="Courier New" panose="02070309020205020404" pitchFamily="49" charset="0"/>
                        </a:rPr>
                        <a:t>ip-address netmask</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Assigns an IP address to the interface.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rPr>
                        <a:t>Using DHCP</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ip address dhcp</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The interface will request an IP address configuration from the upstream device.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ip address dhcp setroute</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Used to have the interface request and install a default route to the upstream device.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rPr>
                        <a:t>Using PPP0E</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ip address pppoe</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Interface configuration mode command that requests an IP address from the upstream device.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ip address pppoe setroute</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Same command but it also requests and installs a default route to the upstream device.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37</a:t>
            </a:fld>
            <a:endParaRPr lang="en-US" dirty="0"/>
          </a:p>
        </p:txBody>
      </p:sp>
    </p:spTree>
    <p:extLst>
      <p:ext uri="{BB962C8B-B14F-4D97-AF65-F5344CB8AC3E}">
        <p14:creationId xmlns:p14="http://schemas.microsoft.com/office/powerpoint/2010/main" val="10192308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Interfaces (Cont.)</a:t>
            </a:r>
          </a:p>
        </p:txBody>
      </p:sp>
      <p:sp>
        <p:nvSpPr>
          <p:cNvPr id="8" name="TextBox 7">
            <a:extLst>
              <a:ext uri="{FF2B5EF4-FFF2-40B4-BE49-F238E27FC236}">
                <a16:creationId xmlns:a16="http://schemas.microsoft.com/office/drawing/2014/main" id="{27A3C843-5553-4F7A-8AAA-534EE57A1A4B}"/>
              </a:ext>
            </a:extLst>
          </p:cNvPr>
          <p:cNvSpPr txBox="1"/>
          <p:nvPr/>
        </p:nvSpPr>
        <p:spPr>
          <a:xfrm>
            <a:off x="91440" y="879472"/>
            <a:ext cx="8961120" cy="1569660"/>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Each interface must have a security level from 0 (lowest) to 100 (highest).</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commands below are used to configure basic interface parameters.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Verify the interface addressing and status with the </a:t>
            </a:r>
            <a:r>
              <a:rPr lang="en-US" sz="1600" b="1" dirty="0">
                <a:latin typeface="Arial" panose="020B0604020202020204" pitchFamily="34" charset="0"/>
                <a:cs typeface="Arial" panose="020B0604020202020204" pitchFamily="34" charset="0"/>
              </a:rPr>
              <a:t>show interface ip brief</a:t>
            </a:r>
            <a:r>
              <a:rPr lang="en-US" sz="1600" dirty="0">
                <a:latin typeface="Arial" panose="020B0604020202020204" pitchFamily="34" charset="0"/>
                <a:cs typeface="Arial" panose="020B0604020202020204" pitchFamily="34" charset="0"/>
              </a:rPr>
              <a:t> command as shown below. Note that the </a:t>
            </a:r>
            <a:r>
              <a:rPr lang="en-US" sz="1600" b="1" dirty="0">
                <a:latin typeface="Arial" panose="020B0604020202020204" pitchFamily="34" charset="0"/>
                <a:cs typeface="Arial" panose="020B0604020202020204" pitchFamily="34" charset="0"/>
              </a:rPr>
              <a:t>show</a:t>
            </a:r>
            <a:r>
              <a:rPr lang="en-US" sz="1600" dirty="0">
                <a:latin typeface="Arial" panose="020B0604020202020204" pitchFamily="34" charset="0"/>
                <a:cs typeface="Arial" panose="020B0604020202020204" pitchFamily="34" charset="0"/>
              </a:rPr>
              <a:t> command does not need to be entered in User EXEC mode.</a:t>
            </a:r>
          </a:p>
        </p:txBody>
      </p:sp>
      <p:graphicFrame>
        <p:nvGraphicFramePr>
          <p:cNvPr id="33" name="Table 32"/>
          <p:cNvGraphicFramePr>
            <a:graphicFrameLocks noGrp="1"/>
          </p:cNvGraphicFramePr>
          <p:nvPr>
            <p:extLst>
              <p:ext uri="{D42A27DB-BD31-4B8C-83A1-F6EECF244321}">
                <p14:modId xmlns:p14="http://schemas.microsoft.com/office/powerpoint/2010/main" val="3165102448"/>
              </p:ext>
            </p:extLst>
          </p:nvPr>
        </p:nvGraphicFramePr>
        <p:xfrm>
          <a:off x="182880" y="2830830"/>
          <a:ext cx="8961120" cy="1767840"/>
        </p:xfrm>
        <a:graphic>
          <a:graphicData uri="http://schemas.openxmlformats.org/drawingml/2006/table">
            <a:tbl>
              <a:tblPr/>
              <a:tblGrid>
                <a:gridCol w="2205596">
                  <a:extLst>
                    <a:ext uri="{9D8B030D-6E8A-4147-A177-3AD203B41FA5}">
                      <a16:colId xmlns:a16="http://schemas.microsoft.com/office/drawing/2014/main" val="20000"/>
                    </a:ext>
                  </a:extLst>
                </a:gridCol>
                <a:gridCol w="6755524">
                  <a:extLst>
                    <a:ext uri="{9D8B030D-6E8A-4147-A177-3AD203B41FA5}">
                      <a16:colId xmlns:a16="http://schemas.microsoft.com/office/drawing/2014/main" val="20001"/>
                    </a:ext>
                  </a:extLst>
                </a:gridCol>
              </a:tblGrid>
              <a:tr h="0">
                <a:tc>
                  <a:txBody>
                    <a:bodyPr/>
                    <a:lstStyle/>
                    <a:p>
                      <a:r>
                        <a:rPr lang="en-US" sz="1200" dirty="0">
                          <a:solidFill>
                            <a:srgbClr val="FFFFFF"/>
                          </a:solidFill>
                        </a:rPr>
                        <a:t>ASA 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nameif</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if_name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lgn="l">
                        <a:buFont typeface="Arial" panose="020B0604020202020204" pitchFamily="34" charset="0"/>
                        <a:buChar char="•"/>
                      </a:pPr>
                      <a:r>
                        <a:rPr lang="en-US" sz="1200" dirty="0">
                          <a:solidFill>
                            <a:srgbClr val="58585B"/>
                          </a:solidFill>
                        </a:rPr>
                        <a:t>Names the interface using a text string of up to 48 characters.</a:t>
                      </a:r>
                    </a:p>
                    <a:p>
                      <a:pPr marL="171450" indent="-171450" algn="l">
                        <a:buFont typeface="Arial" panose="020B0604020202020204" pitchFamily="34" charset="0"/>
                        <a:buChar char="•"/>
                      </a:pPr>
                      <a:r>
                        <a:rPr lang="en-US" sz="1200" dirty="0">
                          <a:solidFill>
                            <a:srgbClr val="58585B"/>
                          </a:solidFill>
                        </a:rPr>
                        <a:t>The name is not case-sensitive. </a:t>
                      </a:r>
                    </a:p>
                    <a:p>
                      <a:pPr marL="171450" indent="-171450" algn="l">
                        <a:buFont typeface="Arial" panose="020B0604020202020204" pitchFamily="34" charset="0"/>
                        <a:buChar char="•"/>
                      </a:pPr>
                      <a:r>
                        <a:rPr lang="en-US" sz="1200" dirty="0">
                          <a:solidFill>
                            <a:srgbClr val="58585B"/>
                          </a:solidFill>
                        </a:rPr>
                        <a:t>You can change the name by re-entering this command with a new value.</a:t>
                      </a:r>
                      <a:endParaRPr lang="en-US" sz="1200" dirty="0"/>
                    </a:p>
                    <a:p>
                      <a:pPr marL="171450" indent="-171450" algn="l">
                        <a:buFont typeface="Arial" panose="020B0604020202020204" pitchFamily="34" charset="0"/>
                        <a:buChar char="•"/>
                      </a:pPr>
                      <a:r>
                        <a:rPr lang="en-US" sz="1200" dirty="0">
                          <a:solidFill>
                            <a:srgbClr val="58585B"/>
                          </a:solidFill>
                        </a:rPr>
                        <a:t>Do not enter the </a:t>
                      </a:r>
                      <a:r>
                        <a:rPr lang="en-US" sz="1200" b="1" dirty="0">
                          <a:solidFill>
                            <a:srgbClr val="58585B"/>
                          </a:solidFill>
                        </a:rPr>
                        <a:t>no </a:t>
                      </a:r>
                      <a:r>
                        <a:rPr lang="en-US" sz="1200" dirty="0">
                          <a:solidFill>
                            <a:srgbClr val="58585B"/>
                          </a:solidFill>
                        </a:rPr>
                        <a:t>form, because that command causes all commands that refer to that name to be deleted.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security-level</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value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Sets the security level, where number is an integer between 0 (lowest) and 100 (highest).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no shutdown</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Activate the interface.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38</a:t>
            </a:fld>
            <a:endParaRPr lang="en-US" dirty="0"/>
          </a:p>
        </p:txBody>
      </p:sp>
    </p:spTree>
    <p:extLst>
      <p:ext uri="{BB962C8B-B14F-4D97-AF65-F5344CB8AC3E}">
        <p14:creationId xmlns:p14="http://schemas.microsoft.com/office/powerpoint/2010/main" val="28954815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Interfaces (Cont.)</a:t>
            </a:r>
          </a:p>
        </p:txBody>
      </p:sp>
      <p:sp>
        <p:nvSpPr>
          <p:cNvPr id="8" name="TextBox 7">
            <a:extLst>
              <a:ext uri="{FF2B5EF4-FFF2-40B4-BE49-F238E27FC236}">
                <a16:creationId xmlns:a16="http://schemas.microsoft.com/office/drawing/2014/main" id="{27A3C843-5553-4F7A-8AAA-534EE57A1A4B}"/>
              </a:ext>
            </a:extLst>
          </p:cNvPr>
          <p:cNvSpPr txBox="1"/>
          <p:nvPr/>
        </p:nvSpPr>
        <p:spPr>
          <a:xfrm>
            <a:off x="91440" y="879472"/>
            <a:ext cx="8961120" cy="33855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Interface configuration example</a:t>
            </a:r>
          </a:p>
        </p:txBody>
      </p:sp>
      <p:pic>
        <p:nvPicPr>
          <p:cNvPr id="5" name="Picture 4">
            <a:extLst>
              <a:ext uri="{FF2B5EF4-FFF2-40B4-BE49-F238E27FC236}">
                <a16:creationId xmlns:a16="http://schemas.microsoft.com/office/drawing/2014/main" id="{027CE88C-E116-4BD7-AA04-26B5E656A01E}"/>
              </a:ext>
            </a:extLst>
          </p:cNvPr>
          <p:cNvPicPr>
            <a:picLocks noChangeAspect="1"/>
          </p:cNvPicPr>
          <p:nvPr/>
        </p:nvPicPr>
        <p:blipFill>
          <a:blip r:embed="rId3"/>
          <a:stretch>
            <a:fillRect/>
          </a:stretch>
        </p:blipFill>
        <p:spPr>
          <a:xfrm>
            <a:off x="192389" y="1935652"/>
            <a:ext cx="4273427" cy="1691126"/>
          </a:xfrm>
          <a:prstGeom prst="rect">
            <a:avLst/>
          </a:prstGeom>
        </p:spPr>
      </p:pic>
      <p:pic>
        <p:nvPicPr>
          <p:cNvPr id="7" name="Picture 6">
            <a:extLst>
              <a:ext uri="{FF2B5EF4-FFF2-40B4-BE49-F238E27FC236}">
                <a16:creationId xmlns:a16="http://schemas.microsoft.com/office/drawing/2014/main" id="{FD5A22F8-9E47-4500-8A77-E8B72E6B59AE}"/>
              </a:ext>
            </a:extLst>
          </p:cNvPr>
          <p:cNvPicPr>
            <a:picLocks noChangeAspect="1"/>
          </p:cNvPicPr>
          <p:nvPr/>
        </p:nvPicPr>
        <p:blipFill>
          <a:blip r:embed="rId4"/>
          <a:stretch>
            <a:fillRect/>
          </a:stretch>
        </p:blipFill>
        <p:spPr>
          <a:xfrm>
            <a:off x="4581509" y="1218026"/>
            <a:ext cx="4355358" cy="316611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39</a:t>
            </a:fld>
            <a:endParaRPr lang="en-US" dirty="0"/>
          </a:p>
        </p:txBody>
      </p:sp>
    </p:spTree>
    <p:extLst>
      <p:ext uri="{BB962C8B-B14F-4D97-AF65-F5344CB8AC3E}">
        <p14:creationId xmlns:p14="http://schemas.microsoft.com/office/powerpoint/2010/main" val="4213614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465419"/>
          </a:xfrm>
          <a:prstGeom prst="rect">
            <a:avLst/>
          </a:prstGeom>
          <a:noFill/>
          <a:ln/>
        </p:spPr>
        <p:txBody>
          <a:bodyPr wrap="square" rtlCol="0"/>
          <a:lstStyle/>
          <a:p>
            <a:pPr marL="0" indent="0">
              <a:buNone/>
            </a:pPr>
            <a:r>
              <a:rPr lang="en-US" dirty="0"/>
              <a:t>Configure a Default Static Route</a:t>
            </a:r>
          </a:p>
        </p:txBody>
      </p:sp>
      <p:sp>
        <p:nvSpPr>
          <p:cNvPr id="5" name="Object4"/>
          <p:cNvSpPr/>
          <p:nvPr/>
        </p:nvSpPr>
        <p:spPr>
          <a:xfrm>
            <a:off x="0" y="914401"/>
            <a:ext cx="8899634" cy="760288"/>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route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interface-name</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0.0.0.0 0.0.0.0</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next-hop-ip-address</a:t>
            </a:r>
            <a:r>
              <a:rPr lang="en-US" sz="1600" dirty="0">
                <a:latin typeface="Arial" panose="020B0604020202020204" pitchFamily="34" charset="0"/>
                <a:cs typeface="Arial" panose="020B0604020202020204" pitchFamily="34" charset="0"/>
              </a:rPr>
              <a:t> command to configure a default route. </a:t>
            </a:r>
          </a:p>
        </p:txBody>
      </p:sp>
      <p:pic>
        <p:nvPicPr>
          <p:cNvPr id="7" name="Picture 6">
            <a:extLst>
              <a:ext uri="{FF2B5EF4-FFF2-40B4-BE49-F238E27FC236}">
                <a16:creationId xmlns:a16="http://schemas.microsoft.com/office/drawing/2014/main" id="{353FEDDD-70E1-49F9-B79F-AC823FF602E2}"/>
              </a:ext>
            </a:extLst>
          </p:cNvPr>
          <p:cNvPicPr>
            <a:picLocks noChangeAspect="1"/>
          </p:cNvPicPr>
          <p:nvPr/>
        </p:nvPicPr>
        <p:blipFill>
          <a:blip r:embed="rId3"/>
          <a:stretch>
            <a:fillRect/>
          </a:stretch>
        </p:blipFill>
        <p:spPr>
          <a:xfrm>
            <a:off x="1567727" y="1517510"/>
            <a:ext cx="5905804" cy="271158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40</a:t>
            </a:fld>
            <a:endParaRPr lang="en-US" dirty="0"/>
          </a:p>
        </p:txBody>
      </p:sp>
    </p:spTree>
    <p:extLst>
      <p:ext uri="{BB962C8B-B14F-4D97-AF65-F5344CB8AC3E}">
        <p14:creationId xmlns:p14="http://schemas.microsoft.com/office/powerpoint/2010/main" val="690644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381782"/>
          </a:xfrm>
          <a:prstGeom prst="rect">
            <a:avLst/>
          </a:prstGeom>
          <a:noFill/>
          <a:ln/>
        </p:spPr>
        <p:txBody>
          <a:bodyPr wrap="square" rtlCol="0"/>
          <a:lstStyle/>
          <a:p>
            <a:pPr marL="0" indent="0">
              <a:buNone/>
            </a:pPr>
            <a:r>
              <a:rPr lang="en-US" dirty="0"/>
              <a:t>Configure Remote Access Services</a:t>
            </a:r>
          </a:p>
        </p:txBody>
      </p:sp>
      <p:graphicFrame>
        <p:nvGraphicFramePr>
          <p:cNvPr id="21" name="Table 20"/>
          <p:cNvGraphicFramePr>
            <a:graphicFrameLocks noGrp="1"/>
          </p:cNvGraphicFramePr>
          <p:nvPr>
            <p:extLst>
              <p:ext uri="{D42A27DB-BD31-4B8C-83A1-F6EECF244321}">
                <p14:modId xmlns:p14="http://schemas.microsoft.com/office/powerpoint/2010/main" val="325977742"/>
              </p:ext>
            </p:extLst>
          </p:nvPr>
        </p:nvGraphicFramePr>
        <p:xfrm>
          <a:off x="728438" y="1232687"/>
          <a:ext cx="7377872" cy="1859280"/>
        </p:xfrm>
        <a:graphic>
          <a:graphicData uri="http://schemas.openxmlformats.org/drawingml/2006/table">
            <a:tbl>
              <a:tblPr/>
              <a:tblGrid>
                <a:gridCol w="2817925">
                  <a:extLst>
                    <a:ext uri="{9D8B030D-6E8A-4147-A177-3AD203B41FA5}">
                      <a16:colId xmlns:a16="http://schemas.microsoft.com/office/drawing/2014/main" val="20000"/>
                    </a:ext>
                  </a:extLst>
                </a:gridCol>
                <a:gridCol w="4559947">
                  <a:extLst>
                    <a:ext uri="{9D8B030D-6E8A-4147-A177-3AD203B41FA5}">
                      <a16:colId xmlns:a16="http://schemas.microsoft.com/office/drawing/2014/main" val="20001"/>
                    </a:ext>
                  </a:extLst>
                </a:gridCol>
              </a:tblGrid>
              <a:tr h="0">
                <a:tc>
                  <a:txBody>
                    <a:bodyPr/>
                    <a:lstStyle/>
                    <a:p>
                      <a:r>
                        <a:rPr lang="en-US" sz="1200" dirty="0">
                          <a:solidFill>
                            <a:srgbClr val="FFFFFF"/>
                          </a:solidFill>
                        </a:rPr>
                        <a:t>ASA 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000" dirty="0">
                          <a:solidFill>
                            <a:srgbClr val="58585B"/>
                          </a:solidFill>
                          <a:latin typeface="Courier New" panose="02070309020205020404" pitchFamily="49" charset="0"/>
                          <a:cs typeface="Courier New" panose="02070309020205020404" pitchFamily="49" charset="0"/>
                        </a:rPr>
                        <a:t>{</a:t>
                      </a:r>
                      <a:r>
                        <a:rPr lang="en-US" sz="1000" b="1" dirty="0">
                          <a:solidFill>
                            <a:srgbClr val="58585B"/>
                          </a:solidFill>
                          <a:latin typeface="Courier New" panose="02070309020205020404" pitchFamily="49" charset="0"/>
                          <a:cs typeface="Courier New" panose="02070309020205020404" pitchFamily="49" charset="0"/>
                        </a:rPr>
                        <a:t>passwd </a:t>
                      </a:r>
                      <a:r>
                        <a:rPr lang="en-US" sz="1000" b="0" dirty="0">
                          <a:solidFill>
                            <a:srgbClr val="58585B"/>
                          </a:solidFill>
                          <a:latin typeface="Courier New" panose="02070309020205020404" pitchFamily="49" charset="0"/>
                          <a:cs typeface="Courier New" panose="02070309020205020404" pitchFamily="49" charset="0"/>
                        </a:rPr>
                        <a:t>|</a:t>
                      </a:r>
                      <a:r>
                        <a:rPr lang="en-US" sz="1000" b="1" dirty="0">
                          <a:solidFill>
                            <a:srgbClr val="58585B"/>
                          </a:solidFill>
                          <a:latin typeface="Courier New" panose="02070309020205020404" pitchFamily="49" charset="0"/>
                          <a:cs typeface="Courier New" panose="02070309020205020404" pitchFamily="49" charset="0"/>
                        </a:rPr>
                        <a:t> password</a:t>
                      </a:r>
                      <a:r>
                        <a:rPr lang="en-US" sz="1000" b="0" dirty="0">
                          <a:solidFill>
                            <a:srgbClr val="58585B"/>
                          </a:solidFill>
                          <a:latin typeface="Courier New" panose="02070309020205020404" pitchFamily="49" charset="0"/>
                          <a:cs typeface="Courier New" panose="02070309020205020404" pitchFamily="49" charset="0"/>
                        </a:rPr>
                        <a:t>}</a:t>
                      </a:r>
                      <a:r>
                        <a:rPr lang="en-US" sz="1000" b="1" dirty="0">
                          <a:solidFill>
                            <a:srgbClr val="58585B"/>
                          </a:solidFill>
                          <a:latin typeface="Courier New" panose="02070309020205020404" pitchFamily="49" charset="0"/>
                          <a:cs typeface="Courier New" panose="02070309020205020404" pitchFamily="49" charset="0"/>
                        </a:rPr>
                        <a:t> </a:t>
                      </a:r>
                      <a:r>
                        <a:rPr lang="en-US" sz="1000" i="1" dirty="0">
                          <a:solidFill>
                            <a:srgbClr val="58585B"/>
                          </a:solidFill>
                          <a:latin typeface="Courier New" panose="02070309020205020404" pitchFamily="49" charset="0"/>
                          <a:cs typeface="Courier New" panose="02070309020205020404" pitchFamily="49" charset="0"/>
                        </a:rPr>
                        <a:t>password</a:t>
                      </a:r>
                      <a:endParaRPr lang="en-US" sz="10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000" dirty="0">
                          <a:solidFill>
                            <a:srgbClr val="58585B"/>
                          </a:solidFill>
                        </a:rPr>
                        <a:t>Sets the login password up to 80 characters in length for Telnet.</a:t>
                      </a:r>
                      <a:endParaRPr lang="en-US" sz="10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000" b="1" dirty="0">
                          <a:solidFill>
                            <a:srgbClr val="58585B"/>
                          </a:solidFill>
                          <a:latin typeface="Courier New" panose="02070309020205020404" pitchFamily="49" charset="0"/>
                          <a:cs typeface="Courier New" panose="02070309020205020404" pitchFamily="49" charset="0"/>
                        </a:rPr>
                        <a:t>telnet</a:t>
                      </a:r>
                      <a:r>
                        <a:rPr lang="en-US" sz="1000" dirty="0">
                          <a:solidFill>
                            <a:srgbClr val="58585B"/>
                          </a:solidFill>
                          <a:latin typeface="Courier New" panose="02070309020205020404" pitchFamily="49" charset="0"/>
                          <a:cs typeface="Courier New" panose="02070309020205020404" pitchFamily="49" charset="0"/>
                        </a:rPr>
                        <a:t> { </a:t>
                      </a:r>
                      <a:r>
                        <a:rPr lang="en-US" sz="1000" i="1" dirty="0">
                          <a:solidFill>
                            <a:srgbClr val="58585B"/>
                          </a:solidFill>
                          <a:latin typeface="Courier New" panose="02070309020205020404" pitchFamily="49" charset="0"/>
                          <a:cs typeface="Courier New" panose="02070309020205020404" pitchFamily="49" charset="0"/>
                        </a:rPr>
                        <a:t>ipv4_address mask</a:t>
                      </a:r>
                      <a:r>
                        <a:rPr lang="en-US" sz="1000" dirty="0">
                          <a:solidFill>
                            <a:srgbClr val="58585B"/>
                          </a:solidFill>
                          <a:latin typeface="Courier New" panose="02070309020205020404" pitchFamily="49" charset="0"/>
                          <a:cs typeface="Courier New" panose="02070309020205020404" pitchFamily="49" charset="0"/>
                        </a:rPr>
                        <a:t> | </a:t>
                      </a:r>
                      <a:r>
                        <a:rPr lang="en-US" sz="1000" i="1" dirty="0">
                          <a:solidFill>
                            <a:srgbClr val="58585B"/>
                          </a:solidFill>
                          <a:latin typeface="Courier New" panose="02070309020205020404" pitchFamily="49" charset="0"/>
                          <a:cs typeface="Courier New" panose="02070309020205020404" pitchFamily="49" charset="0"/>
                        </a:rPr>
                        <a:t>ipv6_address/prefix </a:t>
                      </a:r>
                      <a:r>
                        <a:rPr lang="en-US" sz="1000" dirty="0">
                          <a:solidFill>
                            <a:srgbClr val="58585B"/>
                          </a:solidFill>
                          <a:latin typeface="Courier New" panose="02070309020205020404" pitchFamily="49" charset="0"/>
                          <a:cs typeface="Courier New" panose="02070309020205020404" pitchFamily="49" charset="0"/>
                        </a:rPr>
                        <a:t>} </a:t>
                      </a:r>
                      <a:r>
                        <a:rPr lang="en-US" sz="1000" i="1" dirty="0">
                          <a:solidFill>
                            <a:srgbClr val="58585B"/>
                          </a:solidFill>
                          <a:latin typeface="Courier New" panose="02070309020205020404" pitchFamily="49" charset="0"/>
                          <a:cs typeface="Courier New" panose="02070309020205020404" pitchFamily="49" charset="0"/>
                        </a:rPr>
                        <a:t>if_name</a:t>
                      </a:r>
                      <a:endParaRPr lang="en-US" sz="10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000" dirty="0">
                          <a:solidFill>
                            <a:srgbClr val="58585B"/>
                          </a:solidFill>
                        </a:rPr>
                        <a:t>Identifies which inside host or network can Telnet to the ASA interface.</a:t>
                      </a:r>
                      <a:endParaRPr lang="en-US" sz="1000" dirty="0"/>
                    </a:p>
                    <a:p>
                      <a:pPr marL="171450" indent="-171450">
                        <a:buFont typeface="Arial" panose="020B0604020202020204" pitchFamily="34" charset="0"/>
                        <a:buChar char="•"/>
                      </a:pPr>
                      <a:r>
                        <a:rPr lang="en-US" sz="1000" dirty="0">
                          <a:solidFill>
                            <a:srgbClr val="58585B"/>
                          </a:solidFill>
                        </a:rPr>
                        <a:t>Use the clear configure telnet command to remove the Telnet connection</a:t>
                      </a:r>
                      <a:endParaRPr lang="en-US" sz="10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000" b="1" dirty="0">
                          <a:solidFill>
                            <a:srgbClr val="58585B"/>
                          </a:solidFill>
                          <a:latin typeface="Courier New" panose="02070309020205020404" pitchFamily="49" charset="0"/>
                          <a:cs typeface="Courier New" panose="02070309020205020404" pitchFamily="49" charset="0"/>
                        </a:rPr>
                        <a:t>telnet timeout </a:t>
                      </a:r>
                      <a:r>
                        <a:rPr lang="en-US" sz="1000" i="1" dirty="0">
                          <a:solidFill>
                            <a:srgbClr val="58585B"/>
                          </a:solidFill>
                          <a:latin typeface="Courier New" panose="02070309020205020404" pitchFamily="49" charset="0"/>
                          <a:cs typeface="Courier New" panose="02070309020205020404" pitchFamily="49" charset="0"/>
                        </a:rPr>
                        <a:t>minutes</a:t>
                      </a:r>
                      <a:endParaRPr lang="en-US" sz="10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000" dirty="0">
                          <a:solidFill>
                            <a:srgbClr val="58585B"/>
                          </a:solidFill>
                        </a:rPr>
                        <a:t>By default, Telnet sessions left idle for five minutes are closed by the ASA.</a:t>
                      </a:r>
                      <a:endParaRPr lang="en-US" sz="1000" dirty="0"/>
                    </a:p>
                    <a:p>
                      <a:pPr marL="171450" indent="-171450">
                        <a:buFont typeface="Arial" panose="020B0604020202020204" pitchFamily="34" charset="0"/>
                        <a:buChar char="•"/>
                      </a:pPr>
                      <a:r>
                        <a:rPr lang="en-US" sz="1000" dirty="0">
                          <a:solidFill>
                            <a:srgbClr val="58585B"/>
                          </a:solidFill>
                        </a:rPr>
                        <a:t>The command alters the default exec timeout of five minutes.</a:t>
                      </a:r>
                      <a:endParaRPr lang="en-US" sz="10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000" b="1" dirty="0">
                          <a:solidFill>
                            <a:srgbClr val="58585B"/>
                          </a:solidFill>
                          <a:latin typeface="Courier New" panose="02070309020205020404" pitchFamily="49" charset="0"/>
                          <a:cs typeface="Courier New" panose="02070309020205020404" pitchFamily="49" charset="0"/>
                        </a:rPr>
                        <a:t>aaa authentication telnet console LOCAL</a:t>
                      </a:r>
                      <a:endParaRPr lang="en-US" sz="10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000" dirty="0">
                          <a:solidFill>
                            <a:srgbClr val="58585B"/>
                          </a:solidFill>
                        </a:rPr>
                        <a:t>Configures Telnet to refer to the local database for authentication.</a:t>
                      </a:r>
                      <a:endParaRPr lang="en-US" sz="1000" dirty="0"/>
                    </a:p>
                    <a:p>
                      <a:pPr marL="171450" indent="-171450">
                        <a:buFont typeface="Arial" panose="020B0604020202020204" pitchFamily="34" charset="0"/>
                        <a:buChar char="•"/>
                      </a:pPr>
                      <a:r>
                        <a:rPr lang="en-US" sz="1000" dirty="0">
                          <a:solidFill>
                            <a:srgbClr val="58585B"/>
                          </a:solidFill>
                        </a:rPr>
                        <a:t>The LOCAL keyword is case sensitive and is a predefined server tag.</a:t>
                      </a:r>
                      <a:endParaRPr lang="en-US" sz="10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000" b="1" dirty="0">
                          <a:solidFill>
                            <a:srgbClr val="58585B"/>
                          </a:solidFill>
                          <a:latin typeface="Courier New" panose="02070309020205020404" pitchFamily="49" charset="0"/>
                          <a:cs typeface="Courier New" panose="02070309020205020404" pitchFamily="49" charset="0"/>
                        </a:rPr>
                        <a:t>clear configure telnet</a:t>
                      </a:r>
                      <a:endParaRPr lang="en-US" sz="10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000" dirty="0">
                          <a:solidFill>
                            <a:srgbClr val="58585B"/>
                          </a:solidFill>
                        </a:rPr>
                        <a:t>Removes the Telnet connection from the configuration.</a:t>
                      </a:r>
                      <a:endParaRPr lang="en-US" sz="10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8" name="TextBox 7">
            <a:extLst>
              <a:ext uri="{FF2B5EF4-FFF2-40B4-BE49-F238E27FC236}">
                <a16:creationId xmlns:a16="http://schemas.microsoft.com/office/drawing/2014/main" id="{72115707-4452-4DCC-BAEA-BEDC12B5184B}"/>
              </a:ext>
            </a:extLst>
          </p:cNvPr>
          <p:cNvSpPr txBox="1"/>
          <p:nvPr/>
        </p:nvSpPr>
        <p:spPr>
          <a:xfrm>
            <a:off x="0" y="656102"/>
            <a:ext cx="9144000" cy="738664"/>
          </a:xfrm>
          <a:prstGeom prst="rect">
            <a:avLst/>
          </a:prstGeom>
          <a:noFill/>
        </p:spPr>
        <p:txBody>
          <a:bodyPr wrap="square">
            <a:spAutoFit/>
          </a:bodyPr>
          <a:lstStyle/>
          <a:p>
            <a:r>
              <a:rPr lang="en-US" sz="1400" dirty="0">
                <a:effectLst/>
                <a:latin typeface="Arial" panose="020B0604020202020204" pitchFamily="34" charset="0"/>
                <a:cs typeface="Arial" panose="020B0604020202020204" pitchFamily="34" charset="0"/>
              </a:rPr>
              <a:t>Telnet or SSH is required to manage the ASA 5506-X remotely, using the CLI. To enable the Telnet service, use the commands listed in the table.</a:t>
            </a:r>
          </a:p>
          <a:p>
            <a:endParaRPr lang="en-US" sz="1400" dirty="0">
              <a:effectLst/>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B303058-F1B1-4734-A4FB-E24733F1AEAD}"/>
              </a:ext>
            </a:extLst>
          </p:cNvPr>
          <p:cNvPicPr>
            <a:picLocks noChangeAspect="1"/>
          </p:cNvPicPr>
          <p:nvPr/>
        </p:nvPicPr>
        <p:blipFill>
          <a:blip r:embed="rId3"/>
          <a:stretch>
            <a:fillRect/>
          </a:stretch>
        </p:blipFill>
        <p:spPr>
          <a:xfrm>
            <a:off x="1686918" y="3267182"/>
            <a:ext cx="5460911" cy="169572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41</a:t>
            </a:fld>
            <a:endParaRPr lang="en-US" dirty="0"/>
          </a:p>
        </p:txBody>
      </p:sp>
    </p:spTree>
    <p:extLst>
      <p:ext uri="{BB962C8B-B14F-4D97-AF65-F5344CB8AC3E}">
        <p14:creationId xmlns:p14="http://schemas.microsoft.com/office/powerpoint/2010/main" val="1794276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Remote Access Services (Cont.)</a:t>
            </a:r>
          </a:p>
        </p:txBody>
      </p:sp>
      <p:graphicFrame>
        <p:nvGraphicFramePr>
          <p:cNvPr id="41" name="Table 40"/>
          <p:cNvGraphicFramePr>
            <a:graphicFrameLocks noGrp="1"/>
          </p:cNvGraphicFramePr>
          <p:nvPr>
            <p:extLst>
              <p:ext uri="{D42A27DB-BD31-4B8C-83A1-F6EECF244321}">
                <p14:modId xmlns:p14="http://schemas.microsoft.com/office/powerpoint/2010/main" val="2771212841"/>
              </p:ext>
            </p:extLst>
          </p:nvPr>
        </p:nvGraphicFramePr>
        <p:xfrm>
          <a:off x="91440" y="1422385"/>
          <a:ext cx="8961120" cy="3291840"/>
        </p:xfrm>
        <a:graphic>
          <a:graphicData uri="http://schemas.openxmlformats.org/drawingml/2006/table">
            <a:tbl>
              <a:tblPr/>
              <a:tblGrid>
                <a:gridCol w="3542512">
                  <a:extLst>
                    <a:ext uri="{9D8B030D-6E8A-4147-A177-3AD203B41FA5}">
                      <a16:colId xmlns:a16="http://schemas.microsoft.com/office/drawing/2014/main" val="20000"/>
                    </a:ext>
                  </a:extLst>
                </a:gridCol>
                <a:gridCol w="5418608">
                  <a:extLst>
                    <a:ext uri="{9D8B030D-6E8A-4147-A177-3AD203B41FA5}">
                      <a16:colId xmlns:a16="http://schemas.microsoft.com/office/drawing/2014/main" val="20001"/>
                    </a:ext>
                  </a:extLst>
                </a:gridCol>
              </a:tblGrid>
              <a:tr h="0">
                <a:tc>
                  <a:txBody>
                    <a:bodyPr/>
                    <a:lstStyle/>
                    <a:p>
                      <a:r>
                        <a:rPr lang="en-US" sz="1100" dirty="0">
                          <a:solidFill>
                            <a:srgbClr val="FFFFFF"/>
                          </a:solidFill>
                        </a:rPr>
                        <a:t>ASA Command</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100" dirty="0">
                          <a:solidFill>
                            <a:srgbClr val="FFFFFF"/>
                          </a:solidFill>
                        </a:rPr>
                        <a:t>Description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00" b="1" dirty="0">
                          <a:solidFill>
                            <a:srgbClr val="58585B"/>
                          </a:solidFill>
                          <a:latin typeface="Courier New" panose="02070309020205020404" pitchFamily="49" charset="0"/>
                          <a:cs typeface="Courier New" panose="02070309020205020404" pitchFamily="49" charset="0"/>
                        </a:rPr>
                        <a:t>username</a:t>
                      </a:r>
                      <a:r>
                        <a:rPr lang="en-US" sz="1100" dirty="0">
                          <a:solidFill>
                            <a:srgbClr val="58585B"/>
                          </a:solidFill>
                          <a:latin typeface="Courier New" panose="02070309020205020404" pitchFamily="49" charset="0"/>
                          <a:cs typeface="Courier New" panose="02070309020205020404" pitchFamily="49" charset="0"/>
                        </a:rPr>
                        <a:t> </a:t>
                      </a:r>
                      <a:r>
                        <a:rPr lang="en-US" sz="1100" i="1" dirty="0">
                          <a:solidFill>
                            <a:srgbClr val="58585B"/>
                          </a:solidFill>
                          <a:latin typeface="Courier New" panose="02070309020205020404" pitchFamily="49" charset="0"/>
                          <a:cs typeface="Courier New" panose="02070309020205020404" pitchFamily="49" charset="0"/>
                        </a:rPr>
                        <a:t>name</a:t>
                      </a:r>
                      <a:r>
                        <a:rPr lang="en-US" sz="1100" b="1" i="1" dirty="0">
                          <a:solidFill>
                            <a:srgbClr val="58585B"/>
                          </a:solidFill>
                          <a:latin typeface="Courier New" panose="02070309020205020404" pitchFamily="49" charset="0"/>
                          <a:cs typeface="Courier New" panose="02070309020205020404" pitchFamily="49" charset="0"/>
                        </a:rPr>
                        <a:t> </a:t>
                      </a:r>
                      <a:r>
                        <a:rPr lang="en-US" sz="1100" b="1" dirty="0">
                          <a:solidFill>
                            <a:srgbClr val="58585B"/>
                          </a:solidFill>
                          <a:latin typeface="Courier New" panose="02070309020205020404" pitchFamily="49" charset="0"/>
                          <a:cs typeface="Courier New" panose="02070309020205020404" pitchFamily="49" charset="0"/>
                        </a:rPr>
                        <a:t>password </a:t>
                      </a:r>
                      <a:r>
                        <a:rPr lang="en-US" sz="1100" i="1" dirty="0">
                          <a:solidFill>
                            <a:srgbClr val="58585B"/>
                          </a:solidFill>
                          <a:latin typeface="Courier New" panose="02070309020205020404" pitchFamily="49" charset="0"/>
                          <a:cs typeface="Courier New" panose="02070309020205020404" pitchFamily="49" charset="0"/>
                        </a:rPr>
                        <a:t>password</a:t>
                      </a:r>
                      <a:endParaRPr lang="en-US" sz="11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Creates a local database entry.</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00" b="1" dirty="0">
                          <a:solidFill>
                            <a:srgbClr val="58585B"/>
                          </a:solidFill>
                          <a:latin typeface="Courier New" panose="02070309020205020404" pitchFamily="49" charset="0"/>
                          <a:cs typeface="Courier New" panose="02070309020205020404" pitchFamily="49" charset="0"/>
                        </a:rPr>
                        <a:t>aaa authentication ssh console LOCAL</a:t>
                      </a:r>
                      <a:endParaRPr lang="en-US" sz="11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100" dirty="0">
                          <a:solidFill>
                            <a:srgbClr val="58585B"/>
                          </a:solidFill>
                        </a:rPr>
                        <a:t>Configures SSH to refer to the local database for authentication.</a:t>
                      </a:r>
                      <a:endParaRPr lang="en-US" sz="1100" dirty="0"/>
                    </a:p>
                    <a:p>
                      <a:pPr marL="171450" indent="-171450">
                        <a:buFont typeface="Arial" panose="020B0604020202020204" pitchFamily="34" charset="0"/>
                        <a:buChar char="•"/>
                      </a:pPr>
                      <a:r>
                        <a:rPr lang="en-US" sz="1100" dirty="0">
                          <a:solidFill>
                            <a:srgbClr val="58585B"/>
                          </a:solidFill>
                        </a:rPr>
                        <a:t>The</a:t>
                      </a:r>
                      <a:r>
                        <a:rPr lang="en-US" sz="1100" b="1" dirty="0">
                          <a:solidFill>
                            <a:srgbClr val="58585B"/>
                          </a:solidFill>
                        </a:rPr>
                        <a:t> LOCAL</a:t>
                      </a:r>
                      <a:r>
                        <a:rPr lang="en-US" sz="1100" dirty="0">
                          <a:solidFill>
                            <a:srgbClr val="58585B"/>
                          </a:solidFill>
                        </a:rPr>
                        <a:t> keyword is case sensitive and is a predefined server tag.</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100" b="1" dirty="0">
                          <a:solidFill>
                            <a:srgbClr val="58585B"/>
                          </a:solidFill>
                          <a:latin typeface="Courier New" panose="02070309020205020404" pitchFamily="49" charset="0"/>
                          <a:cs typeface="Courier New" panose="02070309020205020404" pitchFamily="49" charset="0"/>
                        </a:rPr>
                        <a:t>crypto key generate rsa modulus </a:t>
                      </a:r>
                      <a:r>
                        <a:rPr lang="en-US" sz="1100" i="1" dirty="0">
                          <a:solidFill>
                            <a:srgbClr val="58585B"/>
                          </a:solidFill>
                          <a:latin typeface="Courier New" panose="02070309020205020404" pitchFamily="49" charset="0"/>
                          <a:cs typeface="Courier New" panose="02070309020205020404" pitchFamily="49" charset="0"/>
                        </a:rPr>
                        <a:t>modulus_size</a:t>
                      </a:r>
                      <a:endParaRPr lang="en-US" sz="11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100" dirty="0">
                          <a:solidFill>
                            <a:srgbClr val="58585B"/>
                          </a:solidFill>
                        </a:rPr>
                        <a:t>Generates the RSA key required for SSH encryption.</a:t>
                      </a:r>
                      <a:endParaRPr lang="en-US" sz="1100" dirty="0"/>
                    </a:p>
                    <a:p>
                      <a:pPr marL="171450" indent="-171450">
                        <a:buFont typeface="Arial" panose="020B0604020202020204" pitchFamily="34" charset="0"/>
                        <a:buChar char="•"/>
                      </a:pPr>
                      <a:r>
                        <a:rPr lang="en-US" sz="1100" dirty="0">
                          <a:solidFill>
                            <a:srgbClr val="58585B"/>
                          </a:solidFill>
                        </a:rPr>
                        <a:t>The </a:t>
                      </a:r>
                      <a:r>
                        <a:rPr lang="en-US" sz="1100" i="1" dirty="0">
                          <a:solidFill>
                            <a:srgbClr val="58585B"/>
                          </a:solidFill>
                        </a:rPr>
                        <a:t>modulus_size </a:t>
                      </a:r>
                      <a:r>
                        <a:rPr lang="en-US" sz="1100" dirty="0">
                          <a:solidFill>
                            <a:srgbClr val="58585B"/>
                          </a:solidFill>
                        </a:rPr>
                        <a:t>(in bits) can be 512, 768, 1024, or 2048.</a:t>
                      </a:r>
                      <a:endParaRPr lang="en-US" sz="1100" dirty="0"/>
                    </a:p>
                    <a:p>
                      <a:pPr marL="171450" indent="-171450">
                        <a:buFont typeface="Arial" panose="020B0604020202020204" pitchFamily="34" charset="0"/>
                        <a:buChar char="•"/>
                      </a:pPr>
                      <a:r>
                        <a:rPr lang="en-US" sz="1100" dirty="0">
                          <a:solidFill>
                            <a:srgbClr val="58585B"/>
                          </a:solidFill>
                        </a:rPr>
                        <a:t> A value of 2048 is recommended.</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100" b="1" dirty="0">
                          <a:solidFill>
                            <a:srgbClr val="58585B"/>
                          </a:solidFill>
                          <a:latin typeface="Courier New" panose="02070309020205020404" pitchFamily="49" charset="0"/>
                          <a:cs typeface="Courier New" panose="02070309020205020404" pitchFamily="49" charset="0"/>
                        </a:rPr>
                        <a:t>ssh</a:t>
                      </a:r>
                      <a:r>
                        <a:rPr lang="en-US" sz="1100" dirty="0">
                          <a:solidFill>
                            <a:srgbClr val="58585B"/>
                          </a:solidFill>
                          <a:latin typeface="Courier New" panose="02070309020205020404" pitchFamily="49" charset="0"/>
                          <a:cs typeface="Courier New" panose="02070309020205020404" pitchFamily="49" charset="0"/>
                        </a:rPr>
                        <a:t> { </a:t>
                      </a:r>
                      <a:r>
                        <a:rPr lang="en-US" sz="1100" i="1" dirty="0">
                          <a:solidFill>
                            <a:srgbClr val="58585B"/>
                          </a:solidFill>
                          <a:latin typeface="Courier New" panose="02070309020205020404" pitchFamily="49" charset="0"/>
                          <a:cs typeface="Courier New" panose="02070309020205020404" pitchFamily="49" charset="0"/>
                        </a:rPr>
                        <a:t>ip_address mask </a:t>
                      </a:r>
                      <a:r>
                        <a:rPr lang="en-US" sz="1100" dirty="0">
                          <a:solidFill>
                            <a:srgbClr val="58585B"/>
                          </a:solidFill>
                          <a:latin typeface="Courier New" panose="02070309020205020404" pitchFamily="49" charset="0"/>
                          <a:cs typeface="Courier New" panose="02070309020205020404" pitchFamily="49" charset="0"/>
                        </a:rPr>
                        <a:t>| </a:t>
                      </a:r>
                      <a:r>
                        <a:rPr lang="en-US" sz="1100" i="1" dirty="0">
                          <a:solidFill>
                            <a:srgbClr val="58585B"/>
                          </a:solidFill>
                          <a:latin typeface="Courier New" panose="02070309020205020404" pitchFamily="49" charset="0"/>
                          <a:cs typeface="Courier New" panose="02070309020205020404" pitchFamily="49" charset="0"/>
                        </a:rPr>
                        <a:t>ipv6_address/prefix</a:t>
                      </a:r>
                      <a:r>
                        <a:rPr lang="en-US" sz="1100" b="0" i="1" dirty="0">
                          <a:solidFill>
                            <a:srgbClr val="58585B"/>
                          </a:solidFill>
                          <a:latin typeface="Courier New" panose="02070309020205020404" pitchFamily="49" charset="0"/>
                          <a:cs typeface="Courier New" panose="02070309020205020404" pitchFamily="49" charset="0"/>
                        </a:rPr>
                        <a:t> </a:t>
                      </a:r>
                      <a:r>
                        <a:rPr lang="en-US" sz="1100" b="0" dirty="0">
                          <a:solidFill>
                            <a:srgbClr val="58585B"/>
                          </a:solidFill>
                          <a:latin typeface="Courier New" panose="02070309020205020404" pitchFamily="49" charset="0"/>
                          <a:cs typeface="Courier New" panose="02070309020205020404" pitchFamily="49" charset="0"/>
                        </a:rPr>
                        <a:t>} </a:t>
                      </a:r>
                      <a:r>
                        <a:rPr lang="en-US" sz="1100" b="1" dirty="0">
                          <a:solidFill>
                            <a:srgbClr val="58585B"/>
                          </a:solidFill>
                          <a:latin typeface="Courier New" panose="02070309020205020404" pitchFamily="49" charset="0"/>
                          <a:cs typeface="Courier New" panose="02070309020205020404" pitchFamily="49" charset="0"/>
                        </a:rPr>
                        <a:t>if_name</a:t>
                      </a:r>
                      <a:endParaRPr lang="en-US" sz="11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100" dirty="0">
                          <a:solidFill>
                            <a:srgbClr val="58585B"/>
                          </a:solidFill>
                        </a:rPr>
                        <a:t>Identifies which inside host or network can SSH to the ASA interface.</a:t>
                      </a:r>
                      <a:endParaRPr lang="en-US" sz="1100" dirty="0"/>
                    </a:p>
                    <a:p>
                      <a:pPr marL="171450" indent="-171450">
                        <a:buFont typeface="Arial" panose="020B0604020202020204" pitchFamily="34" charset="0"/>
                        <a:buChar char="•"/>
                      </a:pPr>
                      <a:r>
                        <a:rPr lang="en-US" sz="1100" dirty="0">
                          <a:solidFill>
                            <a:srgbClr val="58585B"/>
                          </a:solidFill>
                        </a:rPr>
                        <a:t>Multiple commands can be in the configuration.</a:t>
                      </a:r>
                      <a:endParaRPr lang="en-US" sz="1100" dirty="0"/>
                    </a:p>
                    <a:p>
                      <a:pPr marL="171450" indent="-171450">
                        <a:buFont typeface="Arial" panose="020B0604020202020204" pitchFamily="34" charset="0"/>
                        <a:buChar char="•"/>
                      </a:pPr>
                      <a:r>
                        <a:rPr lang="en-US" sz="1100" dirty="0">
                          <a:solidFill>
                            <a:srgbClr val="58585B"/>
                          </a:solidFill>
                        </a:rPr>
                        <a:t>If the </a:t>
                      </a:r>
                      <a:r>
                        <a:rPr lang="en-US" sz="1100" i="1" dirty="0">
                          <a:solidFill>
                            <a:srgbClr val="58585B"/>
                          </a:solidFill>
                        </a:rPr>
                        <a:t>if_name </a:t>
                      </a:r>
                      <a:r>
                        <a:rPr lang="en-US" sz="1100" dirty="0">
                          <a:solidFill>
                            <a:srgbClr val="58585B"/>
                          </a:solidFill>
                        </a:rPr>
                        <a:t>is not specified, SSH is enabled on all interfaces except the outside interface.</a:t>
                      </a:r>
                      <a:endParaRPr lang="en-US" sz="1100" dirty="0"/>
                    </a:p>
                    <a:p>
                      <a:pPr marL="171450" indent="-171450">
                        <a:buFont typeface="Arial" panose="020B0604020202020204" pitchFamily="34" charset="0"/>
                        <a:buChar char="•"/>
                      </a:pPr>
                      <a:r>
                        <a:rPr lang="en-US" sz="1100" dirty="0">
                          <a:solidFill>
                            <a:srgbClr val="58585B"/>
                          </a:solidFill>
                        </a:rPr>
                        <a:t>Use the clear configure ssh command to remove the SSH connection.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100" b="1" dirty="0">
                          <a:solidFill>
                            <a:srgbClr val="58585B"/>
                          </a:solidFill>
                          <a:latin typeface="Courier New" panose="02070309020205020404" pitchFamily="49" charset="0"/>
                          <a:cs typeface="Courier New" panose="02070309020205020404" pitchFamily="49" charset="0"/>
                        </a:rPr>
                        <a:t>ssh version </a:t>
                      </a:r>
                      <a:r>
                        <a:rPr lang="en-US" sz="1100" i="1" dirty="0">
                          <a:solidFill>
                            <a:srgbClr val="58585B"/>
                          </a:solidFill>
                          <a:latin typeface="Courier New" panose="02070309020205020404" pitchFamily="49" charset="0"/>
                          <a:cs typeface="Courier New" panose="02070309020205020404" pitchFamily="49" charset="0"/>
                        </a:rPr>
                        <a:t>version_number</a:t>
                      </a:r>
                      <a:endParaRPr lang="en-US" sz="11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100" dirty="0">
                          <a:solidFill>
                            <a:srgbClr val="58585B"/>
                          </a:solidFill>
                        </a:rPr>
                        <a:t>(Optional) By default, the ASA allows both SSH Version 1 (less secure) and Version 2 (more secure).</a:t>
                      </a:r>
                      <a:endParaRPr lang="en-US" sz="1100" dirty="0"/>
                    </a:p>
                    <a:p>
                      <a:pPr marL="171450" indent="-171450">
                        <a:buFont typeface="Arial" panose="020B0604020202020204" pitchFamily="34" charset="0"/>
                        <a:buChar char="•"/>
                      </a:pPr>
                      <a:r>
                        <a:rPr lang="en-US" sz="1100" dirty="0">
                          <a:solidFill>
                            <a:srgbClr val="58585B"/>
                          </a:solidFill>
                        </a:rPr>
                        <a:t>Enter this command in order to restrict the connections to a specific version.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100" b="1" dirty="0">
                          <a:solidFill>
                            <a:srgbClr val="58585B"/>
                          </a:solidFill>
                          <a:latin typeface="Courier New" panose="02070309020205020404" pitchFamily="49" charset="0"/>
                          <a:cs typeface="Courier New" panose="02070309020205020404" pitchFamily="49" charset="0"/>
                        </a:rPr>
                        <a:t>ssh timeout </a:t>
                      </a:r>
                      <a:r>
                        <a:rPr lang="en-US" sz="1100" i="1" dirty="0">
                          <a:solidFill>
                            <a:srgbClr val="58585B"/>
                          </a:solidFill>
                          <a:latin typeface="Courier New" panose="02070309020205020404" pitchFamily="49" charset="0"/>
                          <a:cs typeface="Courier New" panose="02070309020205020404" pitchFamily="49" charset="0"/>
                        </a:rPr>
                        <a:t>minutes</a:t>
                      </a:r>
                      <a:endParaRPr lang="en-US" sz="11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00" dirty="0">
                          <a:solidFill>
                            <a:srgbClr val="58585B"/>
                          </a:solidFill>
                        </a:rPr>
                        <a:t>Alters the default exec timeout of five minutes.</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100" b="1" dirty="0">
                          <a:solidFill>
                            <a:srgbClr val="58585B"/>
                          </a:solidFill>
                          <a:latin typeface="Courier New" panose="02070309020205020404" pitchFamily="49" charset="0"/>
                          <a:cs typeface="Courier New" panose="02070309020205020404" pitchFamily="49" charset="0"/>
                        </a:rPr>
                        <a:t>clear configure ssh</a:t>
                      </a:r>
                      <a:endParaRPr lang="en-US" sz="11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Removes the SSH connection from the configuration.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4" name="TextBox 3">
            <a:extLst>
              <a:ext uri="{FF2B5EF4-FFF2-40B4-BE49-F238E27FC236}">
                <a16:creationId xmlns:a16="http://schemas.microsoft.com/office/drawing/2014/main" id="{77361E3D-5615-4F02-AE86-95D42E7D66B9}"/>
              </a:ext>
            </a:extLst>
          </p:cNvPr>
          <p:cNvSpPr txBox="1"/>
          <p:nvPr/>
        </p:nvSpPr>
        <p:spPr>
          <a:xfrm>
            <a:off x="0" y="730444"/>
            <a:ext cx="8961120" cy="646331"/>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To enable SSH, use the commands that are listed in the table</a:t>
            </a:r>
            <a:r>
              <a:rPr lang="en-US" dirty="0">
                <a:latin typeface="Arial" panose="020B0604020202020204" pitchFamily="34" charset="0"/>
                <a:cs typeface="Arial" panose="020B0604020202020204" pitchFamily="34" charset="0"/>
              </a:rPr>
              <a:t>. Example configuration is on the next slide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42</a:t>
            </a:fld>
            <a:endParaRPr lang="en-US" dirty="0"/>
          </a:p>
        </p:txBody>
      </p:sp>
    </p:spTree>
    <p:extLst>
      <p:ext uri="{BB962C8B-B14F-4D97-AF65-F5344CB8AC3E}">
        <p14:creationId xmlns:p14="http://schemas.microsoft.com/office/powerpoint/2010/main" val="7552677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Remote Access Services (Cont.)</a:t>
            </a:r>
          </a:p>
        </p:txBody>
      </p:sp>
      <p:pic>
        <p:nvPicPr>
          <p:cNvPr id="6" name="Picture 5">
            <a:extLst>
              <a:ext uri="{FF2B5EF4-FFF2-40B4-BE49-F238E27FC236}">
                <a16:creationId xmlns:a16="http://schemas.microsoft.com/office/drawing/2014/main" id="{CB07A993-BDB8-49BB-9662-55E30595ADFF}"/>
              </a:ext>
            </a:extLst>
          </p:cNvPr>
          <p:cNvPicPr>
            <a:picLocks noChangeAspect="1"/>
          </p:cNvPicPr>
          <p:nvPr/>
        </p:nvPicPr>
        <p:blipFill>
          <a:blip r:embed="rId3"/>
          <a:stretch>
            <a:fillRect/>
          </a:stretch>
        </p:blipFill>
        <p:spPr>
          <a:xfrm>
            <a:off x="1392609" y="823422"/>
            <a:ext cx="6358781" cy="392002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43</a:t>
            </a:fld>
            <a:endParaRPr lang="en-US" dirty="0"/>
          </a:p>
        </p:txBody>
      </p:sp>
    </p:spTree>
    <p:extLst>
      <p:ext uri="{BB962C8B-B14F-4D97-AF65-F5344CB8AC3E}">
        <p14:creationId xmlns:p14="http://schemas.microsoft.com/office/powerpoint/2010/main" val="19145099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Network Time Protocol Services</a:t>
            </a:r>
          </a:p>
        </p:txBody>
      </p:sp>
      <p:sp>
        <p:nvSpPr>
          <p:cNvPr id="7" name="TextBox 6">
            <a:extLst>
              <a:ext uri="{FF2B5EF4-FFF2-40B4-BE49-F238E27FC236}">
                <a16:creationId xmlns:a16="http://schemas.microsoft.com/office/drawing/2014/main" id="{1AF978F3-4284-4DB3-B945-3F90E6B7D310}"/>
              </a:ext>
            </a:extLst>
          </p:cNvPr>
          <p:cNvSpPr txBox="1"/>
          <p:nvPr/>
        </p:nvSpPr>
        <p:spPr>
          <a:xfrm>
            <a:off x="91440" y="817424"/>
            <a:ext cx="8894905"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Network Time Protocol (NTP) services can be enabled on an ASA to obtain the date and time from an NTP server. To enable NTP, use the global configuration mode commands listed in the table. To verify the NTP configuration and status, use the </a:t>
            </a:r>
            <a:r>
              <a:rPr lang="en-US" sz="1600" b="1" dirty="0">
                <a:latin typeface="Arial" panose="020B0604020202020204" pitchFamily="34" charset="0"/>
                <a:cs typeface="Arial" panose="020B0604020202020204" pitchFamily="34" charset="0"/>
              </a:rPr>
              <a:t>show ntp status</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show ntp associations</a:t>
            </a:r>
            <a:r>
              <a:rPr lang="en-US" sz="1600" dirty="0">
                <a:latin typeface="Arial" panose="020B0604020202020204" pitchFamily="34" charset="0"/>
                <a:cs typeface="Arial" panose="020B0604020202020204" pitchFamily="34" charset="0"/>
              </a:rPr>
              <a:t> commands</a:t>
            </a:r>
          </a:p>
        </p:txBody>
      </p:sp>
      <p:graphicFrame>
        <p:nvGraphicFramePr>
          <p:cNvPr id="24" name="Table 23"/>
          <p:cNvGraphicFramePr>
            <a:graphicFrameLocks noGrp="1"/>
          </p:cNvGraphicFramePr>
          <p:nvPr>
            <p:extLst>
              <p:ext uri="{D42A27DB-BD31-4B8C-83A1-F6EECF244321}">
                <p14:modId xmlns:p14="http://schemas.microsoft.com/office/powerpoint/2010/main" val="993208312"/>
              </p:ext>
            </p:extLst>
          </p:nvPr>
        </p:nvGraphicFramePr>
        <p:xfrm>
          <a:off x="892825" y="1894642"/>
          <a:ext cx="7521712" cy="1478280"/>
        </p:xfrm>
        <a:graphic>
          <a:graphicData uri="http://schemas.openxmlformats.org/drawingml/2006/table">
            <a:tbl>
              <a:tblPr/>
              <a:tblGrid>
                <a:gridCol w="3760856">
                  <a:extLst>
                    <a:ext uri="{9D8B030D-6E8A-4147-A177-3AD203B41FA5}">
                      <a16:colId xmlns:a16="http://schemas.microsoft.com/office/drawing/2014/main" val="20000"/>
                    </a:ext>
                  </a:extLst>
                </a:gridCol>
                <a:gridCol w="3760856">
                  <a:extLst>
                    <a:ext uri="{9D8B030D-6E8A-4147-A177-3AD203B41FA5}">
                      <a16:colId xmlns:a16="http://schemas.microsoft.com/office/drawing/2014/main" val="20001"/>
                    </a:ext>
                  </a:extLst>
                </a:gridCol>
              </a:tblGrid>
              <a:tr h="0">
                <a:tc>
                  <a:txBody>
                    <a:bodyPr/>
                    <a:lstStyle/>
                    <a:p>
                      <a:r>
                        <a:rPr lang="en-US" sz="1200" dirty="0">
                          <a:solidFill>
                            <a:srgbClr val="FFFFFF"/>
                          </a:solidFill>
                        </a:rPr>
                        <a:t>ASA 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ntp authenticate</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Enables authentication with an NTP server.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ntp trusted-key </a:t>
                      </a:r>
                      <a:r>
                        <a:rPr lang="en-US" sz="1200" i="1" dirty="0">
                          <a:solidFill>
                            <a:srgbClr val="58585B"/>
                          </a:solidFill>
                          <a:latin typeface="Courier New" panose="02070309020205020404" pitchFamily="49" charset="0"/>
                          <a:cs typeface="Courier New" panose="02070309020205020404" pitchFamily="49" charset="0"/>
                        </a:rPr>
                        <a:t>key_id</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Specifies an authentication key ID to be a trusted key, which is required for authentication with an NTP server.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142547">
                <a:tc>
                  <a:txBody>
                    <a:bodyPr/>
                    <a:lstStyle/>
                    <a:p>
                      <a:r>
                        <a:rPr lang="en-US" sz="1200" b="1" dirty="0">
                          <a:solidFill>
                            <a:srgbClr val="58585B"/>
                          </a:solidFill>
                          <a:latin typeface="Courier New" panose="02070309020205020404" pitchFamily="49" charset="0"/>
                          <a:cs typeface="Courier New" panose="02070309020205020404" pitchFamily="49" charset="0"/>
                        </a:rPr>
                        <a:t>ntp authentication-key </a:t>
                      </a:r>
                      <a:r>
                        <a:rPr lang="en-US" sz="1200" i="1" dirty="0">
                          <a:solidFill>
                            <a:srgbClr val="58585B"/>
                          </a:solidFill>
                          <a:latin typeface="Courier New" panose="02070309020205020404" pitchFamily="49" charset="0"/>
                          <a:cs typeface="Courier New" panose="02070309020205020404" pitchFamily="49" charset="0"/>
                        </a:rPr>
                        <a:t>key_id </a:t>
                      </a:r>
                      <a:r>
                        <a:rPr lang="en-US" sz="1200" b="1" dirty="0">
                          <a:solidFill>
                            <a:srgbClr val="58585B"/>
                          </a:solidFill>
                          <a:latin typeface="Courier New" panose="02070309020205020404" pitchFamily="49" charset="0"/>
                          <a:cs typeface="Courier New" panose="02070309020205020404" pitchFamily="49" charset="0"/>
                        </a:rPr>
                        <a:t>md5</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key</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Sets a key to authenticate with an NTP server.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ntp server </a:t>
                      </a:r>
                      <a:r>
                        <a:rPr lang="en-US" sz="1200" i="1" dirty="0">
                          <a:solidFill>
                            <a:srgbClr val="58585B"/>
                          </a:solidFill>
                          <a:latin typeface="Courier New" panose="02070309020205020404" pitchFamily="49" charset="0"/>
                          <a:cs typeface="Courier New" panose="02070309020205020404" pitchFamily="49" charset="0"/>
                        </a:rPr>
                        <a:t>ip_address </a:t>
                      </a:r>
                      <a:r>
                        <a:rPr lang="en-US" sz="1200" dirty="0">
                          <a:solidFill>
                            <a:srgbClr val="58585B"/>
                          </a:solidFill>
                          <a:latin typeface="Courier New" panose="02070309020205020404" pitchFamily="49" charset="0"/>
                          <a:cs typeface="Courier New" panose="02070309020205020404" pitchFamily="49" charset="0"/>
                        </a:rPr>
                        <a:t>[ </a:t>
                      </a:r>
                      <a:r>
                        <a:rPr lang="en-US" sz="1200" b="1" dirty="0">
                          <a:solidFill>
                            <a:srgbClr val="58585B"/>
                          </a:solidFill>
                          <a:latin typeface="Courier New" panose="02070309020205020404" pitchFamily="49" charset="0"/>
                          <a:cs typeface="Courier New" panose="02070309020205020404" pitchFamily="49" charset="0"/>
                        </a:rPr>
                        <a:t>key</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key_id </a:t>
                      </a:r>
                      <a:r>
                        <a:rPr lang="en-US" sz="1200" dirty="0">
                          <a:solidFill>
                            <a:srgbClr val="58585B"/>
                          </a:solidFill>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Identifies an NTP server.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pic>
        <p:nvPicPr>
          <p:cNvPr id="5" name="Picture 4">
            <a:extLst>
              <a:ext uri="{FF2B5EF4-FFF2-40B4-BE49-F238E27FC236}">
                <a16:creationId xmlns:a16="http://schemas.microsoft.com/office/drawing/2014/main" id="{83EF2A2E-B9D7-42AF-9D93-6C7808242A3F}"/>
              </a:ext>
            </a:extLst>
          </p:cNvPr>
          <p:cNvPicPr>
            <a:picLocks noChangeAspect="1"/>
          </p:cNvPicPr>
          <p:nvPr/>
        </p:nvPicPr>
        <p:blipFill>
          <a:blip r:embed="rId3"/>
          <a:stretch>
            <a:fillRect/>
          </a:stretch>
        </p:blipFill>
        <p:spPr>
          <a:xfrm>
            <a:off x="1861133" y="3526758"/>
            <a:ext cx="5092962" cy="94619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44</a:t>
            </a:fld>
            <a:endParaRPr lang="en-US" dirty="0"/>
          </a:p>
        </p:txBody>
      </p:sp>
      <p:sp>
        <p:nvSpPr>
          <p:cNvPr id="4" name="BlokTextu 3">
            <a:extLst>
              <a:ext uri="{FF2B5EF4-FFF2-40B4-BE49-F238E27FC236}">
                <a16:creationId xmlns:a16="http://schemas.microsoft.com/office/drawing/2014/main" id="{FF648E0E-95BE-C485-3EDF-05486DEF6E49}"/>
              </a:ext>
            </a:extLst>
          </p:cNvPr>
          <p:cNvSpPr txBox="1"/>
          <p:nvPr/>
        </p:nvSpPr>
        <p:spPr>
          <a:xfrm>
            <a:off x="1861133" y="4629150"/>
            <a:ext cx="3852978" cy="369332"/>
          </a:xfrm>
          <a:prstGeom prst="rect">
            <a:avLst/>
          </a:prstGeom>
          <a:noFill/>
        </p:spPr>
        <p:txBody>
          <a:bodyPr wrap="none" rtlCol="0">
            <a:spAutoFit/>
          </a:bodyPr>
          <a:lstStyle/>
          <a:p>
            <a:r>
              <a:rPr lang="sk-SK" dirty="0" err="1"/>
              <a:t>Ntp</a:t>
            </a:r>
            <a:r>
              <a:rPr lang="sk-SK" dirty="0"/>
              <a:t> </a:t>
            </a:r>
            <a:r>
              <a:rPr lang="sk-SK" dirty="0" err="1"/>
              <a:t>authentication-key</a:t>
            </a:r>
            <a:r>
              <a:rPr lang="sk-SK" dirty="0"/>
              <a:t> 1 md5 cisco123</a:t>
            </a:r>
          </a:p>
        </p:txBody>
      </p:sp>
    </p:spTree>
    <p:extLst>
      <p:ext uri="{BB962C8B-B14F-4D97-AF65-F5344CB8AC3E}">
        <p14:creationId xmlns:p14="http://schemas.microsoft.com/office/powerpoint/2010/main" val="11157046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DHCP Services</a:t>
            </a:r>
          </a:p>
        </p:txBody>
      </p:sp>
      <p:sp>
        <p:nvSpPr>
          <p:cNvPr id="7" name="TextBox 6">
            <a:extLst>
              <a:ext uri="{FF2B5EF4-FFF2-40B4-BE49-F238E27FC236}">
                <a16:creationId xmlns:a16="http://schemas.microsoft.com/office/drawing/2014/main" id="{E51821CC-85DD-4B79-A9F7-14192E3E57EC}"/>
              </a:ext>
            </a:extLst>
          </p:cNvPr>
          <p:cNvSpPr txBox="1"/>
          <p:nvPr/>
        </p:nvSpPr>
        <p:spPr>
          <a:xfrm>
            <a:off x="0" y="731520"/>
            <a:ext cx="9052560"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An ASA can be configured to be a DHCP server to provide IP addresses and DHCP-related information to hosts. To enable an ASA as a DHCP server and provide DHCP services to hosts, use the commands listed in the table. Example on the next slide</a:t>
            </a:r>
          </a:p>
        </p:txBody>
      </p:sp>
      <p:graphicFrame>
        <p:nvGraphicFramePr>
          <p:cNvPr id="26" name="Table 25"/>
          <p:cNvGraphicFramePr>
            <a:graphicFrameLocks noGrp="1"/>
          </p:cNvGraphicFramePr>
          <p:nvPr>
            <p:extLst>
              <p:ext uri="{D42A27DB-BD31-4B8C-83A1-F6EECF244321}">
                <p14:modId xmlns:p14="http://schemas.microsoft.com/office/powerpoint/2010/main" val="2294466648"/>
              </p:ext>
            </p:extLst>
          </p:nvPr>
        </p:nvGraphicFramePr>
        <p:xfrm>
          <a:off x="181339" y="1562517"/>
          <a:ext cx="8592791" cy="2651760"/>
        </p:xfrm>
        <a:graphic>
          <a:graphicData uri="http://schemas.openxmlformats.org/drawingml/2006/table">
            <a:tbl>
              <a:tblPr/>
              <a:tblGrid>
                <a:gridCol w="2976088">
                  <a:extLst>
                    <a:ext uri="{9D8B030D-6E8A-4147-A177-3AD203B41FA5}">
                      <a16:colId xmlns:a16="http://schemas.microsoft.com/office/drawing/2014/main" val="20000"/>
                    </a:ext>
                  </a:extLst>
                </a:gridCol>
                <a:gridCol w="5616703">
                  <a:extLst>
                    <a:ext uri="{9D8B030D-6E8A-4147-A177-3AD203B41FA5}">
                      <a16:colId xmlns:a16="http://schemas.microsoft.com/office/drawing/2014/main" val="20001"/>
                    </a:ext>
                  </a:extLst>
                </a:gridCol>
              </a:tblGrid>
              <a:tr h="0">
                <a:tc>
                  <a:txBody>
                    <a:bodyPr/>
                    <a:lstStyle/>
                    <a:p>
                      <a:r>
                        <a:rPr lang="en-US" sz="1200" dirty="0">
                          <a:solidFill>
                            <a:srgbClr val="FFFFFF"/>
                          </a:solidFill>
                        </a:rPr>
                        <a:t>ASA 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dhcpd address </a:t>
                      </a:r>
                      <a:r>
                        <a:rPr lang="en-US" sz="1200" i="1" dirty="0">
                          <a:solidFill>
                            <a:srgbClr val="58585B"/>
                          </a:solidFill>
                          <a:latin typeface="Courier New" panose="02070309020205020404" pitchFamily="49" charset="0"/>
                          <a:cs typeface="Courier New" panose="02070309020205020404" pitchFamily="49" charset="0"/>
                        </a:rPr>
                        <a:t>IP_address1 </a:t>
                      </a:r>
                      <a:r>
                        <a:rPr lang="en-US" sz="1200" dirty="0">
                          <a:solidFill>
                            <a:srgbClr val="58585B"/>
                          </a:solidFill>
                          <a:latin typeface="Courier New" panose="02070309020205020404" pitchFamily="49" charset="0"/>
                          <a:cs typeface="Courier New" panose="02070309020205020404" pitchFamily="49" charset="0"/>
                        </a:rPr>
                        <a:t>[ -IP_address2 ] </a:t>
                      </a:r>
                      <a:r>
                        <a:rPr lang="en-US" sz="1200" i="1" dirty="0">
                          <a:solidFill>
                            <a:srgbClr val="58585B"/>
                          </a:solidFill>
                          <a:latin typeface="Courier New" panose="02070309020205020404" pitchFamily="49" charset="0"/>
                          <a:cs typeface="Courier New" panose="02070309020205020404" pitchFamily="49" charset="0"/>
                        </a:rPr>
                        <a:t>if_name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Creates a DHCP address pool in </a:t>
                      </a:r>
                      <a:r>
                        <a:rPr lang="en-US" sz="1200" i="1" dirty="0">
                          <a:solidFill>
                            <a:srgbClr val="58585B"/>
                          </a:solidFill>
                        </a:rPr>
                        <a:t>which IP_address1 </a:t>
                      </a:r>
                      <a:r>
                        <a:rPr lang="en-US" sz="1200" dirty="0">
                          <a:solidFill>
                            <a:srgbClr val="58585B"/>
                          </a:solidFill>
                        </a:rPr>
                        <a:t>is the start of the pool and IP_address2 is the end of the pool, separated by a hyphen.</a:t>
                      </a:r>
                      <a:endParaRPr lang="en-US" sz="1200" dirty="0"/>
                    </a:p>
                    <a:p>
                      <a:pPr marL="171450" indent="-171450">
                        <a:buFont typeface="Arial" panose="020B0604020202020204" pitchFamily="34" charset="0"/>
                        <a:buChar char="•"/>
                      </a:pPr>
                      <a:r>
                        <a:rPr lang="en-US" sz="1200" dirty="0">
                          <a:solidFill>
                            <a:srgbClr val="58585B"/>
                          </a:solidFill>
                        </a:rPr>
                        <a:t>The address pool must be on the same subnet as the ASA interface.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dhcpd dns </a:t>
                      </a:r>
                      <a:r>
                        <a:rPr lang="en-US" sz="1200" i="1" dirty="0">
                          <a:solidFill>
                            <a:srgbClr val="58585B"/>
                          </a:solidFill>
                          <a:latin typeface="Courier New" panose="02070309020205020404" pitchFamily="49" charset="0"/>
                          <a:cs typeface="Courier New" panose="02070309020205020404" pitchFamily="49" charset="0"/>
                        </a:rPr>
                        <a:t>dns1</a:t>
                      </a:r>
                      <a:r>
                        <a:rPr lang="en-US" sz="1200" dirty="0">
                          <a:solidFill>
                            <a:srgbClr val="58585B"/>
                          </a:solidFill>
                          <a:latin typeface="Courier New" panose="02070309020205020404" pitchFamily="49" charset="0"/>
                          <a:cs typeface="Courier New" panose="02070309020205020404" pitchFamily="49" charset="0"/>
                        </a:rPr>
                        <a:t> [ </a:t>
                      </a:r>
                      <a:r>
                        <a:rPr lang="en-US" sz="1200" i="1" dirty="0">
                          <a:solidFill>
                            <a:srgbClr val="58585B"/>
                          </a:solidFill>
                          <a:latin typeface="Courier New" panose="02070309020205020404" pitchFamily="49" charset="0"/>
                          <a:cs typeface="Courier New" panose="02070309020205020404" pitchFamily="49" charset="0"/>
                        </a:rPr>
                        <a:t>dns2</a:t>
                      </a:r>
                      <a:r>
                        <a:rPr lang="en-US" sz="1200" dirty="0">
                          <a:solidFill>
                            <a:srgbClr val="58585B"/>
                          </a:solidFill>
                          <a:latin typeface="Courier New" panose="02070309020205020404" pitchFamily="49" charset="0"/>
                          <a:cs typeface="Courier New" panose="02070309020205020404" pitchFamily="49" charset="0"/>
                        </a:rPr>
                        <a:t> ]</a:t>
                      </a:r>
                      <a:endParaRPr lang="en-US" sz="1200"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Specifies the IP address(es) of the DNS server(s).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dhcpd lease </a:t>
                      </a:r>
                      <a:r>
                        <a:rPr lang="en-US" sz="1200" i="1" dirty="0">
                          <a:solidFill>
                            <a:srgbClr val="58585B"/>
                          </a:solidFill>
                          <a:latin typeface="Courier New" panose="02070309020205020404" pitchFamily="49" charset="0"/>
                          <a:cs typeface="Courier New" panose="02070309020205020404" pitchFamily="49" charset="0"/>
                        </a:rPr>
                        <a:t>lease_length</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(Optional) Changes the lease length granted to the client which is the amount of time in seconds that the client can use its allocated IP address before the lease expires.</a:t>
                      </a:r>
                      <a:endParaRPr lang="en-US" sz="1200" dirty="0"/>
                    </a:p>
                    <a:p>
                      <a:pPr marL="171450" indent="-171450">
                        <a:buFont typeface="Arial" panose="020B0604020202020204" pitchFamily="34" charset="0"/>
                        <a:buChar char="•"/>
                      </a:pPr>
                      <a:r>
                        <a:rPr lang="en-US" sz="1200" dirty="0">
                          <a:solidFill>
                            <a:srgbClr val="58585B"/>
                          </a:solidFill>
                        </a:rPr>
                        <a:t>The </a:t>
                      </a:r>
                      <a:r>
                        <a:rPr lang="en-US" sz="1200" i="1" dirty="0">
                          <a:solidFill>
                            <a:srgbClr val="58585B"/>
                          </a:solidFill>
                        </a:rPr>
                        <a:t>lease_length </a:t>
                      </a:r>
                      <a:r>
                        <a:rPr lang="en-US" sz="1200" dirty="0">
                          <a:solidFill>
                            <a:srgbClr val="58585B"/>
                          </a:solidFill>
                        </a:rPr>
                        <a:t>defaults to 3600 seconds (1 hour) but can be a value from 0 to 1,048,575 seconds.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dhcpd domain </a:t>
                      </a:r>
                      <a:r>
                        <a:rPr lang="en-US" sz="1200" i="1" dirty="0">
                          <a:solidFill>
                            <a:srgbClr val="58585B"/>
                          </a:solidFill>
                          <a:latin typeface="Courier New" panose="02070309020205020404" pitchFamily="49" charset="0"/>
                          <a:cs typeface="Courier New" panose="02070309020205020404" pitchFamily="49" charset="0"/>
                        </a:rPr>
                        <a:t>domain_name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Specifies the domain name assigned to the client.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dhcpd enable </a:t>
                      </a:r>
                      <a:r>
                        <a:rPr lang="en-US" sz="1200" i="1" dirty="0">
                          <a:solidFill>
                            <a:srgbClr val="58585B"/>
                          </a:solidFill>
                          <a:latin typeface="Courier New" panose="02070309020205020404" pitchFamily="49" charset="0"/>
                          <a:cs typeface="Courier New" panose="02070309020205020404" pitchFamily="49" charset="0"/>
                        </a:rPr>
                        <a:t>if_name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Enables the DHCP server service (daemon) on the interface (typically the inside interface) of the ASA.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45</a:t>
            </a:fld>
            <a:endParaRPr lang="en-US" dirty="0"/>
          </a:p>
        </p:txBody>
      </p:sp>
    </p:spTree>
    <p:extLst>
      <p:ext uri="{BB962C8B-B14F-4D97-AF65-F5344CB8AC3E}">
        <p14:creationId xmlns:p14="http://schemas.microsoft.com/office/powerpoint/2010/main" val="4071146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Management Settings and Services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DHCP Services (Cont.)</a:t>
            </a:r>
          </a:p>
        </p:txBody>
      </p:sp>
      <p:pic>
        <p:nvPicPr>
          <p:cNvPr id="5" name="Picture 4">
            <a:extLst>
              <a:ext uri="{FF2B5EF4-FFF2-40B4-BE49-F238E27FC236}">
                <a16:creationId xmlns:a16="http://schemas.microsoft.com/office/drawing/2014/main" id="{5B75E3E7-3A62-4652-8B3C-954DD83D6F65}"/>
              </a:ext>
            </a:extLst>
          </p:cNvPr>
          <p:cNvPicPr>
            <a:picLocks noChangeAspect="1"/>
          </p:cNvPicPr>
          <p:nvPr/>
        </p:nvPicPr>
        <p:blipFill>
          <a:blip r:embed="rId3"/>
          <a:stretch>
            <a:fillRect/>
          </a:stretch>
        </p:blipFill>
        <p:spPr>
          <a:xfrm>
            <a:off x="761804" y="1892265"/>
            <a:ext cx="7620392" cy="135897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46</a:t>
            </a:fld>
            <a:endParaRPr lang="en-US" dirty="0"/>
          </a:p>
        </p:txBody>
      </p:sp>
      <p:sp>
        <p:nvSpPr>
          <p:cNvPr id="4" name="BlokTextu 3">
            <a:extLst>
              <a:ext uri="{FF2B5EF4-FFF2-40B4-BE49-F238E27FC236}">
                <a16:creationId xmlns:a16="http://schemas.microsoft.com/office/drawing/2014/main" id="{52A7B625-1085-2F39-7B87-9D31968829B6}"/>
              </a:ext>
            </a:extLst>
          </p:cNvPr>
          <p:cNvSpPr txBox="1"/>
          <p:nvPr/>
        </p:nvSpPr>
        <p:spPr>
          <a:xfrm>
            <a:off x="840921" y="3608614"/>
            <a:ext cx="2089033" cy="369332"/>
          </a:xfrm>
          <a:prstGeom prst="rect">
            <a:avLst/>
          </a:prstGeom>
          <a:noFill/>
        </p:spPr>
        <p:txBody>
          <a:bodyPr wrap="none" rtlCol="0">
            <a:spAutoFit/>
          </a:bodyPr>
          <a:lstStyle/>
          <a:p>
            <a:r>
              <a:rPr lang="sk-SK" dirty="0" err="1"/>
              <a:t>Dhcpd</a:t>
            </a:r>
            <a:r>
              <a:rPr lang="sk-SK" dirty="0"/>
              <a:t> </a:t>
            </a:r>
            <a:r>
              <a:rPr lang="sk-SK" dirty="0" err="1"/>
              <a:t>enable</a:t>
            </a:r>
            <a:r>
              <a:rPr lang="sk-SK" dirty="0"/>
              <a:t> </a:t>
            </a:r>
            <a:r>
              <a:rPr lang="sk-SK" dirty="0" err="1"/>
              <a:t>inside</a:t>
            </a:r>
            <a:endParaRPr lang="sk-SK" dirty="0"/>
          </a:p>
        </p:txBody>
      </p:sp>
    </p:spTree>
    <p:extLst>
      <p:ext uri="{BB962C8B-B14F-4D97-AF65-F5344CB8AC3E}">
        <p14:creationId xmlns:p14="http://schemas.microsoft.com/office/powerpoint/2010/main" val="33460171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21.3 Object Groups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47</a:t>
            </a:fld>
            <a:endParaRPr lang="en-US" dirty="0"/>
          </a:p>
        </p:txBody>
      </p:sp>
    </p:spTree>
    <p:extLst>
      <p:ext uri="{BB962C8B-B14F-4D97-AF65-F5344CB8AC3E}">
        <p14:creationId xmlns:p14="http://schemas.microsoft.com/office/powerpoint/2010/main" val="3901454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Object Groups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Introduction to Objects and Object Groups</a:t>
            </a:r>
          </a:p>
        </p:txBody>
      </p:sp>
      <p:sp>
        <p:nvSpPr>
          <p:cNvPr id="5" name="Object4"/>
          <p:cNvSpPr/>
          <p:nvPr/>
        </p:nvSpPr>
        <p:spPr>
          <a:xfrm>
            <a:off x="0" y="914399"/>
            <a:ext cx="3276322" cy="3462391"/>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Objects are reusable components for use in configurations. Objects can be defined and used in Cisco ASA configurations in the place of inline IP addresses, services, names, and so on.</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ASA supports objects and object groups, as shown in the output in the following output from the help facility:</a:t>
            </a:r>
          </a:p>
        </p:txBody>
      </p:sp>
      <p:pic>
        <p:nvPicPr>
          <p:cNvPr id="6" name="Picture 5">
            <a:extLst>
              <a:ext uri="{FF2B5EF4-FFF2-40B4-BE49-F238E27FC236}">
                <a16:creationId xmlns:a16="http://schemas.microsoft.com/office/drawing/2014/main" id="{1F976137-EC74-45FD-B5FA-E127C0650DCB}"/>
              </a:ext>
            </a:extLst>
          </p:cNvPr>
          <p:cNvPicPr>
            <a:picLocks noChangeAspect="1"/>
          </p:cNvPicPr>
          <p:nvPr/>
        </p:nvPicPr>
        <p:blipFill>
          <a:blip r:embed="rId3"/>
          <a:stretch>
            <a:fillRect/>
          </a:stretch>
        </p:blipFill>
        <p:spPr>
          <a:xfrm>
            <a:off x="3504922" y="1015920"/>
            <a:ext cx="5410478" cy="31116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48</a:t>
            </a:fld>
            <a:endParaRPr lang="en-US" dirty="0"/>
          </a:p>
        </p:txBody>
      </p:sp>
    </p:spTree>
    <p:extLst>
      <p:ext uri="{BB962C8B-B14F-4D97-AF65-F5344CB8AC3E}">
        <p14:creationId xmlns:p14="http://schemas.microsoft.com/office/powerpoint/2010/main" val="4625469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Object Groups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Network Objects</a:t>
            </a:r>
          </a:p>
        </p:txBody>
      </p:sp>
      <p:sp>
        <p:nvSpPr>
          <p:cNvPr id="7" name="TextBox 6">
            <a:extLst>
              <a:ext uri="{FF2B5EF4-FFF2-40B4-BE49-F238E27FC236}">
                <a16:creationId xmlns:a16="http://schemas.microsoft.com/office/drawing/2014/main" id="{6203E28D-8152-408C-BB70-79F89FBBCD7B}"/>
              </a:ext>
            </a:extLst>
          </p:cNvPr>
          <p:cNvSpPr txBox="1"/>
          <p:nvPr/>
        </p:nvSpPr>
        <p:spPr>
          <a:xfrm>
            <a:off x="86710" y="792421"/>
            <a:ext cx="9210215" cy="2308324"/>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To create a network object, use the </a:t>
            </a:r>
            <a:r>
              <a:rPr lang="en-US" b="1" dirty="0">
                <a:latin typeface="Arial" panose="020B0604020202020204" pitchFamily="34" charset="0"/>
                <a:cs typeface="Arial" panose="020B0604020202020204" pitchFamily="34" charset="0"/>
              </a:rPr>
              <a:t>object network</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object-name</a:t>
            </a:r>
            <a:r>
              <a:rPr lang="en-US" dirty="0">
                <a:latin typeface="Arial" panose="020B0604020202020204" pitchFamily="34" charset="0"/>
                <a:cs typeface="Arial" panose="020B0604020202020204" pitchFamily="34" charset="0"/>
              </a:rPr>
              <a:t> global configuration mode command. The prompt changes to network object configuration mode.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Network objects can consist of the following:</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host</a:t>
            </a:r>
            <a:r>
              <a:rPr lang="en-US" dirty="0">
                <a:latin typeface="Arial" panose="020B0604020202020204" pitchFamily="34" charset="0"/>
                <a:cs typeface="Arial" panose="020B0604020202020204" pitchFamily="34" charset="0"/>
              </a:rPr>
              <a:t> - a host address</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fqdn</a:t>
            </a:r>
            <a:r>
              <a:rPr lang="en-US" dirty="0">
                <a:latin typeface="Arial" panose="020B0604020202020204" pitchFamily="34" charset="0"/>
                <a:cs typeface="Arial" panose="020B0604020202020204" pitchFamily="34" charset="0"/>
              </a:rPr>
              <a:t> - a fully-qualified domain name</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range</a:t>
            </a:r>
            <a:r>
              <a:rPr lang="en-US" dirty="0">
                <a:latin typeface="Arial" panose="020B0604020202020204" pitchFamily="34" charset="0"/>
                <a:cs typeface="Arial" panose="020B0604020202020204" pitchFamily="34" charset="0"/>
              </a:rPr>
              <a:t> - a range of IP addresses</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subnet</a:t>
            </a:r>
            <a:r>
              <a:rPr lang="en-US" dirty="0">
                <a:latin typeface="Arial" panose="020B0604020202020204" pitchFamily="34" charset="0"/>
                <a:cs typeface="Arial" panose="020B0604020202020204" pitchFamily="34" charset="0"/>
              </a:rPr>
              <a:t> - an entire IP network or subnet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49</a:t>
            </a:fld>
            <a:endParaRPr lang="en-US" dirty="0"/>
          </a:p>
        </p:txBody>
      </p:sp>
    </p:spTree>
    <p:extLst>
      <p:ext uri="{BB962C8B-B14F-4D97-AF65-F5344CB8AC3E}">
        <p14:creationId xmlns:p14="http://schemas.microsoft.com/office/powerpoint/2010/main" val="21674420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Object Groups</a:t>
            </a:r>
          </a:p>
        </p:txBody>
      </p:sp>
      <p:sp>
        <p:nvSpPr>
          <p:cNvPr id="3" name="Object2"/>
          <p:cNvSpPr>
            <a:spLocks noGrp="1"/>
          </p:cNvSpPr>
          <p:nvPr>
            <p:ph type="body" idx="100" hasCustomPrompt="1"/>
          </p:nvPr>
        </p:nvSpPr>
        <p:spPr>
          <a:xfrm>
            <a:off x="0" y="242788"/>
            <a:ext cx="9144000" cy="914400"/>
          </a:xfrm>
          <a:prstGeom prst="rect">
            <a:avLst/>
          </a:prstGeom>
          <a:noFill/>
          <a:ln/>
        </p:spPr>
        <p:txBody>
          <a:bodyPr wrap="square" rtlCol="0"/>
          <a:lstStyle/>
          <a:p>
            <a:pPr marL="0" indent="0">
              <a:buNone/>
            </a:pPr>
            <a:r>
              <a:rPr lang="en-US" dirty="0"/>
              <a:t>Configure Network Objects (Cont.)</a:t>
            </a:r>
          </a:p>
        </p:txBody>
      </p:sp>
      <p:sp>
        <p:nvSpPr>
          <p:cNvPr id="11" name="TextBox 10">
            <a:extLst>
              <a:ext uri="{FF2B5EF4-FFF2-40B4-BE49-F238E27FC236}">
                <a16:creationId xmlns:a16="http://schemas.microsoft.com/office/drawing/2014/main" id="{F86E9053-C624-4BFF-8620-91199B6847EF}"/>
              </a:ext>
            </a:extLst>
          </p:cNvPr>
          <p:cNvSpPr txBox="1"/>
          <p:nvPr/>
        </p:nvSpPr>
        <p:spPr>
          <a:xfrm>
            <a:off x="279837" y="1149883"/>
            <a:ext cx="8667094" cy="369332"/>
          </a:xfrm>
          <a:prstGeom prst="rect">
            <a:avLst/>
          </a:prstGeom>
          <a:noFill/>
        </p:spPr>
        <p:txBody>
          <a:bodyPr wrap="square">
            <a:spAutoFit/>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800" kern="1200" noProof="0" dirty="0">
                <a:solidFill>
                  <a:schemeClr val="dk1"/>
                </a:solidFill>
                <a:latin typeface="Arial"/>
                <a:ea typeface="+mn-ea"/>
                <a:cs typeface="+mn-cs"/>
              </a:rPr>
              <a:t>Commands available in network object configuration mode are shown in the table.</a:t>
            </a:r>
          </a:p>
        </p:txBody>
      </p:sp>
      <p:graphicFrame>
        <p:nvGraphicFramePr>
          <p:cNvPr id="30" name="Table 29"/>
          <p:cNvGraphicFramePr>
            <a:graphicFrameLocks noGrp="1"/>
          </p:cNvGraphicFramePr>
          <p:nvPr>
            <p:extLst>
              <p:ext uri="{D42A27DB-BD31-4B8C-83A1-F6EECF244321}">
                <p14:modId xmlns:p14="http://schemas.microsoft.com/office/powerpoint/2010/main" val="2540270546"/>
              </p:ext>
            </p:extLst>
          </p:nvPr>
        </p:nvGraphicFramePr>
        <p:xfrm>
          <a:off x="872276" y="1812869"/>
          <a:ext cx="7110744" cy="2727960"/>
        </p:xfrm>
        <a:graphic>
          <a:graphicData uri="http://schemas.openxmlformats.org/drawingml/2006/table">
            <a:tbl>
              <a:tblPr/>
              <a:tblGrid>
                <a:gridCol w="2867517">
                  <a:extLst>
                    <a:ext uri="{9D8B030D-6E8A-4147-A177-3AD203B41FA5}">
                      <a16:colId xmlns:a16="http://schemas.microsoft.com/office/drawing/2014/main" val="20000"/>
                    </a:ext>
                  </a:extLst>
                </a:gridCol>
                <a:gridCol w="4243227">
                  <a:extLst>
                    <a:ext uri="{9D8B030D-6E8A-4147-A177-3AD203B41FA5}">
                      <a16:colId xmlns:a16="http://schemas.microsoft.com/office/drawing/2014/main" val="20001"/>
                    </a:ext>
                  </a:extLst>
                </a:gridCol>
              </a:tblGrid>
              <a:tr h="0">
                <a:tc>
                  <a:txBody>
                    <a:bodyPr/>
                    <a:lstStyle/>
                    <a:p>
                      <a:r>
                        <a:rPr lang="en-US" sz="1200" dirty="0">
                          <a:solidFill>
                            <a:srgbClr val="FFFFFF"/>
                          </a:solidFill>
                        </a:rPr>
                        <a:t>ASA 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attribute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attribute-agent</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attribute-type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attribute-value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Defined and used to filter traffic associated with one or more virtual machines.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description</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Enter a description of the object up to 200 characters in length.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fqdn</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 fully-qualified domain name such as the name of a host, such as www.example.com. Specify v4 to limit the address to IPv4, and v6 for IPv6. If you do not specify an address type, IPv4 is assumed.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host</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ip-address</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IPv4 or IPv6 address of a single host.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range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start_add end_add</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 range of addresses. You can specify IPv4 or IPv6 ranges. Do not include masks or prefixes.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subnet</a:t>
                      </a:r>
                      <a:r>
                        <a:rPr lang="en-US" sz="1200" dirty="0">
                          <a:solidFill>
                            <a:srgbClr val="58585B"/>
                          </a:solidFill>
                          <a:latin typeface="Courier New" panose="02070309020205020404" pitchFamily="49" charset="0"/>
                          <a:cs typeface="Courier New" panose="02070309020205020404" pitchFamily="49" charset="0"/>
                        </a:rPr>
                        <a:t> {ipv4_add ipv4_mask |  ipv6_add</a:t>
                      </a:r>
                      <a:r>
                        <a:rPr lang="en-US" sz="1200" b="1" dirty="0">
                          <a:solidFill>
                            <a:srgbClr val="58585B"/>
                          </a:solidFill>
                          <a:latin typeface="Courier New" panose="02070309020205020404" pitchFamily="49" charset="0"/>
                          <a:cs typeface="Courier New" panose="02070309020205020404" pitchFamily="49" charset="0"/>
                        </a:rPr>
                        <a:t>/</a:t>
                      </a:r>
                      <a:r>
                        <a:rPr lang="en-US" sz="1200" b="0" dirty="0">
                          <a:solidFill>
                            <a:srgbClr val="58585B"/>
                          </a:solidFill>
                          <a:latin typeface="Courier New" panose="02070309020205020404" pitchFamily="49" charset="0"/>
                          <a:cs typeface="Courier New" panose="02070309020205020404" pitchFamily="49" charset="0"/>
                        </a:rPr>
                        <a:t>ip</a:t>
                      </a:r>
                      <a:r>
                        <a:rPr lang="en-US" sz="1200" dirty="0">
                          <a:solidFill>
                            <a:srgbClr val="58585B"/>
                          </a:solidFill>
                          <a:latin typeface="Courier New" panose="02070309020205020404" pitchFamily="49" charset="0"/>
                          <a:cs typeface="Courier New" panose="02070309020205020404" pitchFamily="49" charset="0"/>
                        </a:rPr>
                        <a:t>v6_prefix}</a:t>
                      </a:r>
                      <a:endParaRPr lang="en-US" sz="1200"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Assigns a network subnet to the named object.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50</a:t>
            </a:fld>
            <a:endParaRPr lang="en-US" dirty="0"/>
          </a:p>
        </p:txBody>
      </p:sp>
    </p:spTree>
    <p:extLst>
      <p:ext uri="{BB962C8B-B14F-4D97-AF65-F5344CB8AC3E}">
        <p14:creationId xmlns:p14="http://schemas.microsoft.com/office/powerpoint/2010/main" val="12831308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Object Groups</a:t>
            </a:r>
          </a:p>
        </p:txBody>
      </p:sp>
      <p:sp>
        <p:nvSpPr>
          <p:cNvPr id="3" name="Object2"/>
          <p:cNvSpPr>
            <a:spLocks noGrp="1"/>
          </p:cNvSpPr>
          <p:nvPr>
            <p:ph type="body" idx="100" hasCustomPrompt="1"/>
          </p:nvPr>
        </p:nvSpPr>
        <p:spPr>
          <a:xfrm>
            <a:off x="0" y="242788"/>
            <a:ext cx="9144000" cy="914400"/>
          </a:xfrm>
          <a:prstGeom prst="rect">
            <a:avLst/>
          </a:prstGeom>
          <a:noFill/>
          <a:ln/>
        </p:spPr>
        <p:txBody>
          <a:bodyPr wrap="square" rtlCol="0"/>
          <a:lstStyle/>
          <a:p>
            <a:pPr marL="0" indent="0">
              <a:buNone/>
            </a:pPr>
            <a:r>
              <a:rPr lang="en-US" dirty="0"/>
              <a:t>Configure Network Objects (Cont.)</a:t>
            </a:r>
          </a:p>
        </p:txBody>
      </p:sp>
      <p:sp>
        <p:nvSpPr>
          <p:cNvPr id="11" name="TextBox 10">
            <a:extLst>
              <a:ext uri="{FF2B5EF4-FFF2-40B4-BE49-F238E27FC236}">
                <a16:creationId xmlns:a16="http://schemas.microsoft.com/office/drawing/2014/main" id="{F86E9053-C624-4BFF-8620-91199B6847EF}"/>
              </a:ext>
            </a:extLst>
          </p:cNvPr>
          <p:cNvSpPr txBox="1"/>
          <p:nvPr/>
        </p:nvSpPr>
        <p:spPr>
          <a:xfrm>
            <a:off x="279837" y="753645"/>
            <a:ext cx="8667094" cy="646331"/>
          </a:xfrm>
          <a:prstGeom prst="rect">
            <a:avLst/>
          </a:prstGeom>
          <a:noFill/>
        </p:spPr>
        <p:txBody>
          <a:bodyPr wrap="square">
            <a:spAutoFit/>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800" kern="1200" noProof="0" dirty="0">
                <a:solidFill>
                  <a:schemeClr val="dk1"/>
                </a:solidFill>
                <a:latin typeface="Arial"/>
                <a:ea typeface="+mn-ea"/>
                <a:cs typeface="+mn-cs"/>
              </a:rPr>
              <a:t>The example displays a sample network object configuration. Notice that the configuration of </a:t>
            </a:r>
            <a:r>
              <a:rPr lang="en-US" sz="1800" b="1" kern="1200" noProof="0" dirty="0">
                <a:solidFill>
                  <a:schemeClr val="dk1"/>
                </a:solidFill>
                <a:latin typeface="Arial"/>
                <a:ea typeface="+mn-ea"/>
                <a:cs typeface="+mn-cs"/>
              </a:rPr>
              <a:t>range</a:t>
            </a:r>
            <a:r>
              <a:rPr lang="en-US" sz="1800" kern="1200" noProof="0" dirty="0">
                <a:solidFill>
                  <a:schemeClr val="dk1"/>
                </a:solidFill>
                <a:latin typeface="Arial"/>
                <a:ea typeface="+mn-ea"/>
                <a:cs typeface="+mn-cs"/>
              </a:rPr>
              <a:t> overwrites the previous configuration of </a:t>
            </a:r>
            <a:r>
              <a:rPr lang="en-US" sz="1800" b="1" kern="1200" noProof="0" dirty="0">
                <a:solidFill>
                  <a:schemeClr val="dk1"/>
                </a:solidFill>
                <a:latin typeface="Arial"/>
                <a:ea typeface="+mn-ea"/>
                <a:cs typeface="+mn-cs"/>
              </a:rPr>
              <a:t>host</a:t>
            </a:r>
            <a:r>
              <a:rPr lang="en-US" sz="1800" kern="1200" noProof="0" dirty="0">
                <a:solidFill>
                  <a:schemeClr val="dk1"/>
                </a:solidFill>
                <a:latin typeface="Arial"/>
                <a:ea typeface="+mn-ea"/>
                <a:cs typeface="+mn-cs"/>
              </a:rPr>
              <a:t>.</a:t>
            </a:r>
          </a:p>
        </p:txBody>
      </p:sp>
      <p:pic>
        <p:nvPicPr>
          <p:cNvPr id="5" name="Picture 4">
            <a:extLst>
              <a:ext uri="{FF2B5EF4-FFF2-40B4-BE49-F238E27FC236}">
                <a16:creationId xmlns:a16="http://schemas.microsoft.com/office/drawing/2014/main" id="{53A09845-DD80-46B2-AC96-4949B6E6E38D}"/>
              </a:ext>
            </a:extLst>
          </p:cNvPr>
          <p:cNvPicPr>
            <a:picLocks noChangeAspect="1"/>
          </p:cNvPicPr>
          <p:nvPr/>
        </p:nvPicPr>
        <p:blipFill>
          <a:blip r:embed="rId3"/>
          <a:stretch>
            <a:fillRect/>
          </a:stretch>
        </p:blipFill>
        <p:spPr>
          <a:xfrm>
            <a:off x="1844641" y="1744497"/>
            <a:ext cx="5537485" cy="254013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51</a:t>
            </a:fld>
            <a:endParaRPr lang="en-US" dirty="0"/>
          </a:p>
        </p:txBody>
      </p:sp>
    </p:spTree>
    <p:extLst>
      <p:ext uri="{BB962C8B-B14F-4D97-AF65-F5344CB8AC3E}">
        <p14:creationId xmlns:p14="http://schemas.microsoft.com/office/powerpoint/2010/main" val="14072184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Object Groups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Service Objects (PT </a:t>
            </a:r>
            <a:r>
              <a:rPr lang="en-US" dirty="0" err="1"/>
              <a:t>nepodporuje</a:t>
            </a:r>
            <a:r>
              <a:rPr lang="en-US" dirty="0"/>
              <a:t>)</a:t>
            </a:r>
          </a:p>
        </p:txBody>
      </p:sp>
      <p:sp>
        <p:nvSpPr>
          <p:cNvPr id="7" name="TextBox 6">
            <a:extLst>
              <a:ext uri="{FF2B5EF4-FFF2-40B4-BE49-F238E27FC236}">
                <a16:creationId xmlns:a16="http://schemas.microsoft.com/office/drawing/2014/main" id="{5FDFF6EF-3821-4843-A480-471004416D73}"/>
              </a:ext>
            </a:extLst>
          </p:cNvPr>
          <p:cNvSpPr txBox="1"/>
          <p:nvPr/>
        </p:nvSpPr>
        <p:spPr>
          <a:xfrm>
            <a:off x="220716" y="857677"/>
            <a:ext cx="8663153" cy="1815882"/>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table provides an overview of common service options available. Optional keywords are used to identify source port or destination port, or both. Operators such as </a:t>
            </a:r>
            <a:r>
              <a:rPr lang="en-US" sz="1600" b="1" dirty="0">
                <a:latin typeface="Arial" panose="020B0604020202020204" pitchFamily="34" charset="0"/>
                <a:cs typeface="Arial" panose="020B0604020202020204" pitchFamily="34" charset="0"/>
              </a:rPr>
              <a:t>eq</a:t>
            </a:r>
            <a:r>
              <a:rPr lang="en-US" sz="1600" dirty="0">
                <a:latin typeface="Arial" panose="020B0604020202020204" pitchFamily="34" charset="0"/>
                <a:cs typeface="Arial" panose="020B0604020202020204" pitchFamily="34" charset="0"/>
              </a:rPr>
              <a:t> (equal), </a:t>
            </a:r>
            <a:r>
              <a:rPr lang="en-US" sz="1600" b="1" dirty="0">
                <a:latin typeface="Arial" panose="020B0604020202020204" pitchFamily="34" charset="0"/>
                <a:cs typeface="Arial" panose="020B0604020202020204" pitchFamily="34" charset="0"/>
              </a:rPr>
              <a:t>neq </a:t>
            </a:r>
            <a:r>
              <a:rPr lang="en-US" sz="1600" dirty="0">
                <a:latin typeface="Arial" panose="020B0604020202020204" pitchFamily="34" charset="0"/>
                <a:cs typeface="Arial" panose="020B0604020202020204" pitchFamily="34" charset="0"/>
              </a:rPr>
              <a:t>(not equal), </a:t>
            </a:r>
            <a:r>
              <a:rPr lang="en-US" sz="1600" b="1" dirty="0">
                <a:latin typeface="Arial" panose="020B0604020202020204" pitchFamily="34" charset="0"/>
                <a:cs typeface="Arial" panose="020B0604020202020204" pitchFamily="34" charset="0"/>
              </a:rPr>
              <a:t>lt</a:t>
            </a:r>
            <a:r>
              <a:rPr lang="en-US" sz="1600" dirty="0">
                <a:latin typeface="Arial" panose="020B0604020202020204" pitchFamily="34" charset="0"/>
                <a:cs typeface="Arial" panose="020B0604020202020204" pitchFamily="34" charset="0"/>
              </a:rPr>
              <a:t> (less than), </a:t>
            </a:r>
            <a:r>
              <a:rPr lang="en-US" sz="1600" b="1" dirty="0">
                <a:latin typeface="Arial" panose="020B0604020202020204" pitchFamily="34" charset="0"/>
                <a:cs typeface="Arial" panose="020B0604020202020204" pitchFamily="34" charset="0"/>
              </a:rPr>
              <a:t>gt </a:t>
            </a:r>
            <a:r>
              <a:rPr lang="en-US" sz="1600" dirty="0">
                <a:latin typeface="Arial" panose="020B0604020202020204" pitchFamily="34" charset="0"/>
                <a:cs typeface="Arial" panose="020B0604020202020204" pitchFamily="34" charset="0"/>
              </a:rPr>
              <a:t>(greater than), and </a:t>
            </a:r>
            <a:r>
              <a:rPr lang="en-US" sz="1600" b="1" dirty="0">
                <a:latin typeface="Arial" panose="020B0604020202020204" pitchFamily="34" charset="0"/>
                <a:cs typeface="Arial" panose="020B0604020202020204" pitchFamily="34" charset="0"/>
              </a:rPr>
              <a:t>range</a:t>
            </a:r>
            <a:r>
              <a:rPr lang="en-US" sz="1600" dirty="0">
                <a:latin typeface="Arial" panose="020B0604020202020204" pitchFamily="34" charset="0"/>
                <a:cs typeface="Arial" panose="020B0604020202020204" pitchFamily="34" charset="0"/>
              </a:rPr>
              <a:t>, support configuring a port for a given protocol. If no operator is specified, the default operator is </a:t>
            </a:r>
            <a:r>
              <a:rPr lang="en-US" sz="1600" b="1" dirty="0">
                <a:latin typeface="Arial" panose="020B0604020202020204" pitchFamily="34" charset="0"/>
                <a:cs typeface="Arial" panose="020B0604020202020204" pitchFamily="34" charset="0"/>
              </a:rPr>
              <a:t>eq</a:t>
            </a:r>
            <a:r>
              <a:rPr lang="en-US" sz="1600" dirty="0">
                <a:latin typeface="Arial" panose="020B0604020202020204" pitchFamily="34" charset="0"/>
                <a:cs typeface="Arial" panose="020B0604020202020204" pitchFamily="34" charset="0"/>
              </a:rPr>
              <a:t>.</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no </a:t>
            </a:r>
            <a:r>
              <a:rPr lang="en-US" sz="1600" dirty="0">
                <a:latin typeface="Arial" panose="020B0604020202020204" pitchFamily="34" charset="0"/>
                <a:cs typeface="Arial" panose="020B0604020202020204" pitchFamily="34" charset="0"/>
              </a:rPr>
              <a:t>form of the command to remove a service object. To erase all service objects, use the </a:t>
            </a:r>
            <a:r>
              <a:rPr lang="en-US" sz="1600" b="1" dirty="0">
                <a:latin typeface="Arial" panose="020B0604020202020204" pitchFamily="34" charset="0"/>
                <a:cs typeface="Arial" panose="020B0604020202020204" pitchFamily="34" charset="0"/>
              </a:rPr>
              <a:t>clear config object service</a:t>
            </a:r>
            <a:r>
              <a:rPr lang="en-US" sz="1600" dirty="0">
                <a:latin typeface="Arial" panose="020B0604020202020204" pitchFamily="34" charset="0"/>
                <a:cs typeface="Arial" panose="020B0604020202020204" pitchFamily="34" charset="0"/>
              </a:rPr>
              <a:t> command.</a:t>
            </a:r>
          </a:p>
        </p:txBody>
      </p:sp>
      <p:graphicFrame>
        <p:nvGraphicFramePr>
          <p:cNvPr id="31" name="Table 30"/>
          <p:cNvGraphicFramePr>
            <a:graphicFrameLocks noGrp="1"/>
          </p:cNvGraphicFramePr>
          <p:nvPr>
            <p:extLst>
              <p:ext uri="{D42A27DB-BD31-4B8C-83A1-F6EECF244321}">
                <p14:modId xmlns:p14="http://schemas.microsoft.com/office/powerpoint/2010/main" val="1948212371"/>
              </p:ext>
            </p:extLst>
          </p:nvPr>
        </p:nvGraphicFramePr>
        <p:xfrm>
          <a:off x="852754" y="2814900"/>
          <a:ext cx="7633700" cy="1920240"/>
        </p:xfrm>
        <a:graphic>
          <a:graphicData uri="http://schemas.openxmlformats.org/drawingml/2006/table">
            <a:tbl>
              <a:tblPr/>
              <a:tblGrid>
                <a:gridCol w="3816850">
                  <a:extLst>
                    <a:ext uri="{9D8B030D-6E8A-4147-A177-3AD203B41FA5}">
                      <a16:colId xmlns:a16="http://schemas.microsoft.com/office/drawing/2014/main" val="20000"/>
                    </a:ext>
                  </a:extLst>
                </a:gridCol>
                <a:gridCol w="3816850">
                  <a:extLst>
                    <a:ext uri="{9D8B030D-6E8A-4147-A177-3AD203B41FA5}">
                      <a16:colId xmlns:a16="http://schemas.microsoft.com/office/drawing/2014/main" val="20001"/>
                    </a:ext>
                  </a:extLst>
                </a:gridCol>
              </a:tblGrid>
              <a:tr h="0">
                <a:tc>
                  <a:txBody>
                    <a:bodyPr/>
                    <a:lstStyle/>
                    <a:p>
                      <a:r>
                        <a:rPr lang="en-US" sz="1200" dirty="0">
                          <a:solidFill>
                            <a:srgbClr val="FFFFFF"/>
                          </a:solidFill>
                        </a:rPr>
                        <a:t>ASA 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service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protocol</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an IP protocol name or number.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service tcp </a:t>
                      </a:r>
                      <a:r>
                        <a:rPr lang="en-US" sz="1200" dirty="0">
                          <a:solidFill>
                            <a:srgbClr val="58585B"/>
                          </a:solidFill>
                          <a:latin typeface="Courier New" panose="02070309020205020404" pitchFamily="49" charset="0"/>
                          <a:cs typeface="Courier New" panose="02070309020205020404" pitchFamily="49" charset="0"/>
                        </a:rPr>
                        <a:t>[</a:t>
                      </a:r>
                      <a:r>
                        <a:rPr lang="en-US" sz="1200" b="1" dirty="0">
                          <a:solidFill>
                            <a:srgbClr val="58585B"/>
                          </a:solidFill>
                          <a:latin typeface="Courier New" panose="02070309020205020404" pitchFamily="49" charset="0"/>
                          <a:cs typeface="Courier New" panose="02070309020205020404" pitchFamily="49" charset="0"/>
                        </a:rPr>
                        <a:t>source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operator port</a:t>
                      </a:r>
                      <a:r>
                        <a:rPr lang="en-US" sz="1200" dirty="0">
                          <a:solidFill>
                            <a:srgbClr val="58585B"/>
                          </a:solidFill>
                          <a:latin typeface="Courier New" panose="02070309020205020404" pitchFamily="49" charset="0"/>
                          <a:cs typeface="Courier New" panose="02070309020205020404" pitchFamily="49" charset="0"/>
                        </a:rPr>
                        <a:t>] [</a:t>
                      </a:r>
                      <a:r>
                        <a:rPr lang="en-US" sz="1200" b="1" dirty="0">
                          <a:solidFill>
                            <a:srgbClr val="58585B"/>
                          </a:solidFill>
                          <a:latin typeface="Courier New" panose="02070309020205020404" pitchFamily="49" charset="0"/>
                          <a:cs typeface="Courier New" panose="02070309020205020404" pitchFamily="49" charset="0"/>
                        </a:rPr>
                        <a:t>destination</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operator port</a:t>
                      </a:r>
                      <a:r>
                        <a:rPr lang="en-US" sz="1200" dirty="0">
                          <a:solidFill>
                            <a:srgbClr val="58585B"/>
                          </a:solidFill>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that the service object is for the TCP protocol.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service udp </a:t>
                      </a:r>
                      <a:r>
                        <a:rPr lang="en-US" sz="1200" dirty="0">
                          <a:solidFill>
                            <a:srgbClr val="58585B"/>
                          </a:solidFill>
                          <a:latin typeface="Courier New" panose="02070309020205020404" pitchFamily="49" charset="0"/>
                          <a:cs typeface="Courier New" panose="02070309020205020404" pitchFamily="49" charset="0"/>
                        </a:rPr>
                        <a:t>[</a:t>
                      </a:r>
                      <a:r>
                        <a:rPr lang="en-US" sz="1200" b="1" dirty="0">
                          <a:solidFill>
                            <a:srgbClr val="58585B"/>
                          </a:solidFill>
                          <a:latin typeface="Courier New" panose="02070309020205020404" pitchFamily="49" charset="0"/>
                          <a:cs typeface="Courier New" panose="02070309020205020404" pitchFamily="49" charset="0"/>
                        </a:rPr>
                        <a:t>source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operator port</a:t>
                      </a:r>
                      <a:r>
                        <a:rPr lang="en-US" sz="1200" dirty="0">
                          <a:solidFill>
                            <a:srgbClr val="58585B"/>
                          </a:solidFill>
                          <a:latin typeface="Courier New" panose="02070309020205020404" pitchFamily="49" charset="0"/>
                          <a:cs typeface="Courier New" panose="02070309020205020404" pitchFamily="49" charset="0"/>
                        </a:rPr>
                        <a:t>] [</a:t>
                      </a:r>
                      <a:r>
                        <a:rPr lang="en-US" sz="1200" b="1" dirty="0">
                          <a:solidFill>
                            <a:srgbClr val="58585B"/>
                          </a:solidFill>
                          <a:latin typeface="Courier New" panose="02070309020205020404" pitchFamily="49" charset="0"/>
                          <a:cs typeface="Courier New" panose="02070309020205020404" pitchFamily="49" charset="0"/>
                        </a:rPr>
                        <a:t>destination</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operator port</a:t>
                      </a:r>
                      <a:r>
                        <a:rPr lang="en-US" sz="1200" dirty="0">
                          <a:solidFill>
                            <a:srgbClr val="58585B"/>
                          </a:solidFill>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that the service object is for the UDP protocol.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service icmp </a:t>
                      </a:r>
                      <a:r>
                        <a:rPr lang="en-US" sz="1200" i="1" dirty="0">
                          <a:solidFill>
                            <a:srgbClr val="58585B"/>
                          </a:solidFill>
                          <a:latin typeface="Courier New" panose="02070309020205020404" pitchFamily="49" charset="0"/>
                          <a:cs typeface="Courier New" panose="02070309020205020404" pitchFamily="49" charset="0"/>
                        </a:rPr>
                        <a:t>[icmp-type [icmp_code]]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that the service object is for the ICMP protocol.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service icmp6 </a:t>
                      </a:r>
                      <a:r>
                        <a:rPr lang="en-US" sz="1200" i="1" dirty="0">
                          <a:solidFill>
                            <a:srgbClr val="58585B"/>
                          </a:solidFill>
                          <a:latin typeface="Courier New" panose="02070309020205020404" pitchFamily="49" charset="0"/>
                          <a:cs typeface="Courier New" panose="02070309020205020404" pitchFamily="49" charset="0"/>
                        </a:rPr>
                        <a:t>[icmp-type [icmp_code]]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that the service object is for the ICMPv6 protocol.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52</a:t>
            </a:fld>
            <a:endParaRPr lang="en-US" dirty="0"/>
          </a:p>
        </p:txBody>
      </p:sp>
    </p:spTree>
    <p:extLst>
      <p:ext uri="{BB962C8B-B14F-4D97-AF65-F5344CB8AC3E}">
        <p14:creationId xmlns:p14="http://schemas.microsoft.com/office/powerpoint/2010/main" val="15678241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Object Groups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Service Objects (Cont.)</a:t>
            </a:r>
          </a:p>
        </p:txBody>
      </p:sp>
      <p:sp>
        <p:nvSpPr>
          <p:cNvPr id="7" name="TextBox 6">
            <a:extLst>
              <a:ext uri="{FF2B5EF4-FFF2-40B4-BE49-F238E27FC236}">
                <a16:creationId xmlns:a16="http://schemas.microsoft.com/office/drawing/2014/main" id="{5FDFF6EF-3821-4843-A480-471004416D73}"/>
              </a:ext>
            </a:extLst>
          </p:cNvPr>
          <p:cNvSpPr txBox="1"/>
          <p:nvPr/>
        </p:nvSpPr>
        <p:spPr>
          <a:xfrm>
            <a:off x="220716" y="857677"/>
            <a:ext cx="8663153"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A service object name can only be associated with one protocol and port (or ports), as shown in the </a:t>
            </a:r>
            <a:r>
              <a:rPr lang="en-US" sz="1600" b="1" dirty="0">
                <a:latin typeface="Arial" panose="020B0604020202020204" pitchFamily="34" charset="0"/>
                <a:cs typeface="Arial" panose="020B0604020202020204" pitchFamily="34" charset="0"/>
              </a:rPr>
              <a:t>show run object service </a:t>
            </a:r>
            <a:r>
              <a:rPr lang="en-US" sz="1600" dirty="0">
                <a:latin typeface="Arial" panose="020B0604020202020204" pitchFamily="34" charset="0"/>
                <a:cs typeface="Arial" panose="020B0604020202020204" pitchFamily="34" charset="0"/>
              </a:rPr>
              <a:t>output in this example.</a:t>
            </a:r>
          </a:p>
        </p:txBody>
      </p:sp>
      <p:pic>
        <p:nvPicPr>
          <p:cNvPr id="5" name="Picture 4">
            <a:extLst>
              <a:ext uri="{FF2B5EF4-FFF2-40B4-BE49-F238E27FC236}">
                <a16:creationId xmlns:a16="http://schemas.microsoft.com/office/drawing/2014/main" id="{A22FE146-EFEC-420C-919A-0AF5CA89882F}"/>
              </a:ext>
            </a:extLst>
          </p:cNvPr>
          <p:cNvPicPr>
            <a:picLocks noChangeAspect="1"/>
          </p:cNvPicPr>
          <p:nvPr/>
        </p:nvPicPr>
        <p:blipFill>
          <a:blip r:embed="rId3"/>
          <a:stretch>
            <a:fillRect/>
          </a:stretch>
        </p:blipFill>
        <p:spPr>
          <a:xfrm>
            <a:off x="1857235" y="1774784"/>
            <a:ext cx="5429529" cy="159393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53</a:t>
            </a:fld>
            <a:endParaRPr lang="en-US" dirty="0"/>
          </a:p>
        </p:txBody>
      </p:sp>
      <p:sp>
        <p:nvSpPr>
          <p:cNvPr id="4" name="BlokTextu 3">
            <a:extLst>
              <a:ext uri="{FF2B5EF4-FFF2-40B4-BE49-F238E27FC236}">
                <a16:creationId xmlns:a16="http://schemas.microsoft.com/office/drawing/2014/main" id="{7FEF619A-D521-D1A7-0F67-E5D14FA9A594}"/>
              </a:ext>
            </a:extLst>
          </p:cNvPr>
          <p:cNvSpPr txBox="1"/>
          <p:nvPr/>
        </p:nvSpPr>
        <p:spPr>
          <a:xfrm>
            <a:off x="881547" y="4029931"/>
            <a:ext cx="7181646" cy="369332"/>
          </a:xfrm>
          <a:prstGeom prst="rect">
            <a:avLst/>
          </a:prstGeom>
          <a:noFill/>
        </p:spPr>
        <p:txBody>
          <a:bodyPr wrap="none" rtlCol="0">
            <a:spAutoFit/>
          </a:bodyPr>
          <a:lstStyle/>
          <a:p>
            <a:r>
              <a:rPr lang="sk-SK" dirty="0"/>
              <a:t>Len posledný záznam – lebo </a:t>
            </a:r>
            <a:r>
              <a:rPr lang="sk-SK" dirty="0" err="1"/>
              <a:t>object</a:t>
            </a:r>
            <a:r>
              <a:rPr lang="sk-SK" dirty="0"/>
              <a:t> 1 položka, </a:t>
            </a:r>
            <a:r>
              <a:rPr lang="sk-SK" dirty="0" err="1"/>
              <a:t>object-group</a:t>
            </a:r>
            <a:r>
              <a:rPr lang="sk-SK" dirty="0"/>
              <a:t> viac položiek ...</a:t>
            </a:r>
          </a:p>
        </p:txBody>
      </p:sp>
    </p:spTree>
    <p:extLst>
      <p:ext uri="{BB962C8B-B14F-4D97-AF65-F5344CB8AC3E}">
        <p14:creationId xmlns:p14="http://schemas.microsoft.com/office/powerpoint/2010/main" val="15983216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Object Groups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Object Groups</a:t>
            </a:r>
          </a:p>
        </p:txBody>
      </p:sp>
      <p:sp>
        <p:nvSpPr>
          <p:cNvPr id="5" name="Object4"/>
          <p:cNvSpPr/>
          <p:nvPr/>
        </p:nvSpPr>
        <p:spPr>
          <a:xfrm>
            <a:off x="0" y="914400"/>
            <a:ext cx="9144000" cy="1947041"/>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Objects can be grouped together to create an object group. By grouping like objects together, an object group can be used in an access control entry (ACE) instead of having to enter an ACE for each object separately.</a:t>
            </a:r>
          </a:p>
          <a:p>
            <a:pPr>
              <a:lnSpc>
                <a:spcPts val="2000"/>
              </a:lnSpc>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following guidelines and limitations apply to object groups:</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Objects and object groups share the same name space.</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Object groups must have unique names.</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An object group cannot be removed or emptied if it is used in a command.</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The ASA does not support IPv6 nested object groups.</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54</a:t>
            </a:fld>
            <a:endParaRPr lang="en-US" dirty="0"/>
          </a:p>
        </p:txBody>
      </p:sp>
    </p:spTree>
    <p:extLst>
      <p:ext uri="{BB962C8B-B14F-4D97-AF65-F5344CB8AC3E}">
        <p14:creationId xmlns:p14="http://schemas.microsoft.com/office/powerpoint/2010/main" val="27970061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Object Groups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Object Groups (Cont.)</a:t>
            </a:r>
          </a:p>
        </p:txBody>
      </p:sp>
      <p:sp>
        <p:nvSpPr>
          <p:cNvPr id="7" name="TextBox 6">
            <a:extLst>
              <a:ext uri="{FF2B5EF4-FFF2-40B4-BE49-F238E27FC236}">
                <a16:creationId xmlns:a16="http://schemas.microsoft.com/office/drawing/2014/main" id="{4B7063A0-7D13-4C66-A3F0-C24D6F990695}"/>
              </a:ext>
            </a:extLst>
          </p:cNvPr>
          <p:cNvSpPr txBox="1"/>
          <p:nvPr/>
        </p:nvSpPr>
        <p:spPr>
          <a:xfrm>
            <a:off x="-55180" y="731520"/>
            <a:ext cx="9144000" cy="4016484"/>
          </a:xfrm>
          <a:prstGeom prst="rect">
            <a:avLst/>
          </a:prstGeom>
          <a:noFill/>
        </p:spPr>
        <p:txBody>
          <a:bodyPr wrap="square">
            <a:spAutoFit/>
          </a:bodyPr>
          <a:lstStyle/>
          <a:p>
            <a:r>
              <a:rPr lang="en-US" sz="1500" dirty="0">
                <a:latin typeface="Arial" panose="020B0604020202020204" pitchFamily="34" charset="0"/>
                <a:cs typeface="Arial" panose="020B0604020202020204" pitchFamily="34" charset="0"/>
              </a:rPr>
              <a:t>There are five types of object groups.</a:t>
            </a:r>
          </a:p>
          <a:p>
            <a:pPr lvl="1"/>
            <a:endParaRPr lang="en-US" sz="15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500" b="1" dirty="0">
                <a:latin typeface="Arial" panose="020B0604020202020204" pitchFamily="34" charset="0"/>
                <a:cs typeface="Arial" panose="020B0604020202020204" pitchFamily="34" charset="0"/>
              </a:rPr>
              <a:t>Network</a:t>
            </a:r>
            <a:r>
              <a:rPr lang="en-US" sz="1500" dirty="0">
                <a:latin typeface="Arial" panose="020B0604020202020204" pitchFamily="34" charset="0"/>
                <a:cs typeface="Arial" panose="020B0604020202020204" pitchFamily="34" charset="0"/>
              </a:rPr>
              <a:t> - A network-based object group specifies a list of IP host, subnet, or network addresses.</a:t>
            </a:r>
          </a:p>
          <a:p>
            <a:pPr marL="742950" lvl="1" indent="-285750">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500" b="1" dirty="0">
                <a:latin typeface="Arial" panose="020B0604020202020204" pitchFamily="34" charset="0"/>
                <a:cs typeface="Arial" panose="020B0604020202020204" pitchFamily="34" charset="0"/>
              </a:rPr>
              <a:t>User</a:t>
            </a:r>
            <a:r>
              <a:rPr lang="en-US" sz="1500" dirty="0">
                <a:latin typeface="Arial" panose="020B0604020202020204" pitchFamily="34" charset="0"/>
                <a:cs typeface="Arial" panose="020B0604020202020204" pitchFamily="34" charset="0"/>
              </a:rPr>
              <a:t> - Locally created, as well as imported Active Directory user groups can be defined for use in features that support the identity firewall.</a:t>
            </a:r>
          </a:p>
          <a:p>
            <a:pPr marL="742950" lvl="1" indent="-285750">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500" b="1" dirty="0">
                <a:latin typeface="Arial" panose="020B0604020202020204" pitchFamily="34" charset="0"/>
                <a:cs typeface="Arial" panose="020B0604020202020204" pitchFamily="34" charset="0"/>
              </a:rPr>
              <a:t>Service</a:t>
            </a:r>
            <a:r>
              <a:rPr lang="en-US" sz="1500" dirty="0">
                <a:latin typeface="Arial" panose="020B0604020202020204" pitchFamily="34" charset="0"/>
                <a:cs typeface="Arial" panose="020B0604020202020204" pitchFamily="34" charset="0"/>
              </a:rPr>
              <a:t> - A service-based object group is used to group TCP, UDP, or TCP and UDP ports into an object. The ASA enables the creation of a service object group that can contain a mix of TCP services, UDP services, ICMP-type services, and any protocol, such as ESP, GRE, and TCP.</a:t>
            </a:r>
          </a:p>
          <a:p>
            <a:pPr marL="742950" lvl="1" indent="-285750">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500" b="1" dirty="0">
                <a:latin typeface="Arial" panose="020B0604020202020204" pitchFamily="34" charset="0"/>
                <a:cs typeface="Arial" panose="020B0604020202020204" pitchFamily="34" charset="0"/>
              </a:rPr>
              <a:t>ICMP-Type</a:t>
            </a:r>
            <a:r>
              <a:rPr lang="en-US" sz="1500" dirty="0">
                <a:latin typeface="Arial" panose="020B0604020202020204" pitchFamily="34" charset="0"/>
                <a:cs typeface="Arial" panose="020B0604020202020204" pitchFamily="34" charset="0"/>
              </a:rPr>
              <a:t> - The ICMP protocol uses unique types to send control messages (RFC 792). The ICMP-type object group can group the necessary types required to meet an organization’s security needs, such as to create an object group called ECHO to group echo and echo-reply.</a:t>
            </a:r>
          </a:p>
          <a:p>
            <a:pPr marL="742950" lvl="1" indent="-285750">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500" b="1" dirty="0">
                <a:latin typeface="Arial" panose="020B0604020202020204" pitchFamily="34" charset="0"/>
                <a:cs typeface="Arial" panose="020B0604020202020204" pitchFamily="34" charset="0"/>
              </a:rPr>
              <a:t>Security</a:t>
            </a:r>
            <a:r>
              <a:rPr lang="en-US" sz="1500" dirty="0">
                <a:latin typeface="Arial" panose="020B0604020202020204" pitchFamily="34" charset="0"/>
                <a:cs typeface="Arial" panose="020B0604020202020204" pitchFamily="34" charset="0"/>
              </a:rPr>
              <a:t> - A security group object group can be used in features that support Cisco TrustSec by including the group in an extended ACL, which in turn can be used in an access rule.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55</a:t>
            </a:fld>
            <a:endParaRPr lang="en-US" dirty="0"/>
          </a:p>
        </p:txBody>
      </p:sp>
    </p:spTree>
    <p:extLst>
      <p:ext uri="{BB962C8B-B14F-4D97-AF65-F5344CB8AC3E}">
        <p14:creationId xmlns:p14="http://schemas.microsoft.com/office/powerpoint/2010/main" val="39395029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Object Groups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Common Object Groups</a:t>
            </a:r>
          </a:p>
        </p:txBody>
      </p:sp>
      <p:sp>
        <p:nvSpPr>
          <p:cNvPr id="5" name="Object4"/>
          <p:cNvSpPr/>
          <p:nvPr/>
        </p:nvSpPr>
        <p:spPr>
          <a:xfrm>
            <a:off x="0" y="914400"/>
            <a:ext cx="4181804" cy="2571750"/>
          </a:xfrm>
          <a:prstGeom prst="rect">
            <a:avLst/>
          </a:prstGeom>
          <a:noFill/>
          <a:ln/>
        </p:spPr>
        <p:txBody>
          <a:bodyPr wrap="square" rtlCol="0" anchor="t"/>
          <a:lstStyle/>
          <a:p>
            <a:r>
              <a:rPr lang="en-US" sz="1500" dirty="0">
                <a:effectLst/>
                <a:latin typeface="Arial" panose="020B0604020202020204" pitchFamily="34" charset="0"/>
                <a:cs typeface="Arial" panose="020B0604020202020204" pitchFamily="34" charset="0"/>
              </a:rPr>
              <a:t>To configure a network object group, use the </a:t>
            </a:r>
            <a:r>
              <a:rPr lang="en-US" sz="1500" b="1" dirty="0">
                <a:effectLst/>
                <a:latin typeface="Arial" panose="020B0604020202020204" pitchFamily="34" charset="0"/>
                <a:cs typeface="Arial" panose="020B0604020202020204" pitchFamily="34" charset="0"/>
              </a:rPr>
              <a:t>object-group network</a:t>
            </a:r>
            <a:r>
              <a:rPr lang="en-US" sz="1500" dirty="0">
                <a:effectLst/>
                <a:latin typeface="Arial" panose="020B0604020202020204" pitchFamily="34" charset="0"/>
                <a:cs typeface="Arial" panose="020B0604020202020204" pitchFamily="34" charset="0"/>
              </a:rPr>
              <a:t> </a:t>
            </a:r>
            <a:r>
              <a:rPr lang="en-US" sz="1500" i="1" dirty="0">
                <a:effectLst/>
                <a:latin typeface="Arial" panose="020B0604020202020204" pitchFamily="34" charset="0"/>
                <a:cs typeface="Arial" panose="020B0604020202020204" pitchFamily="34" charset="0"/>
              </a:rPr>
              <a:t>grp-name</a:t>
            </a:r>
            <a:r>
              <a:rPr lang="en-US" sz="1500" dirty="0">
                <a:effectLst/>
                <a:latin typeface="Arial" panose="020B0604020202020204" pitchFamily="34" charset="0"/>
                <a:cs typeface="Arial" panose="020B0604020202020204" pitchFamily="34" charset="0"/>
              </a:rPr>
              <a:t> global configuration mode command. After entering the command, add network objects to the network group using the </a:t>
            </a:r>
            <a:r>
              <a:rPr lang="en-US" sz="1500" b="1" dirty="0">
                <a:effectLst/>
                <a:latin typeface="Arial" panose="020B0604020202020204" pitchFamily="34" charset="0"/>
                <a:cs typeface="Arial" panose="020B0604020202020204" pitchFamily="34" charset="0"/>
              </a:rPr>
              <a:t>network-object</a:t>
            </a:r>
            <a:r>
              <a:rPr lang="en-US" sz="1500" dirty="0">
                <a:effectLst/>
                <a:latin typeface="Arial" panose="020B0604020202020204" pitchFamily="34" charset="0"/>
                <a:cs typeface="Arial" panose="020B0604020202020204" pitchFamily="34" charset="0"/>
              </a:rPr>
              <a:t> and </a:t>
            </a:r>
            <a:r>
              <a:rPr lang="en-US" sz="1500" b="1" dirty="0">
                <a:effectLst/>
                <a:latin typeface="Arial" panose="020B0604020202020204" pitchFamily="34" charset="0"/>
                <a:cs typeface="Arial" panose="020B0604020202020204" pitchFamily="34" charset="0"/>
              </a:rPr>
              <a:t>group-object</a:t>
            </a:r>
            <a:r>
              <a:rPr lang="en-US" sz="1500" dirty="0">
                <a:effectLst/>
                <a:latin typeface="Arial" panose="020B0604020202020204" pitchFamily="34" charset="0"/>
                <a:cs typeface="Arial" panose="020B0604020202020204" pitchFamily="34" charset="0"/>
              </a:rPr>
              <a:t> commands.</a:t>
            </a:r>
          </a:p>
          <a:p>
            <a:endParaRPr lang="en-US" sz="1500" dirty="0">
              <a:effectLst/>
              <a:latin typeface="Arial" panose="020B0604020202020204" pitchFamily="34" charset="0"/>
              <a:cs typeface="Arial" panose="020B0604020202020204" pitchFamily="34" charset="0"/>
            </a:endParaRPr>
          </a:p>
          <a:p>
            <a:r>
              <a:rPr lang="en-US" sz="1500" dirty="0">
                <a:effectLst/>
                <a:latin typeface="Arial" panose="020B0604020202020204" pitchFamily="34" charset="0"/>
                <a:cs typeface="Arial" panose="020B0604020202020204" pitchFamily="34" charset="0"/>
              </a:rPr>
              <a:t>To configure an ICMP object group, use the </a:t>
            </a:r>
            <a:r>
              <a:rPr lang="en-US" sz="1500" b="1" dirty="0">
                <a:effectLst/>
                <a:latin typeface="Arial" panose="020B0604020202020204" pitchFamily="34" charset="0"/>
                <a:cs typeface="Arial" panose="020B0604020202020204" pitchFamily="34" charset="0"/>
              </a:rPr>
              <a:t>object-group icmp-type</a:t>
            </a:r>
            <a:r>
              <a:rPr lang="en-US" sz="1500" dirty="0">
                <a:effectLst/>
                <a:latin typeface="Arial" panose="020B0604020202020204" pitchFamily="34" charset="0"/>
                <a:cs typeface="Arial" panose="020B0604020202020204" pitchFamily="34" charset="0"/>
              </a:rPr>
              <a:t> </a:t>
            </a:r>
            <a:r>
              <a:rPr lang="en-US" sz="1500" i="1" dirty="0">
                <a:effectLst/>
                <a:latin typeface="Arial" panose="020B0604020202020204" pitchFamily="34" charset="0"/>
                <a:cs typeface="Arial" panose="020B0604020202020204" pitchFamily="34" charset="0"/>
              </a:rPr>
              <a:t>grp-name</a:t>
            </a:r>
            <a:r>
              <a:rPr lang="en-US" sz="1500" dirty="0">
                <a:effectLst/>
                <a:latin typeface="Arial" panose="020B0604020202020204" pitchFamily="34" charset="0"/>
                <a:cs typeface="Arial" panose="020B0604020202020204" pitchFamily="34" charset="0"/>
              </a:rPr>
              <a:t> global configuration mode command. After entering the command, add ICMP objects to the ICMP object group using the </a:t>
            </a:r>
            <a:r>
              <a:rPr lang="en-US" sz="1500" b="1" dirty="0">
                <a:effectLst/>
                <a:latin typeface="Arial" panose="020B0604020202020204" pitchFamily="34" charset="0"/>
                <a:cs typeface="Arial" panose="020B0604020202020204" pitchFamily="34" charset="0"/>
              </a:rPr>
              <a:t>icmp-object</a:t>
            </a:r>
            <a:r>
              <a:rPr lang="en-US" sz="1500" dirty="0">
                <a:effectLst/>
                <a:latin typeface="Arial" panose="020B0604020202020204" pitchFamily="34" charset="0"/>
                <a:cs typeface="Arial" panose="020B0604020202020204" pitchFamily="34" charset="0"/>
              </a:rPr>
              <a:t> and </a:t>
            </a:r>
            <a:r>
              <a:rPr lang="en-US" sz="1500" b="1" dirty="0">
                <a:effectLst/>
                <a:latin typeface="Arial" panose="020B0604020202020204" pitchFamily="34" charset="0"/>
                <a:cs typeface="Arial" panose="020B0604020202020204" pitchFamily="34" charset="0"/>
              </a:rPr>
              <a:t>group-object</a:t>
            </a:r>
            <a:r>
              <a:rPr lang="en-US" sz="1500" dirty="0">
                <a:effectLst/>
                <a:latin typeface="Arial" panose="020B0604020202020204" pitchFamily="34" charset="0"/>
                <a:cs typeface="Arial" panose="020B0604020202020204" pitchFamily="34" charset="0"/>
              </a:rPr>
              <a:t> commands.</a:t>
            </a:r>
          </a:p>
          <a:p>
            <a:endParaRPr lang="en-US" sz="1500" dirty="0">
              <a:effectLst/>
              <a:latin typeface="Arial" panose="020B0604020202020204" pitchFamily="34" charset="0"/>
              <a:cs typeface="Arial" panose="020B0604020202020204" pitchFamily="34" charset="0"/>
            </a:endParaRPr>
          </a:p>
          <a:p>
            <a:r>
              <a:rPr lang="en-US" sz="1500" dirty="0">
                <a:effectLst/>
                <a:latin typeface="Arial" panose="020B0604020202020204" pitchFamily="34" charset="0"/>
                <a:cs typeface="Arial" panose="020B0604020202020204" pitchFamily="34" charset="0"/>
              </a:rPr>
              <a:t>The example displays a sample network object group configuration.</a:t>
            </a:r>
          </a:p>
        </p:txBody>
      </p:sp>
      <p:pic>
        <p:nvPicPr>
          <p:cNvPr id="4" name="Picture 3">
            <a:extLst>
              <a:ext uri="{FF2B5EF4-FFF2-40B4-BE49-F238E27FC236}">
                <a16:creationId xmlns:a16="http://schemas.microsoft.com/office/drawing/2014/main" id="{311A83FF-FE27-49E9-A46E-3DB7F7B65F04}"/>
              </a:ext>
            </a:extLst>
          </p:cNvPr>
          <p:cNvPicPr>
            <a:picLocks noChangeAspect="1"/>
          </p:cNvPicPr>
          <p:nvPr/>
        </p:nvPicPr>
        <p:blipFill>
          <a:blip r:embed="rId3"/>
          <a:stretch>
            <a:fillRect/>
          </a:stretch>
        </p:blipFill>
        <p:spPr>
          <a:xfrm>
            <a:off x="4181804" y="1188720"/>
            <a:ext cx="4847896" cy="232562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56</a:t>
            </a:fld>
            <a:endParaRPr lang="en-US" dirty="0"/>
          </a:p>
        </p:txBody>
      </p:sp>
    </p:spTree>
    <p:extLst>
      <p:ext uri="{BB962C8B-B14F-4D97-AF65-F5344CB8AC3E}">
        <p14:creationId xmlns:p14="http://schemas.microsoft.com/office/powerpoint/2010/main" val="938723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21.4 ASA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57</a:t>
            </a:fld>
            <a:endParaRPr lang="en-US" dirty="0"/>
          </a:p>
        </p:txBody>
      </p:sp>
    </p:spTree>
    <p:extLst>
      <p:ext uri="{BB962C8B-B14F-4D97-AF65-F5344CB8AC3E}">
        <p14:creationId xmlns:p14="http://schemas.microsoft.com/office/powerpoint/2010/main" val="21974461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ACLs</a:t>
            </a:r>
          </a:p>
        </p:txBody>
      </p:sp>
      <p:sp>
        <p:nvSpPr>
          <p:cNvPr id="5" name="Object4"/>
          <p:cNvSpPr/>
          <p:nvPr/>
        </p:nvSpPr>
        <p:spPr>
          <a:xfrm>
            <a:off x="-1" y="914400"/>
            <a:ext cx="8804953"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These are the similarities between ASA ACLs and IOS ACLs:</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ACLs are made up of one or more ACEs. ACEs are applied to a protocol, a source and destination IP address, a network, or the source and destination ports.</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ACLs are processed sequentially from top down.</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A criteria match will cause the ACL to be exited.</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There is an implicit deny any at the bottom.</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Remarks can be added per ACE or ACL.</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Only one access list can be applied per interface, per protocol, per direction.</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ACLs can be enabled/disabled based on time ranges.</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These the differences between ASA ACLs and IOS ACLs:</a:t>
            </a: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The ASA uses a network mask </a:t>
            </a:r>
            <a:r>
              <a:rPr lang="en-US" sz="1600" dirty="0">
                <a:effectLst/>
                <a:latin typeface="Arial" panose="020B0604020202020204" pitchFamily="34" charset="0"/>
                <a:cs typeface="Arial" panose="020B0604020202020204" pitchFamily="34" charset="0"/>
              </a:rPr>
              <a:t>(e.g., 255.255.255.0) and not a wildcard mask (e.g. 0.0.0.255).</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ACLs are always named instead of numbered.</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By default, interface security levels apply access control without an ACL configured.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58</a:t>
            </a:fld>
            <a:endParaRPr lang="en-US" dirty="0"/>
          </a:p>
        </p:txBody>
      </p:sp>
    </p:spTree>
    <p:extLst>
      <p:ext uri="{BB962C8B-B14F-4D97-AF65-F5344CB8AC3E}">
        <p14:creationId xmlns:p14="http://schemas.microsoft.com/office/powerpoint/2010/main" val="10788133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ASA ACL Filtering</a:t>
            </a:r>
          </a:p>
        </p:txBody>
      </p:sp>
      <p:sp>
        <p:nvSpPr>
          <p:cNvPr id="5" name="Object4"/>
          <p:cNvSpPr/>
          <p:nvPr/>
        </p:nvSpPr>
        <p:spPr>
          <a:xfrm>
            <a:off x="77056" y="914400"/>
            <a:ext cx="8609744"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ACLs on a security appliance can be used not only to filter packets that are passing through the appliance but also to filter packets destined for the appliance.</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Through-traffic filtering</a:t>
            </a:r>
            <a:r>
              <a:rPr lang="en-US" sz="1600" dirty="0">
                <a:latin typeface="Arial" panose="020B0604020202020204" pitchFamily="34" charset="0"/>
                <a:cs typeface="Arial" panose="020B0604020202020204" pitchFamily="34" charset="0"/>
              </a:rPr>
              <a:t> - Traffic passing through the ASA from one interface to another interface. The configuration is completed in two steps: configure the ACL, then apply the ACL to an interface.</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To-the-box-traffic filtering</a:t>
            </a:r>
            <a:r>
              <a:rPr lang="en-US" sz="1600" dirty="0">
                <a:latin typeface="Arial" panose="020B0604020202020204" pitchFamily="34" charset="0"/>
                <a:cs typeface="Arial" panose="020B0604020202020204" pitchFamily="34" charset="0"/>
              </a:rPr>
              <a:t> - management access rule that applies to traffic that terminates at the ASA. </a:t>
            </a:r>
          </a:p>
          <a:p>
            <a:endParaRPr lang="en-US" sz="1600" dirty="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59</a:t>
            </a:fld>
            <a:endParaRPr lang="en-US" dirty="0"/>
          </a:p>
        </p:txBody>
      </p:sp>
    </p:spTree>
    <p:extLst>
      <p:ext uri="{BB962C8B-B14F-4D97-AF65-F5344CB8AC3E}">
        <p14:creationId xmlns:p14="http://schemas.microsoft.com/office/powerpoint/2010/main" val="2795256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ASA ACL Filtering (Cont.)</a:t>
            </a:r>
          </a:p>
        </p:txBody>
      </p:sp>
      <p:sp>
        <p:nvSpPr>
          <p:cNvPr id="5" name="Object4"/>
          <p:cNvSpPr/>
          <p:nvPr/>
        </p:nvSpPr>
        <p:spPr>
          <a:xfrm>
            <a:off x="0" y="914400"/>
            <a:ext cx="8609744" cy="66782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ASA devices differ from their router counterparts because of interface security levels. By default, security levels apply access control without an ACL configured. </a:t>
            </a:r>
          </a:p>
        </p:txBody>
      </p:sp>
      <p:pic>
        <p:nvPicPr>
          <p:cNvPr id="6" name="Picture 5">
            <a:extLst>
              <a:ext uri="{FF2B5EF4-FFF2-40B4-BE49-F238E27FC236}">
                <a16:creationId xmlns:a16="http://schemas.microsoft.com/office/drawing/2014/main" id="{41E90743-2631-45D9-9FFE-066F4F5DB38C}"/>
              </a:ext>
            </a:extLst>
          </p:cNvPr>
          <p:cNvPicPr>
            <a:picLocks noChangeAspect="1"/>
          </p:cNvPicPr>
          <p:nvPr/>
        </p:nvPicPr>
        <p:blipFill>
          <a:blip r:embed="rId3"/>
          <a:stretch>
            <a:fillRect/>
          </a:stretch>
        </p:blipFill>
        <p:spPr>
          <a:xfrm>
            <a:off x="398539" y="1939300"/>
            <a:ext cx="3804993" cy="207869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60</a:t>
            </a:fld>
            <a:endParaRPr lang="en-US" dirty="0"/>
          </a:p>
        </p:txBody>
      </p:sp>
      <p:pic>
        <p:nvPicPr>
          <p:cNvPr id="7" name="Picture 6">
            <a:extLst>
              <a:ext uri="{FF2B5EF4-FFF2-40B4-BE49-F238E27FC236}">
                <a16:creationId xmlns:a16="http://schemas.microsoft.com/office/drawing/2014/main" id="{47FD9B3E-86B5-DDCF-B0BC-8A6483A18A09}"/>
              </a:ext>
            </a:extLst>
          </p:cNvPr>
          <p:cNvPicPr>
            <a:picLocks noChangeAspect="1"/>
          </p:cNvPicPr>
          <p:nvPr/>
        </p:nvPicPr>
        <p:blipFill>
          <a:blip r:embed="rId4"/>
          <a:stretch>
            <a:fillRect/>
          </a:stretch>
        </p:blipFill>
        <p:spPr>
          <a:xfrm>
            <a:off x="4559249" y="2748670"/>
            <a:ext cx="4317623" cy="2239431"/>
          </a:xfrm>
          <a:prstGeom prst="rect">
            <a:avLst/>
          </a:prstGeom>
        </p:spPr>
      </p:pic>
      <p:sp>
        <p:nvSpPr>
          <p:cNvPr id="9" name="BlokTextu 8">
            <a:extLst>
              <a:ext uri="{FF2B5EF4-FFF2-40B4-BE49-F238E27FC236}">
                <a16:creationId xmlns:a16="http://schemas.microsoft.com/office/drawing/2014/main" id="{1DA023CB-CFBE-EDC9-25B8-ADBC0BE6F341}"/>
              </a:ext>
            </a:extLst>
          </p:cNvPr>
          <p:cNvSpPr txBox="1"/>
          <p:nvPr/>
        </p:nvSpPr>
        <p:spPr>
          <a:xfrm>
            <a:off x="5201676" y="1745246"/>
            <a:ext cx="3543785"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However, a host from an outside interface with security level 0 cannot access the inside higher-level interface, as shown below. </a:t>
            </a:r>
          </a:p>
        </p:txBody>
      </p:sp>
    </p:spTree>
    <p:extLst>
      <p:ext uri="{BB962C8B-B14F-4D97-AF65-F5344CB8AC3E}">
        <p14:creationId xmlns:p14="http://schemas.microsoft.com/office/powerpoint/2010/main" val="19956471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ASA ACL Filtering (Cont.)</a:t>
            </a:r>
          </a:p>
        </p:txBody>
      </p:sp>
      <p:sp>
        <p:nvSpPr>
          <p:cNvPr id="6" name="Object4">
            <a:extLst>
              <a:ext uri="{FF2B5EF4-FFF2-40B4-BE49-F238E27FC236}">
                <a16:creationId xmlns:a16="http://schemas.microsoft.com/office/drawing/2014/main" id="{242DD64F-E343-4C52-9E68-7D52B7068394}"/>
              </a:ext>
            </a:extLst>
          </p:cNvPr>
          <p:cNvSpPr/>
          <p:nvPr/>
        </p:nvSpPr>
        <p:spPr>
          <a:xfrm>
            <a:off x="0" y="914399"/>
            <a:ext cx="3924728" cy="1298735"/>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A from an outside interface with security level 0 cannot access the inside higher-level interface, as shown in the figure. </a:t>
            </a:r>
          </a:p>
        </p:txBody>
      </p:sp>
      <p:sp>
        <p:nvSpPr>
          <p:cNvPr id="5" name="Object4"/>
          <p:cNvSpPr/>
          <p:nvPr/>
        </p:nvSpPr>
        <p:spPr>
          <a:xfrm>
            <a:off x="0" y="1997578"/>
            <a:ext cx="3924728" cy="242031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same-security-traffic permit inter-interface</a:t>
            </a:r>
            <a:r>
              <a:rPr lang="en-US" sz="1600" dirty="0">
                <a:latin typeface="Arial" panose="020B0604020202020204" pitchFamily="34" charset="0"/>
                <a:cs typeface="Arial" panose="020B0604020202020204" pitchFamily="34" charset="0"/>
              </a:rPr>
              <a:t> to enable traffic between interfaces with the same security level. Use the </a:t>
            </a:r>
            <a:r>
              <a:rPr lang="en-US" sz="1600" b="1" dirty="0">
                <a:latin typeface="Arial" panose="020B0604020202020204" pitchFamily="34" charset="0"/>
                <a:cs typeface="Arial" panose="020B0604020202020204" pitchFamily="34" charset="0"/>
              </a:rPr>
              <a:t>same-security-traffic permit intra-interface</a:t>
            </a:r>
            <a:r>
              <a:rPr lang="en-US" sz="1600" dirty="0">
                <a:latin typeface="Arial" panose="020B0604020202020204" pitchFamily="34" charset="0"/>
                <a:cs typeface="Arial" panose="020B0604020202020204" pitchFamily="34" charset="0"/>
              </a:rPr>
              <a:t> command to allow traffic to enter and exit the same interface</a:t>
            </a:r>
          </a:p>
        </p:txBody>
      </p:sp>
      <p:pic>
        <p:nvPicPr>
          <p:cNvPr id="7" name="Picture 6">
            <a:extLst>
              <a:ext uri="{FF2B5EF4-FFF2-40B4-BE49-F238E27FC236}">
                <a16:creationId xmlns:a16="http://schemas.microsoft.com/office/drawing/2014/main" id="{F1D8E10C-ABC0-418F-B0FE-714AE06799BA}"/>
              </a:ext>
            </a:extLst>
          </p:cNvPr>
          <p:cNvPicPr>
            <a:picLocks noChangeAspect="1"/>
          </p:cNvPicPr>
          <p:nvPr/>
        </p:nvPicPr>
        <p:blipFill>
          <a:blip r:embed="rId3"/>
          <a:stretch>
            <a:fillRect/>
          </a:stretch>
        </p:blipFill>
        <p:spPr>
          <a:xfrm>
            <a:off x="3924728" y="1012960"/>
            <a:ext cx="4968674" cy="257711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61</a:t>
            </a:fld>
            <a:endParaRPr lang="en-US" dirty="0"/>
          </a:p>
        </p:txBody>
      </p:sp>
    </p:spTree>
    <p:extLst>
      <p:ext uri="{BB962C8B-B14F-4D97-AF65-F5344CB8AC3E}">
        <p14:creationId xmlns:p14="http://schemas.microsoft.com/office/powerpoint/2010/main" val="21651838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ASA ACLs</a:t>
            </a:r>
          </a:p>
        </p:txBody>
      </p:sp>
      <p:sp>
        <p:nvSpPr>
          <p:cNvPr id="10" name="TextBox 9">
            <a:extLst>
              <a:ext uri="{FF2B5EF4-FFF2-40B4-BE49-F238E27FC236}">
                <a16:creationId xmlns:a16="http://schemas.microsoft.com/office/drawing/2014/main" id="{146EE575-F36F-4C23-92F3-119294A9A621}"/>
              </a:ext>
            </a:extLst>
          </p:cNvPr>
          <p:cNvSpPr txBox="1"/>
          <p:nvPr/>
        </p:nvSpPr>
        <p:spPr>
          <a:xfrm>
            <a:off x="110359" y="721158"/>
            <a:ext cx="8576441" cy="3323987"/>
          </a:xfrm>
          <a:prstGeom prst="rect">
            <a:avLst/>
          </a:prstGeom>
          <a:noFill/>
        </p:spPr>
        <p:txBody>
          <a:bodyPr wrap="square">
            <a:spAutoFit/>
          </a:bodyPr>
          <a:lstStyle/>
          <a:p>
            <a:r>
              <a:rPr lang="en-US" sz="1500" dirty="0">
                <a:latin typeface="Arial" panose="020B0604020202020204" pitchFamily="34" charset="0"/>
                <a:cs typeface="Arial" panose="020B0604020202020204" pitchFamily="34" charset="0"/>
              </a:rPr>
              <a:t>The ASA supports five types of access lists:</a:t>
            </a:r>
          </a:p>
          <a:p>
            <a:pPr marL="742950" lvl="1" indent="-285750">
              <a:buFont typeface="Arial" panose="020B0604020202020204" pitchFamily="34" charset="0"/>
              <a:buChar char="•"/>
            </a:pPr>
            <a:r>
              <a:rPr lang="en-US" sz="1500" b="1" dirty="0">
                <a:latin typeface="Arial" panose="020B0604020202020204" pitchFamily="34" charset="0"/>
                <a:cs typeface="Arial" panose="020B0604020202020204" pitchFamily="34" charset="0"/>
              </a:rPr>
              <a:t>Extended access list</a:t>
            </a:r>
            <a:r>
              <a:rPr lang="en-US" sz="1500" dirty="0">
                <a:latin typeface="Arial" panose="020B0604020202020204" pitchFamily="34" charset="0"/>
                <a:cs typeface="Arial" panose="020B0604020202020204" pitchFamily="34" charset="0"/>
              </a:rPr>
              <a:t> - The most common type of ACL. </a:t>
            </a:r>
          </a:p>
          <a:p>
            <a:pPr marL="742950" lvl="1" indent="-285750">
              <a:buFont typeface="Arial" panose="020B0604020202020204" pitchFamily="34" charset="0"/>
              <a:buChar char="•"/>
            </a:pPr>
            <a:r>
              <a:rPr lang="en-US" sz="1500" b="1" dirty="0">
                <a:latin typeface="Arial" panose="020B0604020202020204" pitchFamily="34" charset="0"/>
                <a:cs typeface="Arial" panose="020B0604020202020204" pitchFamily="34" charset="0"/>
              </a:rPr>
              <a:t>Standard access list</a:t>
            </a:r>
            <a:r>
              <a:rPr lang="en-US" sz="1500" dirty="0">
                <a:latin typeface="Arial" panose="020B0604020202020204" pitchFamily="34" charset="0"/>
                <a:cs typeface="Arial" panose="020B0604020202020204" pitchFamily="34" charset="0"/>
              </a:rPr>
              <a:t> - Unlike IOS where a standard ACL identifies the source host/network, </a:t>
            </a:r>
            <a:r>
              <a:rPr lang="en-US" sz="1500" u="sng" dirty="0">
                <a:latin typeface="Arial" panose="020B0604020202020204" pitchFamily="34" charset="0"/>
                <a:cs typeface="Arial" panose="020B0604020202020204" pitchFamily="34" charset="0"/>
              </a:rPr>
              <a:t>ASA standard ACLs are used to identify the destination IP addresses</a:t>
            </a:r>
            <a:r>
              <a:rPr lang="en-US" sz="1500" dirty="0">
                <a:latin typeface="Arial" panose="020B0604020202020204" pitchFamily="34" charset="0"/>
                <a:cs typeface="Arial" panose="020B0604020202020204" pitchFamily="34" charset="0"/>
              </a:rPr>
              <a:t>. Standard access lists </a:t>
            </a:r>
            <a:r>
              <a:rPr lang="en-US" sz="1500" u="sng" dirty="0">
                <a:latin typeface="Arial" panose="020B0604020202020204" pitchFamily="34" charset="0"/>
                <a:cs typeface="Arial" panose="020B0604020202020204" pitchFamily="34" charset="0"/>
              </a:rPr>
              <a:t>cannot be applied to interfaces to control traffic</a:t>
            </a:r>
            <a:r>
              <a:rPr lang="en-US" sz="1500"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1500" b="1" dirty="0">
                <a:latin typeface="Arial" panose="020B0604020202020204" pitchFamily="34" charset="0"/>
                <a:cs typeface="Arial" panose="020B0604020202020204" pitchFamily="34" charset="0"/>
              </a:rPr>
              <a:t>EtherType access list</a:t>
            </a:r>
            <a:r>
              <a:rPr lang="en-US" sz="1500" dirty="0">
                <a:latin typeface="Arial" panose="020B0604020202020204" pitchFamily="34" charset="0"/>
                <a:cs typeface="Arial" panose="020B0604020202020204" pitchFamily="34" charset="0"/>
              </a:rPr>
              <a:t> - An EtherType ACL can be configured only if the security appliance is running in transparent mode.</a:t>
            </a:r>
          </a:p>
          <a:p>
            <a:pPr marL="742950" lvl="1" indent="-285750">
              <a:buFont typeface="Arial" panose="020B0604020202020204" pitchFamily="34" charset="0"/>
              <a:buChar char="•"/>
            </a:pPr>
            <a:r>
              <a:rPr lang="en-US" sz="1500" b="1" dirty="0">
                <a:latin typeface="Arial" panose="020B0604020202020204" pitchFamily="34" charset="0"/>
                <a:cs typeface="Arial" panose="020B0604020202020204" pitchFamily="34" charset="0"/>
              </a:rPr>
              <a:t>Webtype access list</a:t>
            </a:r>
            <a:r>
              <a:rPr lang="en-US" sz="1500" dirty="0">
                <a:latin typeface="Arial" panose="020B0604020202020204" pitchFamily="34" charset="0"/>
                <a:cs typeface="Arial" panose="020B0604020202020204" pitchFamily="34" charset="0"/>
              </a:rPr>
              <a:t> - Used for filtering for clientless SSL VPN traffic. These ACLs can deny access based on URLs or destination addresses.</a:t>
            </a:r>
          </a:p>
          <a:p>
            <a:pPr marL="742950" lvl="1" indent="-285750">
              <a:buFont typeface="Arial" panose="020B0604020202020204" pitchFamily="34" charset="0"/>
              <a:buChar char="•"/>
            </a:pPr>
            <a:r>
              <a:rPr lang="en-US" sz="1500" b="1" dirty="0">
                <a:latin typeface="Arial" panose="020B0604020202020204" pitchFamily="34" charset="0"/>
                <a:cs typeface="Arial" panose="020B0604020202020204" pitchFamily="34" charset="0"/>
              </a:rPr>
              <a:t>IPv6 access list</a:t>
            </a:r>
            <a:r>
              <a:rPr lang="en-US" sz="1500" dirty="0">
                <a:latin typeface="Arial" panose="020B0604020202020204" pitchFamily="34" charset="0"/>
                <a:cs typeface="Arial" panose="020B0604020202020204" pitchFamily="34" charset="0"/>
              </a:rPr>
              <a:t> - Used to determine which IPv6 traffic to block and which traffic to forward at router interfaces.</a:t>
            </a:r>
          </a:p>
          <a:p>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Use the </a:t>
            </a:r>
            <a:r>
              <a:rPr lang="en-US" sz="1500" b="1" dirty="0">
                <a:latin typeface="Arial" panose="020B0604020202020204" pitchFamily="34" charset="0"/>
                <a:cs typeface="Arial" panose="020B0604020202020204" pitchFamily="34" charset="0"/>
              </a:rPr>
              <a:t>help access-list</a:t>
            </a:r>
            <a:r>
              <a:rPr lang="en-US" sz="1500" dirty="0">
                <a:latin typeface="Arial" panose="020B0604020202020204" pitchFamily="34" charset="0"/>
                <a:cs typeface="Arial" panose="020B0604020202020204" pitchFamily="34" charset="0"/>
              </a:rPr>
              <a:t> privileged EXEC command to display the syntax for all of the ACLs supported on an ASA platform.</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62</a:t>
            </a:fld>
            <a:endParaRPr lang="en-US" dirty="0"/>
          </a:p>
        </p:txBody>
      </p:sp>
    </p:spTree>
    <p:extLst>
      <p:ext uri="{BB962C8B-B14F-4D97-AF65-F5344CB8AC3E}">
        <p14:creationId xmlns:p14="http://schemas.microsoft.com/office/powerpoint/2010/main" val="8035349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ASA ACLs (Cont.)</a:t>
            </a:r>
          </a:p>
        </p:txBody>
      </p:sp>
      <p:sp>
        <p:nvSpPr>
          <p:cNvPr id="4" name="TextBox 3">
            <a:extLst>
              <a:ext uri="{FF2B5EF4-FFF2-40B4-BE49-F238E27FC236}">
                <a16:creationId xmlns:a16="http://schemas.microsoft.com/office/drawing/2014/main" id="{77C9E9C7-E3E5-48C9-A5EA-3AECB8313B66}"/>
              </a:ext>
            </a:extLst>
          </p:cNvPr>
          <p:cNvSpPr txBox="1"/>
          <p:nvPr/>
        </p:nvSpPr>
        <p:spPr>
          <a:xfrm>
            <a:off x="0" y="858423"/>
            <a:ext cx="778343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The table provides examples of the uses of extended ACLs.</a:t>
            </a:r>
          </a:p>
        </p:txBody>
      </p:sp>
      <p:graphicFrame>
        <p:nvGraphicFramePr>
          <p:cNvPr id="9" name="Table 8">
            <a:extLst>
              <a:ext uri="{FF2B5EF4-FFF2-40B4-BE49-F238E27FC236}">
                <a16:creationId xmlns:a16="http://schemas.microsoft.com/office/drawing/2014/main" id="{C7879BED-25DB-4A5E-9D45-FC29CE79FE89}"/>
              </a:ext>
            </a:extLst>
          </p:cNvPr>
          <p:cNvGraphicFramePr>
            <a:graphicFrameLocks noGrp="1"/>
          </p:cNvGraphicFramePr>
          <p:nvPr>
            <p:extLst>
              <p:ext uri="{D42A27DB-BD31-4B8C-83A1-F6EECF244321}">
                <p14:modId xmlns:p14="http://schemas.microsoft.com/office/powerpoint/2010/main" val="1512303355"/>
              </p:ext>
            </p:extLst>
          </p:nvPr>
        </p:nvGraphicFramePr>
        <p:xfrm>
          <a:off x="91440" y="1371600"/>
          <a:ext cx="8961120" cy="2286000"/>
        </p:xfrm>
        <a:graphic>
          <a:graphicData uri="http://schemas.openxmlformats.org/drawingml/2006/table">
            <a:tbl>
              <a:tblPr/>
              <a:tblGrid>
                <a:gridCol w="3381225">
                  <a:extLst>
                    <a:ext uri="{9D8B030D-6E8A-4147-A177-3AD203B41FA5}">
                      <a16:colId xmlns:a16="http://schemas.microsoft.com/office/drawing/2014/main" val="20000"/>
                    </a:ext>
                  </a:extLst>
                </a:gridCol>
                <a:gridCol w="5579895">
                  <a:extLst>
                    <a:ext uri="{9D8B030D-6E8A-4147-A177-3AD203B41FA5}">
                      <a16:colId xmlns:a16="http://schemas.microsoft.com/office/drawing/2014/main" val="20001"/>
                    </a:ext>
                  </a:extLst>
                </a:gridCol>
              </a:tblGrid>
              <a:tr h="0">
                <a:tc>
                  <a:txBody>
                    <a:bodyPr/>
                    <a:lstStyle/>
                    <a:p>
                      <a:r>
                        <a:rPr lang="en-US" sz="1200" dirty="0">
                          <a:solidFill>
                            <a:srgbClr val="FFFFFF"/>
                          </a:solidFill>
                        </a:rPr>
                        <a:t>ACL Use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Control network access for IP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ASA does not allow any traffic from a lower security interface to a higher security interface unless it is explicitly permitted by an extended access list.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Identify traffic for AAA rules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AAA rules use access lists to identify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Identify addresses for NAT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Policy NAT lets you identify local traffic for address translation by specifying the source and destination addresses in an extended access list.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Establish VPN access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Extended access list can be used in VPN commands.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Identify traffic for Modular Policy Framework (MPF)</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Access lists can be used to identify traffic in a class map, which is used for features that support MPF.</a:t>
                      </a:r>
                      <a:endParaRPr lang="en-US" sz="1200" dirty="0"/>
                    </a:p>
                    <a:p>
                      <a:pPr marL="171450" indent="-171450">
                        <a:buFont typeface="Arial" panose="020B0604020202020204" pitchFamily="34" charset="0"/>
                        <a:buChar char="•"/>
                      </a:pPr>
                      <a:r>
                        <a:rPr lang="en-US" sz="1200" dirty="0">
                          <a:solidFill>
                            <a:srgbClr val="58585B"/>
                          </a:solidFill>
                        </a:rPr>
                        <a:t>Features that support MPF include TCP, general connection settings, and inspection.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63</a:t>
            </a:fld>
            <a:endParaRPr lang="en-US" dirty="0"/>
          </a:p>
        </p:txBody>
      </p:sp>
    </p:spTree>
    <p:extLst>
      <p:ext uri="{BB962C8B-B14F-4D97-AF65-F5344CB8AC3E}">
        <p14:creationId xmlns:p14="http://schemas.microsoft.com/office/powerpoint/2010/main" val="861386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ASA ACLs (Cont.)</a:t>
            </a:r>
          </a:p>
        </p:txBody>
      </p:sp>
      <p:sp>
        <p:nvSpPr>
          <p:cNvPr id="4" name="TextBox 3">
            <a:extLst>
              <a:ext uri="{FF2B5EF4-FFF2-40B4-BE49-F238E27FC236}">
                <a16:creationId xmlns:a16="http://schemas.microsoft.com/office/drawing/2014/main" id="{77C9E9C7-E3E5-48C9-A5EA-3AECB8313B66}"/>
              </a:ext>
            </a:extLst>
          </p:cNvPr>
          <p:cNvSpPr txBox="1"/>
          <p:nvPr/>
        </p:nvSpPr>
        <p:spPr>
          <a:xfrm>
            <a:off x="91440" y="1087821"/>
            <a:ext cx="7783436"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The table provides examples of uses of </a:t>
            </a:r>
            <a:r>
              <a:rPr lang="en-US" sz="1600" b="1" dirty="0">
                <a:latin typeface="Arial" panose="020B0604020202020204" pitchFamily="34" charset="0"/>
                <a:cs typeface="Arial" panose="020B0604020202020204" pitchFamily="34" charset="0"/>
              </a:rPr>
              <a:t>standard ACLs</a:t>
            </a:r>
            <a:r>
              <a:rPr lang="en-US" sz="1600" dirty="0">
                <a:latin typeface="Arial" panose="020B0604020202020204" pitchFamily="34" charset="0"/>
                <a:cs typeface="Arial" panose="020B0604020202020204" pitchFamily="34" charset="0"/>
              </a:rPr>
              <a:t>.</a:t>
            </a:r>
          </a:p>
        </p:txBody>
      </p:sp>
      <p:graphicFrame>
        <p:nvGraphicFramePr>
          <p:cNvPr id="75" name="Table 74"/>
          <p:cNvGraphicFramePr>
            <a:graphicFrameLocks noGrp="1"/>
          </p:cNvGraphicFramePr>
          <p:nvPr>
            <p:extLst>
              <p:ext uri="{D42A27DB-BD31-4B8C-83A1-F6EECF244321}">
                <p14:modId xmlns:p14="http://schemas.microsoft.com/office/powerpoint/2010/main" val="1798294288"/>
              </p:ext>
            </p:extLst>
          </p:nvPr>
        </p:nvGraphicFramePr>
        <p:xfrm>
          <a:off x="66665" y="1513198"/>
          <a:ext cx="8961120" cy="114300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ACL Use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Identify OSPF destination network in route maps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Standard access lists include only the destination address.</a:t>
                      </a:r>
                      <a:endParaRPr lang="en-US" sz="1200" dirty="0"/>
                    </a:p>
                    <a:p>
                      <a:r>
                        <a:rPr lang="en-US" sz="1200" dirty="0">
                          <a:solidFill>
                            <a:srgbClr val="58585B"/>
                          </a:solidFill>
                        </a:rPr>
                        <a:t> It can be used to control the redistribution of OSPF routes.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VPN filters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Filter traffic for LAN-to-LAN (L2L), Cisco VPN Client, and the Cisco AnyConnect Secure Mobility Client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1" name="TextBox 10">
            <a:extLst>
              <a:ext uri="{FF2B5EF4-FFF2-40B4-BE49-F238E27FC236}">
                <a16:creationId xmlns:a16="http://schemas.microsoft.com/office/drawing/2014/main" id="{A5390442-23D7-4713-9082-3100DB24D3AE}"/>
              </a:ext>
            </a:extLst>
          </p:cNvPr>
          <p:cNvSpPr txBox="1"/>
          <p:nvPr/>
        </p:nvSpPr>
        <p:spPr>
          <a:xfrm>
            <a:off x="91440" y="2796010"/>
            <a:ext cx="6310148" cy="369332"/>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table provides examples of uses of </a:t>
            </a:r>
            <a:r>
              <a:rPr lang="en-US" sz="1600" b="1" dirty="0">
                <a:latin typeface="Arial" panose="020B0604020202020204" pitchFamily="34" charset="0"/>
                <a:cs typeface="Arial" panose="020B0604020202020204" pitchFamily="34" charset="0"/>
              </a:rPr>
              <a:t>IPv6 ACLs</a:t>
            </a:r>
            <a:r>
              <a:rPr lang="en-US" sz="1800" dirty="0">
                <a:latin typeface="Arial" panose="020B0604020202020204" pitchFamily="34" charset="0"/>
                <a:cs typeface="Arial" panose="020B0604020202020204" pitchFamily="34" charset="0"/>
              </a:rPr>
              <a:t>.</a:t>
            </a:r>
          </a:p>
        </p:txBody>
      </p:sp>
      <p:pic>
        <p:nvPicPr>
          <p:cNvPr id="5" name="Picture 4">
            <a:extLst>
              <a:ext uri="{FF2B5EF4-FFF2-40B4-BE49-F238E27FC236}">
                <a16:creationId xmlns:a16="http://schemas.microsoft.com/office/drawing/2014/main" id="{57B3C559-0C5B-4B00-9DA8-4D75757BCEC0}"/>
              </a:ext>
            </a:extLst>
          </p:cNvPr>
          <p:cNvPicPr>
            <a:picLocks noChangeAspect="1"/>
          </p:cNvPicPr>
          <p:nvPr/>
        </p:nvPicPr>
        <p:blipFill>
          <a:blip r:embed="rId3"/>
          <a:stretch>
            <a:fillRect/>
          </a:stretch>
        </p:blipFill>
        <p:spPr>
          <a:xfrm>
            <a:off x="41891" y="3241685"/>
            <a:ext cx="9010669" cy="95715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64</a:t>
            </a:fld>
            <a:endParaRPr lang="en-US" dirty="0"/>
          </a:p>
        </p:txBody>
      </p:sp>
    </p:spTree>
    <p:extLst>
      <p:ext uri="{BB962C8B-B14F-4D97-AF65-F5344CB8AC3E}">
        <p14:creationId xmlns:p14="http://schemas.microsoft.com/office/powerpoint/2010/main" val="10532860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Syntax for Configuring an ASA ACL</a:t>
            </a:r>
          </a:p>
        </p:txBody>
      </p:sp>
      <p:sp>
        <p:nvSpPr>
          <p:cNvPr id="7" name="TextBox 6">
            <a:extLst>
              <a:ext uri="{FF2B5EF4-FFF2-40B4-BE49-F238E27FC236}">
                <a16:creationId xmlns:a16="http://schemas.microsoft.com/office/drawing/2014/main" id="{26D672E1-1971-4EED-95DB-0AA2B0AA9269}"/>
              </a:ext>
            </a:extLst>
          </p:cNvPr>
          <p:cNvSpPr txBox="1"/>
          <p:nvPr/>
        </p:nvSpPr>
        <p:spPr>
          <a:xfrm>
            <a:off x="64063" y="1048256"/>
            <a:ext cx="2559294" cy="304698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IOS and ASA ACLs have similar elements, but some options vary with the ASA.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There are many options that can be used with ACLs. However, for most needs, a more useful and condensed version of the syntax is shown in the figure.</a:t>
            </a:r>
          </a:p>
        </p:txBody>
      </p:sp>
      <p:pic>
        <p:nvPicPr>
          <p:cNvPr id="5" name="Picture 4">
            <a:extLst>
              <a:ext uri="{FF2B5EF4-FFF2-40B4-BE49-F238E27FC236}">
                <a16:creationId xmlns:a16="http://schemas.microsoft.com/office/drawing/2014/main" id="{06848DA5-1F32-4613-9D6A-044B03A6FD4B}"/>
              </a:ext>
            </a:extLst>
          </p:cNvPr>
          <p:cNvPicPr>
            <a:picLocks noChangeAspect="1"/>
          </p:cNvPicPr>
          <p:nvPr/>
        </p:nvPicPr>
        <p:blipFill>
          <a:blip r:embed="rId3"/>
          <a:stretch>
            <a:fillRect/>
          </a:stretch>
        </p:blipFill>
        <p:spPr>
          <a:xfrm>
            <a:off x="2694878" y="798012"/>
            <a:ext cx="6220522" cy="384208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65</a:t>
            </a:fld>
            <a:endParaRPr lang="en-US" dirty="0"/>
          </a:p>
        </p:txBody>
      </p:sp>
      <p:sp>
        <p:nvSpPr>
          <p:cNvPr id="4" name="BlokTextu 3">
            <a:extLst>
              <a:ext uri="{FF2B5EF4-FFF2-40B4-BE49-F238E27FC236}">
                <a16:creationId xmlns:a16="http://schemas.microsoft.com/office/drawing/2014/main" id="{D8163F8D-6A6D-C838-7905-7E09136C304E}"/>
              </a:ext>
            </a:extLst>
          </p:cNvPr>
          <p:cNvSpPr txBox="1"/>
          <p:nvPr/>
        </p:nvSpPr>
        <p:spPr>
          <a:xfrm>
            <a:off x="1680962" y="4640100"/>
            <a:ext cx="4349973" cy="369332"/>
          </a:xfrm>
          <a:prstGeom prst="rect">
            <a:avLst/>
          </a:prstGeom>
          <a:noFill/>
        </p:spPr>
        <p:txBody>
          <a:bodyPr wrap="none" rtlCol="0">
            <a:spAutoFit/>
          </a:bodyPr>
          <a:lstStyle/>
          <a:p>
            <a:r>
              <a:rPr lang="sk-SK" dirty="0">
                <a:highlight>
                  <a:srgbClr val="FFFF00"/>
                </a:highlight>
              </a:rPr>
              <a:t>ACL používa sieťovú masku – nie </a:t>
            </a:r>
            <a:r>
              <a:rPr lang="sk-SK" dirty="0" err="1">
                <a:highlight>
                  <a:srgbClr val="FFFF00"/>
                </a:highlight>
              </a:rPr>
              <a:t>wildcard</a:t>
            </a:r>
            <a:r>
              <a:rPr lang="sk-SK" dirty="0">
                <a:highlight>
                  <a:srgbClr val="FFFF00"/>
                </a:highlight>
              </a:rPr>
              <a:t> !!!</a:t>
            </a:r>
          </a:p>
        </p:txBody>
      </p:sp>
    </p:spTree>
    <p:extLst>
      <p:ext uri="{BB962C8B-B14F-4D97-AF65-F5344CB8AC3E}">
        <p14:creationId xmlns:p14="http://schemas.microsoft.com/office/powerpoint/2010/main" val="2625350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Syntax for Configuring an ASA ACL (Cont.)</a:t>
            </a:r>
          </a:p>
        </p:txBody>
      </p:sp>
      <p:sp>
        <p:nvSpPr>
          <p:cNvPr id="7" name="TextBox 6">
            <a:extLst>
              <a:ext uri="{FF2B5EF4-FFF2-40B4-BE49-F238E27FC236}">
                <a16:creationId xmlns:a16="http://schemas.microsoft.com/office/drawing/2014/main" id="{26D672E1-1971-4EED-95DB-0AA2B0AA9269}"/>
              </a:ext>
            </a:extLst>
          </p:cNvPr>
          <p:cNvSpPr txBox="1"/>
          <p:nvPr/>
        </p:nvSpPr>
        <p:spPr>
          <a:xfrm>
            <a:off x="91439" y="731520"/>
            <a:ext cx="8689953" cy="33855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table describes elements of an ASA ACL.</a:t>
            </a:r>
          </a:p>
        </p:txBody>
      </p:sp>
      <p:graphicFrame>
        <p:nvGraphicFramePr>
          <p:cNvPr id="39" name="Table 38"/>
          <p:cNvGraphicFramePr>
            <a:graphicFrameLocks noGrp="1"/>
          </p:cNvGraphicFramePr>
          <p:nvPr>
            <p:extLst>
              <p:ext uri="{D42A27DB-BD31-4B8C-83A1-F6EECF244321}">
                <p14:modId xmlns:p14="http://schemas.microsoft.com/office/powerpoint/2010/main" val="3367667975"/>
              </p:ext>
            </p:extLst>
          </p:nvPr>
        </p:nvGraphicFramePr>
        <p:xfrm>
          <a:off x="182878" y="1284890"/>
          <a:ext cx="8689953" cy="3535680"/>
        </p:xfrm>
        <a:graphic>
          <a:graphicData uri="http://schemas.openxmlformats.org/drawingml/2006/table">
            <a:tbl>
              <a:tblPr/>
              <a:tblGrid>
                <a:gridCol w="1817604">
                  <a:extLst>
                    <a:ext uri="{9D8B030D-6E8A-4147-A177-3AD203B41FA5}">
                      <a16:colId xmlns:a16="http://schemas.microsoft.com/office/drawing/2014/main" val="20000"/>
                    </a:ext>
                  </a:extLst>
                </a:gridCol>
                <a:gridCol w="6872349">
                  <a:extLst>
                    <a:ext uri="{9D8B030D-6E8A-4147-A177-3AD203B41FA5}">
                      <a16:colId xmlns:a16="http://schemas.microsoft.com/office/drawing/2014/main" val="20001"/>
                    </a:ext>
                  </a:extLst>
                </a:gridCol>
              </a:tblGrid>
              <a:tr h="0">
                <a:tc>
                  <a:txBody>
                    <a:bodyPr/>
                    <a:lstStyle/>
                    <a:p>
                      <a:r>
                        <a:rPr lang="en-US" sz="1200" dirty="0">
                          <a:solidFill>
                            <a:srgbClr val="FFFFFF"/>
                          </a:solidFill>
                        </a:rPr>
                        <a:t>Element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000" b="0" dirty="0">
                          <a:latin typeface="Arial" panose="020B0604020202020204" pitchFamily="34" charset="0"/>
                          <a:cs typeface="Arial" panose="020B0604020202020204" pitchFamily="34" charset="0"/>
                        </a:rPr>
                        <a:t>ACL id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000" dirty="0">
                          <a:latin typeface="Arial" panose="020B0604020202020204" pitchFamily="34" charset="0"/>
                          <a:cs typeface="Arial" panose="020B0604020202020204" pitchFamily="34" charset="0"/>
                        </a:rPr>
                        <a:t>The name of the ACL.</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86720615"/>
                  </a:ext>
                </a:extLst>
              </a:tr>
              <a:tr h="0">
                <a:tc>
                  <a:txBody>
                    <a:bodyPr/>
                    <a:lstStyle/>
                    <a:p>
                      <a:r>
                        <a:rPr lang="en-US" sz="1000" dirty="0">
                          <a:solidFill>
                            <a:srgbClr val="58585B"/>
                          </a:solidFill>
                          <a:latin typeface="Arial" panose="020B0604020202020204" pitchFamily="34" charset="0"/>
                          <a:cs typeface="Arial" panose="020B0604020202020204" pitchFamily="34" charset="0"/>
                        </a:rPr>
                        <a:t>Action</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000" dirty="0">
                          <a:solidFill>
                            <a:srgbClr val="58585B"/>
                          </a:solidFill>
                          <a:latin typeface="Arial" panose="020B0604020202020204" pitchFamily="34" charset="0"/>
                          <a:cs typeface="Arial" panose="020B0604020202020204" pitchFamily="34" charset="0"/>
                        </a:rPr>
                        <a:t>Can be </a:t>
                      </a:r>
                      <a:r>
                        <a:rPr lang="en-US" sz="1000" b="1" dirty="0">
                          <a:solidFill>
                            <a:srgbClr val="58585B"/>
                          </a:solidFill>
                          <a:latin typeface="Arial" panose="020B0604020202020204" pitchFamily="34" charset="0"/>
                          <a:cs typeface="Arial" panose="020B0604020202020204" pitchFamily="34" charset="0"/>
                        </a:rPr>
                        <a:t>permit</a:t>
                      </a:r>
                      <a:r>
                        <a:rPr lang="en-US" sz="1000" dirty="0">
                          <a:solidFill>
                            <a:srgbClr val="58585B"/>
                          </a:solidFill>
                          <a:latin typeface="Arial" panose="020B0604020202020204" pitchFamily="34" charset="0"/>
                          <a:cs typeface="Arial" panose="020B0604020202020204" pitchFamily="34" charset="0"/>
                        </a:rPr>
                        <a:t> or </a:t>
                      </a:r>
                      <a:r>
                        <a:rPr lang="en-US" sz="1000" b="1" dirty="0">
                          <a:solidFill>
                            <a:srgbClr val="58585B"/>
                          </a:solidFill>
                          <a:latin typeface="Arial" panose="020B0604020202020204" pitchFamily="34" charset="0"/>
                          <a:cs typeface="Arial" panose="020B0604020202020204" pitchFamily="34" charset="0"/>
                        </a:rPr>
                        <a:t>deny</a:t>
                      </a:r>
                      <a:r>
                        <a:rPr lang="en-US" sz="1000" dirty="0">
                          <a:solidFill>
                            <a:srgbClr val="58585B"/>
                          </a:solidFill>
                          <a:latin typeface="Arial" panose="020B0604020202020204" pitchFamily="34" charset="0"/>
                          <a:cs typeface="Arial" panose="020B0604020202020204" pitchFamily="34" charset="0"/>
                        </a:rPr>
                        <a:t>.</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000" dirty="0">
                          <a:solidFill>
                            <a:srgbClr val="58585B"/>
                          </a:solidFill>
                          <a:latin typeface="Arial" panose="020B0604020202020204" pitchFamily="34" charset="0"/>
                          <a:cs typeface="Arial" panose="020B0604020202020204" pitchFamily="34" charset="0"/>
                        </a:rPr>
                        <a:t>Protocol number - Source</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000" dirty="0">
                          <a:solidFill>
                            <a:srgbClr val="58585B"/>
                          </a:solidFill>
                          <a:latin typeface="Arial" panose="020B0604020202020204" pitchFamily="34" charset="0"/>
                          <a:cs typeface="Arial" panose="020B0604020202020204" pitchFamily="34" charset="0"/>
                        </a:rPr>
                        <a:t>Can be IP for all traffic, or the name / IP protocol number (0-250) including icmp ( 1), tcp ( 6), udp ( 17), or a protocol object-group.</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000" dirty="0">
                          <a:solidFill>
                            <a:srgbClr val="58585B"/>
                          </a:solidFill>
                          <a:latin typeface="Arial" panose="020B0604020202020204" pitchFamily="34" charset="0"/>
                          <a:cs typeface="Arial" panose="020B0604020202020204" pitchFamily="34" charset="0"/>
                        </a:rPr>
                        <a:t>Source</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000" dirty="0">
                          <a:solidFill>
                            <a:srgbClr val="58585B"/>
                          </a:solidFill>
                          <a:latin typeface="Arial" panose="020B0604020202020204" pitchFamily="34" charset="0"/>
                          <a:cs typeface="Arial" panose="020B0604020202020204" pitchFamily="34" charset="0"/>
                        </a:rPr>
                        <a:t>Identifies the source and can be </a:t>
                      </a:r>
                      <a:r>
                        <a:rPr lang="en-US" sz="1000" b="1" dirty="0">
                          <a:solidFill>
                            <a:srgbClr val="58585B"/>
                          </a:solidFill>
                          <a:latin typeface="Arial" panose="020B0604020202020204" pitchFamily="34" charset="0"/>
                          <a:cs typeface="Arial" panose="020B0604020202020204" pitchFamily="34" charset="0"/>
                        </a:rPr>
                        <a:t>any</a:t>
                      </a:r>
                      <a:r>
                        <a:rPr lang="en-US" sz="1000" dirty="0">
                          <a:solidFill>
                            <a:srgbClr val="58585B"/>
                          </a:solidFill>
                          <a:latin typeface="Arial" panose="020B0604020202020204" pitchFamily="34" charset="0"/>
                          <a:cs typeface="Arial" panose="020B0604020202020204" pitchFamily="34" charset="0"/>
                        </a:rPr>
                        <a:t>, a host, a network, or a network object group.</a:t>
                      </a:r>
                      <a:endParaRPr lang="en-US"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000" dirty="0">
                          <a:solidFill>
                            <a:srgbClr val="58585B"/>
                          </a:solidFill>
                          <a:latin typeface="Arial" panose="020B0604020202020204" pitchFamily="34" charset="0"/>
                          <a:cs typeface="Arial" panose="020B0604020202020204" pitchFamily="34" charset="0"/>
                        </a:rPr>
                        <a:t>For to-the-box-traffic filtering, the interface keyword is used to specify the source interface of the ASA.</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000" dirty="0">
                          <a:solidFill>
                            <a:srgbClr val="58585B"/>
                          </a:solidFill>
                          <a:latin typeface="Arial" panose="020B0604020202020204" pitchFamily="34" charset="0"/>
                          <a:cs typeface="Arial" panose="020B0604020202020204" pitchFamily="34" charset="0"/>
                        </a:rPr>
                        <a:t>Source port operator</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000" dirty="0">
                          <a:solidFill>
                            <a:srgbClr val="58585B"/>
                          </a:solidFill>
                          <a:latin typeface="Arial" panose="020B0604020202020204" pitchFamily="34" charset="0"/>
                          <a:cs typeface="Arial" panose="020B0604020202020204" pitchFamily="34" charset="0"/>
                        </a:rPr>
                        <a:t>(Optional) Operand is used in conjunction with the source port.</a:t>
                      </a:r>
                      <a:endParaRPr lang="en-US"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000" dirty="0">
                          <a:solidFill>
                            <a:srgbClr val="58585B"/>
                          </a:solidFill>
                          <a:latin typeface="Arial" panose="020B0604020202020204" pitchFamily="34" charset="0"/>
                          <a:cs typeface="Arial" panose="020B0604020202020204" pitchFamily="34" charset="0"/>
                        </a:rPr>
                        <a:t>Valid operands include </a:t>
                      </a:r>
                      <a:r>
                        <a:rPr lang="en-US" sz="1000" b="1" dirty="0">
                          <a:solidFill>
                            <a:srgbClr val="58585B"/>
                          </a:solidFill>
                          <a:latin typeface="Arial" panose="020B0604020202020204" pitchFamily="34" charset="0"/>
                          <a:cs typeface="Arial" panose="020B0604020202020204" pitchFamily="34" charset="0"/>
                        </a:rPr>
                        <a:t>lt</a:t>
                      </a:r>
                      <a:r>
                        <a:rPr lang="en-US" sz="1000" dirty="0">
                          <a:solidFill>
                            <a:srgbClr val="58585B"/>
                          </a:solidFill>
                          <a:latin typeface="Arial" panose="020B0604020202020204" pitchFamily="34" charset="0"/>
                          <a:cs typeface="Arial" panose="020B0604020202020204" pitchFamily="34" charset="0"/>
                        </a:rPr>
                        <a:t> (less than), </a:t>
                      </a:r>
                      <a:r>
                        <a:rPr lang="en-US" sz="1000" b="1" dirty="0">
                          <a:solidFill>
                            <a:srgbClr val="58585B"/>
                          </a:solidFill>
                          <a:latin typeface="Arial" panose="020B0604020202020204" pitchFamily="34" charset="0"/>
                          <a:cs typeface="Arial" panose="020B0604020202020204" pitchFamily="34" charset="0"/>
                        </a:rPr>
                        <a:t>gt </a:t>
                      </a:r>
                      <a:r>
                        <a:rPr lang="en-US" sz="1000" dirty="0">
                          <a:solidFill>
                            <a:srgbClr val="58585B"/>
                          </a:solidFill>
                          <a:latin typeface="Arial" panose="020B0604020202020204" pitchFamily="34" charset="0"/>
                          <a:cs typeface="Arial" panose="020B0604020202020204" pitchFamily="34" charset="0"/>
                        </a:rPr>
                        <a:t>(greater than), </a:t>
                      </a:r>
                      <a:r>
                        <a:rPr lang="en-US" sz="1000" b="1" dirty="0">
                          <a:solidFill>
                            <a:srgbClr val="58585B"/>
                          </a:solidFill>
                          <a:latin typeface="Arial" panose="020B0604020202020204" pitchFamily="34" charset="0"/>
                          <a:cs typeface="Arial" panose="020B0604020202020204" pitchFamily="34" charset="0"/>
                        </a:rPr>
                        <a:t>eq</a:t>
                      </a:r>
                      <a:r>
                        <a:rPr lang="en-US" sz="1000" dirty="0">
                          <a:solidFill>
                            <a:srgbClr val="58585B"/>
                          </a:solidFill>
                          <a:latin typeface="Arial" panose="020B0604020202020204" pitchFamily="34" charset="0"/>
                          <a:cs typeface="Arial" panose="020B0604020202020204" pitchFamily="34" charset="0"/>
                        </a:rPr>
                        <a:t> (equal), </a:t>
                      </a:r>
                      <a:r>
                        <a:rPr lang="en-US" sz="1000" b="1" dirty="0">
                          <a:solidFill>
                            <a:srgbClr val="58585B"/>
                          </a:solidFill>
                          <a:latin typeface="Arial" panose="020B0604020202020204" pitchFamily="34" charset="0"/>
                          <a:cs typeface="Arial" panose="020B0604020202020204" pitchFamily="34" charset="0"/>
                        </a:rPr>
                        <a:t>neq</a:t>
                      </a:r>
                      <a:r>
                        <a:rPr lang="en-US" sz="1000" dirty="0">
                          <a:solidFill>
                            <a:srgbClr val="58585B"/>
                          </a:solidFill>
                          <a:latin typeface="Arial" panose="020B0604020202020204" pitchFamily="34" charset="0"/>
                          <a:cs typeface="Arial" panose="020B0604020202020204" pitchFamily="34" charset="0"/>
                        </a:rPr>
                        <a:t> (not equal), and </a:t>
                      </a:r>
                      <a:r>
                        <a:rPr lang="en-US" sz="1000" b="1" dirty="0">
                          <a:solidFill>
                            <a:srgbClr val="58585B"/>
                          </a:solidFill>
                          <a:latin typeface="Arial" panose="020B0604020202020204" pitchFamily="34" charset="0"/>
                          <a:cs typeface="Arial" panose="020B0604020202020204" pitchFamily="34" charset="0"/>
                        </a:rPr>
                        <a:t>range</a:t>
                      </a:r>
                      <a:r>
                        <a:rPr lang="en-US" sz="1000" dirty="0">
                          <a:solidFill>
                            <a:srgbClr val="58585B"/>
                          </a:solidFill>
                          <a:latin typeface="Arial" panose="020B0604020202020204" pitchFamily="34" charset="0"/>
                          <a:cs typeface="Arial" panose="020B0604020202020204" pitchFamily="34" charset="0"/>
                        </a:rPr>
                        <a:t> for an inclusive range.</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000" dirty="0">
                          <a:solidFill>
                            <a:srgbClr val="58585B"/>
                          </a:solidFill>
                          <a:latin typeface="Arial" panose="020B0604020202020204" pitchFamily="34" charset="0"/>
                          <a:cs typeface="Arial" panose="020B0604020202020204" pitchFamily="34" charset="0"/>
                        </a:rPr>
                        <a:t>Source port</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000" dirty="0">
                          <a:solidFill>
                            <a:srgbClr val="58585B"/>
                          </a:solidFill>
                          <a:latin typeface="Arial" panose="020B0604020202020204" pitchFamily="34" charset="0"/>
                          <a:cs typeface="Arial" panose="020B0604020202020204" pitchFamily="34" charset="0"/>
                        </a:rPr>
                        <a:t>(Optional) Can be the actual TCP or UDP port number, select port names, or service object group.</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000" dirty="0">
                          <a:solidFill>
                            <a:srgbClr val="58585B"/>
                          </a:solidFill>
                          <a:latin typeface="Arial" panose="020B0604020202020204" pitchFamily="34" charset="0"/>
                          <a:cs typeface="Arial" panose="020B0604020202020204" pitchFamily="34" charset="0"/>
                        </a:rPr>
                        <a:t>Destination</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000" dirty="0">
                          <a:solidFill>
                            <a:srgbClr val="58585B"/>
                          </a:solidFill>
                          <a:latin typeface="Arial" panose="020B0604020202020204" pitchFamily="34" charset="0"/>
                          <a:cs typeface="Arial" panose="020B0604020202020204" pitchFamily="34" charset="0"/>
                        </a:rPr>
                        <a:t>Identifies the destination and like the source, it can be</a:t>
                      </a:r>
                      <a:r>
                        <a:rPr lang="en-US" sz="1000" b="1" dirty="0">
                          <a:solidFill>
                            <a:srgbClr val="58585B"/>
                          </a:solidFill>
                          <a:latin typeface="Arial" panose="020B0604020202020204" pitchFamily="34" charset="0"/>
                          <a:cs typeface="Arial" panose="020B0604020202020204" pitchFamily="34" charset="0"/>
                        </a:rPr>
                        <a:t> any</a:t>
                      </a:r>
                      <a:r>
                        <a:rPr lang="en-US" sz="1000" dirty="0">
                          <a:solidFill>
                            <a:srgbClr val="58585B"/>
                          </a:solidFill>
                          <a:latin typeface="Arial" panose="020B0604020202020204" pitchFamily="34" charset="0"/>
                          <a:cs typeface="Arial" panose="020B0604020202020204" pitchFamily="34" charset="0"/>
                        </a:rPr>
                        <a:t>, a host, a network, or a network object group. </a:t>
                      </a:r>
                      <a:endParaRPr lang="en-US"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000" dirty="0">
                          <a:solidFill>
                            <a:srgbClr val="58585B"/>
                          </a:solidFill>
                          <a:latin typeface="Arial" panose="020B0604020202020204" pitchFamily="34" charset="0"/>
                          <a:cs typeface="Arial" panose="020B0604020202020204" pitchFamily="34" charset="0"/>
                        </a:rPr>
                        <a:t>For to-the-box-traffic filtering, the interface keyword is used to specify the destination interface of the ASA.</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000" dirty="0">
                          <a:solidFill>
                            <a:srgbClr val="58585B"/>
                          </a:solidFill>
                          <a:latin typeface="Arial" panose="020B0604020202020204" pitchFamily="34" charset="0"/>
                          <a:cs typeface="Arial" panose="020B0604020202020204" pitchFamily="34" charset="0"/>
                        </a:rPr>
                        <a:t>Destination port operator</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000" dirty="0">
                          <a:solidFill>
                            <a:srgbClr val="58585B"/>
                          </a:solidFill>
                          <a:latin typeface="Arial" panose="020B0604020202020204" pitchFamily="34" charset="0"/>
                          <a:cs typeface="Arial" panose="020B0604020202020204" pitchFamily="34" charset="0"/>
                        </a:rPr>
                        <a:t>(Optional) Operand is used in conjunction with the destination port.</a:t>
                      </a:r>
                      <a:endParaRPr lang="en-US"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000" dirty="0">
                          <a:solidFill>
                            <a:srgbClr val="58585B"/>
                          </a:solidFill>
                          <a:latin typeface="Arial" panose="020B0604020202020204" pitchFamily="34" charset="0"/>
                          <a:cs typeface="Arial" panose="020B0604020202020204" pitchFamily="34" charset="0"/>
                        </a:rPr>
                        <a:t> Valid operands are the same as the source port operands.</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000" dirty="0">
                          <a:solidFill>
                            <a:srgbClr val="58585B"/>
                          </a:solidFill>
                          <a:latin typeface="Arial" panose="020B0604020202020204" pitchFamily="34" charset="0"/>
                          <a:cs typeface="Arial" panose="020B0604020202020204" pitchFamily="34" charset="0"/>
                        </a:rPr>
                        <a:t>Destination port</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000" dirty="0">
                          <a:solidFill>
                            <a:srgbClr val="58585B"/>
                          </a:solidFill>
                          <a:latin typeface="Arial" panose="020B0604020202020204" pitchFamily="34" charset="0"/>
                          <a:cs typeface="Arial" panose="020B0604020202020204" pitchFamily="34" charset="0"/>
                        </a:rPr>
                        <a:t>(Optional) Can be the actual TCP or UDP port number, select port names, or service object group.</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r h="0">
                <a:tc>
                  <a:txBody>
                    <a:bodyPr/>
                    <a:lstStyle/>
                    <a:p>
                      <a:r>
                        <a:rPr lang="en-US" sz="1000" dirty="0">
                          <a:solidFill>
                            <a:srgbClr val="58585B"/>
                          </a:solidFill>
                          <a:latin typeface="Arial" panose="020B0604020202020204" pitchFamily="34" charset="0"/>
                          <a:cs typeface="Arial" panose="020B0604020202020204" pitchFamily="34" charset="0"/>
                        </a:rPr>
                        <a:t>Log</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000" dirty="0">
                          <a:solidFill>
                            <a:srgbClr val="58585B"/>
                          </a:solidFill>
                          <a:latin typeface="Arial" panose="020B0604020202020204" pitchFamily="34" charset="0"/>
                          <a:cs typeface="Arial" panose="020B0604020202020204" pitchFamily="34" charset="0"/>
                        </a:rPr>
                        <a:t>Can set elements for syslog including severity level and log interval.</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9"/>
                  </a:ext>
                </a:extLst>
              </a:tr>
              <a:tr h="0">
                <a:tc>
                  <a:txBody>
                    <a:bodyPr/>
                    <a:lstStyle/>
                    <a:p>
                      <a:r>
                        <a:rPr lang="en-US" sz="1000" dirty="0">
                          <a:solidFill>
                            <a:srgbClr val="58585B"/>
                          </a:solidFill>
                          <a:latin typeface="Arial" panose="020B0604020202020204" pitchFamily="34" charset="0"/>
                          <a:cs typeface="Arial" panose="020B0604020202020204" pitchFamily="34" charset="0"/>
                        </a:rPr>
                        <a:t>Time range</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000" dirty="0">
                          <a:solidFill>
                            <a:srgbClr val="58585B"/>
                          </a:solidFill>
                          <a:latin typeface="Arial" panose="020B0604020202020204" pitchFamily="34" charset="0"/>
                          <a:cs typeface="Arial" panose="020B0604020202020204" pitchFamily="34" charset="0"/>
                        </a:rPr>
                        <a:t>(Optional) Specify a time range for the ACE.</a:t>
                      </a:r>
                      <a:endParaRPr lang="en-US" sz="10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0"/>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66</a:t>
            </a:fld>
            <a:endParaRPr lang="en-US" dirty="0"/>
          </a:p>
        </p:txBody>
      </p:sp>
    </p:spTree>
    <p:extLst>
      <p:ext uri="{BB962C8B-B14F-4D97-AF65-F5344CB8AC3E}">
        <p14:creationId xmlns:p14="http://schemas.microsoft.com/office/powerpoint/2010/main" val="6417160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Syntax for Applying an ASA ACL</a:t>
            </a:r>
          </a:p>
        </p:txBody>
      </p:sp>
      <p:sp>
        <p:nvSpPr>
          <p:cNvPr id="7" name="TextBox 6">
            <a:extLst>
              <a:ext uri="{FF2B5EF4-FFF2-40B4-BE49-F238E27FC236}">
                <a16:creationId xmlns:a16="http://schemas.microsoft.com/office/drawing/2014/main" id="{FB76DFE4-5DB4-443B-9263-4CDD4E5FFE92}"/>
              </a:ext>
            </a:extLst>
          </p:cNvPr>
          <p:cNvSpPr txBox="1"/>
          <p:nvPr/>
        </p:nvSpPr>
        <p:spPr>
          <a:xfrm>
            <a:off x="-1" y="801217"/>
            <a:ext cx="9199179"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example displays the command syntax and parameter description for applying the ACL to an interface using the </a:t>
            </a:r>
            <a:r>
              <a:rPr lang="en-US" sz="1600" b="1" dirty="0">
                <a:latin typeface="Arial" panose="020B0604020202020204" pitchFamily="34" charset="0"/>
                <a:cs typeface="Arial" panose="020B0604020202020204" pitchFamily="34" charset="0"/>
              </a:rPr>
              <a:t>access-group</a:t>
            </a:r>
            <a:r>
              <a:rPr lang="en-US" sz="1600" dirty="0">
                <a:latin typeface="Arial" panose="020B0604020202020204" pitchFamily="34" charset="0"/>
                <a:cs typeface="Arial" panose="020B0604020202020204" pitchFamily="34" charset="0"/>
              </a:rPr>
              <a:t> command syntax. To verify ACLs, use the </a:t>
            </a:r>
            <a:r>
              <a:rPr lang="en-US" sz="1600" b="1" dirty="0">
                <a:latin typeface="Arial" panose="020B0604020202020204" pitchFamily="34" charset="0"/>
                <a:cs typeface="Arial" panose="020B0604020202020204" pitchFamily="34" charset="0"/>
              </a:rPr>
              <a:t>show access-list </a:t>
            </a:r>
            <a:r>
              <a:rPr lang="en-US" sz="1600" dirty="0">
                <a:latin typeface="Arial" panose="020B0604020202020204" pitchFamily="34" charset="0"/>
                <a:cs typeface="Arial" panose="020B0604020202020204" pitchFamily="34" charset="0"/>
              </a:rPr>
              <a:t>and </a:t>
            </a:r>
            <a:r>
              <a:rPr lang="en-US" sz="1600" b="1" dirty="0">
                <a:latin typeface="Arial" panose="020B0604020202020204" pitchFamily="34" charset="0"/>
                <a:cs typeface="Arial" panose="020B0604020202020204" pitchFamily="34" charset="0"/>
              </a:rPr>
              <a:t>show running-config access-list </a:t>
            </a:r>
            <a:r>
              <a:rPr lang="en-US" sz="1600" dirty="0">
                <a:latin typeface="Arial" panose="020B0604020202020204" pitchFamily="34" charset="0"/>
                <a:cs typeface="Arial" panose="020B0604020202020204" pitchFamily="34" charset="0"/>
              </a:rPr>
              <a:t>commands. To erase a configured ACL, use the </a:t>
            </a:r>
            <a:r>
              <a:rPr lang="en-US" sz="1600" b="1" dirty="0">
                <a:latin typeface="Arial" panose="020B0604020202020204" pitchFamily="34" charset="0"/>
                <a:cs typeface="Arial" panose="020B0604020202020204" pitchFamily="34" charset="0"/>
              </a:rPr>
              <a:t>clear configure access-list</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id</a:t>
            </a:r>
            <a:r>
              <a:rPr lang="en-US" sz="1600" dirty="0">
                <a:latin typeface="Arial" panose="020B0604020202020204" pitchFamily="34" charset="0"/>
                <a:cs typeface="Arial" panose="020B0604020202020204" pitchFamily="34" charset="0"/>
              </a:rPr>
              <a:t> command.</a:t>
            </a:r>
          </a:p>
        </p:txBody>
      </p:sp>
      <p:graphicFrame>
        <p:nvGraphicFramePr>
          <p:cNvPr id="40" name="Table 39"/>
          <p:cNvGraphicFramePr>
            <a:graphicFrameLocks noGrp="1"/>
          </p:cNvGraphicFramePr>
          <p:nvPr>
            <p:extLst>
              <p:ext uri="{D42A27DB-BD31-4B8C-83A1-F6EECF244321}">
                <p14:modId xmlns:p14="http://schemas.microsoft.com/office/powerpoint/2010/main" val="4097284038"/>
              </p:ext>
            </p:extLst>
          </p:nvPr>
        </p:nvGraphicFramePr>
        <p:xfrm>
          <a:off x="119028" y="2259003"/>
          <a:ext cx="8961120" cy="2331720"/>
        </p:xfrm>
        <a:graphic>
          <a:graphicData uri="http://schemas.openxmlformats.org/drawingml/2006/table">
            <a:tbl>
              <a:tblPr/>
              <a:tblGrid>
                <a:gridCol w="1976900">
                  <a:extLst>
                    <a:ext uri="{9D8B030D-6E8A-4147-A177-3AD203B41FA5}">
                      <a16:colId xmlns:a16="http://schemas.microsoft.com/office/drawing/2014/main" val="20000"/>
                    </a:ext>
                  </a:extLst>
                </a:gridCol>
                <a:gridCol w="6984220">
                  <a:extLst>
                    <a:ext uri="{9D8B030D-6E8A-4147-A177-3AD203B41FA5}">
                      <a16:colId xmlns:a16="http://schemas.microsoft.com/office/drawing/2014/main" val="20001"/>
                    </a:ext>
                  </a:extLst>
                </a:gridCol>
              </a:tblGrid>
              <a:tr h="0">
                <a:tc>
                  <a:txBody>
                    <a:bodyPr/>
                    <a:lstStyle/>
                    <a:p>
                      <a:r>
                        <a:rPr lang="en-US" sz="1200" dirty="0">
                          <a:solidFill>
                            <a:srgbClr val="FFFFFF"/>
                          </a:solidFill>
                        </a:rPr>
                        <a:t>Syntax</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i="0" dirty="0">
                          <a:solidFill>
                            <a:srgbClr val="58585B"/>
                          </a:solidFill>
                          <a:latin typeface="Courier New" panose="02070309020205020404" pitchFamily="49" charset="0"/>
                          <a:cs typeface="Courier New" panose="02070309020205020404" pitchFamily="49" charset="0"/>
                        </a:rPr>
                        <a:t>access-group</a:t>
                      </a:r>
                      <a:endParaRPr lang="en-US" sz="1200" b="1" i="0"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Keyword used to apply an ACL to an interface.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id</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The name of the actual ACL to be applied to an interface.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in</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ACL will filter inbound packets.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out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The ACL will filter outbound packets.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interface</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Keyword to specify the interface to which to apply the ACL.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pPr marL="0" algn="l" defTabSz="914400" rtl="0" eaLnBrk="1" latinLnBrk="0" hangingPunct="1"/>
                      <a:r>
                        <a:rPr lang="en-US" sz="1200" b="1" kern="1200" dirty="0">
                          <a:solidFill>
                            <a:srgbClr val="58585B"/>
                          </a:solidFill>
                          <a:latin typeface="Courier New" panose="02070309020205020404" pitchFamily="49" charset="0"/>
                          <a:ea typeface="+mn-ea"/>
                          <a:cs typeface="Courier New" panose="02070309020205020404" pitchFamily="49" charset="0"/>
                        </a:rPr>
                        <a:t>if_name</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200" b="0" kern="1200" dirty="0">
                          <a:solidFill>
                            <a:srgbClr val="58585B"/>
                          </a:solidFill>
                          <a:latin typeface="+mn-lt"/>
                          <a:ea typeface="+mn-ea"/>
                          <a:cs typeface="+mn-cs"/>
                        </a:rPr>
                        <a:t>The name of the interface to which to apply an ACL.</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per-user-override</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 that allows downloadable ACLs to override the entries on the interface ACL.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control-plane</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Keyword to specify whether the applied ACL analyzes traffic destined to ASA for management purposes.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bl>
          </a:graphicData>
        </a:graphic>
      </p:graphicFrame>
      <p:pic>
        <p:nvPicPr>
          <p:cNvPr id="5" name="Picture 4">
            <a:extLst>
              <a:ext uri="{FF2B5EF4-FFF2-40B4-BE49-F238E27FC236}">
                <a16:creationId xmlns:a16="http://schemas.microsoft.com/office/drawing/2014/main" id="{C8E7B3EC-374E-498F-9BE5-73B417C0EA86}"/>
              </a:ext>
            </a:extLst>
          </p:cNvPr>
          <p:cNvPicPr>
            <a:picLocks noChangeAspect="1"/>
          </p:cNvPicPr>
          <p:nvPr/>
        </p:nvPicPr>
        <p:blipFill>
          <a:blip r:embed="rId3"/>
          <a:stretch>
            <a:fillRect/>
          </a:stretch>
        </p:blipFill>
        <p:spPr>
          <a:xfrm>
            <a:off x="63852" y="1835388"/>
            <a:ext cx="9144000" cy="47595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67</a:t>
            </a:fld>
            <a:endParaRPr lang="en-US" dirty="0"/>
          </a:p>
        </p:txBody>
      </p:sp>
    </p:spTree>
    <p:extLst>
      <p:ext uri="{BB962C8B-B14F-4D97-AF65-F5344CB8AC3E}">
        <p14:creationId xmlns:p14="http://schemas.microsoft.com/office/powerpoint/2010/main" val="24081325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ACL Examples</a:t>
            </a:r>
          </a:p>
        </p:txBody>
      </p:sp>
      <p:sp>
        <p:nvSpPr>
          <p:cNvPr id="9" name="TextBox 8">
            <a:extLst>
              <a:ext uri="{FF2B5EF4-FFF2-40B4-BE49-F238E27FC236}">
                <a16:creationId xmlns:a16="http://schemas.microsoft.com/office/drawing/2014/main" id="{E75F2F6F-B147-43EE-ACDD-A8B872D71E3F}"/>
              </a:ext>
            </a:extLst>
          </p:cNvPr>
          <p:cNvSpPr txBox="1"/>
          <p:nvPr/>
        </p:nvSpPr>
        <p:spPr>
          <a:xfrm>
            <a:off x="72828" y="836868"/>
            <a:ext cx="6619285" cy="923330"/>
          </a:xfrm>
          <a:prstGeom prst="rect">
            <a:avLst/>
          </a:prstGeom>
          <a:noFill/>
        </p:spPr>
        <p:txBody>
          <a:bodyPr wrap="square">
            <a:spAutoFit/>
          </a:bodyPr>
          <a:lstStyle/>
          <a:p>
            <a:r>
              <a:rPr lang="en-US" b="1" dirty="0">
                <a:effectLst/>
              </a:rPr>
              <a:t>Example 1</a:t>
            </a:r>
          </a:p>
          <a:p>
            <a:pPr>
              <a:buFont typeface="Arial" panose="020B0604020202020204" pitchFamily="34" charset="0"/>
              <a:buChar char="•"/>
            </a:pPr>
            <a:r>
              <a:rPr lang="en-US" dirty="0">
                <a:effectLst/>
              </a:rPr>
              <a:t>ACL allows all hosts on the inside network to go through the ASA.</a:t>
            </a:r>
          </a:p>
          <a:p>
            <a:pPr>
              <a:buFont typeface="Arial" panose="020B0604020202020204" pitchFamily="34" charset="0"/>
              <a:buChar char="•"/>
            </a:pPr>
            <a:r>
              <a:rPr lang="en-US" dirty="0">
                <a:effectLst/>
              </a:rPr>
              <a:t>By default, all other traffic is denied unless explicitly permitted.</a:t>
            </a:r>
          </a:p>
        </p:txBody>
      </p:sp>
      <p:pic>
        <p:nvPicPr>
          <p:cNvPr id="10" name="Picture 9">
            <a:extLst>
              <a:ext uri="{FF2B5EF4-FFF2-40B4-BE49-F238E27FC236}">
                <a16:creationId xmlns:a16="http://schemas.microsoft.com/office/drawing/2014/main" id="{0C2CA25B-4B6E-4465-AC0F-C08E1C45C6DE}"/>
              </a:ext>
            </a:extLst>
          </p:cNvPr>
          <p:cNvPicPr>
            <a:picLocks noChangeAspect="1"/>
          </p:cNvPicPr>
          <p:nvPr/>
        </p:nvPicPr>
        <p:blipFill>
          <a:blip r:embed="rId3"/>
          <a:stretch>
            <a:fillRect/>
          </a:stretch>
        </p:blipFill>
        <p:spPr>
          <a:xfrm>
            <a:off x="72828" y="1915775"/>
            <a:ext cx="9144000" cy="737303"/>
          </a:xfrm>
          <a:prstGeom prst="rect">
            <a:avLst/>
          </a:prstGeom>
        </p:spPr>
      </p:pic>
      <p:sp>
        <p:nvSpPr>
          <p:cNvPr id="13" name="TextBox 12">
            <a:extLst>
              <a:ext uri="{FF2B5EF4-FFF2-40B4-BE49-F238E27FC236}">
                <a16:creationId xmlns:a16="http://schemas.microsoft.com/office/drawing/2014/main" id="{56F1F60B-77D3-4AA0-9138-DE211DC7330F}"/>
              </a:ext>
            </a:extLst>
          </p:cNvPr>
          <p:cNvSpPr txBox="1"/>
          <p:nvPr/>
        </p:nvSpPr>
        <p:spPr>
          <a:xfrm>
            <a:off x="72828" y="2653078"/>
            <a:ext cx="8166326" cy="1200329"/>
          </a:xfrm>
          <a:prstGeom prst="rect">
            <a:avLst/>
          </a:prstGeom>
          <a:noFill/>
        </p:spPr>
        <p:txBody>
          <a:bodyPr wrap="square">
            <a:spAutoFit/>
          </a:bodyPr>
          <a:lstStyle/>
          <a:p>
            <a:r>
              <a:rPr lang="en-US" b="1" dirty="0">
                <a:effectLst/>
              </a:rPr>
              <a:t>Example 2</a:t>
            </a:r>
          </a:p>
          <a:p>
            <a:pPr>
              <a:buFont typeface="Arial" panose="020B0604020202020204" pitchFamily="34" charset="0"/>
              <a:buChar char="•"/>
            </a:pPr>
            <a:r>
              <a:rPr lang="en-US" dirty="0">
                <a:effectLst/>
              </a:rPr>
              <a:t>ACL prevents hosts on 192.168.1.0/24 from accessing the 209.165.201.0/27 network.</a:t>
            </a:r>
          </a:p>
          <a:p>
            <a:pPr>
              <a:buFont typeface="Arial" panose="020B0604020202020204" pitchFamily="34" charset="0"/>
              <a:buChar char="•"/>
            </a:pPr>
            <a:r>
              <a:rPr lang="en-US" dirty="0">
                <a:effectLst/>
              </a:rPr>
              <a:t>Internal hosts are permitted access to all other addresses.</a:t>
            </a:r>
          </a:p>
          <a:p>
            <a:pPr>
              <a:buFont typeface="Arial" panose="020B0604020202020204" pitchFamily="34" charset="0"/>
              <a:buChar char="•"/>
            </a:pPr>
            <a:r>
              <a:rPr lang="en-US" dirty="0">
                <a:effectLst/>
              </a:rPr>
              <a:t>All other traffic is implicitly denied.</a:t>
            </a:r>
          </a:p>
        </p:txBody>
      </p:sp>
      <p:pic>
        <p:nvPicPr>
          <p:cNvPr id="14" name="Picture 13">
            <a:extLst>
              <a:ext uri="{FF2B5EF4-FFF2-40B4-BE49-F238E27FC236}">
                <a16:creationId xmlns:a16="http://schemas.microsoft.com/office/drawing/2014/main" id="{235EE5D5-92C8-4B36-BB7F-EDE9A9A5E536}"/>
              </a:ext>
            </a:extLst>
          </p:cNvPr>
          <p:cNvPicPr>
            <a:picLocks noChangeAspect="1"/>
          </p:cNvPicPr>
          <p:nvPr/>
        </p:nvPicPr>
        <p:blipFill>
          <a:blip r:embed="rId4"/>
          <a:stretch>
            <a:fillRect/>
          </a:stretch>
        </p:blipFill>
        <p:spPr>
          <a:xfrm>
            <a:off x="1175332" y="3842637"/>
            <a:ext cx="6938992" cy="90081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68</a:t>
            </a:fld>
            <a:endParaRPr lang="en-US" dirty="0"/>
          </a:p>
        </p:txBody>
      </p:sp>
      <p:sp>
        <p:nvSpPr>
          <p:cNvPr id="4" name="BlokTextu 3">
            <a:extLst>
              <a:ext uri="{FF2B5EF4-FFF2-40B4-BE49-F238E27FC236}">
                <a16:creationId xmlns:a16="http://schemas.microsoft.com/office/drawing/2014/main" id="{FB7424F0-738E-DE35-AA94-B15C41676E7F}"/>
              </a:ext>
            </a:extLst>
          </p:cNvPr>
          <p:cNvSpPr txBox="1"/>
          <p:nvPr/>
        </p:nvSpPr>
        <p:spPr>
          <a:xfrm>
            <a:off x="1680962" y="4640100"/>
            <a:ext cx="4349973" cy="369332"/>
          </a:xfrm>
          <a:prstGeom prst="rect">
            <a:avLst/>
          </a:prstGeom>
          <a:noFill/>
        </p:spPr>
        <p:txBody>
          <a:bodyPr wrap="none" rtlCol="0">
            <a:spAutoFit/>
          </a:bodyPr>
          <a:lstStyle/>
          <a:p>
            <a:r>
              <a:rPr lang="sk-SK" dirty="0">
                <a:highlight>
                  <a:srgbClr val="FFFF00"/>
                </a:highlight>
              </a:rPr>
              <a:t>ACL používa sieťovú masku – nie </a:t>
            </a:r>
            <a:r>
              <a:rPr lang="sk-SK" dirty="0" err="1">
                <a:highlight>
                  <a:srgbClr val="FFFF00"/>
                </a:highlight>
              </a:rPr>
              <a:t>wildcard</a:t>
            </a:r>
            <a:r>
              <a:rPr lang="sk-SK" dirty="0">
                <a:highlight>
                  <a:srgbClr val="FFFF00"/>
                </a:highlight>
              </a:rPr>
              <a:t> !!!</a:t>
            </a:r>
          </a:p>
        </p:txBody>
      </p:sp>
    </p:spTree>
    <p:extLst>
      <p:ext uri="{BB962C8B-B14F-4D97-AF65-F5344CB8AC3E}">
        <p14:creationId xmlns:p14="http://schemas.microsoft.com/office/powerpoint/2010/main" val="12327247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ACLs and Object Groups</a:t>
            </a:r>
          </a:p>
        </p:txBody>
      </p:sp>
      <p:sp>
        <p:nvSpPr>
          <p:cNvPr id="5" name="Object4"/>
          <p:cNvSpPr/>
          <p:nvPr/>
        </p:nvSpPr>
        <p:spPr>
          <a:xfrm>
            <a:off x="0" y="914400"/>
            <a:ext cx="4311869" cy="2571750"/>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Consider the sample topology in the figure in which access from two trusted, remote hosts, PC1 and PC2, should be allowed to the two internal for web and email servers. All other traffic attempting to pass through the ASA should be dropped and logged.</a:t>
            </a:r>
          </a:p>
          <a:p>
            <a:pPr>
              <a:lnSpc>
                <a:spcPts val="2000"/>
              </a:lnSpc>
            </a:pPr>
            <a:endParaRPr lang="en-US" sz="1400" dirty="0">
              <a:latin typeface="Arial" panose="020B0604020202020204" pitchFamily="34" charset="0"/>
              <a:cs typeface="Arial" panose="020B0604020202020204" pitchFamily="34" charset="0"/>
            </a:endParaRPr>
          </a:p>
          <a:p>
            <a:pPr>
              <a:lnSpc>
                <a:spcPts val="2000"/>
              </a:lnSpc>
            </a:pPr>
            <a:r>
              <a:rPr lang="en-US" sz="1400" dirty="0">
                <a:latin typeface="Arial" panose="020B0604020202020204" pitchFamily="34" charset="0"/>
                <a:cs typeface="Arial" panose="020B0604020202020204" pitchFamily="34" charset="0"/>
              </a:rPr>
              <a:t>The ACL would require two ACEs for each PC to accomplish the task. The implicit </a:t>
            </a:r>
            <a:r>
              <a:rPr lang="en-US" sz="1400" b="1" dirty="0">
                <a:latin typeface="Arial" panose="020B0604020202020204" pitchFamily="34" charset="0"/>
                <a:cs typeface="Arial" panose="020B0604020202020204" pitchFamily="34" charset="0"/>
              </a:rPr>
              <a:t>deny any</a:t>
            </a:r>
            <a:r>
              <a:rPr lang="en-US" sz="1400" dirty="0">
                <a:latin typeface="Arial" panose="020B0604020202020204" pitchFamily="34" charset="0"/>
                <a:cs typeface="Arial" panose="020B0604020202020204" pitchFamily="34" charset="0"/>
              </a:rPr>
              <a:t> drops and logs any packets that do not match email or web services. As shown in the example, ACLs should always be thoroughly documented using the </a:t>
            </a:r>
            <a:r>
              <a:rPr lang="en-US" sz="1400" b="1" dirty="0">
                <a:latin typeface="Arial" panose="020B0604020202020204" pitchFamily="34" charset="0"/>
                <a:cs typeface="Arial" panose="020B0604020202020204" pitchFamily="34" charset="0"/>
              </a:rPr>
              <a:t>remark</a:t>
            </a:r>
            <a:r>
              <a:rPr lang="en-US" sz="1400" dirty="0">
                <a:latin typeface="Arial" panose="020B0604020202020204" pitchFamily="34" charset="0"/>
                <a:cs typeface="Arial" panose="020B0604020202020204" pitchFamily="34" charset="0"/>
              </a:rPr>
              <a:t> command.</a:t>
            </a:r>
          </a:p>
          <a:p>
            <a:pPr>
              <a:lnSpc>
                <a:spcPts val="2000"/>
              </a:lnSpc>
            </a:pPr>
            <a:endParaRPr lang="en-US" sz="1400" dirty="0"/>
          </a:p>
        </p:txBody>
      </p:sp>
      <p:sp>
        <p:nvSpPr>
          <p:cNvPr id="8" name="TextBox 7">
            <a:extLst>
              <a:ext uri="{FF2B5EF4-FFF2-40B4-BE49-F238E27FC236}">
                <a16:creationId xmlns:a16="http://schemas.microsoft.com/office/drawing/2014/main" id="{3F00220E-208C-4DD9-A37D-829211B5021E}"/>
              </a:ext>
            </a:extLst>
          </p:cNvPr>
          <p:cNvSpPr txBox="1"/>
          <p:nvPr/>
        </p:nvSpPr>
        <p:spPr>
          <a:xfrm>
            <a:off x="-23648" y="4044461"/>
            <a:ext cx="8939048" cy="582019"/>
          </a:xfrm>
          <a:prstGeom prst="rect">
            <a:avLst/>
          </a:prstGeom>
          <a:noFill/>
        </p:spPr>
        <p:txBody>
          <a:bodyPr wrap="square">
            <a:spAutoFit/>
          </a:bodyPr>
          <a:lstStyle/>
          <a:p>
            <a:pPr>
              <a:lnSpc>
                <a:spcPts val="2000"/>
              </a:lnSpc>
            </a:pPr>
            <a:r>
              <a:rPr lang="en-US" sz="1400" dirty="0">
                <a:latin typeface="Arial" panose="020B0604020202020204" pitchFamily="34" charset="0"/>
                <a:cs typeface="Arial" panose="020B0604020202020204" pitchFamily="34" charset="0"/>
              </a:rPr>
              <a:t>To verify the ACL syntax, use the </a:t>
            </a:r>
            <a:r>
              <a:rPr lang="en-US" sz="1400" b="1" dirty="0">
                <a:latin typeface="Arial" panose="020B0604020202020204" pitchFamily="34" charset="0"/>
                <a:cs typeface="Arial" panose="020B0604020202020204" pitchFamily="34" charset="0"/>
              </a:rPr>
              <a:t>show running-config access-list</a:t>
            </a:r>
            <a:r>
              <a:rPr lang="en-US" sz="1400" dirty="0">
                <a:latin typeface="Arial" panose="020B0604020202020204" pitchFamily="34" charset="0"/>
                <a:cs typeface="Arial" panose="020B0604020202020204" pitchFamily="34" charset="0"/>
              </a:rPr>
              <a:t> and </a:t>
            </a:r>
            <a:r>
              <a:rPr lang="en-US" sz="1400" b="1" dirty="0">
                <a:latin typeface="Arial" panose="020B0604020202020204" pitchFamily="34" charset="0"/>
                <a:cs typeface="Arial" panose="020B0604020202020204" pitchFamily="34" charset="0"/>
              </a:rPr>
              <a:t>show access-list</a:t>
            </a:r>
            <a:r>
              <a:rPr lang="en-US" sz="1400" dirty="0">
                <a:latin typeface="Arial" panose="020B0604020202020204" pitchFamily="34" charset="0"/>
                <a:cs typeface="Arial" panose="020B0604020202020204" pitchFamily="34" charset="0"/>
              </a:rPr>
              <a:t> commands, as shown in the example.</a:t>
            </a:r>
          </a:p>
        </p:txBody>
      </p:sp>
      <p:pic>
        <p:nvPicPr>
          <p:cNvPr id="4" name="Picture 3">
            <a:extLst>
              <a:ext uri="{FF2B5EF4-FFF2-40B4-BE49-F238E27FC236}">
                <a16:creationId xmlns:a16="http://schemas.microsoft.com/office/drawing/2014/main" id="{1CF0AE24-6E9A-4647-9B5F-92A51391A9DB}"/>
              </a:ext>
            </a:extLst>
          </p:cNvPr>
          <p:cNvPicPr>
            <a:picLocks noChangeAspect="1"/>
          </p:cNvPicPr>
          <p:nvPr/>
        </p:nvPicPr>
        <p:blipFill>
          <a:blip r:embed="rId3"/>
          <a:stretch>
            <a:fillRect/>
          </a:stretch>
        </p:blipFill>
        <p:spPr>
          <a:xfrm>
            <a:off x="4248807" y="911838"/>
            <a:ext cx="4666593" cy="278638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69</a:t>
            </a:fld>
            <a:endParaRPr lang="en-US" dirty="0"/>
          </a:p>
        </p:txBody>
      </p:sp>
    </p:spTree>
    <p:extLst>
      <p:ext uri="{BB962C8B-B14F-4D97-AF65-F5344CB8AC3E}">
        <p14:creationId xmlns:p14="http://schemas.microsoft.com/office/powerpoint/2010/main" val="27616793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ACL Using Object Groups Examples</a:t>
            </a:r>
          </a:p>
        </p:txBody>
      </p:sp>
      <p:sp>
        <p:nvSpPr>
          <p:cNvPr id="6" name="Object4">
            <a:extLst>
              <a:ext uri="{FF2B5EF4-FFF2-40B4-BE49-F238E27FC236}">
                <a16:creationId xmlns:a16="http://schemas.microsoft.com/office/drawing/2014/main" id="{A488C05F-DC48-4EE1-9B6A-9E1EE726047C}"/>
              </a:ext>
            </a:extLst>
          </p:cNvPr>
          <p:cNvSpPr/>
          <p:nvPr/>
        </p:nvSpPr>
        <p:spPr>
          <a:xfrm>
            <a:off x="0" y="914400"/>
            <a:ext cx="8812924"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Object grouping is a way to group similar items together to reduce the number of ACEs.</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Object grouping can cluster network objects into one group and outside hosts into another, as shown in the following syntax. The security appliance can also combine both TCP services into a service object group.</a:t>
            </a:r>
            <a:endParaRPr lang="en-US" sz="1400" dirty="0"/>
          </a:p>
        </p:txBody>
      </p:sp>
      <p:pic>
        <p:nvPicPr>
          <p:cNvPr id="7" name="Picture 6">
            <a:extLst>
              <a:ext uri="{FF2B5EF4-FFF2-40B4-BE49-F238E27FC236}">
                <a16:creationId xmlns:a16="http://schemas.microsoft.com/office/drawing/2014/main" id="{C64A5ACB-66EA-41FF-9CFA-890A8EAC01C7}"/>
              </a:ext>
            </a:extLst>
          </p:cNvPr>
          <p:cNvPicPr>
            <a:picLocks noChangeAspect="1"/>
          </p:cNvPicPr>
          <p:nvPr/>
        </p:nvPicPr>
        <p:blipFill>
          <a:blip r:embed="rId3"/>
          <a:stretch>
            <a:fillRect/>
          </a:stretch>
        </p:blipFill>
        <p:spPr>
          <a:xfrm>
            <a:off x="888381" y="2718425"/>
            <a:ext cx="7036162" cy="38102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70</a:t>
            </a:fld>
            <a:endParaRPr lang="en-US" dirty="0"/>
          </a:p>
        </p:txBody>
      </p:sp>
    </p:spTree>
    <p:extLst>
      <p:ext uri="{BB962C8B-B14F-4D97-AF65-F5344CB8AC3E}">
        <p14:creationId xmlns:p14="http://schemas.microsoft.com/office/powerpoint/2010/main" val="11612684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ASA ACLs</a:t>
            </a:r>
          </a:p>
        </p:txBody>
      </p:sp>
      <p:sp>
        <p:nvSpPr>
          <p:cNvPr id="3" name="Object2"/>
          <p:cNvSpPr>
            <a:spLocks noGrp="1"/>
          </p:cNvSpPr>
          <p:nvPr>
            <p:ph type="body" idx="100" hasCustomPrompt="1"/>
          </p:nvPr>
        </p:nvSpPr>
        <p:spPr>
          <a:xfrm>
            <a:off x="0" y="274320"/>
            <a:ext cx="9144000" cy="475693"/>
          </a:xfrm>
          <a:prstGeom prst="rect">
            <a:avLst/>
          </a:prstGeom>
          <a:noFill/>
          <a:ln/>
        </p:spPr>
        <p:txBody>
          <a:bodyPr wrap="square" rtlCol="0"/>
          <a:lstStyle/>
          <a:p>
            <a:pPr marL="0" indent="0">
              <a:buNone/>
            </a:pPr>
            <a:r>
              <a:rPr lang="en-US" dirty="0"/>
              <a:t>ACL Using Object Groups Examples (Cont.)</a:t>
            </a:r>
          </a:p>
        </p:txBody>
      </p:sp>
      <p:sp>
        <p:nvSpPr>
          <p:cNvPr id="5" name="Object4"/>
          <p:cNvSpPr/>
          <p:nvPr/>
        </p:nvSpPr>
        <p:spPr>
          <a:xfrm>
            <a:off x="-1" y="914400"/>
            <a:ext cx="3123345"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This example shows how to configure the following three object groups:</a:t>
            </a:r>
          </a:p>
          <a:p>
            <a:pPr marL="285750"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NET-HOSTS</a:t>
            </a:r>
            <a:r>
              <a:rPr lang="en-US" sz="1600" dirty="0">
                <a:latin typeface="Arial" panose="020B0604020202020204" pitchFamily="34" charset="0"/>
                <a:cs typeface="Arial" panose="020B0604020202020204" pitchFamily="34" charset="0"/>
              </a:rPr>
              <a:t> - Identifies two external hosts.</a:t>
            </a:r>
          </a:p>
          <a:p>
            <a:pPr marL="285750"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SERVERS</a:t>
            </a:r>
            <a:r>
              <a:rPr lang="en-US" sz="1600" dirty="0">
                <a:latin typeface="Arial" panose="020B0604020202020204" pitchFamily="34" charset="0"/>
                <a:cs typeface="Arial" panose="020B0604020202020204" pitchFamily="34" charset="0"/>
              </a:rPr>
              <a:t> - Identifies servers providing email and web services.</a:t>
            </a:r>
          </a:p>
          <a:p>
            <a:pPr marL="285750"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HTTP-SMTP</a:t>
            </a:r>
            <a:r>
              <a:rPr lang="en-US" sz="1600" dirty="0">
                <a:latin typeface="Arial" panose="020B0604020202020204" pitchFamily="34" charset="0"/>
                <a:cs typeface="Arial" panose="020B0604020202020204" pitchFamily="34" charset="0"/>
              </a:rPr>
              <a:t> - Identifies SMTP and HTTP protocols.</a:t>
            </a:r>
          </a:p>
        </p:txBody>
      </p:sp>
      <p:pic>
        <p:nvPicPr>
          <p:cNvPr id="8" name="Picture 7">
            <a:extLst>
              <a:ext uri="{FF2B5EF4-FFF2-40B4-BE49-F238E27FC236}">
                <a16:creationId xmlns:a16="http://schemas.microsoft.com/office/drawing/2014/main" id="{FF6E4CDE-176E-47E8-BC8B-607A17FF4AA5}"/>
              </a:ext>
            </a:extLst>
          </p:cNvPr>
          <p:cNvPicPr>
            <a:picLocks noChangeAspect="1"/>
          </p:cNvPicPr>
          <p:nvPr/>
        </p:nvPicPr>
        <p:blipFill>
          <a:blip r:embed="rId3"/>
          <a:stretch>
            <a:fillRect/>
          </a:stretch>
        </p:blipFill>
        <p:spPr>
          <a:xfrm>
            <a:off x="5685882" y="137160"/>
            <a:ext cx="2830112" cy="1657527"/>
          </a:xfrm>
          <a:prstGeom prst="rect">
            <a:avLst/>
          </a:prstGeom>
        </p:spPr>
      </p:pic>
      <p:pic>
        <p:nvPicPr>
          <p:cNvPr id="10" name="Picture 9">
            <a:extLst>
              <a:ext uri="{FF2B5EF4-FFF2-40B4-BE49-F238E27FC236}">
                <a16:creationId xmlns:a16="http://schemas.microsoft.com/office/drawing/2014/main" id="{E23446FF-B6A6-4B8D-950B-FE3B9805FF38}"/>
              </a:ext>
            </a:extLst>
          </p:cNvPr>
          <p:cNvPicPr>
            <a:picLocks noChangeAspect="1"/>
          </p:cNvPicPr>
          <p:nvPr/>
        </p:nvPicPr>
        <p:blipFill>
          <a:blip r:embed="rId4"/>
          <a:stretch>
            <a:fillRect/>
          </a:stretch>
        </p:blipFill>
        <p:spPr>
          <a:xfrm>
            <a:off x="3482939" y="2014689"/>
            <a:ext cx="5432461" cy="299165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71</a:t>
            </a:fld>
            <a:endParaRPr lang="en-US" dirty="0"/>
          </a:p>
        </p:txBody>
      </p:sp>
    </p:spTree>
    <p:extLst>
      <p:ext uri="{BB962C8B-B14F-4D97-AF65-F5344CB8AC3E}">
        <p14:creationId xmlns:p14="http://schemas.microsoft.com/office/powerpoint/2010/main" val="10535947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21.5 NAT Services on an ASA</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72</a:t>
            </a:fld>
            <a:endParaRPr lang="en-US" dirty="0"/>
          </a:p>
        </p:txBody>
      </p:sp>
    </p:spTree>
    <p:extLst>
      <p:ext uri="{BB962C8B-B14F-4D97-AF65-F5344CB8AC3E}">
        <p14:creationId xmlns:p14="http://schemas.microsoft.com/office/powerpoint/2010/main" val="37292597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NAT Services on an ASA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ASA NAT Overview</a:t>
            </a:r>
          </a:p>
        </p:txBody>
      </p:sp>
      <p:sp>
        <p:nvSpPr>
          <p:cNvPr id="5" name="Object4"/>
          <p:cNvSpPr/>
          <p:nvPr/>
        </p:nvSpPr>
        <p:spPr>
          <a:xfrm>
            <a:off x="78829" y="708659"/>
            <a:ext cx="8736398" cy="3781147"/>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NAT can be deployed using one of the methods:</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Inside NAT</a:t>
            </a:r>
            <a:r>
              <a:rPr lang="en-US" sz="14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Outside NAT</a:t>
            </a:r>
            <a:r>
              <a:rPr lang="en-US" sz="14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Bidirectional NAT</a:t>
            </a:r>
          </a:p>
          <a:p>
            <a:pPr marL="285750" indent="-285750">
              <a:buFont typeface="Arial" panose="020B0604020202020204" pitchFamily="34" charset="0"/>
              <a:buChar char="•"/>
            </a:pPr>
            <a:endParaRPr lang="en-US" sz="1400" b="1"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Specifically, the Cisco ASA supports the following common types of NAT:</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Dynamic PAT</a:t>
            </a:r>
            <a:r>
              <a:rPr lang="en-US" sz="1400" dirty="0">
                <a:latin typeface="Arial" panose="020B0604020202020204" pitchFamily="34" charset="0"/>
                <a:cs typeface="Arial" panose="020B0604020202020204" pitchFamily="34" charset="0"/>
              </a:rPr>
              <a:t> - This is a many-to-one translation. This is also known as NAT with overload. Usually, an inside pool of private addresses overloading an outside interface or outside address.</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Static NAT</a:t>
            </a:r>
            <a:r>
              <a:rPr lang="en-US" sz="1400" dirty="0">
                <a:latin typeface="Arial" panose="020B0604020202020204" pitchFamily="34" charset="0"/>
                <a:cs typeface="Arial" panose="020B0604020202020204" pitchFamily="34" charset="0"/>
              </a:rPr>
              <a:t> - This is a one-to-one translation. Usually an outside address mapping to an internal server.</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Policy NAT</a:t>
            </a:r>
            <a:r>
              <a:rPr lang="en-US" sz="1400" dirty="0">
                <a:latin typeface="Arial" panose="020B0604020202020204" pitchFamily="34" charset="0"/>
                <a:cs typeface="Arial" panose="020B0604020202020204" pitchFamily="34" charset="0"/>
              </a:rPr>
              <a:t> - Policy-based NAT is based on a set of rules. </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Identity NAT</a:t>
            </a:r>
            <a:r>
              <a:rPr lang="en-US" sz="1400" dirty="0">
                <a:latin typeface="Arial" panose="020B0604020202020204" pitchFamily="34" charset="0"/>
                <a:cs typeface="Arial" panose="020B0604020202020204" pitchFamily="34" charset="0"/>
              </a:rPr>
              <a:t> - A real address is statically translated to itself, essentially bypassing NAT. </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73</a:t>
            </a:fld>
            <a:endParaRPr lang="en-US" dirty="0"/>
          </a:p>
        </p:txBody>
      </p:sp>
    </p:spTree>
    <p:extLst>
      <p:ext uri="{BB962C8B-B14F-4D97-AF65-F5344CB8AC3E}">
        <p14:creationId xmlns:p14="http://schemas.microsoft.com/office/powerpoint/2010/main" val="8130077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NAT Services on an ASA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Dynamic NAT (PT </a:t>
            </a:r>
            <a:r>
              <a:rPr lang="en-US" dirty="0" err="1"/>
              <a:t>nepodporuje</a:t>
            </a:r>
            <a:r>
              <a:rPr lang="en-US" dirty="0"/>
              <a:t>)</a:t>
            </a:r>
          </a:p>
        </p:txBody>
      </p:sp>
      <p:sp>
        <p:nvSpPr>
          <p:cNvPr id="5" name="Object4"/>
          <p:cNvSpPr/>
          <p:nvPr/>
        </p:nvSpPr>
        <p:spPr>
          <a:xfrm>
            <a:off x="70944" y="731520"/>
            <a:ext cx="8703186" cy="3450062"/>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To configure network object dynamic NAT, two network objects are required:</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Identify the pool of public IP addresses with the </a:t>
            </a:r>
            <a:r>
              <a:rPr lang="en-US" sz="1600" b="1" dirty="0">
                <a:effectLst/>
                <a:latin typeface="Arial" panose="020B0604020202020204" pitchFamily="34" charset="0"/>
                <a:cs typeface="Arial" panose="020B0604020202020204" pitchFamily="34" charset="0"/>
              </a:rPr>
              <a:t>range</a:t>
            </a:r>
            <a:r>
              <a:rPr lang="en-US" sz="1600" dirty="0">
                <a:effectLst/>
                <a:latin typeface="Arial" panose="020B0604020202020204" pitchFamily="34" charset="0"/>
                <a:cs typeface="Arial" panose="020B0604020202020204" pitchFamily="34" charset="0"/>
              </a:rPr>
              <a:t> or </a:t>
            </a:r>
            <a:r>
              <a:rPr lang="en-US" sz="1600" b="1" dirty="0">
                <a:effectLst/>
                <a:latin typeface="Arial" panose="020B0604020202020204" pitchFamily="34" charset="0"/>
                <a:cs typeface="Arial" panose="020B0604020202020204" pitchFamily="34" charset="0"/>
              </a:rPr>
              <a:t>subnet</a:t>
            </a:r>
            <a:r>
              <a:rPr lang="en-US" sz="1600" dirty="0">
                <a:effectLst/>
                <a:latin typeface="Arial" panose="020B0604020202020204" pitchFamily="34" charset="0"/>
                <a:cs typeface="Arial" panose="020B0604020202020204" pitchFamily="34" charset="0"/>
              </a:rPr>
              <a:t> network object commands.</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Identify the internal addresses to be translated with the </a:t>
            </a:r>
            <a:r>
              <a:rPr lang="en-US" sz="1600" b="1" dirty="0">
                <a:effectLst/>
                <a:latin typeface="Arial" panose="020B0604020202020204" pitchFamily="34" charset="0"/>
                <a:cs typeface="Arial" panose="020B0604020202020204" pitchFamily="34" charset="0"/>
              </a:rPr>
              <a:t>range</a:t>
            </a:r>
            <a:r>
              <a:rPr lang="en-US" sz="1600" dirty="0">
                <a:effectLst/>
                <a:latin typeface="Arial" panose="020B0604020202020204" pitchFamily="34" charset="0"/>
                <a:cs typeface="Arial" panose="020B0604020202020204" pitchFamily="34" charset="0"/>
              </a:rPr>
              <a:t> or </a:t>
            </a:r>
            <a:r>
              <a:rPr lang="en-US" sz="1600" b="1" dirty="0">
                <a:effectLst/>
                <a:latin typeface="Arial" panose="020B0604020202020204" pitchFamily="34" charset="0"/>
                <a:cs typeface="Arial" panose="020B0604020202020204" pitchFamily="34" charset="0"/>
              </a:rPr>
              <a:t>subnet</a:t>
            </a:r>
            <a:r>
              <a:rPr lang="en-US" sz="1600" dirty="0">
                <a:effectLst/>
                <a:latin typeface="Arial" panose="020B0604020202020204" pitchFamily="34" charset="0"/>
                <a:cs typeface="Arial" panose="020B0604020202020204" pitchFamily="34" charset="0"/>
              </a:rPr>
              <a:t> network object commands. </a:t>
            </a:r>
          </a:p>
          <a:p>
            <a:pPr lvl="1"/>
            <a:endParaRPr lang="en-US" sz="1600" dirty="0">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The two network objects are then bound together using </a:t>
            </a:r>
            <a:r>
              <a:rPr lang="en-US" sz="1600" b="1" dirty="0">
                <a:effectLst/>
                <a:latin typeface="Arial" panose="020B0604020202020204" pitchFamily="34" charset="0"/>
                <a:cs typeface="Arial" panose="020B0604020202020204" pitchFamily="34" charset="0"/>
              </a:rPr>
              <a:t> nat </a:t>
            </a:r>
            <a:r>
              <a:rPr lang="en-US" sz="1600" dirty="0">
                <a:effectLst/>
                <a:latin typeface="Arial" panose="020B0604020202020204" pitchFamily="34" charset="0"/>
                <a:cs typeface="Arial" panose="020B0604020202020204" pitchFamily="34" charset="0"/>
              </a:rPr>
              <a:t>[(</a:t>
            </a:r>
            <a:r>
              <a:rPr lang="en-US" sz="1600" i="1" dirty="0">
                <a:effectLst/>
                <a:latin typeface="Arial" panose="020B0604020202020204" pitchFamily="34" charset="0"/>
                <a:cs typeface="Arial" panose="020B0604020202020204" pitchFamily="34" charset="0"/>
              </a:rPr>
              <a:t>real_if_name</a:t>
            </a:r>
            <a:r>
              <a:rPr lang="en-US" sz="1600" dirty="0">
                <a:effectLst/>
                <a:latin typeface="Arial" panose="020B0604020202020204" pitchFamily="34" charset="0"/>
                <a:cs typeface="Arial" panose="020B0604020202020204" pitchFamily="34" charset="0"/>
              </a:rPr>
              <a:t>,</a:t>
            </a:r>
            <a:r>
              <a:rPr lang="en-US" sz="1600" i="1" dirty="0">
                <a:effectLst/>
                <a:latin typeface="Arial" panose="020B0604020202020204" pitchFamily="34" charset="0"/>
                <a:cs typeface="Arial" panose="020B0604020202020204" pitchFamily="34" charset="0"/>
              </a:rPr>
              <a:t>mapped_if_name</a:t>
            </a:r>
            <a:r>
              <a:rPr lang="en-US" sz="1600" dirty="0">
                <a:effectLst/>
                <a:latin typeface="Arial" panose="020B0604020202020204" pitchFamily="34" charset="0"/>
                <a:cs typeface="Arial" panose="020B0604020202020204" pitchFamily="34" charset="0"/>
              </a:rPr>
              <a:t>)]  </a:t>
            </a:r>
            <a:r>
              <a:rPr lang="en-US" sz="1600" b="1" dirty="0">
                <a:effectLst/>
                <a:latin typeface="Arial" panose="020B0604020202020204" pitchFamily="34" charset="0"/>
                <a:cs typeface="Arial" panose="020B0604020202020204" pitchFamily="34" charset="0"/>
              </a:rPr>
              <a:t>dynamic</a:t>
            </a:r>
            <a:r>
              <a:rPr lang="en-US" sz="1600" dirty="0">
                <a:effectLst/>
                <a:latin typeface="Arial" panose="020B0604020202020204" pitchFamily="34" charset="0"/>
                <a:cs typeface="Arial" panose="020B0604020202020204" pitchFamily="34" charset="0"/>
              </a:rPr>
              <a:t> </a:t>
            </a:r>
            <a:r>
              <a:rPr lang="en-US" sz="1600" i="1" dirty="0">
                <a:effectLst/>
                <a:latin typeface="Arial" panose="020B0604020202020204" pitchFamily="34" charset="0"/>
                <a:cs typeface="Arial" panose="020B0604020202020204" pitchFamily="34" charset="0"/>
              </a:rPr>
              <a:t>mapped_obj</a:t>
            </a:r>
            <a:r>
              <a:rPr lang="en-US" sz="1600" dirty="0">
                <a:effectLst/>
                <a:latin typeface="Arial" panose="020B0604020202020204" pitchFamily="34" charset="0"/>
                <a:cs typeface="Arial" panose="020B0604020202020204" pitchFamily="34" charset="0"/>
              </a:rPr>
              <a:t> [</a:t>
            </a:r>
            <a:r>
              <a:rPr lang="en-US" sz="1600" b="1" dirty="0">
                <a:effectLst/>
                <a:latin typeface="Arial" panose="020B0604020202020204" pitchFamily="34" charset="0"/>
                <a:cs typeface="Arial" panose="020B0604020202020204" pitchFamily="34" charset="0"/>
              </a:rPr>
              <a:t>interface</a:t>
            </a:r>
            <a:r>
              <a:rPr lang="en-US" sz="1600" dirty="0">
                <a:effectLst/>
                <a:latin typeface="Arial" panose="020B0604020202020204" pitchFamily="34" charset="0"/>
                <a:cs typeface="Arial" panose="020B0604020202020204" pitchFamily="34" charset="0"/>
              </a:rPr>
              <a:t> [</a:t>
            </a:r>
            <a:r>
              <a:rPr lang="en-US" sz="1600" b="1" dirty="0">
                <a:effectLst/>
                <a:latin typeface="Arial" panose="020B0604020202020204" pitchFamily="34" charset="0"/>
                <a:cs typeface="Arial" panose="020B0604020202020204" pitchFamily="34" charset="0"/>
              </a:rPr>
              <a:t>ipv6</a:t>
            </a:r>
            <a:r>
              <a:rPr lang="en-US" sz="1600" dirty="0">
                <a:effectLst/>
                <a:latin typeface="Arial" panose="020B0604020202020204" pitchFamily="34" charset="0"/>
                <a:cs typeface="Arial" panose="020B0604020202020204" pitchFamily="34" charset="0"/>
              </a:rPr>
              <a:t>]] [</a:t>
            </a:r>
            <a:r>
              <a:rPr lang="en-US" sz="1600" b="1" dirty="0">
                <a:effectLst/>
                <a:latin typeface="Arial" panose="020B0604020202020204" pitchFamily="34" charset="0"/>
                <a:cs typeface="Arial" panose="020B0604020202020204" pitchFamily="34" charset="0"/>
              </a:rPr>
              <a:t>dns</a:t>
            </a:r>
            <a:r>
              <a:rPr lang="en-US" sz="1600" dirty="0">
                <a:effectLst/>
                <a:latin typeface="Arial" panose="020B0604020202020204" pitchFamily="34" charset="0"/>
                <a:cs typeface="Arial" panose="020B0604020202020204" pitchFamily="34" charset="0"/>
              </a:rPr>
              <a:t>] network object command. </a:t>
            </a:r>
            <a:r>
              <a:rPr lang="en-US" sz="1600" dirty="0">
                <a:latin typeface="Arial" panose="020B0604020202020204" pitchFamily="34" charset="0"/>
                <a:cs typeface="Arial" panose="020B0604020202020204" pitchFamily="34" charset="0"/>
              </a:rPr>
              <a:t>The </a:t>
            </a:r>
            <a:r>
              <a:rPr lang="en-US" sz="1600" i="1" dirty="0">
                <a:latin typeface="Arial" panose="020B0604020202020204" pitchFamily="34" charset="0"/>
                <a:cs typeface="Arial" panose="020B0604020202020204" pitchFamily="34" charset="0"/>
              </a:rPr>
              <a:t>real_if_name</a:t>
            </a:r>
            <a:r>
              <a:rPr lang="en-US" sz="1600" dirty="0">
                <a:latin typeface="Arial" panose="020B0604020202020204" pitchFamily="34" charset="0"/>
                <a:cs typeface="Arial" panose="020B0604020202020204" pitchFamily="34" charset="0"/>
              </a:rPr>
              <a:t> is the prenat interface. The </a:t>
            </a:r>
            <a:r>
              <a:rPr lang="en-US" sz="1600" i="1" dirty="0">
                <a:latin typeface="Arial" panose="020B0604020202020204" pitchFamily="34" charset="0"/>
                <a:cs typeface="Arial" panose="020B0604020202020204" pitchFamily="34" charset="0"/>
              </a:rPr>
              <a:t>mapped_if_name</a:t>
            </a:r>
            <a:r>
              <a:rPr lang="en-US" sz="1600" dirty="0">
                <a:latin typeface="Arial" panose="020B0604020202020204" pitchFamily="34" charset="0"/>
                <a:cs typeface="Arial" panose="020B0604020202020204" pitchFamily="34" charset="0"/>
              </a:rPr>
              <a:t> is the postnat interface. Notice that there is no space after the comma in the command syntax.</a:t>
            </a:r>
            <a:endParaRPr lang="en-US" sz="1600" dirty="0">
              <a:effectLst/>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74</a:t>
            </a:fld>
            <a:endParaRPr lang="en-US" dirty="0"/>
          </a:p>
        </p:txBody>
      </p:sp>
    </p:spTree>
    <p:extLst>
      <p:ext uri="{BB962C8B-B14F-4D97-AF65-F5344CB8AC3E}">
        <p14:creationId xmlns:p14="http://schemas.microsoft.com/office/powerpoint/2010/main" val="6801971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NAT Services on an ASA</a:t>
            </a:r>
          </a:p>
        </p:txBody>
      </p:sp>
      <p:sp>
        <p:nvSpPr>
          <p:cNvPr id="3" name="Object2"/>
          <p:cNvSpPr>
            <a:spLocks noGrp="1"/>
          </p:cNvSpPr>
          <p:nvPr>
            <p:ph type="body" idx="100" hasCustomPrompt="1"/>
          </p:nvPr>
        </p:nvSpPr>
        <p:spPr>
          <a:xfrm>
            <a:off x="0" y="274320"/>
            <a:ext cx="9144000" cy="457200"/>
          </a:xfrm>
          <a:prstGeom prst="rect">
            <a:avLst/>
          </a:prstGeom>
          <a:noFill/>
          <a:ln/>
        </p:spPr>
        <p:txBody>
          <a:bodyPr wrap="square" rtlCol="0"/>
          <a:lstStyle/>
          <a:p>
            <a:pPr marL="0" indent="0">
              <a:buNone/>
            </a:pPr>
            <a:r>
              <a:rPr lang="en-US" dirty="0"/>
              <a:t>Configure Dynamic NAT (Cont.)</a:t>
            </a:r>
          </a:p>
        </p:txBody>
      </p:sp>
      <p:sp>
        <p:nvSpPr>
          <p:cNvPr id="8" name="TextBox 7">
            <a:extLst>
              <a:ext uri="{FF2B5EF4-FFF2-40B4-BE49-F238E27FC236}">
                <a16:creationId xmlns:a16="http://schemas.microsoft.com/office/drawing/2014/main" id="{BD75BA4C-537A-4C64-BC38-05A7BAFB796A}"/>
              </a:ext>
            </a:extLst>
          </p:cNvPr>
          <p:cNvSpPr txBox="1"/>
          <p:nvPr/>
        </p:nvSpPr>
        <p:spPr>
          <a:xfrm>
            <a:off x="173686" y="731520"/>
            <a:ext cx="8425784"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In this dynamic NAT example, the inside hosts on the </a:t>
            </a:r>
            <a:r>
              <a:rPr lang="en-US" sz="1600" b="1" dirty="0">
                <a:latin typeface="Arial" panose="020B0604020202020204" pitchFamily="34" charset="0"/>
                <a:cs typeface="Arial" panose="020B0604020202020204" pitchFamily="34" charset="0"/>
              </a:rPr>
              <a:t>192.168.1.0/27</a:t>
            </a:r>
            <a:r>
              <a:rPr lang="en-US" sz="1600" dirty="0">
                <a:latin typeface="Arial" panose="020B0604020202020204" pitchFamily="34" charset="0"/>
                <a:cs typeface="Arial" panose="020B0604020202020204" pitchFamily="34" charset="0"/>
              </a:rPr>
              <a:t> network will be dynamically assigned a range of public IP address from </a:t>
            </a:r>
            <a:r>
              <a:rPr lang="en-US" sz="1600" b="1" dirty="0">
                <a:latin typeface="Arial" panose="020B0604020202020204" pitchFamily="34" charset="0"/>
                <a:cs typeface="Arial" panose="020B0604020202020204" pitchFamily="34" charset="0"/>
              </a:rPr>
              <a:t>209.165.200.225 to 209.165.200.254</a:t>
            </a:r>
            <a:r>
              <a:rPr lang="en-US" sz="1400" dirty="0">
                <a:latin typeface="Arial" panose="020B0604020202020204" pitchFamily="34" charset="0"/>
                <a:cs typeface="Arial" panose="020B0604020202020204" pitchFamily="34" charset="0"/>
              </a:rPr>
              <a: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75</a:t>
            </a:fld>
            <a:endParaRPr lang="en-US" dirty="0"/>
          </a:p>
        </p:txBody>
      </p:sp>
      <p:grpSp>
        <p:nvGrpSpPr>
          <p:cNvPr id="10" name="Skupina 9">
            <a:extLst>
              <a:ext uri="{FF2B5EF4-FFF2-40B4-BE49-F238E27FC236}">
                <a16:creationId xmlns:a16="http://schemas.microsoft.com/office/drawing/2014/main" id="{91A2BD96-2159-D794-CF4D-9DF1C643BA19}"/>
              </a:ext>
            </a:extLst>
          </p:cNvPr>
          <p:cNvGrpSpPr/>
          <p:nvPr/>
        </p:nvGrpSpPr>
        <p:grpSpPr>
          <a:xfrm>
            <a:off x="981250" y="1663548"/>
            <a:ext cx="7017111" cy="2965602"/>
            <a:chOff x="981250" y="1663548"/>
            <a:chExt cx="7017111" cy="2965602"/>
          </a:xfrm>
        </p:grpSpPr>
        <p:grpSp>
          <p:nvGrpSpPr>
            <p:cNvPr id="7" name="Skupina 6">
              <a:extLst>
                <a:ext uri="{FF2B5EF4-FFF2-40B4-BE49-F238E27FC236}">
                  <a16:creationId xmlns:a16="http://schemas.microsoft.com/office/drawing/2014/main" id="{4F66A8B6-9E2F-3D6E-19AE-9AF1564CEDBB}"/>
                </a:ext>
              </a:extLst>
            </p:cNvPr>
            <p:cNvGrpSpPr/>
            <p:nvPr/>
          </p:nvGrpSpPr>
          <p:grpSpPr>
            <a:xfrm>
              <a:off x="981250" y="1663548"/>
              <a:ext cx="7017111" cy="2965602"/>
              <a:chOff x="981250" y="1663548"/>
              <a:chExt cx="7017111" cy="2965602"/>
            </a:xfrm>
          </p:grpSpPr>
          <p:pic>
            <p:nvPicPr>
              <p:cNvPr id="6" name="Picture 5">
                <a:extLst>
                  <a:ext uri="{FF2B5EF4-FFF2-40B4-BE49-F238E27FC236}">
                    <a16:creationId xmlns:a16="http://schemas.microsoft.com/office/drawing/2014/main" id="{051ECBF9-3699-48CA-B4F0-EACBC18ACCCA}"/>
                  </a:ext>
                </a:extLst>
              </p:cNvPr>
              <p:cNvPicPr>
                <a:picLocks noChangeAspect="1"/>
              </p:cNvPicPr>
              <p:nvPr/>
            </p:nvPicPr>
            <p:blipFill>
              <a:blip r:embed="rId3"/>
              <a:stretch>
                <a:fillRect/>
              </a:stretch>
            </p:blipFill>
            <p:spPr>
              <a:xfrm>
                <a:off x="981250" y="1663548"/>
                <a:ext cx="7017111" cy="2965602"/>
              </a:xfrm>
              <a:prstGeom prst="rect">
                <a:avLst/>
              </a:prstGeom>
            </p:spPr>
          </p:pic>
          <p:sp>
            <p:nvSpPr>
              <p:cNvPr id="4" name="Pravouholník 3">
                <a:extLst>
                  <a:ext uri="{FF2B5EF4-FFF2-40B4-BE49-F238E27FC236}">
                    <a16:creationId xmlns:a16="http://schemas.microsoft.com/office/drawing/2014/main" id="{09D99B9C-5FBD-5F92-4700-1CD5BD3F740D}"/>
                  </a:ext>
                </a:extLst>
              </p:cNvPr>
              <p:cNvSpPr/>
              <p:nvPr/>
            </p:nvSpPr>
            <p:spPr>
              <a:xfrm rot="2113289">
                <a:off x="4767155" y="1784921"/>
                <a:ext cx="2041922" cy="9749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k-SK">
                  <a:solidFill>
                    <a:schemeClr val="bg1"/>
                  </a:solidFill>
                </a:endParaRPr>
              </a:p>
            </p:txBody>
          </p:sp>
          <p:sp>
            <p:nvSpPr>
              <p:cNvPr id="5" name="Pravouholník 4">
                <a:extLst>
                  <a:ext uri="{FF2B5EF4-FFF2-40B4-BE49-F238E27FC236}">
                    <a16:creationId xmlns:a16="http://schemas.microsoft.com/office/drawing/2014/main" id="{7B45E5B5-CC76-7D6F-1149-3447B942394E}"/>
                  </a:ext>
                </a:extLst>
              </p:cNvPr>
              <p:cNvSpPr/>
              <p:nvPr/>
            </p:nvSpPr>
            <p:spPr>
              <a:xfrm>
                <a:off x="4834822" y="2311666"/>
                <a:ext cx="635152" cy="520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k-SK">
                  <a:solidFill>
                    <a:schemeClr val="bg1"/>
                  </a:solidFill>
                </a:endParaRPr>
              </a:p>
            </p:txBody>
          </p:sp>
        </p:grpSp>
        <p:sp>
          <p:nvSpPr>
            <p:cNvPr id="9" name="Pravouholník 8">
              <a:extLst>
                <a:ext uri="{FF2B5EF4-FFF2-40B4-BE49-F238E27FC236}">
                  <a16:creationId xmlns:a16="http://schemas.microsoft.com/office/drawing/2014/main" id="{B8C527E9-D768-A0D7-4AF5-CE18FAB44A94}"/>
                </a:ext>
              </a:extLst>
            </p:cNvPr>
            <p:cNvSpPr/>
            <p:nvPr/>
          </p:nvSpPr>
          <p:spPr>
            <a:xfrm>
              <a:off x="2562510" y="4281801"/>
              <a:ext cx="2168278" cy="3473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k-SK"/>
            </a:p>
          </p:txBody>
        </p:sp>
      </p:grpSp>
    </p:spTree>
    <p:extLst>
      <p:ext uri="{BB962C8B-B14F-4D97-AF65-F5344CB8AC3E}">
        <p14:creationId xmlns:p14="http://schemas.microsoft.com/office/powerpoint/2010/main" val="21130634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NAT Services on an ASA</a:t>
            </a:r>
          </a:p>
        </p:txBody>
      </p:sp>
      <p:sp>
        <p:nvSpPr>
          <p:cNvPr id="3" name="Object2"/>
          <p:cNvSpPr>
            <a:spLocks noGrp="1"/>
          </p:cNvSpPr>
          <p:nvPr>
            <p:ph type="body" idx="100" hasCustomPrompt="1"/>
          </p:nvPr>
        </p:nvSpPr>
        <p:spPr>
          <a:xfrm>
            <a:off x="0" y="274320"/>
            <a:ext cx="9144000" cy="457200"/>
          </a:xfrm>
          <a:prstGeom prst="rect">
            <a:avLst/>
          </a:prstGeom>
          <a:noFill/>
          <a:ln/>
        </p:spPr>
        <p:txBody>
          <a:bodyPr wrap="square" rtlCol="0"/>
          <a:lstStyle/>
          <a:p>
            <a:pPr marL="0" indent="0">
              <a:buNone/>
            </a:pPr>
            <a:r>
              <a:rPr lang="en-US" dirty="0"/>
              <a:t>Configure Dynamic NAT (Cont.)</a:t>
            </a:r>
          </a:p>
        </p:txBody>
      </p:sp>
      <p:sp>
        <p:nvSpPr>
          <p:cNvPr id="8" name="TextBox 7">
            <a:extLst>
              <a:ext uri="{FF2B5EF4-FFF2-40B4-BE49-F238E27FC236}">
                <a16:creationId xmlns:a16="http://schemas.microsoft.com/office/drawing/2014/main" id="{BD75BA4C-537A-4C64-BC38-05A7BAFB796A}"/>
              </a:ext>
            </a:extLst>
          </p:cNvPr>
          <p:cNvSpPr txBox="1"/>
          <p:nvPr/>
        </p:nvSpPr>
        <p:spPr>
          <a:xfrm>
            <a:off x="173686" y="731520"/>
            <a:ext cx="4485024"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example displays a sample dynamic NAT configuration to accomplish this task. The </a:t>
            </a:r>
            <a:r>
              <a:rPr lang="en-US" sz="1400" b="1" dirty="0">
                <a:latin typeface="Arial" panose="020B0604020202020204" pitchFamily="34" charset="0"/>
                <a:cs typeface="Arial" panose="020B0604020202020204" pitchFamily="34" charset="0"/>
              </a:rPr>
              <a:t>PUBLIC</a:t>
            </a:r>
            <a:r>
              <a:rPr lang="en-US" sz="1400" dirty="0">
                <a:latin typeface="Arial" panose="020B0604020202020204" pitchFamily="34" charset="0"/>
                <a:cs typeface="Arial" panose="020B0604020202020204" pitchFamily="34" charset="0"/>
              </a:rPr>
              <a:t> network object identifies the public IP addresses to be translated to while the </a:t>
            </a:r>
            <a:r>
              <a:rPr lang="en-US" sz="1400" b="1" dirty="0">
                <a:latin typeface="Arial" panose="020B0604020202020204" pitchFamily="34" charset="0"/>
                <a:cs typeface="Arial" panose="020B0604020202020204" pitchFamily="34" charset="0"/>
              </a:rPr>
              <a:t>DYNAMIC-NAT</a:t>
            </a:r>
            <a:r>
              <a:rPr lang="en-US" sz="1400" dirty="0">
                <a:latin typeface="Arial" panose="020B0604020202020204" pitchFamily="34" charset="0"/>
                <a:cs typeface="Arial" panose="020B0604020202020204" pitchFamily="34" charset="0"/>
              </a:rPr>
              <a:t> object identifies the internal addresses to be translated and is bound to the </a:t>
            </a:r>
            <a:r>
              <a:rPr lang="en-US" sz="1400" b="1" dirty="0">
                <a:latin typeface="Arial" panose="020B0604020202020204" pitchFamily="34" charset="0"/>
                <a:cs typeface="Arial" panose="020B0604020202020204" pitchFamily="34" charset="0"/>
              </a:rPr>
              <a:t>PUBLIC</a:t>
            </a:r>
            <a:r>
              <a:rPr lang="en-US" sz="1400" dirty="0">
                <a:latin typeface="Arial" panose="020B0604020202020204" pitchFamily="34" charset="0"/>
                <a:cs typeface="Arial" panose="020B0604020202020204" pitchFamily="34" charset="0"/>
              </a:rPr>
              <a:t> network object with the </a:t>
            </a:r>
            <a:r>
              <a:rPr lang="en-US" sz="1400" b="1" dirty="0">
                <a:latin typeface="Arial" panose="020B0604020202020204" pitchFamily="34" charset="0"/>
                <a:cs typeface="Arial" panose="020B0604020202020204" pitchFamily="34" charset="0"/>
              </a:rPr>
              <a:t>nat</a:t>
            </a:r>
            <a:r>
              <a:rPr lang="en-US" sz="1400" dirty="0">
                <a:latin typeface="Arial" panose="020B0604020202020204" pitchFamily="34" charset="0"/>
                <a:cs typeface="Arial" panose="020B0604020202020204" pitchFamily="34" charset="0"/>
              </a:rPr>
              <a:t> command.</a:t>
            </a:r>
          </a:p>
        </p:txBody>
      </p:sp>
      <p:pic>
        <p:nvPicPr>
          <p:cNvPr id="5" name="Picture 4">
            <a:extLst>
              <a:ext uri="{FF2B5EF4-FFF2-40B4-BE49-F238E27FC236}">
                <a16:creationId xmlns:a16="http://schemas.microsoft.com/office/drawing/2014/main" id="{B1B02D7E-D92A-4600-9D3E-AFCE4DBDF3DD}"/>
              </a:ext>
            </a:extLst>
          </p:cNvPr>
          <p:cNvPicPr>
            <a:picLocks noChangeAspect="1"/>
          </p:cNvPicPr>
          <p:nvPr/>
        </p:nvPicPr>
        <p:blipFill>
          <a:blip r:embed="rId3"/>
          <a:stretch>
            <a:fillRect/>
          </a:stretch>
        </p:blipFill>
        <p:spPr>
          <a:xfrm>
            <a:off x="848668" y="2473750"/>
            <a:ext cx="7446664" cy="215540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76</a:t>
            </a:fld>
            <a:endParaRPr lang="en-US" dirty="0"/>
          </a:p>
        </p:txBody>
      </p:sp>
      <p:sp>
        <p:nvSpPr>
          <p:cNvPr id="4" name="BlokTextu 3">
            <a:extLst>
              <a:ext uri="{FF2B5EF4-FFF2-40B4-BE49-F238E27FC236}">
                <a16:creationId xmlns:a16="http://schemas.microsoft.com/office/drawing/2014/main" id="{62C0801A-A3AE-708A-9450-4B90009B30D9}"/>
              </a:ext>
            </a:extLst>
          </p:cNvPr>
          <p:cNvSpPr txBox="1"/>
          <p:nvPr/>
        </p:nvSpPr>
        <p:spPr>
          <a:xfrm>
            <a:off x="4382201" y="2632008"/>
            <a:ext cx="3913131" cy="307777"/>
          </a:xfrm>
          <a:prstGeom prst="rect">
            <a:avLst/>
          </a:prstGeom>
          <a:solidFill>
            <a:schemeClr val="tx1"/>
          </a:solidFill>
        </p:spPr>
        <p:txBody>
          <a:bodyPr wrap="square" rtlCol="0">
            <a:spAutoFit/>
          </a:bodyPr>
          <a:lstStyle/>
          <a:p>
            <a:r>
              <a:rPr lang="sk-SK" sz="1400" dirty="0" err="1">
                <a:solidFill>
                  <a:schemeClr val="bg1"/>
                </a:solidFill>
                <a:highlight>
                  <a:srgbClr val="000000"/>
                </a:highlight>
                <a:latin typeface="Times New Roman" panose="02020603050405020304" pitchFamily="18" charset="0"/>
                <a:cs typeface="Times New Roman" panose="02020603050405020304" pitchFamily="18" charset="0"/>
              </a:rPr>
              <a:t>range</a:t>
            </a:r>
            <a:r>
              <a:rPr lang="sk-SK" sz="1400" dirty="0">
                <a:solidFill>
                  <a:schemeClr val="bg1"/>
                </a:solidFill>
                <a:highlight>
                  <a:srgbClr val="000000"/>
                </a:highlight>
                <a:latin typeface="Times New Roman" panose="02020603050405020304" pitchFamily="18" charset="0"/>
                <a:cs typeface="Times New Roman" panose="02020603050405020304" pitchFamily="18" charset="0"/>
              </a:rPr>
              <a:t> 209.165.200.225 209.165.200.254</a:t>
            </a:r>
          </a:p>
        </p:txBody>
      </p:sp>
      <p:grpSp>
        <p:nvGrpSpPr>
          <p:cNvPr id="12" name="Skupina 11">
            <a:extLst>
              <a:ext uri="{FF2B5EF4-FFF2-40B4-BE49-F238E27FC236}">
                <a16:creationId xmlns:a16="http://schemas.microsoft.com/office/drawing/2014/main" id="{2CD3FEF8-F695-4245-9F73-763B5A3668FD}"/>
              </a:ext>
            </a:extLst>
          </p:cNvPr>
          <p:cNvGrpSpPr/>
          <p:nvPr/>
        </p:nvGrpSpPr>
        <p:grpSpPr>
          <a:xfrm>
            <a:off x="4832396" y="274320"/>
            <a:ext cx="3776915" cy="1997142"/>
            <a:chOff x="981250" y="1663548"/>
            <a:chExt cx="7017111" cy="2965602"/>
          </a:xfrm>
        </p:grpSpPr>
        <p:grpSp>
          <p:nvGrpSpPr>
            <p:cNvPr id="13" name="Skupina 12">
              <a:extLst>
                <a:ext uri="{FF2B5EF4-FFF2-40B4-BE49-F238E27FC236}">
                  <a16:creationId xmlns:a16="http://schemas.microsoft.com/office/drawing/2014/main" id="{7B1E843F-7C13-0702-648D-5F23F61B41EF}"/>
                </a:ext>
              </a:extLst>
            </p:cNvPr>
            <p:cNvGrpSpPr/>
            <p:nvPr/>
          </p:nvGrpSpPr>
          <p:grpSpPr>
            <a:xfrm>
              <a:off x="981250" y="1663548"/>
              <a:ext cx="7017111" cy="2965602"/>
              <a:chOff x="981250" y="1663548"/>
              <a:chExt cx="7017111" cy="2965602"/>
            </a:xfrm>
          </p:grpSpPr>
          <p:pic>
            <p:nvPicPr>
              <p:cNvPr id="15" name="Picture 5">
                <a:extLst>
                  <a:ext uri="{FF2B5EF4-FFF2-40B4-BE49-F238E27FC236}">
                    <a16:creationId xmlns:a16="http://schemas.microsoft.com/office/drawing/2014/main" id="{613B8960-82F6-784A-BDE9-7C5C1CDFE55A}"/>
                  </a:ext>
                </a:extLst>
              </p:cNvPr>
              <p:cNvPicPr>
                <a:picLocks noChangeAspect="1"/>
              </p:cNvPicPr>
              <p:nvPr/>
            </p:nvPicPr>
            <p:blipFill>
              <a:blip r:embed="rId4"/>
              <a:stretch>
                <a:fillRect/>
              </a:stretch>
            </p:blipFill>
            <p:spPr>
              <a:xfrm>
                <a:off x="981250" y="1663548"/>
                <a:ext cx="7017111" cy="2965602"/>
              </a:xfrm>
              <a:prstGeom prst="rect">
                <a:avLst/>
              </a:prstGeom>
            </p:spPr>
          </p:pic>
          <p:sp>
            <p:nvSpPr>
              <p:cNvPr id="16" name="Pravouholník 15">
                <a:extLst>
                  <a:ext uri="{FF2B5EF4-FFF2-40B4-BE49-F238E27FC236}">
                    <a16:creationId xmlns:a16="http://schemas.microsoft.com/office/drawing/2014/main" id="{F96C7177-BA7C-4120-B89F-94F79126EA7B}"/>
                  </a:ext>
                </a:extLst>
              </p:cNvPr>
              <p:cNvSpPr/>
              <p:nvPr/>
            </p:nvSpPr>
            <p:spPr>
              <a:xfrm rot="2113289">
                <a:off x="4767155" y="1784921"/>
                <a:ext cx="2041922" cy="9749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k-SK">
                  <a:solidFill>
                    <a:schemeClr val="bg1"/>
                  </a:solidFill>
                </a:endParaRPr>
              </a:p>
            </p:txBody>
          </p:sp>
          <p:sp>
            <p:nvSpPr>
              <p:cNvPr id="17" name="Pravouholník 16">
                <a:extLst>
                  <a:ext uri="{FF2B5EF4-FFF2-40B4-BE49-F238E27FC236}">
                    <a16:creationId xmlns:a16="http://schemas.microsoft.com/office/drawing/2014/main" id="{07391F40-F3C2-E4C3-2837-B65137271F5D}"/>
                  </a:ext>
                </a:extLst>
              </p:cNvPr>
              <p:cNvSpPr/>
              <p:nvPr/>
            </p:nvSpPr>
            <p:spPr>
              <a:xfrm>
                <a:off x="4834822" y="2311666"/>
                <a:ext cx="635152" cy="520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k-SK">
                  <a:solidFill>
                    <a:schemeClr val="bg1"/>
                  </a:solidFill>
                </a:endParaRPr>
              </a:p>
            </p:txBody>
          </p:sp>
        </p:grpSp>
        <p:sp>
          <p:nvSpPr>
            <p:cNvPr id="14" name="Pravouholník 13">
              <a:extLst>
                <a:ext uri="{FF2B5EF4-FFF2-40B4-BE49-F238E27FC236}">
                  <a16:creationId xmlns:a16="http://schemas.microsoft.com/office/drawing/2014/main" id="{D6A42819-4CA3-93BB-8434-F4BCCAAC6CA5}"/>
                </a:ext>
              </a:extLst>
            </p:cNvPr>
            <p:cNvSpPr/>
            <p:nvPr/>
          </p:nvSpPr>
          <p:spPr>
            <a:xfrm>
              <a:off x="2562510" y="4281801"/>
              <a:ext cx="2168278" cy="3473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k-SK"/>
            </a:p>
          </p:txBody>
        </p:sp>
      </p:grpSp>
      <p:sp>
        <p:nvSpPr>
          <p:cNvPr id="18" name="BlokTextu 17">
            <a:extLst>
              <a:ext uri="{FF2B5EF4-FFF2-40B4-BE49-F238E27FC236}">
                <a16:creationId xmlns:a16="http://schemas.microsoft.com/office/drawing/2014/main" id="{2FC3FBB0-6430-568A-4AFC-AB26CEDD6735}"/>
              </a:ext>
            </a:extLst>
          </p:cNvPr>
          <p:cNvSpPr txBox="1"/>
          <p:nvPr/>
        </p:nvSpPr>
        <p:spPr>
          <a:xfrm>
            <a:off x="1237451" y="4673084"/>
            <a:ext cx="5296706" cy="369332"/>
          </a:xfrm>
          <a:prstGeom prst="rect">
            <a:avLst/>
          </a:prstGeom>
          <a:noFill/>
        </p:spPr>
        <p:txBody>
          <a:bodyPr wrap="none" rtlCol="0">
            <a:spAutoFit/>
          </a:bodyPr>
          <a:lstStyle/>
          <a:p>
            <a:r>
              <a:rPr lang="sk-SK" dirty="0"/>
              <a:t>Toto nestačí, nie je povolený žiadny návratový </a:t>
            </a:r>
            <a:r>
              <a:rPr lang="sk-SK" dirty="0" err="1"/>
              <a:t>traffic</a:t>
            </a:r>
            <a:r>
              <a:rPr lang="sk-SK" dirty="0"/>
              <a:t> ...</a:t>
            </a:r>
          </a:p>
        </p:txBody>
      </p:sp>
    </p:spTree>
    <p:extLst>
      <p:ext uri="{BB962C8B-B14F-4D97-AF65-F5344CB8AC3E}">
        <p14:creationId xmlns:p14="http://schemas.microsoft.com/office/powerpoint/2010/main" val="37981898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NAT Services on an ASA</a:t>
            </a:r>
          </a:p>
        </p:txBody>
      </p:sp>
      <p:sp>
        <p:nvSpPr>
          <p:cNvPr id="3" name="Object2"/>
          <p:cNvSpPr>
            <a:spLocks noGrp="1"/>
          </p:cNvSpPr>
          <p:nvPr>
            <p:ph type="body" idx="100" hasCustomPrompt="1"/>
          </p:nvPr>
        </p:nvSpPr>
        <p:spPr>
          <a:xfrm>
            <a:off x="0" y="274320"/>
            <a:ext cx="9144000" cy="457200"/>
          </a:xfrm>
          <a:prstGeom prst="rect">
            <a:avLst/>
          </a:prstGeom>
          <a:noFill/>
          <a:ln/>
        </p:spPr>
        <p:txBody>
          <a:bodyPr wrap="square" rtlCol="0"/>
          <a:lstStyle/>
          <a:p>
            <a:pPr marL="0" indent="0">
              <a:buNone/>
            </a:pPr>
            <a:r>
              <a:rPr lang="en-US" dirty="0"/>
              <a:t>Configure Dynamic NAT (Cont.)</a:t>
            </a:r>
          </a:p>
        </p:txBody>
      </p:sp>
      <p:sp>
        <p:nvSpPr>
          <p:cNvPr id="8" name="TextBox 7">
            <a:extLst>
              <a:ext uri="{FF2B5EF4-FFF2-40B4-BE49-F238E27FC236}">
                <a16:creationId xmlns:a16="http://schemas.microsoft.com/office/drawing/2014/main" id="{BD75BA4C-537A-4C64-BC38-05A7BAFB796A}"/>
              </a:ext>
            </a:extLst>
          </p:cNvPr>
          <p:cNvSpPr txBox="1"/>
          <p:nvPr/>
        </p:nvSpPr>
        <p:spPr>
          <a:xfrm>
            <a:off x="173685" y="731520"/>
            <a:ext cx="7973721" cy="33855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following example shows how to allow inside hosts to </a:t>
            </a:r>
            <a:r>
              <a:rPr lang="en-US" sz="1600" b="1" dirty="0">
                <a:latin typeface="Arial" panose="020B0604020202020204" pitchFamily="34" charset="0"/>
                <a:cs typeface="Arial" panose="020B0604020202020204" pitchFamily="34" charset="0"/>
              </a:rPr>
              <a:t>ping</a:t>
            </a:r>
            <a:r>
              <a:rPr lang="en-US" sz="1600" dirty="0">
                <a:latin typeface="Arial" panose="020B0604020202020204" pitchFamily="34" charset="0"/>
                <a:cs typeface="Arial" panose="020B0604020202020204" pitchFamily="34" charset="0"/>
              </a:rPr>
              <a:t> outside hosts</a:t>
            </a:r>
            <a:r>
              <a:rPr lang="en-US" sz="1400" dirty="0">
                <a:latin typeface="Arial" panose="020B0604020202020204" pitchFamily="34" charset="0"/>
                <a:cs typeface="Arial" panose="020B0604020202020204" pitchFamily="34" charset="0"/>
              </a:rPr>
              <a:t>.</a:t>
            </a:r>
          </a:p>
        </p:txBody>
      </p:sp>
      <p:sp>
        <p:nvSpPr>
          <p:cNvPr id="13" name="TextBox 12">
            <a:extLst>
              <a:ext uri="{FF2B5EF4-FFF2-40B4-BE49-F238E27FC236}">
                <a16:creationId xmlns:a16="http://schemas.microsoft.com/office/drawing/2014/main" id="{9AA76F96-D19B-41E6-A20B-24A4F00A35F4}"/>
              </a:ext>
            </a:extLst>
          </p:cNvPr>
          <p:cNvSpPr txBox="1"/>
          <p:nvPr/>
        </p:nvSpPr>
        <p:spPr>
          <a:xfrm>
            <a:off x="611311" y="2891942"/>
            <a:ext cx="2177609" cy="1569660"/>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To verify the network address translation, use </a:t>
            </a:r>
            <a:r>
              <a:rPr lang="en-US" sz="1600" b="1" dirty="0">
                <a:latin typeface="Arial" panose="020B0604020202020204" pitchFamily="34" charset="0"/>
                <a:cs typeface="Arial" panose="020B0604020202020204" pitchFamily="34" charset="0"/>
              </a:rPr>
              <a:t>show xlate</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show nat</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show nat detail </a:t>
            </a:r>
            <a:r>
              <a:rPr lang="en-US" sz="1600" dirty="0">
                <a:latin typeface="Arial" panose="020B0604020202020204" pitchFamily="34" charset="0"/>
                <a:cs typeface="Arial" panose="020B0604020202020204" pitchFamily="34" charset="0"/>
              </a:rPr>
              <a:t>commands.</a:t>
            </a:r>
          </a:p>
        </p:txBody>
      </p:sp>
      <p:pic>
        <p:nvPicPr>
          <p:cNvPr id="6" name="Picture 5">
            <a:extLst>
              <a:ext uri="{FF2B5EF4-FFF2-40B4-BE49-F238E27FC236}">
                <a16:creationId xmlns:a16="http://schemas.microsoft.com/office/drawing/2014/main" id="{96286BDE-E3D2-4CB2-82B0-486750ADAB92}"/>
              </a:ext>
            </a:extLst>
          </p:cNvPr>
          <p:cNvPicPr>
            <a:picLocks noChangeAspect="1"/>
          </p:cNvPicPr>
          <p:nvPr/>
        </p:nvPicPr>
        <p:blipFill>
          <a:blip r:embed="rId3"/>
          <a:stretch>
            <a:fillRect/>
          </a:stretch>
        </p:blipFill>
        <p:spPr>
          <a:xfrm>
            <a:off x="1074286" y="1501558"/>
            <a:ext cx="6172517" cy="95889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77</a:t>
            </a:fld>
            <a:endParaRPr lang="en-US" dirty="0"/>
          </a:p>
        </p:txBody>
      </p:sp>
      <p:sp>
        <p:nvSpPr>
          <p:cNvPr id="4" name="BlokTextu 3">
            <a:extLst>
              <a:ext uri="{FF2B5EF4-FFF2-40B4-BE49-F238E27FC236}">
                <a16:creationId xmlns:a16="http://schemas.microsoft.com/office/drawing/2014/main" id="{199FF5E5-5402-2875-2B5A-80E4A58BD908}"/>
              </a:ext>
            </a:extLst>
          </p:cNvPr>
          <p:cNvSpPr txBox="1"/>
          <p:nvPr/>
        </p:nvSpPr>
        <p:spPr>
          <a:xfrm>
            <a:off x="3558769" y="2683044"/>
            <a:ext cx="4076654" cy="2031325"/>
          </a:xfrm>
          <a:prstGeom prst="rect">
            <a:avLst/>
          </a:prstGeom>
          <a:solidFill>
            <a:schemeClr val="tx1"/>
          </a:solidFill>
        </p:spPr>
        <p:txBody>
          <a:bodyPr wrap="square" rtlCol="0">
            <a:spAutoFit/>
          </a:bodyPr>
          <a:lstStyle/>
          <a:p>
            <a:r>
              <a:rPr lang="sk-SK" dirty="0">
                <a:solidFill>
                  <a:schemeClr val="bg1"/>
                </a:solidFill>
              </a:rPr>
              <a:t>Alebo aj takto pre ftp, http, </a:t>
            </a:r>
            <a:r>
              <a:rPr lang="sk-SK" dirty="0" err="1">
                <a:solidFill>
                  <a:schemeClr val="bg1"/>
                </a:solidFill>
              </a:rPr>
              <a:t>icmp</a:t>
            </a:r>
            <a:r>
              <a:rPr lang="sk-SK" dirty="0">
                <a:solidFill>
                  <a:schemeClr val="bg1"/>
                </a:solidFill>
              </a:rPr>
              <a:t> a </a:t>
            </a:r>
            <a:r>
              <a:rPr lang="sk-SK" dirty="0" err="1">
                <a:solidFill>
                  <a:schemeClr val="bg1"/>
                </a:solidFill>
              </a:rPr>
              <a:t>tftp</a:t>
            </a:r>
            <a:r>
              <a:rPr lang="sk-SK" dirty="0">
                <a:solidFill>
                  <a:schemeClr val="bg1"/>
                </a:solidFill>
              </a:rPr>
              <a:t>:</a:t>
            </a:r>
          </a:p>
          <a:p>
            <a:r>
              <a:rPr lang="sk-SK" b="1" dirty="0" err="1">
                <a:solidFill>
                  <a:schemeClr val="bg1"/>
                </a:solidFill>
                <a:effectLst/>
              </a:rPr>
              <a:t>policy-map</a:t>
            </a:r>
            <a:r>
              <a:rPr lang="sk-SK" b="1" dirty="0">
                <a:solidFill>
                  <a:schemeClr val="bg1"/>
                </a:solidFill>
                <a:effectLst/>
              </a:rPr>
              <a:t> </a:t>
            </a:r>
            <a:r>
              <a:rPr lang="sk-SK" b="1" dirty="0" err="1">
                <a:solidFill>
                  <a:schemeClr val="bg1"/>
                </a:solidFill>
                <a:effectLst/>
              </a:rPr>
              <a:t>global_policy</a:t>
            </a:r>
            <a:endParaRPr lang="sk-SK" b="1" dirty="0">
              <a:solidFill>
                <a:schemeClr val="bg1"/>
              </a:solidFill>
              <a:effectLst/>
            </a:endParaRPr>
          </a:p>
          <a:p>
            <a:r>
              <a:rPr lang="sk-SK" b="1" dirty="0">
                <a:solidFill>
                  <a:schemeClr val="bg1"/>
                </a:solidFill>
                <a:effectLst/>
              </a:rPr>
              <a:t>  </a:t>
            </a:r>
            <a:r>
              <a:rPr lang="sk-SK" b="1" dirty="0" err="1">
                <a:solidFill>
                  <a:schemeClr val="bg1"/>
                </a:solidFill>
                <a:effectLst/>
              </a:rPr>
              <a:t>class</a:t>
            </a:r>
            <a:r>
              <a:rPr lang="sk-SK" b="1" dirty="0">
                <a:solidFill>
                  <a:schemeClr val="bg1"/>
                </a:solidFill>
                <a:effectLst/>
              </a:rPr>
              <a:t> </a:t>
            </a:r>
            <a:r>
              <a:rPr lang="sk-SK" b="1" dirty="0" err="1">
                <a:solidFill>
                  <a:schemeClr val="bg1"/>
                </a:solidFill>
                <a:effectLst/>
              </a:rPr>
              <a:t>inspection_default</a:t>
            </a:r>
            <a:endParaRPr lang="sk-SK" b="1" dirty="0">
              <a:solidFill>
                <a:schemeClr val="bg1"/>
              </a:solidFill>
              <a:effectLst/>
            </a:endParaRPr>
          </a:p>
          <a:p>
            <a:r>
              <a:rPr lang="sk-SK" b="1" dirty="0">
                <a:solidFill>
                  <a:schemeClr val="bg1"/>
                </a:solidFill>
                <a:effectLst/>
              </a:rPr>
              <a:t>    </a:t>
            </a:r>
            <a:r>
              <a:rPr lang="sk-SK" b="1" dirty="0" err="1">
                <a:solidFill>
                  <a:schemeClr val="bg1"/>
                </a:solidFill>
                <a:effectLst/>
              </a:rPr>
              <a:t>inspect</a:t>
            </a:r>
            <a:r>
              <a:rPr lang="sk-SK" b="1" dirty="0">
                <a:solidFill>
                  <a:schemeClr val="bg1"/>
                </a:solidFill>
                <a:effectLst/>
              </a:rPr>
              <a:t> ftp </a:t>
            </a:r>
          </a:p>
          <a:p>
            <a:r>
              <a:rPr lang="sk-SK" b="1" dirty="0">
                <a:solidFill>
                  <a:schemeClr val="bg1"/>
                </a:solidFill>
                <a:effectLst/>
              </a:rPr>
              <a:t>    </a:t>
            </a:r>
            <a:r>
              <a:rPr lang="sk-SK" b="1" dirty="0" err="1">
                <a:solidFill>
                  <a:schemeClr val="bg1"/>
                </a:solidFill>
                <a:effectLst/>
              </a:rPr>
              <a:t>inspect</a:t>
            </a:r>
            <a:r>
              <a:rPr lang="sk-SK" b="1" dirty="0">
                <a:solidFill>
                  <a:schemeClr val="bg1"/>
                </a:solidFill>
                <a:effectLst/>
              </a:rPr>
              <a:t> http </a:t>
            </a:r>
          </a:p>
          <a:p>
            <a:r>
              <a:rPr lang="sk-SK" b="1" dirty="0">
                <a:solidFill>
                  <a:schemeClr val="bg1"/>
                </a:solidFill>
                <a:effectLst/>
              </a:rPr>
              <a:t>    </a:t>
            </a:r>
            <a:r>
              <a:rPr lang="sk-SK" b="1" dirty="0" err="1">
                <a:solidFill>
                  <a:schemeClr val="bg1"/>
                </a:solidFill>
                <a:effectLst/>
              </a:rPr>
              <a:t>inspect</a:t>
            </a:r>
            <a:r>
              <a:rPr lang="sk-SK" b="1" dirty="0">
                <a:solidFill>
                  <a:schemeClr val="bg1"/>
                </a:solidFill>
                <a:effectLst/>
              </a:rPr>
              <a:t> </a:t>
            </a:r>
            <a:r>
              <a:rPr lang="sk-SK" b="1" dirty="0" err="1">
                <a:solidFill>
                  <a:schemeClr val="bg1"/>
                </a:solidFill>
                <a:effectLst/>
              </a:rPr>
              <a:t>icmp</a:t>
            </a:r>
            <a:r>
              <a:rPr lang="sk-SK" b="1" dirty="0">
                <a:solidFill>
                  <a:schemeClr val="bg1"/>
                </a:solidFill>
                <a:effectLst/>
              </a:rPr>
              <a:t> </a:t>
            </a:r>
          </a:p>
          <a:p>
            <a:r>
              <a:rPr lang="sk-SK" b="1" dirty="0">
                <a:solidFill>
                  <a:schemeClr val="bg1"/>
                </a:solidFill>
                <a:effectLst/>
              </a:rPr>
              <a:t>    </a:t>
            </a:r>
            <a:r>
              <a:rPr lang="sk-SK" b="1" dirty="0" err="1">
                <a:solidFill>
                  <a:schemeClr val="bg1"/>
                </a:solidFill>
                <a:effectLst/>
              </a:rPr>
              <a:t>inspect</a:t>
            </a:r>
            <a:r>
              <a:rPr lang="sk-SK" b="1" dirty="0">
                <a:solidFill>
                  <a:schemeClr val="bg1"/>
                </a:solidFill>
                <a:effectLst/>
              </a:rPr>
              <a:t> </a:t>
            </a:r>
            <a:r>
              <a:rPr lang="sk-SK" b="1" dirty="0" err="1">
                <a:solidFill>
                  <a:schemeClr val="bg1"/>
                </a:solidFill>
                <a:effectLst/>
              </a:rPr>
              <a:t>tftp</a:t>
            </a:r>
            <a:r>
              <a:rPr lang="sk-SK" b="1" dirty="0">
                <a:solidFill>
                  <a:schemeClr val="bg1"/>
                </a:solidFill>
                <a:effectLst/>
              </a:rPr>
              <a:t> </a:t>
            </a:r>
            <a:endParaRPr lang="sk-SK" dirty="0"/>
          </a:p>
        </p:txBody>
      </p:sp>
    </p:spTree>
    <p:extLst>
      <p:ext uri="{BB962C8B-B14F-4D97-AF65-F5344CB8AC3E}">
        <p14:creationId xmlns:p14="http://schemas.microsoft.com/office/powerpoint/2010/main" val="31644543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NAT Services on an ASA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Dynamic PAT</a:t>
            </a:r>
          </a:p>
        </p:txBody>
      </p:sp>
      <p:sp>
        <p:nvSpPr>
          <p:cNvPr id="5" name="Object4"/>
          <p:cNvSpPr/>
          <p:nvPr/>
        </p:nvSpPr>
        <p:spPr>
          <a:xfrm>
            <a:off x="0" y="731520"/>
            <a:ext cx="9246742"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To enable inside hosts to overload the outside address, use </a:t>
            </a:r>
            <a:r>
              <a:rPr lang="en-US" sz="1600" b="1" dirty="0">
                <a:effectLst/>
                <a:latin typeface="Arial" panose="020B0604020202020204" pitchFamily="34" charset="0"/>
                <a:cs typeface="Arial" panose="020B0604020202020204" pitchFamily="34" charset="0"/>
              </a:rPr>
              <a:t> nat </a:t>
            </a:r>
            <a:r>
              <a:rPr lang="en-US" sz="1600" dirty="0">
                <a:effectLst/>
                <a:latin typeface="Arial" panose="020B0604020202020204" pitchFamily="34" charset="0"/>
                <a:cs typeface="Arial" panose="020B0604020202020204" pitchFamily="34" charset="0"/>
              </a:rPr>
              <a:t>[(</a:t>
            </a:r>
            <a:r>
              <a:rPr lang="en-US" sz="1600" i="1" dirty="0">
                <a:effectLst/>
                <a:latin typeface="Arial" panose="020B0604020202020204" pitchFamily="34" charset="0"/>
                <a:cs typeface="Arial" panose="020B0604020202020204" pitchFamily="34" charset="0"/>
              </a:rPr>
              <a:t>real_if_name</a:t>
            </a:r>
            <a:r>
              <a:rPr lang="en-US" sz="1600" dirty="0">
                <a:effectLst/>
                <a:latin typeface="Arial" panose="020B0604020202020204" pitchFamily="34" charset="0"/>
                <a:cs typeface="Arial" panose="020B0604020202020204" pitchFamily="34" charset="0"/>
              </a:rPr>
              <a:t>,</a:t>
            </a:r>
            <a:r>
              <a:rPr lang="en-US" sz="1600" i="1" dirty="0">
                <a:effectLst/>
                <a:latin typeface="Arial" panose="020B0604020202020204" pitchFamily="34" charset="0"/>
                <a:cs typeface="Arial" panose="020B0604020202020204" pitchFamily="34" charset="0"/>
              </a:rPr>
              <a:t>mapped_if_name</a:t>
            </a:r>
            <a:r>
              <a:rPr lang="en-US" sz="1600" dirty="0">
                <a:effectLst/>
                <a:latin typeface="Arial" panose="020B0604020202020204" pitchFamily="34" charset="0"/>
                <a:cs typeface="Arial" panose="020B0604020202020204" pitchFamily="34" charset="0"/>
              </a:rPr>
              <a:t>)] </a:t>
            </a:r>
            <a:r>
              <a:rPr lang="en-US" sz="1600" b="1" dirty="0">
                <a:effectLst/>
                <a:latin typeface="Arial" panose="020B0604020202020204" pitchFamily="34" charset="0"/>
                <a:cs typeface="Arial" panose="020B0604020202020204" pitchFamily="34" charset="0"/>
              </a:rPr>
              <a:t>dynamic interface </a:t>
            </a:r>
            <a:r>
              <a:rPr lang="en-US" sz="1600" dirty="0">
                <a:effectLst/>
                <a:latin typeface="Arial" panose="020B0604020202020204" pitchFamily="34" charset="0"/>
                <a:cs typeface="Arial" panose="020B0604020202020204" pitchFamily="34" charset="0"/>
              </a:rPr>
              <a:t> command, as shown in the example.</a:t>
            </a:r>
          </a:p>
        </p:txBody>
      </p:sp>
      <p:pic>
        <p:nvPicPr>
          <p:cNvPr id="4" name="Picture 3">
            <a:extLst>
              <a:ext uri="{FF2B5EF4-FFF2-40B4-BE49-F238E27FC236}">
                <a16:creationId xmlns:a16="http://schemas.microsoft.com/office/drawing/2014/main" id="{505AAF20-B8F7-4707-9344-3345BC9BC1EE}"/>
              </a:ext>
            </a:extLst>
          </p:cNvPr>
          <p:cNvPicPr>
            <a:picLocks noChangeAspect="1"/>
          </p:cNvPicPr>
          <p:nvPr/>
        </p:nvPicPr>
        <p:blipFill>
          <a:blip r:embed="rId3"/>
          <a:stretch>
            <a:fillRect/>
          </a:stretch>
        </p:blipFill>
        <p:spPr>
          <a:xfrm>
            <a:off x="0" y="1645920"/>
            <a:ext cx="9144000" cy="142606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78</a:t>
            </a:fld>
            <a:endParaRPr lang="en-US" dirty="0"/>
          </a:p>
        </p:txBody>
      </p:sp>
    </p:spTree>
    <p:extLst>
      <p:ext uri="{BB962C8B-B14F-4D97-AF65-F5344CB8AC3E}">
        <p14:creationId xmlns:p14="http://schemas.microsoft.com/office/powerpoint/2010/main" val="25393891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NAT Services on an ASA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Static NAT</a:t>
            </a:r>
          </a:p>
        </p:txBody>
      </p:sp>
      <p:sp>
        <p:nvSpPr>
          <p:cNvPr id="5" name="Object4"/>
          <p:cNvSpPr/>
          <p:nvPr/>
        </p:nvSpPr>
        <p:spPr>
          <a:xfrm>
            <a:off x="0" y="739402"/>
            <a:ext cx="8599470" cy="3288067"/>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Static NAT is configured when an inside address is mapped to an outside address. For instance, static NAT can be used when a server must be accessible from the outside.</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To configure static NAT, use the </a:t>
            </a:r>
            <a:r>
              <a:rPr lang="en-US" sz="1600" b="1" dirty="0">
                <a:effectLst/>
                <a:latin typeface="Arial" panose="020B0604020202020204" pitchFamily="34" charset="0"/>
                <a:cs typeface="Arial" panose="020B0604020202020204" pitchFamily="34" charset="0"/>
              </a:rPr>
              <a:t>nat</a:t>
            </a:r>
            <a:r>
              <a:rPr lang="en-US" sz="1600" dirty="0">
                <a:effectLst/>
                <a:latin typeface="Arial" panose="020B0604020202020204" pitchFamily="34" charset="0"/>
                <a:cs typeface="Arial" panose="020B0604020202020204" pitchFamily="34" charset="0"/>
              </a:rPr>
              <a:t> [(</a:t>
            </a:r>
            <a:r>
              <a:rPr lang="en-US" sz="1600" i="1" dirty="0">
                <a:effectLst/>
                <a:latin typeface="Arial" panose="020B0604020202020204" pitchFamily="34" charset="0"/>
                <a:cs typeface="Arial" panose="020B0604020202020204" pitchFamily="34" charset="0"/>
              </a:rPr>
              <a:t>real_if_name</a:t>
            </a:r>
            <a:r>
              <a:rPr lang="en-US" sz="1600" dirty="0">
                <a:effectLst/>
                <a:latin typeface="Arial" panose="020B0604020202020204" pitchFamily="34" charset="0"/>
                <a:cs typeface="Arial" panose="020B0604020202020204" pitchFamily="34" charset="0"/>
              </a:rPr>
              <a:t>,</a:t>
            </a:r>
            <a:r>
              <a:rPr lang="en-US" sz="1600" i="1" dirty="0">
                <a:effectLst/>
                <a:latin typeface="Arial" panose="020B0604020202020204" pitchFamily="34" charset="0"/>
                <a:cs typeface="Arial" panose="020B0604020202020204" pitchFamily="34" charset="0"/>
              </a:rPr>
              <a:t>mapped_if_name</a:t>
            </a:r>
            <a:r>
              <a:rPr lang="en-US" sz="1600" dirty="0">
                <a:effectLst/>
                <a:latin typeface="Arial" panose="020B0604020202020204" pitchFamily="34" charset="0"/>
                <a:cs typeface="Arial" panose="020B0604020202020204" pitchFamily="34" charset="0"/>
              </a:rPr>
              <a:t>)] </a:t>
            </a:r>
            <a:r>
              <a:rPr lang="en-US" sz="1600" b="1" dirty="0">
                <a:effectLst/>
                <a:latin typeface="Arial" panose="020B0604020202020204" pitchFamily="34" charset="0"/>
                <a:cs typeface="Arial" panose="020B0604020202020204" pitchFamily="34" charset="0"/>
              </a:rPr>
              <a:t>static</a:t>
            </a:r>
            <a:r>
              <a:rPr lang="en-US" sz="1600" dirty="0">
                <a:effectLst/>
                <a:latin typeface="Arial" panose="020B0604020202020204" pitchFamily="34" charset="0"/>
                <a:cs typeface="Arial" panose="020B0604020202020204" pitchFamily="34" charset="0"/>
              </a:rPr>
              <a:t> ma</a:t>
            </a:r>
            <a:r>
              <a:rPr lang="en-US" sz="1600" i="1" dirty="0">
                <a:effectLst/>
                <a:latin typeface="Arial" panose="020B0604020202020204" pitchFamily="34" charset="0"/>
                <a:cs typeface="Arial" panose="020B0604020202020204" pitchFamily="34" charset="0"/>
              </a:rPr>
              <a:t>pped-inline-host-ip</a:t>
            </a:r>
            <a:r>
              <a:rPr lang="en-US" sz="1600" dirty="0">
                <a:effectLst/>
                <a:latin typeface="Arial" panose="020B0604020202020204" pitchFamily="34" charset="0"/>
                <a:cs typeface="Arial" panose="020B0604020202020204" pitchFamily="34" charset="0"/>
              </a:rPr>
              <a:t> network object command. </a:t>
            </a:r>
            <a:r>
              <a:rPr lang="en-US" sz="1600" dirty="0">
                <a:latin typeface="Arial" panose="020B0604020202020204" pitchFamily="34" charset="0"/>
                <a:cs typeface="Arial" panose="020B0604020202020204" pitchFamily="34" charset="0"/>
              </a:rPr>
              <a:t>The example configuration is on the next slide.</a:t>
            </a:r>
            <a:endParaRPr lang="en-US" sz="1600" dirty="0">
              <a:effectLst/>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7FDA12BC-85DB-41F7-8CC1-F8B8902E7F92}"/>
              </a:ext>
            </a:extLst>
          </p:cNvPr>
          <p:cNvPicPr>
            <a:picLocks noChangeAspect="1"/>
          </p:cNvPicPr>
          <p:nvPr/>
        </p:nvPicPr>
        <p:blipFill>
          <a:blip r:embed="rId3"/>
          <a:stretch>
            <a:fillRect/>
          </a:stretch>
        </p:blipFill>
        <p:spPr>
          <a:xfrm>
            <a:off x="1652173" y="2349700"/>
            <a:ext cx="5295123" cy="239375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79</a:t>
            </a:fld>
            <a:endParaRPr lang="en-US" dirty="0"/>
          </a:p>
        </p:txBody>
      </p:sp>
    </p:spTree>
    <p:extLst>
      <p:ext uri="{BB962C8B-B14F-4D97-AF65-F5344CB8AC3E}">
        <p14:creationId xmlns:p14="http://schemas.microsoft.com/office/powerpoint/2010/main" val="39596185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NAT Services on an ASA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Static NAT (Cont.)</a:t>
            </a:r>
          </a:p>
        </p:txBody>
      </p:sp>
      <p:pic>
        <p:nvPicPr>
          <p:cNvPr id="6" name="Picture 5">
            <a:extLst>
              <a:ext uri="{FF2B5EF4-FFF2-40B4-BE49-F238E27FC236}">
                <a16:creationId xmlns:a16="http://schemas.microsoft.com/office/drawing/2014/main" id="{7E42A99C-5BD3-47CC-8FC2-8863179C8610}"/>
              </a:ext>
            </a:extLst>
          </p:cNvPr>
          <p:cNvPicPr>
            <a:picLocks noChangeAspect="1"/>
          </p:cNvPicPr>
          <p:nvPr/>
        </p:nvPicPr>
        <p:blipFill>
          <a:blip r:embed="rId3"/>
          <a:stretch>
            <a:fillRect/>
          </a:stretch>
        </p:blipFill>
        <p:spPr>
          <a:xfrm>
            <a:off x="1117422" y="1298509"/>
            <a:ext cx="6909155" cy="254648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80</a:t>
            </a:fld>
            <a:endParaRPr lang="en-US" dirty="0"/>
          </a:p>
        </p:txBody>
      </p:sp>
    </p:spTree>
    <p:extLst>
      <p:ext uri="{BB962C8B-B14F-4D97-AF65-F5344CB8AC3E}">
        <p14:creationId xmlns:p14="http://schemas.microsoft.com/office/powerpoint/2010/main" val="9743866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21.6 AAA</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81</a:t>
            </a:fld>
            <a:endParaRPr lang="en-US" dirty="0"/>
          </a:p>
        </p:txBody>
      </p:sp>
    </p:spTree>
    <p:extLst>
      <p:ext uri="{BB962C8B-B14F-4D97-AF65-F5344CB8AC3E}">
        <p14:creationId xmlns:p14="http://schemas.microsoft.com/office/powerpoint/2010/main" val="38567723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AAA Review</a:t>
            </a:r>
          </a:p>
        </p:txBody>
      </p:sp>
      <p:sp>
        <p:nvSpPr>
          <p:cNvPr id="5" name="Object4"/>
          <p:cNvSpPr/>
          <p:nvPr/>
        </p:nvSpPr>
        <p:spPr>
          <a:xfrm>
            <a:off x="0" y="708660"/>
            <a:ext cx="900211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Authentication, authorization, and accounting (AAA) provides an extra level of protection and user control. Using AAA only, authenticated and authorized users can be permitted to connect through the ASA.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Authorization controls access, per user, after users are authenticated. Authorization controls the services and commands that are available to each authenticated user.</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Accounting tracks traffic that passes through the ASA, enabling administrators to have a record of user activity.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82</a:t>
            </a:fld>
            <a:endParaRPr lang="en-US" dirty="0"/>
          </a:p>
        </p:txBody>
      </p:sp>
    </p:spTree>
    <p:extLst>
      <p:ext uri="{BB962C8B-B14F-4D97-AF65-F5344CB8AC3E}">
        <p14:creationId xmlns:p14="http://schemas.microsoft.com/office/powerpoint/2010/main" val="2028784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Local Database and Servers (PT </a:t>
            </a:r>
            <a:r>
              <a:rPr lang="en-US" dirty="0" err="1"/>
              <a:t>nepodporuje</a:t>
            </a:r>
            <a:r>
              <a:rPr lang="en-US" dirty="0"/>
              <a:t> </a:t>
            </a:r>
            <a:r>
              <a:rPr lang="en-US" dirty="0" err="1"/>
              <a:t>aaa</a:t>
            </a:r>
            <a:r>
              <a:rPr lang="en-US"/>
              <a:t> server)</a:t>
            </a:r>
            <a:endParaRPr lang="en-US" dirty="0"/>
          </a:p>
        </p:txBody>
      </p:sp>
      <p:sp>
        <p:nvSpPr>
          <p:cNvPr id="7" name="TextBox 6">
            <a:extLst>
              <a:ext uri="{FF2B5EF4-FFF2-40B4-BE49-F238E27FC236}">
                <a16:creationId xmlns:a16="http://schemas.microsoft.com/office/drawing/2014/main" id="{F93BE9F5-3EAB-42A9-8AD9-A54C572D7904}"/>
              </a:ext>
            </a:extLst>
          </p:cNvPr>
          <p:cNvSpPr txBox="1"/>
          <p:nvPr/>
        </p:nvSpPr>
        <p:spPr>
          <a:xfrm>
            <a:off x="0" y="678581"/>
            <a:ext cx="9079361" cy="132343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username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name</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password</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password</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privilege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priv-level</a:t>
            </a:r>
            <a:r>
              <a:rPr lang="en-US" sz="1600" dirty="0">
                <a:latin typeface="Arial" panose="020B0604020202020204" pitchFamily="34" charset="0"/>
                <a:cs typeface="Arial" panose="020B0604020202020204" pitchFamily="34" charset="0"/>
              </a:rPr>
              <a:t>] command to create local user accounts. To erase a user from the local database, use the </a:t>
            </a:r>
            <a:r>
              <a:rPr lang="en-US" sz="1600" b="1" dirty="0">
                <a:latin typeface="Arial" panose="020B0604020202020204" pitchFamily="34" charset="0"/>
                <a:cs typeface="Arial" panose="020B0604020202020204" pitchFamily="34" charset="0"/>
              </a:rPr>
              <a:t>clear config username </a:t>
            </a:r>
            <a:r>
              <a:rPr lang="en-US" sz="1600" dirty="0">
                <a:latin typeface="Arial" panose="020B0604020202020204" pitchFamily="34" charset="0"/>
                <a:cs typeface="Arial" panose="020B0604020202020204" pitchFamily="34" charset="0"/>
              </a:rPr>
              <a:t>[</a:t>
            </a:r>
            <a:r>
              <a:rPr lang="en-US" sz="1600" i="1" dirty="0">
                <a:latin typeface="Arial" panose="020B0604020202020204" pitchFamily="34" charset="0"/>
                <a:cs typeface="Arial" panose="020B0604020202020204" pitchFamily="34" charset="0"/>
              </a:rPr>
              <a:t>name</a:t>
            </a:r>
            <a:r>
              <a:rPr lang="en-US" sz="1600" dirty="0">
                <a:latin typeface="Arial" panose="020B0604020202020204" pitchFamily="34" charset="0"/>
                <a:cs typeface="Arial" panose="020B0604020202020204" pitchFamily="34" charset="0"/>
              </a:rPr>
              <a:t>] command. To view all user accounts, use the </a:t>
            </a:r>
            <a:r>
              <a:rPr lang="en-US" sz="1600" b="1" dirty="0">
                <a:latin typeface="Arial" panose="020B0604020202020204" pitchFamily="34" charset="0"/>
                <a:cs typeface="Arial" panose="020B0604020202020204" pitchFamily="34" charset="0"/>
              </a:rPr>
              <a:t>show running-config username </a:t>
            </a:r>
            <a:r>
              <a:rPr lang="en-US" sz="1600" dirty="0">
                <a:latin typeface="Arial" panose="020B0604020202020204" pitchFamily="34" charset="0"/>
                <a:cs typeface="Arial" panose="020B0604020202020204" pitchFamily="34" charset="0"/>
              </a:rPr>
              <a:t>command.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configure a TACACS+ or RADIUS server, use the commands listed in the table.</a:t>
            </a:r>
          </a:p>
        </p:txBody>
      </p:sp>
      <p:graphicFrame>
        <p:nvGraphicFramePr>
          <p:cNvPr id="53" name="Table 52"/>
          <p:cNvGraphicFramePr>
            <a:graphicFrameLocks noGrp="1"/>
          </p:cNvGraphicFramePr>
          <p:nvPr>
            <p:extLst>
              <p:ext uri="{D42A27DB-BD31-4B8C-83A1-F6EECF244321}">
                <p14:modId xmlns:p14="http://schemas.microsoft.com/office/powerpoint/2010/main" val="2394384294"/>
              </p:ext>
            </p:extLst>
          </p:nvPr>
        </p:nvGraphicFramePr>
        <p:xfrm>
          <a:off x="64639" y="1992366"/>
          <a:ext cx="8961120" cy="960120"/>
        </p:xfrm>
        <a:graphic>
          <a:graphicData uri="http://schemas.openxmlformats.org/drawingml/2006/table">
            <a:tbl>
              <a:tblPr/>
              <a:tblGrid>
                <a:gridCol w="4086121">
                  <a:extLst>
                    <a:ext uri="{9D8B030D-6E8A-4147-A177-3AD203B41FA5}">
                      <a16:colId xmlns:a16="http://schemas.microsoft.com/office/drawing/2014/main" val="20000"/>
                    </a:ext>
                  </a:extLst>
                </a:gridCol>
                <a:gridCol w="4874999">
                  <a:extLst>
                    <a:ext uri="{9D8B030D-6E8A-4147-A177-3AD203B41FA5}">
                      <a16:colId xmlns:a16="http://schemas.microsoft.com/office/drawing/2014/main" val="20001"/>
                    </a:ext>
                  </a:extLst>
                </a:gridCol>
              </a:tblGrid>
              <a:tr h="0">
                <a:tc>
                  <a:txBody>
                    <a:bodyPr/>
                    <a:lstStyle/>
                    <a:p>
                      <a:r>
                        <a:rPr lang="en-US" sz="1200" dirty="0">
                          <a:solidFill>
                            <a:srgbClr val="FFFFFF"/>
                          </a:solidFill>
                        </a:rPr>
                        <a:t>ASA 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latin typeface="Courier New" panose="02070309020205020404" pitchFamily="49" charset="0"/>
                          <a:cs typeface="Courier New" panose="02070309020205020404" pitchFamily="49" charset="0"/>
                        </a:rPr>
                        <a:t>aaa-server</a:t>
                      </a:r>
                      <a:r>
                        <a:rPr lang="en-US" sz="1200" dirty="0">
                          <a:latin typeface="Courier New" panose="02070309020205020404" pitchFamily="49" charset="0"/>
                          <a:cs typeface="Courier New" panose="02070309020205020404" pitchFamily="49" charset="0"/>
                        </a:rPr>
                        <a:t> </a:t>
                      </a:r>
                      <a:r>
                        <a:rPr lang="en-US" sz="1200" i="1" dirty="0">
                          <a:latin typeface="Courier New" panose="02070309020205020404" pitchFamily="49" charset="0"/>
                          <a:cs typeface="Courier New" panose="02070309020205020404" pitchFamily="49" charset="0"/>
                        </a:rPr>
                        <a:t>server-tag</a:t>
                      </a:r>
                      <a:r>
                        <a:rPr lang="en-US" sz="1200" dirty="0">
                          <a:latin typeface="Courier New" panose="02070309020205020404" pitchFamily="49" charset="0"/>
                          <a:cs typeface="Courier New" panose="02070309020205020404" pitchFamily="49" charset="0"/>
                        </a:rPr>
                        <a:t> </a:t>
                      </a:r>
                      <a:r>
                        <a:rPr lang="en-US" sz="1200" b="1" dirty="0">
                          <a:latin typeface="Courier New" panose="02070309020205020404" pitchFamily="49" charset="0"/>
                          <a:cs typeface="Courier New" panose="02070309020205020404" pitchFamily="49" charset="0"/>
                        </a:rPr>
                        <a:t>protocol</a:t>
                      </a:r>
                      <a:r>
                        <a:rPr lang="en-US" sz="1200" dirty="0">
                          <a:latin typeface="Courier New" panose="02070309020205020404" pitchFamily="49" charset="0"/>
                          <a:cs typeface="Courier New" panose="02070309020205020404" pitchFamily="49" charset="0"/>
                        </a:rPr>
                        <a:t> </a:t>
                      </a:r>
                      <a:r>
                        <a:rPr lang="en-US" sz="1200" i="1" dirty="0">
                          <a:latin typeface="Courier New" panose="02070309020205020404" pitchFamily="49" charset="0"/>
                          <a:cs typeface="Courier New" panose="02070309020205020404" pitchFamily="49" charset="0"/>
                        </a:rPr>
                        <a:t>protocol</a:t>
                      </a:r>
                      <a:endParaRPr lang="en-US" sz="1200"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Creates a TACACS+ or RADIUS AAA server group.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latin typeface="Courier New" panose="02070309020205020404" pitchFamily="49" charset="0"/>
                          <a:cs typeface="Courier New" panose="02070309020205020404" pitchFamily="49" charset="0"/>
                        </a:rPr>
                        <a:t>aaa-server</a:t>
                      </a:r>
                      <a:r>
                        <a:rPr lang="en-US" sz="1200" dirty="0">
                          <a:latin typeface="Courier New" panose="02070309020205020404" pitchFamily="49" charset="0"/>
                          <a:cs typeface="Courier New" panose="02070309020205020404" pitchFamily="49" charset="0"/>
                        </a:rPr>
                        <a:t> </a:t>
                      </a:r>
                      <a:r>
                        <a:rPr lang="en-US" sz="1200" i="1" dirty="0">
                          <a:latin typeface="Courier New" panose="02070309020205020404" pitchFamily="49" charset="0"/>
                          <a:cs typeface="Courier New" panose="02070309020205020404" pitchFamily="49" charset="0"/>
                        </a:rPr>
                        <a:t>server-tag</a:t>
                      </a:r>
                      <a:r>
                        <a:rPr lang="en-US" sz="1200" dirty="0">
                          <a:latin typeface="Courier New" panose="02070309020205020404" pitchFamily="49" charset="0"/>
                          <a:cs typeface="Courier New" panose="02070309020205020404" pitchFamily="49" charset="0"/>
                        </a:rPr>
                        <a:t> [(-interface name )] </a:t>
                      </a:r>
                      <a:r>
                        <a:rPr lang="en-US" sz="1200" b="1" dirty="0">
                          <a:latin typeface="Courier New" panose="02070309020205020404" pitchFamily="49" charset="0"/>
                          <a:cs typeface="Courier New" panose="02070309020205020404" pitchFamily="49" charset="0"/>
                        </a:rPr>
                        <a:t>host</a:t>
                      </a:r>
                      <a:r>
                        <a:rPr lang="en-US" sz="1200" dirty="0">
                          <a:latin typeface="Courier New" panose="02070309020205020404" pitchFamily="49" charset="0"/>
                          <a:cs typeface="Courier New" panose="02070309020205020404" pitchFamily="49" charset="0"/>
                        </a:rPr>
                        <a:t> {</a:t>
                      </a:r>
                      <a:r>
                        <a:rPr lang="en-US" sz="1200" i="1" dirty="0">
                          <a:latin typeface="Courier New" panose="02070309020205020404" pitchFamily="49" charset="0"/>
                          <a:cs typeface="Courier New" panose="02070309020205020404" pitchFamily="49" charset="0"/>
                        </a:rPr>
                        <a:t>server-ip</a:t>
                      </a:r>
                      <a:r>
                        <a:rPr lang="en-US" sz="1200" dirty="0">
                          <a:latin typeface="Courier New" panose="02070309020205020404" pitchFamily="49" charset="0"/>
                          <a:cs typeface="Courier New" panose="02070309020205020404" pitchFamily="49" charset="0"/>
                        </a:rPr>
                        <a:t> | </a:t>
                      </a:r>
                      <a:r>
                        <a:rPr lang="en-US" sz="1200" i="1" dirty="0">
                          <a:latin typeface="Courier New" panose="02070309020205020404" pitchFamily="49" charset="0"/>
                          <a:cs typeface="Courier New" panose="02070309020205020404" pitchFamily="49" charset="0"/>
                        </a:rPr>
                        <a:t>name</a:t>
                      </a:r>
                      <a:r>
                        <a:rPr lang="en-US" sz="1200" dirty="0">
                          <a:latin typeface="Courier New" panose="02070309020205020404" pitchFamily="49" charset="0"/>
                          <a:cs typeface="Courier New" panose="02070309020205020404" pitchFamily="49" charset="0"/>
                        </a:rPr>
                        <a:t> } [ </a:t>
                      </a:r>
                      <a:r>
                        <a:rPr lang="en-US" sz="1200" i="1" dirty="0">
                          <a:latin typeface="Courier New" panose="02070309020205020404" pitchFamily="49" charset="0"/>
                          <a:cs typeface="Courier New" panose="02070309020205020404" pitchFamily="49" charset="0"/>
                        </a:rPr>
                        <a:t>key</a:t>
                      </a:r>
                      <a:r>
                        <a:rPr lang="en-US" sz="1200" dirty="0">
                          <a:latin typeface="Courier New" panose="02070309020205020404" pitchFamily="49" charset="0"/>
                          <a:cs typeface="Courier New" panose="02070309020205020404" pitchFamily="49" charset="0"/>
                        </a:rPr>
                        <a:t> ]</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Configures a AAA server as part of a AAA server group.</a:t>
                      </a:r>
                      <a:endParaRPr lang="en-US" sz="1200" dirty="0"/>
                    </a:p>
                    <a:p>
                      <a:r>
                        <a:rPr lang="en-US" sz="1200" dirty="0">
                          <a:solidFill>
                            <a:srgbClr val="58585B"/>
                          </a:solidFill>
                        </a:rPr>
                        <a:t>Also configures AAA server parameters that are host-specific.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57656B27-55CF-4D95-91E6-72A374AEFDD5}"/>
              </a:ext>
            </a:extLst>
          </p:cNvPr>
          <p:cNvSpPr txBox="1"/>
          <p:nvPr/>
        </p:nvSpPr>
        <p:spPr>
          <a:xfrm>
            <a:off x="138700" y="2952486"/>
            <a:ext cx="8548099" cy="338554"/>
          </a:xfrm>
          <a:prstGeom prst="rect">
            <a:avLst/>
          </a:prstGeom>
          <a:noFill/>
        </p:spPr>
        <p:txBody>
          <a:bodyPr wrap="square">
            <a:spAutoFit/>
          </a:bodyPr>
          <a:lstStyle>
            <a:lvl1pPr>
              <a:defRPr sz="1600">
                <a:latin typeface="Arial" panose="020B0604020202020204" pitchFamily="34" charset="0"/>
                <a:cs typeface="Arial" panose="020B0604020202020204" pitchFamily="34" charset="0"/>
              </a:defRPr>
            </a:lvl1pPr>
          </a:lstStyle>
          <a:p>
            <a:r>
              <a:rPr lang="en-US" dirty="0"/>
              <a:t>The example shows configuration of a AAA TACACS+ server on an ASA 5506-X.</a:t>
            </a:r>
          </a:p>
        </p:txBody>
      </p:sp>
      <p:pic>
        <p:nvPicPr>
          <p:cNvPr id="6" name="Picture 5">
            <a:extLst>
              <a:ext uri="{FF2B5EF4-FFF2-40B4-BE49-F238E27FC236}">
                <a16:creationId xmlns:a16="http://schemas.microsoft.com/office/drawing/2014/main" id="{24A63445-2F91-406A-81FD-5B9B66768E62}"/>
              </a:ext>
            </a:extLst>
          </p:cNvPr>
          <p:cNvPicPr>
            <a:picLocks noChangeAspect="1"/>
          </p:cNvPicPr>
          <p:nvPr/>
        </p:nvPicPr>
        <p:blipFill>
          <a:blip r:embed="rId3"/>
          <a:stretch>
            <a:fillRect/>
          </a:stretch>
        </p:blipFill>
        <p:spPr>
          <a:xfrm>
            <a:off x="1572624" y="3291040"/>
            <a:ext cx="5998752" cy="177719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83</a:t>
            </a:fld>
            <a:endParaRPr lang="en-US" dirty="0"/>
          </a:p>
        </p:txBody>
      </p:sp>
    </p:spTree>
    <p:extLst>
      <p:ext uri="{BB962C8B-B14F-4D97-AF65-F5344CB8AC3E}">
        <p14:creationId xmlns:p14="http://schemas.microsoft.com/office/powerpoint/2010/main" val="37116852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AAA Configuration</a:t>
            </a:r>
          </a:p>
        </p:txBody>
      </p:sp>
      <p:sp>
        <p:nvSpPr>
          <p:cNvPr id="5" name="Object4"/>
          <p:cNvSpPr/>
          <p:nvPr/>
        </p:nvSpPr>
        <p:spPr>
          <a:xfrm>
            <a:off x="0" y="914400"/>
            <a:ext cx="82296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To authenticate users who access the ASA CLI over a console (</a:t>
            </a:r>
            <a:r>
              <a:rPr lang="en-US" sz="1600" b="1" dirty="0">
                <a:latin typeface="Arial" panose="020B0604020202020204" pitchFamily="34" charset="0"/>
                <a:cs typeface="Arial" panose="020B0604020202020204" pitchFamily="34" charset="0"/>
              </a:rPr>
              <a:t>serial</a:t>
            </a:r>
            <a:r>
              <a:rPr lang="en-US" sz="1600" dirty="0">
                <a:latin typeface="Arial" panose="020B0604020202020204" pitchFamily="34" charset="0"/>
                <a:cs typeface="Arial" panose="020B0604020202020204" pitchFamily="34" charset="0"/>
              </a:rPr>
              <a:t>), SSH, HTTPS (ASDM), or Telnet connection, or to authenticate users who access privileged EXEC mode using the </a:t>
            </a:r>
            <a:r>
              <a:rPr lang="en-US" sz="1600" b="1" dirty="0">
                <a:latin typeface="Arial" panose="020B0604020202020204" pitchFamily="34" charset="0"/>
                <a:cs typeface="Arial" panose="020B0604020202020204" pitchFamily="34" charset="0"/>
              </a:rPr>
              <a:t>enable</a:t>
            </a:r>
            <a:r>
              <a:rPr lang="en-US" sz="1600" dirty="0">
                <a:latin typeface="Arial" panose="020B0604020202020204" pitchFamily="34" charset="0"/>
                <a:cs typeface="Arial" panose="020B0604020202020204" pitchFamily="34" charset="0"/>
              </a:rPr>
              <a:t> command, use the </a:t>
            </a:r>
            <a:r>
              <a:rPr lang="en-US" sz="1600" b="1" dirty="0">
                <a:latin typeface="Arial" panose="020B0604020202020204" pitchFamily="34" charset="0"/>
                <a:cs typeface="Arial" panose="020B0604020202020204" pitchFamily="34" charset="0"/>
              </a:rPr>
              <a:t>aaa authentication enable console</a:t>
            </a:r>
            <a:r>
              <a:rPr lang="en-US" sz="1600" dirty="0">
                <a:latin typeface="Arial" panose="020B0604020202020204" pitchFamily="34" charset="0"/>
                <a:cs typeface="Arial" panose="020B0604020202020204" pitchFamily="34" charset="0"/>
              </a:rPr>
              <a:t> command in global configuration mode.</a:t>
            </a:r>
          </a:p>
          <a:p>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D6FDCCD-1977-494E-A472-69DDDF973875}"/>
              </a:ext>
            </a:extLst>
          </p:cNvPr>
          <p:cNvPicPr>
            <a:picLocks noChangeAspect="1"/>
          </p:cNvPicPr>
          <p:nvPr/>
        </p:nvPicPr>
        <p:blipFill>
          <a:blip r:embed="rId3"/>
          <a:stretch>
            <a:fillRect/>
          </a:stretch>
        </p:blipFill>
        <p:spPr>
          <a:xfrm>
            <a:off x="784030" y="2028796"/>
            <a:ext cx="7575939" cy="36196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84</a:t>
            </a:fld>
            <a:endParaRPr lang="en-US" dirty="0"/>
          </a:p>
        </p:txBody>
      </p:sp>
    </p:spTree>
    <p:extLst>
      <p:ext uri="{BB962C8B-B14F-4D97-AF65-F5344CB8AC3E}">
        <p14:creationId xmlns:p14="http://schemas.microsoft.com/office/powerpoint/2010/main" val="25247411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AAA Configuration (Cont.)</a:t>
            </a:r>
          </a:p>
        </p:txBody>
      </p:sp>
      <p:sp>
        <p:nvSpPr>
          <p:cNvPr id="5" name="Object4"/>
          <p:cNvSpPr/>
          <p:nvPr/>
        </p:nvSpPr>
        <p:spPr>
          <a:xfrm>
            <a:off x="0" y="708660"/>
            <a:ext cx="82296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example provides a sample AAA configuration that is then verified and tested.</a:t>
            </a:r>
          </a:p>
        </p:txBody>
      </p:sp>
      <p:pic>
        <p:nvPicPr>
          <p:cNvPr id="8" name="Picture 7">
            <a:extLst>
              <a:ext uri="{FF2B5EF4-FFF2-40B4-BE49-F238E27FC236}">
                <a16:creationId xmlns:a16="http://schemas.microsoft.com/office/drawing/2014/main" id="{80209C58-D725-4DA7-BD95-D127A74C5056}"/>
              </a:ext>
            </a:extLst>
          </p:cNvPr>
          <p:cNvPicPr>
            <a:picLocks noChangeAspect="1"/>
          </p:cNvPicPr>
          <p:nvPr/>
        </p:nvPicPr>
        <p:blipFill>
          <a:blip r:embed="rId3"/>
          <a:stretch>
            <a:fillRect/>
          </a:stretch>
        </p:blipFill>
        <p:spPr>
          <a:xfrm>
            <a:off x="2017684" y="1078786"/>
            <a:ext cx="4516680" cy="38374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85</a:t>
            </a:fld>
            <a:endParaRPr lang="en-US" dirty="0"/>
          </a:p>
        </p:txBody>
      </p:sp>
    </p:spTree>
    <p:extLst>
      <p:ext uri="{BB962C8B-B14F-4D97-AF65-F5344CB8AC3E}">
        <p14:creationId xmlns:p14="http://schemas.microsoft.com/office/powerpoint/2010/main" val="21031811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21.7 Service Policies on an ASA</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86</a:t>
            </a:fld>
            <a:endParaRPr lang="en-US" dirty="0"/>
          </a:p>
        </p:txBody>
      </p:sp>
    </p:spTree>
    <p:extLst>
      <p:ext uri="{BB962C8B-B14F-4D97-AF65-F5344CB8AC3E}">
        <p14:creationId xmlns:p14="http://schemas.microsoft.com/office/powerpoint/2010/main" val="15362969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Service Policies on an ASA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Overview of MPF</a:t>
            </a:r>
          </a:p>
        </p:txBody>
      </p:sp>
      <p:sp>
        <p:nvSpPr>
          <p:cNvPr id="5" name="Object4"/>
          <p:cNvSpPr/>
          <p:nvPr/>
        </p:nvSpPr>
        <p:spPr>
          <a:xfrm>
            <a:off x="-1" y="914400"/>
            <a:ext cx="8883869" cy="2571750"/>
          </a:xfrm>
          <a:prstGeom prst="rect">
            <a:avLst/>
          </a:prstGeom>
          <a:noFill/>
          <a:ln/>
        </p:spPr>
        <p:txBody>
          <a:bodyPr wrap="square" rtlCol="0" anchor="t"/>
          <a:lstStyle/>
          <a:p>
            <a:r>
              <a:rPr lang="en-US" sz="1500" dirty="0">
                <a:effectLst/>
                <a:latin typeface="Arial" panose="020B0604020202020204" pitchFamily="34" charset="0"/>
                <a:cs typeface="Arial" panose="020B0604020202020204" pitchFamily="34" charset="0"/>
              </a:rPr>
              <a:t>A </a:t>
            </a:r>
            <a:r>
              <a:rPr lang="en-US" sz="1500" b="1" dirty="0">
                <a:effectLst/>
                <a:latin typeface="Arial" panose="020B0604020202020204" pitchFamily="34" charset="0"/>
                <a:cs typeface="Arial" panose="020B0604020202020204" pitchFamily="34" charset="0"/>
              </a:rPr>
              <a:t>Modular Policy Framework </a:t>
            </a:r>
            <a:r>
              <a:rPr lang="en-US" sz="1500" dirty="0">
                <a:effectLst/>
                <a:latin typeface="Arial" panose="020B0604020202020204" pitchFamily="34" charset="0"/>
                <a:cs typeface="Arial" panose="020B0604020202020204" pitchFamily="34" charset="0"/>
              </a:rPr>
              <a:t>(MPF) configuration defines a set of rules for applying firewall features, such as traffic inspection and QoS, to the traffic that traverses the ASA. MPF allows granular classification of traffic flows, which enables the application of different advanced policies to different flows. </a:t>
            </a:r>
          </a:p>
          <a:p>
            <a:r>
              <a:rPr lang="en-US" sz="1500" dirty="0">
                <a:effectLst/>
                <a:latin typeface="Arial" panose="020B0604020202020204" pitchFamily="34" charset="0"/>
                <a:cs typeface="Arial" panose="020B0604020202020204" pitchFamily="34" charset="0"/>
              </a:rPr>
              <a:t>Cisco MPF uses three configuration objects to define modular, object-oriented, hierarchical policies:</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Class Maps - What are we looking for?</a:t>
            </a:r>
            <a:br>
              <a:rPr lang="en-US" sz="1500" dirty="0">
                <a:latin typeface="Arial" panose="020B0604020202020204" pitchFamily="34" charset="0"/>
                <a:cs typeface="Arial" panose="020B0604020202020204" pitchFamily="34" charset="0"/>
              </a:rPr>
            </a:br>
            <a:br>
              <a:rPr lang="en-US" sz="1500" dirty="0">
                <a:latin typeface="Arial" panose="020B0604020202020204" pitchFamily="34" charset="0"/>
                <a:cs typeface="Arial" panose="020B0604020202020204" pitchFamily="34" charset="0"/>
              </a:rPr>
            </a:br>
            <a:endParaRPr lang="en-US" sz="15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500" dirty="0">
                <a:effectLst/>
                <a:latin typeface="Arial" panose="020B0604020202020204" pitchFamily="34" charset="0"/>
                <a:cs typeface="Arial" panose="020B0604020202020204" pitchFamily="34" charset="0"/>
              </a:rPr>
              <a:t>Policy Maps - What shall we do with it?</a:t>
            </a:r>
            <a:br>
              <a:rPr lang="en-US" sz="1500" dirty="0">
                <a:effectLst/>
                <a:latin typeface="Arial" panose="020B0604020202020204" pitchFamily="34" charset="0"/>
                <a:cs typeface="Arial" panose="020B0604020202020204" pitchFamily="34" charset="0"/>
              </a:rPr>
            </a:br>
            <a:br>
              <a:rPr lang="en-US" sz="1500" dirty="0">
                <a:effectLst/>
                <a:latin typeface="Arial" panose="020B0604020202020204" pitchFamily="34" charset="0"/>
                <a:cs typeface="Arial" panose="020B0604020202020204" pitchFamily="34" charset="0"/>
              </a:rPr>
            </a:br>
            <a:endParaRPr lang="en-US" sz="150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Service Policy - Where do we do it?</a:t>
            </a:r>
            <a:endParaRPr lang="en-US" sz="1500" dirty="0">
              <a:effectLst/>
              <a:latin typeface="Arial" panose="020B0604020202020204" pitchFamily="34" charset="0"/>
              <a:cs typeface="Arial" panose="020B0604020202020204" pitchFamily="34" charset="0"/>
            </a:endParaRPr>
          </a:p>
          <a:p>
            <a:endParaRPr lang="en-US" sz="1400" dirty="0">
              <a:effectLst/>
            </a:endParaRPr>
          </a:p>
          <a:p>
            <a:endParaRPr lang="en-US" sz="1400" dirty="0">
              <a:effectLst/>
            </a:endParaRPr>
          </a:p>
        </p:txBody>
      </p:sp>
      <p:pic>
        <p:nvPicPr>
          <p:cNvPr id="6" name="Picture 5">
            <a:extLst>
              <a:ext uri="{FF2B5EF4-FFF2-40B4-BE49-F238E27FC236}">
                <a16:creationId xmlns:a16="http://schemas.microsoft.com/office/drawing/2014/main" id="{AF4B6D8D-E51B-4D94-B9AF-5043849E4C8B}"/>
              </a:ext>
            </a:extLst>
          </p:cNvPr>
          <p:cNvPicPr>
            <a:picLocks noChangeAspect="1"/>
          </p:cNvPicPr>
          <p:nvPr/>
        </p:nvPicPr>
        <p:blipFill>
          <a:blip r:embed="rId3"/>
          <a:stretch>
            <a:fillRect/>
          </a:stretch>
        </p:blipFill>
        <p:spPr>
          <a:xfrm>
            <a:off x="393696" y="2412992"/>
            <a:ext cx="3264068" cy="317516"/>
          </a:xfrm>
          <a:prstGeom prst="rect">
            <a:avLst/>
          </a:prstGeom>
        </p:spPr>
      </p:pic>
      <p:pic>
        <p:nvPicPr>
          <p:cNvPr id="8" name="Picture 7">
            <a:extLst>
              <a:ext uri="{FF2B5EF4-FFF2-40B4-BE49-F238E27FC236}">
                <a16:creationId xmlns:a16="http://schemas.microsoft.com/office/drawing/2014/main" id="{A32850DF-8E8F-4E0C-AA75-86BDF20D3B99}"/>
              </a:ext>
            </a:extLst>
          </p:cNvPr>
          <p:cNvPicPr>
            <a:picLocks noChangeAspect="1"/>
          </p:cNvPicPr>
          <p:nvPr/>
        </p:nvPicPr>
        <p:blipFill>
          <a:blip r:embed="rId4"/>
          <a:stretch>
            <a:fillRect/>
          </a:stretch>
        </p:blipFill>
        <p:spPr>
          <a:xfrm>
            <a:off x="393696" y="3069912"/>
            <a:ext cx="3479979" cy="273064"/>
          </a:xfrm>
          <a:prstGeom prst="rect">
            <a:avLst/>
          </a:prstGeom>
        </p:spPr>
      </p:pic>
      <p:pic>
        <p:nvPicPr>
          <p:cNvPr id="12" name="Picture 11">
            <a:extLst>
              <a:ext uri="{FF2B5EF4-FFF2-40B4-BE49-F238E27FC236}">
                <a16:creationId xmlns:a16="http://schemas.microsoft.com/office/drawing/2014/main" id="{0223D696-F4CD-4456-8873-85A43E7FFD4E}"/>
              </a:ext>
            </a:extLst>
          </p:cNvPr>
          <p:cNvPicPr>
            <a:picLocks noChangeAspect="1"/>
          </p:cNvPicPr>
          <p:nvPr/>
        </p:nvPicPr>
        <p:blipFill>
          <a:blip r:embed="rId5"/>
          <a:stretch>
            <a:fillRect/>
          </a:stretch>
        </p:blipFill>
        <p:spPr>
          <a:xfrm>
            <a:off x="393696" y="3808722"/>
            <a:ext cx="6013759" cy="29211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87</a:t>
            </a:fld>
            <a:endParaRPr lang="en-US" dirty="0"/>
          </a:p>
        </p:txBody>
      </p:sp>
    </p:spTree>
    <p:extLst>
      <p:ext uri="{BB962C8B-B14F-4D97-AF65-F5344CB8AC3E}">
        <p14:creationId xmlns:p14="http://schemas.microsoft.com/office/powerpoint/2010/main" val="28265821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Service Policies on an ASA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Overview of MPF (Cont.)</a:t>
            </a:r>
          </a:p>
        </p:txBody>
      </p:sp>
      <p:sp>
        <p:nvSpPr>
          <p:cNvPr id="5" name="Object4"/>
          <p:cNvSpPr/>
          <p:nvPr/>
        </p:nvSpPr>
        <p:spPr>
          <a:xfrm>
            <a:off x="-1" y="914400"/>
            <a:ext cx="8883869" cy="2571750"/>
          </a:xfrm>
          <a:prstGeom prst="rect">
            <a:avLst/>
          </a:prstGeom>
          <a:noFill/>
          <a:ln/>
        </p:spPr>
        <p:txBody>
          <a:bodyPr wrap="square" rtlCol="0" anchor="t"/>
          <a:lstStyle/>
          <a:p>
            <a:r>
              <a:rPr lang="en-US" sz="1500" dirty="0">
                <a:latin typeface="Arial" panose="020B0604020202020204" pitchFamily="34" charset="0"/>
                <a:cs typeface="Arial" panose="020B0604020202020204" pitchFamily="34" charset="0"/>
              </a:rPr>
              <a:t>There are four steps to configure MPF on an ASA:</a:t>
            </a:r>
          </a:p>
          <a:p>
            <a:endParaRPr lang="en-US" sz="1500" dirty="0">
              <a:latin typeface="Arial" panose="020B0604020202020204" pitchFamily="34" charset="0"/>
              <a:cs typeface="Arial" panose="020B0604020202020204" pitchFamily="34" charset="0"/>
            </a:endParaRPr>
          </a:p>
          <a:p>
            <a:pPr lvl="1"/>
            <a:r>
              <a:rPr lang="en-US" sz="1500" b="1" dirty="0">
                <a:latin typeface="Arial" panose="020B0604020202020204" pitchFamily="34" charset="0"/>
                <a:cs typeface="Arial" panose="020B0604020202020204" pitchFamily="34" charset="0"/>
              </a:rPr>
              <a:t>Step 1.</a:t>
            </a:r>
            <a:r>
              <a:rPr lang="en-US" sz="1500" dirty="0">
                <a:latin typeface="Arial" panose="020B0604020202020204" pitchFamily="34" charset="0"/>
                <a:cs typeface="Arial" panose="020B0604020202020204" pitchFamily="34" charset="0"/>
              </a:rPr>
              <a:t> (Optional) Configure extended ACLs to identify granular traffic that can be specifically referenced in the class map. </a:t>
            </a:r>
          </a:p>
          <a:p>
            <a:pPr lvl="1"/>
            <a:endParaRPr lang="en-US" sz="1500" dirty="0">
              <a:latin typeface="Arial" panose="020B0604020202020204" pitchFamily="34" charset="0"/>
              <a:cs typeface="Arial" panose="020B0604020202020204" pitchFamily="34" charset="0"/>
            </a:endParaRPr>
          </a:p>
          <a:p>
            <a:pPr lvl="1"/>
            <a:r>
              <a:rPr lang="en-US" sz="1500" b="1" dirty="0">
                <a:latin typeface="Arial" panose="020B0604020202020204" pitchFamily="34" charset="0"/>
                <a:cs typeface="Arial" panose="020B0604020202020204" pitchFamily="34" charset="0"/>
              </a:rPr>
              <a:t>Step 2.</a:t>
            </a:r>
            <a:r>
              <a:rPr lang="en-US" sz="1500" dirty="0">
                <a:latin typeface="Arial" panose="020B0604020202020204" pitchFamily="34" charset="0"/>
                <a:cs typeface="Arial" panose="020B0604020202020204" pitchFamily="34" charset="0"/>
              </a:rPr>
              <a:t> Configure the class map to identify traffic.</a:t>
            </a:r>
          </a:p>
          <a:p>
            <a:pPr lvl="1"/>
            <a:endParaRPr lang="en-US" sz="1500" dirty="0">
              <a:latin typeface="Arial" panose="020B0604020202020204" pitchFamily="34" charset="0"/>
              <a:cs typeface="Arial" panose="020B0604020202020204" pitchFamily="34" charset="0"/>
            </a:endParaRPr>
          </a:p>
          <a:p>
            <a:pPr lvl="1"/>
            <a:r>
              <a:rPr lang="en-US" sz="1500" b="1" dirty="0">
                <a:latin typeface="Arial" panose="020B0604020202020204" pitchFamily="34" charset="0"/>
                <a:cs typeface="Arial" panose="020B0604020202020204" pitchFamily="34" charset="0"/>
              </a:rPr>
              <a:t>Step 3.</a:t>
            </a:r>
            <a:r>
              <a:rPr lang="en-US" sz="1500" dirty="0">
                <a:latin typeface="Arial" panose="020B0604020202020204" pitchFamily="34" charset="0"/>
                <a:cs typeface="Arial" panose="020B0604020202020204" pitchFamily="34" charset="0"/>
              </a:rPr>
              <a:t> Configure a policy map to apply actions to those class maps.</a:t>
            </a:r>
          </a:p>
          <a:p>
            <a:pPr lvl="1"/>
            <a:endParaRPr lang="en-US" sz="1500" dirty="0">
              <a:latin typeface="Arial" panose="020B0604020202020204" pitchFamily="34" charset="0"/>
              <a:cs typeface="Arial" panose="020B0604020202020204" pitchFamily="34" charset="0"/>
            </a:endParaRPr>
          </a:p>
          <a:p>
            <a:pPr lvl="1"/>
            <a:r>
              <a:rPr lang="en-US" sz="1500" b="1" dirty="0">
                <a:latin typeface="Arial" panose="020B0604020202020204" pitchFamily="34" charset="0"/>
                <a:cs typeface="Arial" panose="020B0604020202020204" pitchFamily="34" charset="0"/>
              </a:rPr>
              <a:t>Step 4.</a:t>
            </a:r>
            <a:r>
              <a:rPr lang="en-US" sz="1500" dirty="0">
                <a:latin typeface="Arial" panose="020B0604020202020204" pitchFamily="34" charset="0"/>
                <a:cs typeface="Arial" panose="020B0604020202020204" pitchFamily="34" charset="0"/>
              </a:rPr>
              <a:t> Configure a service policy to attach the policy map to an interface.</a:t>
            </a:r>
          </a:p>
          <a:p>
            <a:endParaRPr lang="en-US" sz="1400" dirty="0">
              <a:effectLst/>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88</a:t>
            </a:fld>
            <a:endParaRPr lang="en-US" dirty="0"/>
          </a:p>
        </p:txBody>
      </p:sp>
    </p:spTree>
    <p:extLst>
      <p:ext uri="{BB962C8B-B14F-4D97-AF65-F5344CB8AC3E}">
        <p14:creationId xmlns:p14="http://schemas.microsoft.com/office/powerpoint/2010/main" val="4899332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Service Policies on an ASA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Class Maps</a:t>
            </a:r>
          </a:p>
        </p:txBody>
      </p:sp>
      <p:sp>
        <p:nvSpPr>
          <p:cNvPr id="5" name="Object4"/>
          <p:cNvSpPr/>
          <p:nvPr/>
        </p:nvSpPr>
        <p:spPr>
          <a:xfrm>
            <a:off x="0" y="914400"/>
            <a:ext cx="2958958"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To create a class map and enter class-map configuration mode, use the </a:t>
            </a:r>
            <a:r>
              <a:rPr lang="en-US" sz="1600" b="1" dirty="0">
                <a:latin typeface="Arial" panose="020B0604020202020204" pitchFamily="34" charset="0"/>
                <a:cs typeface="Arial" panose="020B0604020202020204" pitchFamily="34" charset="0"/>
              </a:rPr>
              <a:t>class-map</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class-map-name</a:t>
            </a:r>
            <a:r>
              <a:rPr lang="en-US" sz="1600" dirty="0">
                <a:latin typeface="Arial" panose="020B0604020202020204" pitchFamily="34" charset="0"/>
                <a:cs typeface="Arial" panose="020B0604020202020204" pitchFamily="34" charset="0"/>
              </a:rPr>
              <a:t> global configuration mode command. </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Next, traffic to match should be identified using the </a:t>
            </a:r>
            <a:r>
              <a:rPr lang="en-US" sz="1600" b="1" dirty="0">
                <a:latin typeface="Arial" panose="020B0604020202020204" pitchFamily="34" charset="0"/>
                <a:cs typeface="Arial" panose="020B0604020202020204" pitchFamily="34" charset="0"/>
              </a:rPr>
              <a:t>match any</a:t>
            </a:r>
            <a:r>
              <a:rPr lang="en-US" sz="1600" dirty="0">
                <a:latin typeface="Arial" panose="020B0604020202020204" pitchFamily="34" charset="0"/>
                <a:cs typeface="Arial" panose="020B0604020202020204" pitchFamily="34" charset="0"/>
              </a:rPr>
              <a:t> (matches all traffic) or </a:t>
            </a:r>
            <a:r>
              <a:rPr lang="en-US" sz="1600" b="1" dirty="0">
                <a:latin typeface="Arial" panose="020B0604020202020204" pitchFamily="34" charset="0"/>
                <a:cs typeface="Arial" panose="020B0604020202020204" pitchFamily="34" charset="0"/>
              </a:rPr>
              <a:t>match access-list</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access-list-name</a:t>
            </a:r>
            <a:r>
              <a:rPr lang="en-US" sz="1600" dirty="0">
                <a:latin typeface="Arial" panose="020B0604020202020204" pitchFamily="34" charset="0"/>
                <a:cs typeface="Arial" panose="020B0604020202020204" pitchFamily="34" charset="0"/>
              </a:rPr>
              <a:t> commands to match traffic specified by an extended access list.</a:t>
            </a:r>
          </a:p>
          <a:p>
            <a:pPr>
              <a:lnSpc>
                <a:spcPts val="2000"/>
              </a:lnSpc>
            </a:pPr>
            <a:endParaRPr lang="en-US" sz="1400" dirty="0"/>
          </a:p>
        </p:txBody>
      </p:sp>
      <p:pic>
        <p:nvPicPr>
          <p:cNvPr id="6" name="Picture 5">
            <a:extLst>
              <a:ext uri="{FF2B5EF4-FFF2-40B4-BE49-F238E27FC236}">
                <a16:creationId xmlns:a16="http://schemas.microsoft.com/office/drawing/2014/main" id="{9158FE5A-AAD1-417E-AEA7-CC5CCDE67186}"/>
              </a:ext>
            </a:extLst>
          </p:cNvPr>
          <p:cNvPicPr>
            <a:picLocks noChangeAspect="1"/>
          </p:cNvPicPr>
          <p:nvPr/>
        </p:nvPicPr>
        <p:blipFill>
          <a:blip r:embed="rId3"/>
          <a:stretch>
            <a:fillRect/>
          </a:stretch>
        </p:blipFill>
        <p:spPr>
          <a:xfrm>
            <a:off x="3225559" y="548640"/>
            <a:ext cx="5651839" cy="414241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89</a:t>
            </a:fld>
            <a:endParaRPr lang="en-US" dirty="0"/>
          </a:p>
        </p:txBody>
      </p:sp>
    </p:spTree>
    <p:extLst>
      <p:ext uri="{BB962C8B-B14F-4D97-AF65-F5344CB8AC3E}">
        <p14:creationId xmlns:p14="http://schemas.microsoft.com/office/powerpoint/2010/main" val="42357990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Service Policies on an ASA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Define and Activate a Policy</a:t>
            </a:r>
          </a:p>
        </p:txBody>
      </p:sp>
      <p:sp>
        <p:nvSpPr>
          <p:cNvPr id="5" name="Object4"/>
          <p:cNvSpPr/>
          <p:nvPr/>
        </p:nvSpPr>
        <p:spPr>
          <a:xfrm>
            <a:off x="0" y="914399"/>
            <a:ext cx="8686800" cy="3325091"/>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policy-map</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policy-map-name</a:t>
            </a:r>
            <a:r>
              <a:rPr lang="en-US" sz="1600" dirty="0">
                <a:latin typeface="Arial" panose="020B0604020202020204" pitchFamily="34" charset="0"/>
                <a:cs typeface="Arial" panose="020B0604020202020204" pitchFamily="34" charset="0"/>
              </a:rPr>
              <a:t> global configuration mode command, to apply actions to the Layer 3 and 4 traffic.</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In policy-map configuration mode, config-pmap, use the following commands: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description</a:t>
            </a:r>
            <a:r>
              <a:rPr lang="en-US" sz="1600" dirty="0">
                <a:latin typeface="Arial" panose="020B0604020202020204" pitchFamily="34" charset="0"/>
                <a:cs typeface="Arial" panose="020B0604020202020204" pitchFamily="34" charset="0"/>
              </a:rPr>
              <a:t> - Add description text.</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class</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class-map-name</a:t>
            </a:r>
            <a:r>
              <a:rPr lang="en-US" sz="1600" dirty="0">
                <a:latin typeface="Arial" panose="020B0604020202020204" pitchFamily="34" charset="0"/>
                <a:cs typeface="Arial" panose="020B0604020202020204" pitchFamily="34" charset="0"/>
              </a:rPr>
              <a:t> - Identify a specific class map on which to perform actions.</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These are the three most common commands available in policy map configuration mode:</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set connection</a:t>
            </a:r>
            <a:r>
              <a:rPr lang="en-US" sz="1600" dirty="0">
                <a:latin typeface="Arial" panose="020B0604020202020204" pitchFamily="34" charset="0"/>
                <a:cs typeface="Arial" panose="020B0604020202020204" pitchFamily="34" charset="0"/>
              </a:rPr>
              <a:t> - Sets connection values.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inspect</a:t>
            </a:r>
            <a:r>
              <a:rPr lang="en-US" sz="1600" dirty="0">
                <a:latin typeface="Arial" panose="020B0604020202020204" pitchFamily="34" charset="0"/>
                <a:cs typeface="Arial" panose="020B0604020202020204" pitchFamily="34" charset="0"/>
              </a:rPr>
              <a:t> - Provides protocol inspection servers.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police</a:t>
            </a:r>
            <a:r>
              <a:rPr lang="en-US" sz="1600" dirty="0">
                <a:latin typeface="Arial" panose="020B0604020202020204" pitchFamily="34" charset="0"/>
                <a:cs typeface="Arial" panose="020B0604020202020204" pitchFamily="34" charset="0"/>
              </a:rPr>
              <a:t> - Sets rate limits for traffic in this class.</a:t>
            </a: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activate a policy map globally on all interfaces or on a targeted interface, use the </a:t>
            </a:r>
            <a:r>
              <a:rPr lang="en-US" sz="1600" b="1" dirty="0">
                <a:latin typeface="Arial" panose="020B0604020202020204" pitchFamily="34" charset="0"/>
                <a:cs typeface="Arial" panose="020B0604020202020204" pitchFamily="34" charset="0"/>
              </a:rPr>
              <a:t>service-policy </a:t>
            </a:r>
            <a:r>
              <a:rPr lang="en-US" sz="1600" i="1" dirty="0">
                <a:latin typeface="Arial" panose="020B0604020202020204" pitchFamily="34" charset="0"/>
                <a:cs typeface="Arial" panose="020B0604020202020204" pitchFamily="34" charset="0"/>
              </a:rPr>
              <a:t>policy-map-name</a:t>
            </a:r>
            <a:r>
              <a:rPr lang="en-US" sz="1600" dirty="0">
                <a:latin typeface="Arial" panose="020B0604020202020204" pitchFamily="34" charset="0"/>
                <a:cs typeface="Arial" panose="020B0604020202020204" pitchFamily="34" charset="0"/>
              </a:rPr>
              <a:t> [ </a:t>
            </a:r>
            <a:r>
              <a:rPr lang="en-US" sz="1600" b="1" dirty="0">
                <a:latin typeface="Arial" panose="020B0604020202020204" pitchFamily="34" charset="0"/>
                <a:cs typeface="Arial" panose="020B0604020202020204" pitchFamily="34" charset="0"/>
              </a:rPr>
              <a:t>global</a:t>
            </a:r>
            <a:r>
              <a:rPr lang="en-US" sz="1600" dirty="0">
                <a:latin typeface="Arial" panose="020B0604020202020204" pitchFamily="34" charset="0"/>
                <a:cs typeface="Arial" panose="020B0604020202020204" pitchFamily="34" charset="0"/>
              </a:rPr>
              <a:t> | </a:t>
            </a:r>
            <a:r>
              <a:rPr lang="en-US" sz="1600" b="1" dirty="0">
                <a:latin typeface="Arial" panose="020B0604020202020204" pitchFamily="34" charset="0"/>
                <a:cs typeface="Arial" panose="020B0604020202020204" pitchFamily="34" charset="0"/>
              </a:rPr>
              <a:t>interface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intf</a:t>
            </a:r>
            <a:r>
              <a:rPr lang="en-US" sz="1600" dirty="0">
                <a:latin typeface="Arial" panose="020B0604020202020204" pitchFamily="34" charset="0"/>
                <a:cs typeface="Arial" panose="020B0604020202020204" pitchFamily="34" charset="0"/>
              </a:rPr>
              <a:t> ] global configuration mode command to enable a set of policies on an interface.</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90</a:t>
            </a:fld>
            <a:endParaRPr lang="en-US" dirty="0"/>
          </a:p>
        </p:txBody>
      </p:sp>
    </p:spTree>
    <p:extLst>
      <p:ext uri="{BB962C8B-B14F-4D97-AF65-F5344CB8AC3E}">
        <p14:creationId xmlns:p14="http://schemas.microsoft.com/office/powerpoint/2010/main" val="143823653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Service Policies on an ASA</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Define and Activate a Policy (Cont.)</a:t>
            </a:r>
          </a:p>
        </p:txBody>
      </p:sp>
      <p:sp>
        <p:nvSpPr>
          <p:cNvPr id="5" name="Object4"/>
          <p:cNvSpPr/>
          <p:nvPr/>
        </p:nvSpPr>
        <p:spPr>
          <a:xfrm>
            <a:off x="0" y="914399"/>
            <a:ext cx="8686800" cy="3325091"/>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example configures the policy map. Its associated service policy is applied globally.</a:t>
            </a:r>
            <a:endParaRPr lang="en-US" sz="1400" dirty="0"/>
          </a:p>
        </p:txBody>
      </p:sp>
      <p:pic>
        <p:nvPicPr>
          <p:cNvPr id="6" name="Picture 5">
            <a:extLst>
              <a:ext uri="{FF2B5EF4-FFF2-40B4-BE49-F238E27FC236}">
                <a16:creationId xmlns:a16="http://schemas.microsoft.com/office/drawing/2014/main" id="{F73B5B90-F11D-4858-A7C2-B759FE43276D}"/>
              </a:ext>
            </a:extLst>
          </p:cNvPr>
          <p:cNvPicPr>
            <a:picLocks noChangeAspect="1"/>
          </p:cNvPicPr>
          <p:nvPr/>
        </p:nvPicPr>
        <p:blipFill>
          <a:blip r:embed="rId3"/>
          <a:stretch>
            <a:fillRect/>
          </a:stretch>
        </p:blipFill>
        <p:spPr>
          <a:xfrm>
            <a:off x="1934215" y="1553140"/>
            <a:ext cx="5645440" cy="271158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91</a:t>
            </a:fld>
            <a:endParaRPr lang="en-US" dirty="0"/>
          </a:p>
        </p:txBody>
      </p:sp>
    </p:spTree>
    <p:extLst>
      <p:ext uri="{BB962C8B-B14F-4D97-AF65-F5344CB8AC3E}">
        <p14:creationId xmlns:p14="http://schemas.microsoft.com/office/powerpoint/2010/main" val="27109112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21104163"/>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3731</TotalTime>
  <Words>10260</Words>
  <Application>Microsoft Macintosh PowerPoint</Application>
  <PresentationFormat>Prezentácia na obrazovke (16:9)</PresentationFormat>
  <Paragraphs>1004</Paragraphs>
  <Slides>92</Slides>
  <Notes>92</Notes>
  <HiddenSlides>0</HiddenSlides>
  <MMClips>0</MMClips>
  <ScaleCrop>false</ScaleCrop>
  <HeadingPairs>
    <vt:vector size="6" baseType="variant">
      <vt:variant>
        <vt:lpstr>Použité písma</vt:lpstr>
      </vt:variant>
      <vt:variant>
        <vt:i4>6</vt:i4>
      </vt:variant>
      <vt:variant>
        <vt:lpstr>Motív</vt:lpstr>
      </vt:variant>
      <vt:variant>
        <vt:i4>2</vt:i4>
      </vt:variant>
      <vt:variant>
        <vt:lpstr>Nadpisy snímok</vt:lpstr>
      </vt:variant>
      <vt:variant>
        <vt:i4>92</vt:i4>
      </vt:variant>
    </vt:vector>
  </HeadingPairs>
  <TitlesOfParts>
    <vt:vector size="100" baseType="lpstr">
      <vt:lpstr>Arial</vt:lpstr>
      <vt:lpstr>Calibri</vt:lpstr>
      <vt:lpstr>CiscoSans ExtraLight</vt:lpstr>
      <vt:lpstr>Courier New</vt:lpstr>
      <vt:lpstr>Times New Roman</vt:lpstr>
      <vt:lpstr>Wingdings</vt:lpstr>
      <vt:lpstr>Office Theme</vt:lpstr>
      <vt:lpstr>Default Theme</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Július Baráth</cp:lastModifiedBy>
  <cp:revision>37</cp:revision>
  <dcterms:created xsi:type="dcterms:W3CDTF">2020-12-08T18:27:13Z</dcterms:created>
  <dcterms:modified xsi:type="dcterms:W3CDTF">2025-03-24T12:07:30Z</dcterms:modified>
</cp:coreProperties>
</file>
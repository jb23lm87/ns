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tags/tag4.xml" ContentType="application/vnd.openxmlformats-officedocument.presentationml.tags+xml"/>
  <Override PartName="/ppt/notesSlides/notesSlide10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1" r:id="rId3"/>
  </p:sldMasterIdLst>
  <p:notesMasterIdLst>
    <p:notesMasterId r:id="rId110"/>
  </p:notesMasterIdLst>
  <p:sldIdLst>
    <p:sldId id="256" r:id="rId4"/>
    <p:sldId id="925"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6" r:id="rId18"/>
    <p:sldId id="277" r:id="rId19"/>
    <p:sldId id="278" r:id="rId20"/>
    <p:sldId id="279" r:id="rId21"/>
    <p:sldId id="280" r:id="rId22"/>
    <p:sldId id="1083" r:id="rId23"/>
    <p:sldId id="282" r:id="rId24"/>
    <p:sldId id="1087" r:id="rId25"/>
    <p:sldId id="284" r:id="rId26"/>
    <p:sldId id="286" r:id="rId27"/>
    <p:sldId id="287" r:id="rId28"/>
    <p:sldId id="1088" r:id="rId29"/>
    <p:sldId id="1058" r:id="rId30"/>
    <p:sldId id="1094" r:id="rId31"/>
    <p:sldId id="1095" r:id="rId32"/>
    <p:sldId id="1096" r:id="rId33"/>
    <p:sldId id="332" r:id="rId34"/>
    <p:sldId id="1097" r:id="rId35"/>
    <p:sldId id="1098" r:id="rId36"/>
    <p:sldId id="1099" r:id="rId37"/>
    <p:sldId id="1100" r:id="rId38"/>
    <p:sldId id="1101" r:id="rId39"/>
    <p:sldId id="1073" r:id="rId40"/>
    <p:sldId id="1102" r:id="rId41"/>
    <p:sldId id="1103" r:id="rId42"/>
    <p:sldId id="1074" r:id="rId43"/>
    <p:sldId id="408" r:id="rId44"/>
    <p:sldId id="275" r:id="rId45"/>
    <p:sldId id="1077" r:id="rId46"/>
    <p:sldId id="1109" r:id="rId47"/>
    <p:sldId id="1121" r:id="rId48"/>
    <p:sldId id="1122" r:id="rId49"/>
    <p:sldId id="1123" r:id="rId50"/>
    <p:sldId id="1124" r:id="rId51"/>
    <p:sldId id="1125" r:id="rId52"/>
    <p:sldId id="1126" r:id="rId53"/>
    <p:sldId id="1127" r:id="rId54"/>
    <p:sldId id="1128" r:id="rId55"/>
    <p:sldId id="1129" r:id="rId56"/>
    <p:sldId id="1130" r:id="rId57"/>
    <p:sldId id="1131" r:id="rId58"/>
    <p:sldId id="1132" r:id="rId59"/>
    <p:sldId id="1133" r:id="rId60"/>
    <p:sldId id="1134" r:id="rId61"/>
    <p:sldId id="1135" r:id="rId62"/>
    <p:sldId id="1136" r:id="rId63"/>
    <p:sldId id="1137" r:id="rId64"/>
    <p:sldId id="1141" r:id="rId65"/>
    <p:sldId id="1142" r:id="rId66"/>
    <p:sldId id="1143" r:id="rId67"/>
    <p:sldId id="1145" r:id="rId68"/>
    <p:sldId id="1146" r:id="rId69"/>
    <p:sldId id="1147" r:id="rId70"/>
    <p:sldId id="1148" r:id="rId71"/>
    <p:sldId id="1149" r:id="rId72"/>
    <p:sldId id="281" r:id="rId73"/>
    <p:sldId id="1150" r:id="rId74"/>
    <p:sldId id="1151" r:id="rId75"/>
    <p:sldId id="1154" r:id="rId76"/>
    <p:sldId id="1155" r:id="rId77"/>
    <p:sldId id="285" r:id="rId78"/>
    <p:sldId id="1156" r:id="rId79"/>
    <p:sldId id="1157" r:id="rId80"/>
    <p:sldId id="1158" r:id="rId81"/>
    <p:sldId id="1159" r:id="rId82"/>
    <p:sldId id="1160" r:id="rId83"/>
    <p:sldId id="1161" r:id="rId84"/>
    <p:sldId id="293" r:id="rId85"/>
    <p:sldId id="294" r:id="rId86"/>
    <p:sldId id="1162" r:id="rId87"/>
    <p:sldId id="295" r:id="rId88"/>
    <p:sldId id="296" r:id="rId89"/>
    <p:sldId id="297" r:id="rId90"/>
    <p:sldId id="298" r:id="rId91"/>
    <p:sldId id="1163" r:id="rId92"/>
    <p:sldId id="1164" r:id="rId93"/>
    <p:sldId id="363" r:id="rId94"/>
    <p:sldId id="300" r:id="rId95"/>
    <p:sldId id="301" r:id="rId96"/>
    <p:sldId id="302" r:id="rId97"/>
    <p:sldId id="303" r:id="rId98"/>
    <p:sldId id="304" r:id="rId99"/>
    <p:sldId id="305" r:id="rId100"/>
    <p:sldId id="306" r:id="rId101"/>
    <p:sldId id="307" r:id="rId102"/>
    <p:sldId id="1165" r:id="rId103"/>
    <p:sldId id="308" r:id="rId104"/>
    <p:sldId id="1166" r:id="rId105"/>
    <p:sldId id="310" r:id="rId106"/>
    <p:sldId id="1167" r:id="rId107"/>
    <p:sldId id="1168" r:id="rId108"/>
    <p:sldId id="1174" r:id="rId10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689045-61FA-0948-A384-5B5D73BE24FE}" v="8" dt="2025-02-03T13:40:58.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6301" autoAdjust="0"/>
  </p:normalViewPr>
  <p:slideViewPr>
    <p:cSldViewPr snapToGrid="0" snapToObjects="1">
      <p:cViewPr varScale="1">
        <p:scale>
          <a:sx n="198" d="100"/>
          <a:sy n="198" d="100"/>
        </p:scale>
        <p:origin x="208" y="624"/>
      </p:cViewPr>
      <p:guideLst/>
    </p:cSldViewPr>
  </p:slideViewPr>
  <p:notesTextViewPr>
    <p:cViewPr>
      <p:scale>
        <a:sx n="1" d="1"/>
        <a:sy n="1" d="1"/>
      </p:scale>
      <p:origin x="0" y="0"/>
    </p:cViewPr>
  </p:notesTextViewPr>
  <p:sorterViewPr>
    <p:cViewPr>
      <p:scale>
        <a:sx n="160" d="100"/>
        <a:sy n="16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viewProps" Target="view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theme" Target="theme/theme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notesMaster" Target="notesMasters/notesMaster1.xml"/><Relationship Id="rId115" Type="http://schemas.microsoft.com/office/2016/11/relationships/changesInfo" Target="changesInfos/changesInfo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microsoft.com/office/2015/10/relationships/revisionInfo" Target="revisionInfo.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3A4E9753-717F-0643-AD00-7599B14D72DA}"/>
    <pc:docChg chg="custSel addSld delSld modSld">
      <pc:chgData name="Baráth, Július" userId="aebde9b9-dccc-4475-a9ac-c05e78323d7a" providerId="ADAL" clId="{3A4E9753-717F-0643-AD00-7599B14D72DA}" dt="2023-02-06T12:49:54.306" v="58" actId="2696"/>
      <pc:docMkLst>
        <pc:docMk/>
      </pc:docMkLst>
      <pc:sldChg chg="addSp modSp mod">
        <pc:chgData name="Baráth, Július" userId="aebde9b9-dccc-4475-a9ac-c05e78323d7a" providerId="ADAL" clId="{3A4E9753-717F-0643-AD00-7599B14D72DA}" dt="2023-02-06T12:44:34.797" v="54" actId="1076"/>
        <pc:sldMkLst>
          <pc:docMk/>
          <pc:sldMk cId="3319404872" sldId="296"/>
        </pc:sldMkLst>
      </pc:sldChg>
      <pc:sldChg chg="addSp modSp add mod modClrScheme chgLayout">
        <pc:chgData name="Baráth, Július" userId="aebde9b9-dccc-4475-a9ac-c05e78323d7a" providerId="ADAL" clId="{3A4E9753-717F-0643-AD00-7599B14D72DA}" dt="2023-02-06T11:56:53.778" v="6" actId="700"/>
        <pc:sldMkLst>
          <pc:docMk/>
          <pc:sldMk cId="1528595657" sldId="332"/>
        </pc:sldMkLst>
      </pc:sldChg>
      <pc:sldChg chg="addSp modSp add mod modClrScheme chgLayout">
        <pc:chgData name="Baráth, Július" userId="aebde9b9-dccc-4475-a9ac-c05e78323d7a" providerId="ADAL" clId="{3A4E9753-717F-0643-AD00-7599B14D72DA}" dt="2023-02-06T12:45:39.665" v="57" actId="700"/>
        <pc:sldMkLst>
          <pc:docMk/>
          <pc:sldMk cId="3125277450" sldId="363"/>
        </pc:sldMkLst>
      </pc:sldChg>
      <pc:sldChg chg="delSp modSp add del mod modClrScheme chgLayout">
        <pc:chgData name="Baráth, Július" userId="aebde9b9-dccc-4475-a9ac-c05e78323d7a" providerId="ADAL" clId="{3A4E9753-717F-0643-AD00-7599B14D72DA}" dt="2023-02-06T12:44:40.528" v="55" actId="2696"/>
        <pc:sldMkLst>
          <pc:docMk/>
          <pc:sldMk cId="3262790458" sldId="364"/>
        </pc:sldMkLst>
      </pc:sldChg>
      <pc:sldChg chg="modSp add mod modClrScheme chgLayout">
        <pc:chgData name="Baráth, Július" userId="aebde9b9-dccc-4475-a9ac-c05e78323d7a" providerId="ADAL" clId="{3A4E9753-717F-0643-AD00-7599B14D72DA}" dt="2023-02-06T12:04:36.617" v="30" actId="6549"/>
        <pc:sldMkLst>
          <pc:docMk/>
          <pc:sldMk cId="3548429006" sldId="408"/>
        </pc:sldMkLst>
      </pc:sldChg>
      <pc:sldChg chg="modSp mod">
        <pc:chgData name="Baráth, Július" userId="aebde9b9-dccc-4475-a9ac-c05e78323d7a" providerId="ADAL" clId="{3A4E9753-717F-0643-AD00-7599B14D72DA}" dt="2023-02-06T11:53:26.076" v="4" actId="1076"/>
        <pc:sldMkLst>
          <pc:docMk/>
          <pc:sldMk cId="3803916688" sldId="1058"/>
        </pc:sldMkLst>
      </pc:sldChg>
      <pc:sldChg chg="del">
        <pc:chgData name="Baráth, Július" userId="aebde9b9-dccc-4475-a9ac-c05e78323d7a" providerId="ADAL" clId="{3A4E9753-717F-0643-AD00-7599B14D72DA}" dt="2023-02-06T12:02:40.455" v="22" actId="2696"/>
        <pc:sldMkLst>
          <pc:docMk/>
          <pc:sldMk cId="600024742" sldId="1076"/>
        </pc:sldMkLst>
      </pc:sldChg>
      <pc:sldChg chg="modSp mod">
        <pc:chgData name="Baráth, Július" userId="aebde9b9-dccc-4475-a9ac-c05e78323d7a" providerId="ADAL" clId="{3A4E9753-717F-0643-AD00-7599B14D72DA}" dt="2023-02-06T12:06:24.714" v="32" actId="113"/>
        <pc:sldMkLst>
          <pc:docMk/>
          <pc:sldMk cId="1480330558" sldId="1123"/>
        </pc:sldMkLst>
      </pc:sldChg>
      <pc:sldChg chg="modSp mod">
        <pc:chgData name="Baráth, Július" userId="aebde9b9-dccc-4475-a9ac-c05e78323d7a" providerId="ADAL" clId="{3A4E9753-717F-0643-AD00-7599B14D72DA}" dt="2023-02-06T12:15:20.670" v="33" actId="113"/>
        <pc:sldMkLst>
          <pc:docMk/>
          <pc:sldMk cId="3472127259" sldId="1133"/>
        </pc:sldMkLst>
      </pc:sldChg>
      <pc:sldChg chg="del">
        <pc:chgData name="Baráth, Július" userId="aebde9b9-dccc-4475-a9ac-c05e78323d7a" providerId="ADAL" clId="{3A4E9753-717F-0643-AD00-7599B14D72DA}" dt="2023-02-06T12:32:32.671" v="34" actId="2696"/>
        <pc:sldMkLst>
          <pc:docMk/>
          <pc:sldMk cId="1437730750" sldId="1138"/>
        </pc:sldMkLst>
      </pc:sldChg>
      <pc:sldChg chg="del">
        <pc:chgData name="Baráth, Július" userId="aebde9b9-dccc-4475-a9ac-c05e78323d7a" providerId="ADAL" clId="{3A4E9753-717F-0643-AD00-7599B14D72DA}" dt="2023-02-06T12:32:39.364" v="35" actId="2696"/>
        <pc:sldMkLst>
          <pc:docMk/>
          <pc:sldMk cId="3009217508" sldId="1139"/>
        </pc:sldMkLst>
      </pc:sldChg>
      <pc:sldChg chg="del">
        <pc:chgData name="Baráth, Július" userId="aebde9b9-dccc-4475-a9ac-c05e78323d7a" providerId="ADAL" clId="{3A4E9753-717F-0643-AD00-7599B14D72DA}" dt="2023-02-06T12:32:50.273" v="36" actId="2696"/>
        <pc:sldMkLst>
          <pc:docMk/>
          <pc:sldMk cId="3590846248" sldId="1140"/>
        </pc:sldMkLst>
      </pc:sldChg>
      <pc:sldChg chg="del">
        <pc:chgData name="Baráth, Július" userId="aebde9b9-dccc-4475-a9ac-c05e78323d7a" providerId="ADAL" clId="{3A4E9753-717F-0643-AD00-7599B14D72DA}" dt="2023-02-06T12:49:54.306" v="58" actId="2696"/>
        <pc:sldMkLst>
          <pc:docMk/>
          <pc:sldMk cId="2801447813" sldId="1169"/>
        </pc:sldMkLst>
      </pc:sldChg>
    </pc:docChg>
  </pc:docChgLst>
  <pc:docChgLst>
    <pc:chgData name="Baráth, Július" userId="aebde9b9-dccc-4475-a9ac-c05e78323d7a" providerId="ADAL" clId="{54E507BD-E332-154E-B080-31EA7704F042}"/>
    <pc:docChg chg="custSel modSld">
      <pc:chgData name="Baráth, Július" userId="aebde9b9-dccc-4475-a9ac-c05e78323d7a" providerId="ADAL" clId="{54E507BD-E332-154E-B080-31EA7704F042}" dt="2024-02-14T10:15:52.269" v="103" actId="20577"/>
      <pc:docMkLst>
        <pc:docMk/>
      </pc:docMkLst>
      <pc:sldChg chg="modSp mod">
        <pc:chgData name="Baráth, Július" userId="aebde9b9-dccc-4475-a9ac-c05e78323d7a" providerId="ADAL" clId="{54E507BD-E332-154E-B080-31EA7704F042}" dt="2024-02-06T09:33:22.933" v="0" actId="113"/>
        <pc:sldMkLst>
          <pc:docMk/>
          <pc:sldMk cId="0" sldId="268"/>
        </pc:sldMkLst>
      </pc:sldChg>
      <pc:sldChg chg="addSp modSp mod">
        <pc:chgData name="Baráth, Július" userId="aebde9b9-dccc-4475-a9ac-c05e78323d7a" providerId="ADAL" clId="{54E507BD-E332-154E-B080-31EA7704F042}" dt="2024-02-06T10:09:05.226" v="48" actId="113"/>
        <pc:sldMkLst>
          <pc:docMk/>
          <pc:sldMk cId="0" sldId="273"/>
        </pc:sldMkLst>
      </pc:sldChg>
      <pc:sldChg chg="addSp modSp mod">
        <pc:chgData name="Baráth, Július" userId="aebde9b9-dccc-4475-a9ac-c05e78323d7a" providerId="ADAL" clId="{54E507BD-E332-154E-B080-31EA7704F042}" dt="2024-02-14T10:15:52.269" v="103" actId="20577"/>
        <pc:sldMkLst>
          <pc:docMk/>
          <pc:sldMk cId="0" sldId="274"/>
        </pc:sldMkLst>
      </pc:sldChg>
      <pc:sldChg chg="modSp mod">
        <pc:chgData name="Baráth, Július" userId="aebde9b9-dccc-4475-a9ac-c05e78323d7a" providerId="ADAL" clId="{54E507BD-E332-154E-B080-31EA7704F042}" dt="2024-02-06T10:11:54.012" v="73" actId="113"/>
        <pc:sldMkLst>
          <pc:docMk/>
          <pc:sldMk cId="0" sldId="287"/>
        </pc:sldMkLst>
      </pc:sldChg>
      <pc:sldChg chg="modSp">
        <pc:chgData name="Baráth, Július" userId="aebde9b9-dccc-4475-a9ac-c05e78323d7a" providerId="ADAL" clId="{54E507BD-E332-154E-B080-31EA7704F042}" dt="2024-02-06T10:15:02.610" v="76" actId="1076"/>
        <pc:sldMkLst>
          <pc:docMk/>
          <pc:sldMk cId="1528595657" sldId="332"/>
        </pc:sldMkLst>
      </pc:sldChg>
      <pc:sldChg chg="modSp mod">
        <pc:chgData name="Baráth, Július" userId="aebde9b9-dccc-4475-a9ac-c05e78323d7a" providerId="ADAL" clId="{54E507BD-E332-154E-B080-31EA7704F042}" dt="2024-02-06T10:20:43.830" v="88" actId="14100"/>
        <pc:sldMkLst>
          <pc:docMk/>
          <pc:sldMk cId="2968003566" sldId="1101"/>
        </pc:sldMkLst>
      </pc:sldChg>
      <pc:sldChg chg="modSp mod">
        <pc:chgData name="Baráth, Július" userId="aebde9b9-dccc-4475-a9ac-c05e78323d7a" providerId="ADAL" clId="{54E507BD-E332-154E-B080-31EA7704F042}" dt="2024-02-06T10:53:18.709" v="89" actId="12"/>
        <pc:sldMkLst>
          <pc:docMk/>
          <pc:sldMk cId="633902859" sldId="1148"/>
        </pc:sldMkLst>
      </pc:sldChg>
    </pc:docChg>
  </pc:docChgLst>
  <pc:docChgLst>
    <pc:chgData name="Baráth, Július" userId="S::julius.barath@aos.sk::aebde9b9-dccc-4475-a9ac-c05e78323d7a" providerId="AD" clId="Web-{4D15FB3B-496A-AA99-A5FD-A41830DBFDA6}"/>
    <pc:docChg chg="modSld">
      <pc:chgData name="Baráth, Július" userId="S::julius.barath@aos.sk::aebde9b9-dccc-4475-a9ac-c05e78323d7a" providerId="AD" clId="Web-{4D15FB3B-496A-AA99-A5FD-A41830DBFDA6}" dt="2023-02-07T08:38:39.281" v="11" actId="1076"/>
      <pc:docMkLst>
        <pc:docMk/>
      </pc:docMkLst>
      <pc:sldChg chg="addSp delSp modSp">
        <pc:chgData name="Baráth, Július" userId="S::julius.barath@aos.sk::aebde9b9-dccc-4475-a9ac-c05e78323d7a" providerId="AD" clId="Web-{4D15FB3B-496A-AA99-A5FD-A41830DBFDA6}" dt="2023-02-07T08:38:39.281" v="11" actId="1076"/>
        <pc:sldMkLst>
          <pc:docMk/>
          <pc:sldMk cId="0" sldId="273"/>
        </pc:sldMkLst>
      </pc:sldChg>
    </pc:docChg>
  </pc:docChgLst>
  <pc:docChgLst>
    <pc:chgData name="Baráth, Július" userId="S::julius.barath@aos.sk::aebde9b9-dccc-4475-a9ac-c05e78323d7a" providerId="AD" clId="Web-{70394940-83A0-DB76-3FF8-6251F9D5E102}"/>
    <pc:docChg chg="modSld">
      <pc:chgData name="Baráth, Július" userId="S::julius.barath@aos.sk::aebde9b9-dccc-4475-a9ac-c05e78323d7a" providerId="AD" clId="Web-{70394940-83A0-DB76-3FF8-6251F9D5E102}" dt="2024-02-07T08:54:31.834" v="1" actId="20577"/>
      <pc:docMkLst>
        <pc:docMk/>
      </pc:docMkLst>
      <pc:sldChg chg="modSp">
        <pc:chgData name="Baráth, Július" userId="S::julius.barath@aos.sk::aebde9b9-dccc-4475-a9ac-c05e78323d7a" providerId="AD" clId="Web-{70394940-83A0-DB76-3FF8-6251F9D5E102}" dt="2024-02-07T08:54:31.834" v="1" actId="20577"/>
        <pc:sldMkLst>
          <pc:docMk/>
          <pc:sldMk cId="0" sldId="274"/>
        </pc:sldMkLst>
      </pc:sldChg>
    </pc:docChg>
  </pc:docChgLst>
  <pc:docChgLst>
    <pc:chgData name="Baráth, Július" userId="aebde9b9-dccc-4475-a9ac-c05e78323d7a" providerId="ADAL" clId="{2F689045-61FA-0948-A384-5B5D73BE24FE}"/>
    <pc:docChg chg="undo custSel modSld">
      <pc:chgData name="Baráth, Július" userId="aebde9b9-dccc-4475-a9ac-c05e78323d7a" providerId="ADAL" clId="{2F689045-61FA-0948-A384-5B5D73BE24FE}" dt="2025-02-03T13:40:58.439" v="145" actId="1076"/>
      <pc:docMkLst>
        <pc:docMk/>
      </pc:docMkLst>
      <pc:sldChg chg="addSp modSp mod">
        <pc:chgData name="Baráth, Július" userId="aebde9b9-dccc-4475-a9ac-c05e78323d7a" providerId="ADAL" clId="{2F689045-61FA-0948-A384-5B5D73BE24FE}" dt="2025-02-03T13:36:42.322" v="129" actId="20577"/>
        <pc:sldMkLst>
          <pc:docMk/>
          <pc:sldMk cId="1574564153" sldId="293"/>
        </pc:sldMkLst>
        <pc:spChg chg="add mod">
          <ac:chgData name="Baráth, Július" userId="aebde9b9-dccc-4475-a9ac-c05e78323d7a" providerId="ADAL" clId="{2F689045-61FA-0948-A384-5B5D73BE24FE}" dt="2025-02-03T13:36:42.322" v="129" actId="20577"/>
          <ac:spMkLst>
            <pc:docMk/>
            <pc:sldMk cId="1574564153" sldId="293"/>
            <ac:spMk id="6" creationId="{8929E303-5F6E-7FFA-1145-733D74AEAD03}"/>
          </ac:spMkLst>
        </pc:spChg>
      </pc:sldChg>
      <pc:sldChg chg="modSp mod">
        <pc:chgData name="Baráth, Július" userId="aebde9b9-dccc-4475-a9ac-c05e78323d7a" providerId="ADAL" clId="{2F689045-61FA-0948-A384-5B5D73BE24FE}" dt="2025-02-03T13:40:31.146" v="143" actId="20577"/>
        <pc:sldMkLst>
          <pc:docMk/>
          <pc:sldMk cId="3319404872" sldId="296"/>
        </pc:sldMkLst>
        <pc:spChg chg="mod">
          <ac:chgData name="Baráth, Július" userId="aebde9b9-dccc-4475-a9ac-c05e78323d7a" providerId="ADAL" clId="{2F689045-61FA-0948-A384-5B5D73BE24FE}" dt="2025-02-03T13:40:31.146" v="143" actId="20577"/>
          <ac:spMkLst>
            <pc:docMk/>
            <pc:sldMk cId="3319404872" sldId="296"/>
            <ac:spMk id="7" creationId="{4694F791-7581-CE06-1E6A-31DC1BE670D8}"/>
          </ac:spMkLst>
        </pc:spChg>
      </pc:sldChg>
      <pc:sldChg chg="modSp">
        <pc:chgData name="Baráth, Július" userId="aebde9b9-dccc-4475-a9ac-c05e78323d7a" providerId="ADAL" clId="{2F689045-61FA-0948-A384-5B5D73BE24FE}" dt="2025-02-03T13:04:43.343" v="1" actId="732"/>
        <pc:sldMkLst>
          <pc:docMk/>
          <pc:sldMk cId="1528595657" sldId="332"/>
        </pc:sldMkLst>
        <pc:picChg chg="mod">
          <ac:chgData name="Baráth, Július" userId="aebde9b9-dccc-4475-a9ac-c05e78323d7a" providerId="ADAL" clId="{2F689045-61FA-0948-A384-5B5D73BE24FE}" dt="2025-02-03T13:04:43.343" v="1" actId="732"/>
          <ac:picMkLst>
            <pc:docMk/>
            <pc:sldMk cId="1528595657" sldId="332"/>
            <ac:picMk id="17410" creationId="{00000000-0000-0000-0000-000000000000}"/>
          </ac:picMkLst>
        </pc:picChg>
      </pc:sldChg>
      <pc:sldChg chg="modSp">
        <pc:chgData name="Baráth, Július" userId="aebde9b9-dccc-4475-a9ac-c05e78323d7a" providerId="ADAL" clId="{2F689045-61FA-0948-A384-5B5D73BE24FE}" dt="2025-02-03T13:40:58.439" v="145" actId="1076"/>
        <pc:sldMkLst>
          <pc:docMk/>
          <pc:sldMk cId="3125277450" sldId="363"/>
        </pc:sldMkLst>
        <pc:picChg chg="mod">
          <ac:chgData name="Baráth, Július" userId="aebde9b9-dccc-4475-a9ac-c05e78323d7a" providerId="ADAL" clId="{2F689045-61FA-0948-A384-5B5D73BE24FE}" dt="2025-02-03T13:40:58.439" v="145" actId="1076"/>
          <ac:picMkLst>
            <pc:docMk/>
            <pc:sldMk cId="3125277450" sldId="363"/>
            <ac:picMk id="43010" creationId="{00000000-0000-0000-0000-000000000000}"/>
          </ac:picMkLst>
        </pc:picChg>
      </pc:sldChg>
      <pc:sldChg chg="modSp mod">
        <pc:chgData name="Baráth, Július" userId="aebde9b9-dccc-4475-a9ac-c05e78323d7a" providerId="ADAL" clId="{2F689045-61FA-0948-A384-5B5D73BE24FE}" dt="2025-02-03T13:23:33.039" v="123" actId="20577"/>
        <pc:sldMkLst>
          <pc:docMk/>
          <pc:sldMk cId="3548429006" sldId="408"/>
        </pc:sldMkLst>
        <pc:spChg chg="mod">
          <ac:chgData name="Baráth, Július" userId="aebde9b9-dccc-4475-a9ac-c05e78323d7a" providerId="ADAL" clId="{2F689045-61FA-0948-A384-5B5D73BE24FE}" dt="2025-02-03T13:23:33.039" v="123" actId="20577"/>
          <ac:spMkLst>
            <pc:docMk/>
            <pc:sldMk cId="3548429006" sldId="408"/>
            <ac:spMk id="5" creationId="{69B8388B-B78F-4284-8618-2354B9E8EEA8}"/>
          </ac:spMkLst>
        </pc:spChg>
      </pc:sldChg>
      <pc:sldChg chg="addSp modSp mod">
        <pc:chgData name="Baráth, Július" userId="aebde9b9-dccc-4475-a9ac-c05e78323d7a" providerId="ADAL" clId="{2F689045-61FA-0948-A384-5B5D73BE24FE}" dt="2025-02-03T13:08:29.121" v="10" actId="1076"/>
        <pc:sldMkLst>
          <pc:docMk/>
          <pc:sldMk cId="530051790" sldId="1096"/>
        </pc:sldMkLst>
        <pc:spChg chg="add mod">
          <ac:chgData name="Baráth, Július" userId="aebde9b9-dccc-4475-a9ac-c05e78323d7a" providerId="ADAL" clId="{2F689045-61FA-0948-A384-5B5D73BE24FE}" dt="2025-02-03T13:08:29.121" v="10" actId="1076"/>
          <ac:spMkLst>
            <pc:docMk/>
            <pc:sldMk cId="530051790" sldId="1096"/>
            <ac:spMk id="4" creationId="{B8D85983-021E-9945-31CF-BB11BCD646F3}"/>
          </ac:spMkLst>
        </pc:spChg>
        <pc:spChg chg="mod">
          <ac:chgData name="Baráth, Július" userId="aebde9b9-dccc-4475-a9ac-c05e78323d7a" providerId="ADAL" clId="{2F689045-61FA-0948-A384-5B5D73BE24FE}" dt="2025-02-03T13:07:55.456" v="4" actId="20577"/>
          <ac:spMkLst>
            <pc:docMk/>
            <pc:sldMk cId="530051790" sldId="1096"/>
            <ac:spMk id="5" creationId="{00000000-0000-0000-0000-000000000000}"/>
          </ac:spMkLst>
        </pc:spChg>
      </pc:sldChg>
      <pc:sldChg chg="addSp modSp mod">
        <pc:chgData name="Baráth, Július" userId="aebde9b9-dccc-4475-a9ac-c05e78323d7a" providerId="ADAL" clId="{2F689045-61FA-0948-A384-5B5D73BE24FE}" dt="2025-02-03T13:13:38.678" v="62" actId="20577"/>
        <pc:sldMkLst>
          <pc:docMk/>
          <pc:sldMk cId="2968003566" sldId="1101"/>
        </pc:sldMkLst>
        <pc:spChg chg="add mod">
          <ac:chgData name="Baráth, Július" userId="aebde9b9-dccc-4475-a9ac-c05e78323d7a" providerId="ADAL" clId="{2F689045-61FA-0948-A384-5B5D73BE24FE}" dt="2025-02-03T13:13:38.678" v="62" actId="20577"/>
          <ac:spMkLst>
            <pc:docMk/>
            <pc:sldMk cId="2968003566" sldId="1101"/>
            <ac:spMk id="4" creationId="{616374F8-5B0C-F501-A579-B2F8CC2ADA06}"/>
          </ac:spMkLst>
        </pc:spChg>
      </pc:sldChg>
      <pc:sldChg chg="addSp modSp mod">
        <pc:chgData name="Baráth, Július" userId="aebde9b9-dccc-4475-a9ac-c05e78323d7a" providerId="ADAL" clId="{2F689045-61FA-0948-A384-5B5D73BE24FE}" dt="2025-02-03T13:38:42.888" v="135" actId="404"/>
        <pc:sldMkLst>
          <pc:docMk/>
          <pc:sldMk cId="3378068478" sldId="1162"/>
        </pc:sldMkLst>
        <pc:spChg chg="add mod">
          <ac:chgData name="Baráth, Július" userId="aebde9b9-dccc-4475-a9ac-c05e78323d7a" providerId="ADAL" clId="{2F689045-61FA-0948-A384-5B5D73BE24FE}" dt="2025-02-03T13:38:42.888" v="135" actId="404"/>
          <ac:spMkLst>
            <pc:docMk/>
            <pc:sldMk cId="3378068478" sldId="1162"/>
            <ac:spMk id="4" creationId="{37094A7C-1632-F405-E9B4-57F605181B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450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4: Secure Device Access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4 – Secure Device Access</a:t>
            </a:r>
          </a:p>
          <a:p>
            <a:r>
              <a:rPr lang="en-GB" dirty="0"/>
              <a:t>4.0.2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4.1.1: Secure the Network Infrastructure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4.1.2: Edge Router Security Approaches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4.1.3: Three Areas of Router Security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4.1.4: Secure Administrative Access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4.1: Secure the Edge Router
4.1.5: Secure Local and Remote Access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4.2.1: Passwords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4.2.2: Configure Passwords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4.2.3: Encrypt Passwords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4.2.4: Additional Password Security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4.2: Configure Secure Administrative Access
4.2.5: Secret Password Algorithms</a:t>
            </a:r>
          </a:p>
          <a:p>
            <a:r>
              <a:rPr lang="en-US" dirty="0"/>
              <a:t>4.2.6: Syntax Checker – Secure Administrative Access on R2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4.3.1: Enhance the Login Process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4.3.2: Configure Login Enhancement Features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4.3.3: Enable Login Enhancements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4.3.4: Log Failed Attempts
4.3.5: Syntax Checker – Configure Enhanced Login Security on R2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4.3: Configure Enhanced Security for Virtual Logins
4.3.4: Log Failed Attempts
4.3.5: Syntax Checker – Configure Enhanced Login Security on R2</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3004793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4.4.2: Enable SSH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743394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4.4.3: Enhance SSH Login Security</a:t>
            </a:r>
          </a:p>
          <a:p>
            <a:r>
              <a:rPr lang="en-US" dirty="0"/>
              <a:t>4.4.4: Syntax Checker – Enable SSH on R2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4.4.5: Connect a Router to an SSH-Enabled Router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Secure Device Access
4.4: Configure SSH
4.4.6: Connect a Host to an SSH-Enabled Router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5: Assigning Administrative Roles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766444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5 – Assigning Administrative Roles</a:t>
            </a:r>
          </a:p>
          <a:p>
            <a:pPr>
              <a:lnSpc>
                <a:spcPct val="80000"/>
              </a:lnSpc>
              <a:buFontTx/>
              <a:buNone/>
            </a:pPr>
            <a:r>
              <a:rPr lang="en-US" sz="1200" kern="1200" dirty="0">
                <a:solidFill>
                  <a:schemeClr val="tx1"/>
                </a:solidFill>
                <a:latin typeface="Arial" charset="0"/>
                <a:ea typeface="ＭＳ Ｐゴシック" charset="0"/>
                <a:cs typeface="ＭＳ Ｐゴシック" charset="0"/>
              </a:rPr>
              <a:t>5.0.2 – What will I learn in this module?</a:t>
            </a:r>
            <a:endParaRPr lang="en-GB" b="0" dirty="0"/>
          </a:p>
          <a:p>
            <a:pPr>
              <a:buFontTx/>
              <a:buNone/>
            </a:pPr>
            <a:endParaRPr lang="en-GB" dirty="0"/>
          </a:p>
        </p:txBody>
      </p:sp>
    </p:spTree>
    <p:extLst>
      <p:ext uri="{BB962C8B-B14F-4D97-AF65-F5344CB8AC3E}">
        <p14:creationId xmlns:p14="http://schemas.microsoft.com/office/powerpoint/2010/main" val="3682287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5.1: Configure Privilege Levels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957770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5.1: Configure Privilege Levels
5.1.1: Limiting Command Availability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26708335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5.1: Configure Privilege Levels
5.1.2: Configuring and Assigning Privilege Levels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4234875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2.2.1.2 Configuring</a:t>
            </a:r>
            <a:r>
              <a:rPr lang="en-US" baseline="0" dirty="0"/>
              <a:t> and Assigning Privilege Levels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5.1: Configure Privilege Levels
5.1.3: Limitations of Privilege Levels</a:t>
            </a:r>
          </a:p>
          <a:p>
            <a:r>
              <a:rPr lang="en-US" dirty="0"/>
              <a:t>5.1.4: Syntax Checker - Configure Privilege Levels on R2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8220850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945552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5.2.1: Role-Based CLI Access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7881384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5.2.2: Role-Based Views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7324794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5.2.3: Configure Role-Based Views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4561861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5.2.3: Configure Role-Based Views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3137710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5.2.3: Configure Role-Based Views
5.2.4: Syntax Checker - Configure Views on R2</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2008906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5.2.6: Configure Role-Based CLI Superviews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33706554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5.2.6: Configure Role-Based CLI Superviews</a:t>
            </a:r>
          </a:p>
          <a:p>
            <a:r>
              <a:rPr lang="en-US" dirty="0"/>
              <a:t>5.2.7: Syntax Checker - Configure Superviews on R2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40206190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5.2.8: Verify Role-Based CLI Views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21778350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Assigning Administrative Roles
5.2: Configure Role-Based CLI
5.2.8: Verify Role-Based CLI Views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34980749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6: Monitoring and Managing Devices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1702087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45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6989975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21531509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6.1.1: Cisco IOS Resilient Configuration Feature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8476867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6.1.2: Enabling the IOS Image Resilience Feature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20196488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6.1.2: Enabling the IOS Image Resilience Feature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2038316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6.1.3: The Primary Bootset Image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26023867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6.1.3: The Primary Bootset Image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39362280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6.1.4: Configuring Secure Copy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31871745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6.1.4: Configuring Secure Copy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dirty="0"/>
          </a:p>
        </p:txBody>
      </p:sp>
    </p:spTree>
    <p:extLst>
      <p:ext uri="{BB962C8B-B14F-4D97-AF65-F5344CB8AC3E}">
        <p14:creationId xmlns:p14="http://schemas.microsoft.com/office/powerpoint/2010/main" val="4925280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6.1.5: Recovering a Router Password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15692683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6.1.6: Password Recovery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14151493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6.1: Secure Cisco IOS Image and Configuration Files
6.1.6: Password Recovery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28194437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4886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dirty="0"/>
          </a:p>
        </p:txBody>
      </p:sp>
    </p:spTree>
    <p:extLst>
      <p:ext uri="{BB962C8B-B14F-4D97-AF65-F5344CB8AC3E}">
        <p14:creationId xmlns:p14="http://schemas.microsoft.com/office/powerpoint/2010/main" val="36902691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6.2.1: Discovery Protocols CDP and LLDP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dirty="0"/>
          </a:p>
        </p:txBody>
      </p:sp>
    </p:spTree>
    <p:extLst>
      <p:ext uri="{BB962C8B-B14F-4D97-AF65-F5344CB8AC3E}">
        <p14:creationId xmlns:p14="http://schemas.microsoft.com/office/powerpoint/2010/main" val="11345373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6.2.1: Discovery Protocols CDP and LLDP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dirty="0"/>
          </a:p>
        </p:txBody>
      </p:sp>
    </p:spTree>
    <p:extLst>
      <p:ext uri="{BB962C8B-B14F-4D97-AF65-F5344CB8AC3E}">
        <p14:creationId xmlns:p14="http://schemas.microsoft.com/office/powerpoint/2010/main" val="39825393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6.2.2: Settings for Protocols and Services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dirty="0"/>
          </a:p>
        </p:txBody>
      </p:sp>
    </p:spTree>
    <p:extLst>
      <p:ext uri="{BB962C8B-B14F-4D97-AF65-F5344CB8AC3E}">
        <p14:creationId xmlns:p14="http://schemas.microsoft.com/office/powerpoint/2010/main" val="14821666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6.2.3: Cisco AutoSecure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dirty="0"/>
          </a:p>
        </p:txBody>
      </p:sp>
    </p:spTree>
    <p:extLst>
      <p:ext uri="{BB962C8B-B14F-4D97-AF65-F5344CB8AC3E}">
        <p14:creationId xmlns:p14="http://schemas.microsoft.com/office/powerpoint/2010/main" val="42214904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6.2.4: Using the Cisco AutoSecure Feature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dirty="0"/>
          </a:p>
        </p:txBody>
      </p:sp>
    </p:spTree>
    <p:extLst>
      <p:ext uri="{BB962C8B-B14F-4D97-AF65-F5344CB8AC3E}">
        <p14:creationId xmlns:p14="http://schemas.microsoft.com/office/powerpoint/2010/main" val="19460889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6.2: Lock Down a Router Using AutoSecure
6.2.5: Using the auto secure Command</a:t>
            </a:r>
          </a:p>
          <a:p>
            <a:r>
              <a:rPr lang="en-US" dirty="0"/>
              <a:t>6.2.6: Syntax Checker - Using the auto secure Command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dirty="0"/>
          </a:p>
        </p:txBody>
      </p:sp>
    </p:spTree>
    <p:extLst>
      <p:ext uri="{BB962C8B-B14F-4D97-AF65-F5344CB8AC3E}">
        <p14:creationId xmlns:p14="http://schemas.microsoft.com/office/powerpoint/2010/main" val="8916389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dirty="0"/>
          </a:p>
        </p:txBody>
      </p:sp>
    </p:spTree>
    <p:extLst>
      <p:ext uri="{BB962C8B-B14F-4D97-AF65-F5344CB8AC3E}">
        <p14:creationId xmlns:p14="http://schemas.microsoft.com/office/powerpoint/2010/main" val="13671749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6.3.1: Dynamic Routing Protocols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dirty="0"/>
          </a:p>
        </p:txBody>
      </p:sp>
    </p:spTree>
    <p:extLst>
      <p:ext uri="{BB962C8B-B14F-4D97-AF65-F5344CB8AC3E}">
        <p14:creationId xmlns:p14="http://schemas.microsoft.com/office/powerpoint/2010/main" val="34449147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6.3.2: Routing Protocol Spoofing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dirty="0"/>
          </a:p>
        </p:txBody>
      </p:sp>
    </p:spTree>
    <p:extLst>
      <p:ext uri="{BB962C8B-B14F-4D97-AF65-F5344CB8AC3E}">
        <p14:creationId xmlns:p14="http://schemas.microsoft.com/office/powerpoint/2010/main" val="23691626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6.3.3: OSPF MD5 Routing Protocol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dirty="0"/>
          </a:p>
        </p:txBody>
      </p:sp>
    </p:spTree>
    <p:extLst>
      <p:ext uri="{BB962C8B-B14F-4D97-AF65-F5344CB8AC3E}">
        <p14:creationId xmlns:p14="http://schemas.microsoft.com/office/powerpoint/2010/main" val="42165560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6.3.3: OSPF MD5 Routing Protocol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dirty="0"/>
          </a:p>
        </p:txBody>
      </p:sp>
    </p:spTree>
    <p:extLst>
      <p:ext uri="{BB962C8B-B14F-4D97-AF65-F5344CB8AC3E}">
        <p14:creationId xmlns:p14="http://schemas.microsoft.com/office/powerpoint/2010/main" val="20136236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6.3.4: OSPF SHA Routing Protocol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dirty="0"/>
          </a:p>
        </p:txBody>
      </p:sp>
    </p:spTree>
    <p:extLst>
      <p:ext uri="{BB962C8B-B14F-4D97-AF65-F5344CB8AC3E}">
        <p14:creationId xmlns:p14="http://schemas.microsoft.com/office/powerpoint/2010/main" val="42552076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6.3.4: OSPF SHA Routing Protocol Authentication 
6.3.5: Syntax Checker- OSPF SHA Routing Protocol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dirty="0"/>
          </a:p>
        </p:txBody>
      </p:sp>
    </p:spTree>
    <p:extLst>
      <p:ext uri="{BB962C8B-B14F-4D97-AF65-F5344CB8AC3E}">
        <p14:creationId xmlns:p14="http://schemas.microsoft.com/office/powerpoint/2010/main" val="8568445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6.3: Routing Protocol Authentication
6.3.4: OSPF SHA Routing Protocol Authentication 
6.3.5: Syntax Checker- OSPF SHA Routing Protocol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dirty="0"/>
          </a:p>
        </p:txBody>
      </p:sp>
    </p:spTree>
    <p:extLst>
      <p:ext uri="{BB962C8B-B14F-4D97-AF65-F5344CB8AC3E}">
        <p14:creationId xmlns:p14="http://schemas.microsoft.com/office/powerpoint/2010/main" val="29883854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6.4: Secure Management and Reporting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dirty="0"/>
          </a:p>
        </p:txBody>
      </p:sp>
    </p:spTree>
    <p:extLst>
      <p:ext uri="{BB962C8B-B14F-4D97-AF65-F5344CB8AC3E}">
        <p14:creationId xmlns:p14="http://schemas.microsoft.com/office/powerpoint/2010/main" val="37771648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6.4: Secure Management and Reporting
6.4.1: Determining the Type of Management Access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dirty="0"/>
          </a:p>
        </p:txBody>
      </p:sp>
    </p:spTree>
    <p:extLst>
      <p:ext uri="{BB962C8B-B14F-4D97-AF65-F5344CB8AC3E}">
        <p14:creationId xmlns:p14="http://schemas.microsoft.com/office/powerpoint/2010/main" val="490277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6.4: Secure Management and Reporting
6.4.2: Out-of-Band and In-Band Access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dirty="0"/>
          </a:p>
        </p:txBody>
      </p:sp>
    </p:spTree>
    <p:extLst>
      <p:ext uri="{BB962C8B-B14F-4D97-AF65-F5344CB8AC3E}">
        <p14:creationId xmlns:p14="http://schemas.microsoft.com/office/powerpoint/2010/main" val="177882872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dirty="0"/>
          </a:p>
        </p:txBody>
      </p:sp>
    </p:spTree>
    <p:extLst>
      <p:ext uri="{BB962C8B-B14F-4D97-AF65-F5344CB8AC3E}">
        <p14:creationId xmlns:p14="http://schemas.microsoft.com/office/powerpoint/2010/main" val="28478871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6.5.1: Introduction to Syslog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dirty="0"/>
          </a:p>
        </p:txBody>
      </p:sp>
    </p:spTree>
    <p:extLst>
      <p:ext uri="{BB962C8B-B14F-4D97-AF65-F5344CB8AC3E}">
        <p14:creationId xmlns:p14="http://schemas.microsoft.com/office/powerpoint/2010/main" val="171208203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6.5.2: Syslog Operation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dirty="0"/>
          </a:p>
        </p:txBody>
      </p:sp>
    </p:spTree>
    <p:extLst>
      <p:ext uri="{BB962C8B-B14F-4D97-AF65-F5344CB8AC3E}">
        <p14:creationId xmlns:p14="http://schemas.microsoft.com/office/powerpoint/2010/main" val="290410311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6.5.3: Syslog Message Format
</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dirty="0"/>
          </a:p>
        </p:txBody>
      </p:sp>
    </p:spTree>
    <p:extLst>
      <p:ext uri="{BB962C8B-B14F-4D97-AF65-F5344CB8AC3E}">
        <p14:creationId xmlns:p14="http://schemas.microsoft.com/office/powerpoint/2010/main" val="25005960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6.5.4: Syslog Facilities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dirty="0"/>
          </a:p>
        </p:txBody>
      </p:sp>
    </p:spTree>
    <p:extLst>
      <p:ext uri="{BB962C8B-B14F-4D97-AF65-F5344CB8AC3E}">
        <p14:creationId xmlns:p14="http://schemas.microsoft.com/office/powerpoint/2010/main" val="282749451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6.5.5: Configure Syslog Timestamps</a:t>
            </a:r>
          </a:p>
          <a:p>
            <a:r>
              <a:rPr lang="en-US" dirty="0"/>
              <a:t>6.5.6: Check Your Understanding - Syslog Operation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dirty="0"/>
          </a:p>
        </p:txBody>
      </p:sp>
    </p:spTree>
    <p:extLst>
      <p:ext uri="{BB962C8B-B14F-4D97-AF65-F5344CB8AC3E}">
        <p14:creationId xmlns:p14="http://schemas.microsoft.com/office/powerpoint/2010/main" val="249429076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6.5.7: Syslog Systems
</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dirty="0"/>
          </a:p>
        </p:txBody>
      </p:sp>
    </p:spTree>
    <p:extLst>
      <p:ext uri="{BB962C8B-B14F-4D97-AF65-F5344CB8AC3E}">
        <p14:creationId xmlns:p14="http://schemas.microsoft.com/office/powerpoint/2010/main" val="274667679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6.5.8: Configuring System Logging
</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dirty="0"/>
          </a:p>
        </p:txBody>
      </p:sp>
    </p:spTree>
    <p:extLst>
      <p:ext uri="{BB962C8B-B14F-4D97-AF65-F5344CB8AC3E}">
        <p14:creationId xmlns:p14="http://schemas.microsoft.com/office/powerpoint/2010/main" val="672193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6.5: Network Security Using Syslog
6.5.8: Configuring System Logging
</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dirty="0"/>
          </a:p>
        </p:txBody>
      </p:sp>
    </p:spTree>
    <p:extLst>
      <p:ext uri="{BB962C8B-B14F-4D97-AF65-F5344CB8AC3E}">
        <p14:creationId xmlns:p14="http://schemas.microsoft.com/office/powerpoint/2010/main" val="38574219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6.6: NTP Configuration
</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dirty="0"/>
          </a:p>
        </p:txBody>
      </p:sp>
    </p:spTree>
    <p:extLst>
      <p:ext uri="{BB962C8B-B14F-4D97-AF65-F5344CB8AC3E}">
        <p14:creationId xmlns:p14="http://schemas.microsoft.com/office/powerpoint/2010/main" val="334779126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6.6: NTP Configuration
6.6.1: Time and Calendar Services
</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dirty="0"/>
          </a:p>
        </p:txBody>
      </p:sp>
    </p:spTree>
    <p:extLst>
      <p:ext uri="{BB962C8B-B14F-4D97-AF65-F5344CB8AC3E}">
        <p14:creationId xmlns:p14="http://schemas.microsoft.com/office/powerpoint/2010/main" val="15388648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6.6: NTP Configuration
6.6.2: NTP Operation
</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dirty="0"/>
          </a:p>
        </p:txBody>
      </p:sp>
    </p:spTree>
    <p:extLst>
      <p:ext uri="{BB962C8B-B14F-4D97-AF65-F5344CB8AC3E}">
        <p14:creationId xmlns:p14="http://schemas.microsoft.com/office/powerpoint/2010/main" val="36652327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6.6: NTP Configuration
6.6.3: Configure and Verify NTP</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dirty="0"/>
          </a:p>
        </p:txBody>
      </p:sp>
    </p:spTree>
    <p:extLst>
      <p:ext uri="{BB962C8B-B14F-4D97-AF65-F5344CB8AC3E}">
        <p14:creationId xmlns:p14="http://schemas.microsoft.com/office/powerpoint/2010/main" val="16632735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6.6: NTP Configuration
6.6.3: Configure and Verify NTP</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dirty="0"/>
          </a:p>
        </p:txBody>
      </p:sp>
    </p:spTree>
    <p:extLst>
      <p:ext uri="{BB962C8B-B14F-4D97-AF65-F5344CB8AC3E}">
        <p14:creationId xmlns:p14="http://schemas.microsoft.com/office/powerpoint/2010/main" val="31829507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6.6: NTP Configuration
6.6.3: Configure and Verify NTP</a:t>
            </a:r>
          </a:p>
          <a:p>
            <a:r>
              <a:rPr lang="en-US" dirty="0"/>
              <a:t>6.6.4: Packet Tracer - Configure and Verify NTP
</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dirty="0"/>
          </a:p>
        </p:txBody>
      </p:sp>
    </p:spTree>
    <p:extLst>
      <p:ext uri="{BB962C8B-B14F-4D97-AF65-F5344CB8AC3E}">
        <p14:creationId xmlns:p14="http://schemas.microsoft.com/office/powerpoint/2010/main" val="18500331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 NTP Authentication</a:t>
            </a:r>
          </a:p>
          <a:p>
            <a:r>
              <a:rPr lang="en-US" dirty="0"/>
              <a:t>Syntax Checker: Configure NTP Authentication on R1</a:t>
            </a:r>
          </a:p>
        </p:txBody>
      </p:sp>
      <p:sp>
        <p:nvSpPr>
          <p:cNvPr id="4" name="Slide Number Placeholder 3"/>
          <p:cNvSpPr>
            <a:spLocks noGrp="1"/>
          </p:cNvSpPr>
          <p:nvPr>
            <p:ph type="sldNum" sz="quarter" idx="10"/>
          </p:nvPr>
        </p:nvSpPr>
        <p:spPr/>
        <p:txBody>
          <a:bodyPr/>
          <a:lstStyle/>
          <a:p>
            <a:fld id="{AC72CD79-D36A-4E01-AE1C-064887FE954D}" type="slidenum">
              <a:rPr lang="en-US" smtClean="0"/>
              <a:t>91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dirty="0"/>
          </a:p>
        </p:txBody>
      </p:sp>
    </p:spTree>
    <p:extLst>
      <p:ext uri="{BB962C8B-B14F-4D97-AF65-F5344CB8AC3E}">
        <p14:creationId xmlns:p14="http://schemas.microsoft.com/office/powerpoint/2010/main" val="8296690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6.7.1: Introduction to SNMP
</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dirty="0"/>
          </a:p>
        </p:txBody>
      </p:sp>
    </p:spTree>
    <p:extLst>
      <p:ext uri="{BB962C8B-B14F-4D97-AF65-F5344CB8AC3E}">
        <p14:creationId xmlns:p14="http://schemas.microsoft.com/office/powerpoint/2010/main" val="128690595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6.7.2: SNMP Operation
</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dirty="0"/>
          </a:p>
        </p:txBody>
      </p:sp>
    </p:spTree>
    <p:extLst>
      <p:ext uri="{BB962C8B-B14F-4D97-AF65-F5344CB8AC3E}">
        <p14:creationId xmlns:p14="http://schemas.microsoft.com/office/powerpoint/2010/main" val="232312052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6.7.3: Management Information Base (MIB)
</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dirty="0"/>
          </a:p>
        </p:txBody>
      </p:sp>
    </p:spTree>
    <p:extLst>
      <p:ext uri="{BB962C8B-B14F-4D97-AF65-F5344CB8AC3E}">
        <p14:creationId xmlns:p14="http://schemas.microsoft.com/office/powerpoint/2010/main" val="287494344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6.7.4: SNMP Versions
</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dirty="0"/>
          </a:p>
        </p:txBody>
      </p:sp>
    </p:spTree>
    <p:extLst>
      <p:ext uri="{BB962C8B-B14F-4D97-AF65-F5344CB8AC3E}">
        <p14:creationId xmlns:p14="http://schemas.microsoft.com/office/powerpoint/2010/main" val="277885567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6.7.5: SNMP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dirty="0"/>
          </a:p>
        </p:txBody>
      </p:sp>
    </p:spTree>
    <p:extLst>
      <p:ext uri="{BB962C8B-B14F-4D97-AF65-F5344CB8AC3E}">
        <p14:creationId xmlns:p14="http://schemas.microsoft.com/office/powerpoint/2010/main" val="226673252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6.7.6: SNMPv3
</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dirty="0"/>
          </a:p>
        </p:txBody>
      </p:sp>
    </p:spTree>
    <p:extLst>
      <p:ext uri="{BB962C8B-B14F-4D97-AF65-F5344CB8AC3E}">
        <p14:creationId xmlns:p14="http://schemas.microsoft.com/office/powerpoint/2010/main" val="168034085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6.7.7: Configuring SNMPv3 Security
</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dirty="0"/>
          </a:p>
        </p:txBody>
      </p:sp>
    </p:spTree>
    <p:extLst>
      <p:ext uri="{BB962C8B-B14F-4D97-AF65-F5344CB8AC3E}">
        <p14:creationId xmlns:p14="http://schemas.microsoft.com/office/powerpoint/2010/main" val="321504465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6.7.7: Configuring SNMPv3 Security
</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dirty="0"/>
          </a:p>
        </p:txBody>
      </p:sp>
    </p:spTree>
    <p:extLst>
      <p:ext uri="{BB962C8B-B14F-4D97-AF65-F5344CB8AC3E}">
        <p14:creationId xmlns:p14="http://schemas.microsoft.com/office/powerpoint/2010/main" val="232351063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6.7.8: SNMPv3 Security Configuration Example</a:t>
            </a:r>
          </a:p>
          <a:p>
            <a:r>
              <a:rPr lang="en-US" dirty="0"/>
              <a:t>6.7.9: Syntax Checker – SNMP3 Security Configuration Example
</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dirty="0"/>
          </a:p>
        </p:txBody>
      </p:sp>
    </p:spTree>
    <p:extLst>
      <p:ext uri="{BB962C8B-B14F-4D97-AF65-F5344CB8AC3E}">
        <p14:creationId xmlns:p14="http://schemas.microsoft.com/office/powerpoint/2010/main" val="328919515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6.7.10: SNMP3 Verification
</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dirty="0"/>
          </a:p>
        </p:txBody>
      </p:sp>
    </p:spTree>
    <p:extLst>
      <p:ext uri="{BB962C8B-B14F-4D97-AF65-F5344CB8AC3E}">
        <p14:creationId xmlns:p14="http://schemas.microsoft.com/office/powerpoint/2010/main" val="121714492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6.7.10: SNMPv3 Verification
</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dirty="0"/>
          </a:p>
        </p:txBody>
      </p:sp>
    </p:spTree>
    <p:extLst>
      <p:ext uri="{BB962C8B-B14F-4D97-AF65-F5344CB8AC3E}">
        <p14:creationId xmlns:p14="http://schemas.microsoft.com/office/powerpoint/2010/main" val="73894951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6.7.10: SNMPv3 Verification
</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dirty="0"/>
          </a:p>
        </p:txBody>
      </p:sp>
    </p:spTree>
    <p:extLst>
      <p:ext uri="{BB962C8B-B14F-4D97-AF65-F5344CB8AC3E}">
        <p14:creationId xmlns:p14="http://schemas.microsoft.com/office/powerpoint/2010/main" val="56570406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Device Monitoring and Management
6.7: SNMP Configuration
6.7.10: Verifying the SNMPv3 Configuration
</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dirty="0"/>
          </a:p>
        </p:txBody>
      </p:sp>
    </p:spTree>
    <p:extLst>
      <p:ext uri="{BB962C8B-B14F-4D97-AF65-F5344CB8AC3E}">
        <p14:creationId xmlns:p14="http://schemas.microsoft.com/office/powerpoint/2010/main" val="157067510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106</a:t>
            </a:fld>
            <a:endParaRPr lang="en-US" dirty="0"/>
          </a:p>
        </p:txBody>
      </p:sp>
    </p:spTree>
    <p:extLst>
      <p:ext uri="{BB962C8B-B14F-4D97-AF65-F5344CB8AC3E}">
        <p14:creationId xmlns:p14="http://schemas.microsoft.com/office/powerpoint/2010/main" val="4155564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4961932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189469786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3" y="324161"/>
            <a:ext cx="8588861" cy="628650"/>
          </a:xfrm>
        </p:spPr>
        <p:txBody>
          <a:bodyPr/>
          <a:lstStyle>
            <a:lvl1pPr>
              <a:defRPr/>
            </a:lvl1pPr>
          </a:lstStyle>
          <a:p>
            <a:r>
              <a:rPr lang="en-US" dirty="0"/>
              <a:t>Slide Title Goes Here</a:t>
            </a:r>
          </a:p>
        </p:txBody>
      </p:sp>
      <p:sp>
        <p:nvSpPr>
          <p:cNvPr id="4" name="Text Placeholder 3"/>
          <p:cNvSpPr>
            <a:spLocks noGrp="1"/>
          </p:cNvSpPr>
          <p:nvPr>
            <p:ph type="body" sz="quarter" idx="10" hasCustomPrompt="1"/>
          </p:nvPr>
        </p:nvSpPr>
        <p:spPr>
          <a:xfrm>
            <a:off x="228600" y="1008126"/>
            <a:ext cx="8577072" cy="3723894"/>
          </a:xfrm>
        </p:spPr>
        <p:txBody>
          <a:bodyPr vert="horz" lIns="91440" tIns="45720" rIns="91440" bIns="4572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6910007"/>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8703294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02277716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4273921"/>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01949131"/>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425574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972824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17177280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864633977"/>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460902759"/>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33611599"/>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1009152"/>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05801903"/>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3644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301707177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721567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5408888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57124818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247895484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79119342"/>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88727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426429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88000928"/>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81988152"/>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962706702"/>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08324203"/>
      </p:ext>
    </p:extLst>
  </p:cSld>
  <p:clrMapOvr>
    <a:masterClrMapping/>
  </p:clrMapOvr>
  <p:transition spd="slow">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897167177"/>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72227169"/>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469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2.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 id="2147483686" r:id="rId8"/>
    <p:sldLayoutId id="214748368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4490716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2221832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5"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0.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3.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9.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8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5.xml"/><Relationship Id="rId1" Type="http://schemas.openxmlformats.org/officeDocument/2006/relationships/slideLayout" Target="../slideLayouts/slideLayout6.xml"/><Relationship Id="rId4" Type="http://schemas.openxmlformats.org/officeDocument/2006/relationships/hyperlink" Target="https://www.timeanddate.com/time/zone/slovakia/bratislava"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8.xml"/><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9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0.xml"/><Relationship Id="rId1" Type="http://schemas.openxmlformats.org/officeDocument/2006/relationships/slideLayout" Target="../slideLayouts/slideLayout2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8.xml"/><Relationship Id="rId1" Type="http://schemas.openxmlformats.org/officeDocument/2006/relationships/slideLayout" Target="../slideLayouts/slideLayout6.xml"/><Relationship Id="rId5" Type="http://schemas.openxmlformats.org/officeDocument/2006/relationships/image" Target="../media/image69.png"/><Relationship Id="rId4" Type="http://schemas.openxmlformats.org/officeDocument/2006/relationships/image" Target="../media/image68.png"/></Relationships>
</file>

<file path=ppt/slides/_rels/slide10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1.xml"/><Relationship Id="rId1" Type="http://schemas.openxmlformats.org/officeDocument/2006/relationships/slideLayout" Target="../slideLayouts/slideLayout6.xml"/><Relationship Id="rId4" Type="http://schemas.openxmlformats.org/officeDocument/2006/relationships/image" Target="../media/image72.png"/></Relationships>
</file>

<file path=ppt/slides/_rels/slide10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7.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4: Secure Device Access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Secure Device Access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secure administrative devices.</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49392710"/>
              </p:ext>
            </p:extLst>
          </p:nvPr>
        </p:nvGraphicFramePr>
        <p:xfrm>
          <a:off x="423333" y="1625600"/>
          <a:ext cx="8263467" cy="1351233"/>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Securing the Edge Router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to secure a network perimeter.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Configure Secure Administrative Access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Use the correct commands to configure passwords on a Cisco IOS device.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100" dirty="0">
                          <a:effectLst/>
                        </a:rPr>
                        <a:t>Configure Enhanced Security for Virtual Logins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Use the correct commands to configure enhanced security for virtual logins.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249911">
                <a:tc>
                  <a:txBody>
                    <a:bodyPr/>
                    <a:lstStyle/>
                    <a:p>
                      <a:pPr marL="0" marR="0">
                        <a:lnSpc>
                          <a:spcPct val="107000"/>
                        </a:lnSpc>
                        <a:spcBef>
                          <a:spcPts val="0"/>
                        </a:spcBef>
                        <a:spcAft>
                          <a:spcPts val="0"/>
                        </a:spcAft>
                      </a:pPr>
                      <a:r>
                        <a:rPr lang="en-US" sz="1100" dirty="0">
                          <a:effectLst/>
                        </a:rPr>
                        <a:t>Configure SSH</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Configure an SSH daemon for secure remote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4.1 Secure the Edge Router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421005"/>
          </a:xfrm>
          <a:prstGeom prst="rect">
            <a:avLst/>
          </a:prstGeom>
          <a:noFill/>
          <a:ln/>
        </p:spPr>
        <p:txBody>
          <a:bodyPr wrap="square" rtlCol="0"/>
          <a:lstStyle/>
          <a:p>
            <a:pPr marL="0" indent="0">
              <a:buNone/>
            </a:pPr>
            <a:r>
              <a:rPr lang="en-US" dirty="0"/>
              <a:t>Secure the Network Infrastructure</a:t>
            </a:r>
          </a:p>
        </p:txBody>
      </p:sp>
      <p:sp>
        <p:nvSpPr>
          <p:cNvPr id="5" name="Object4"/>
          <p:cNvSpPr/>
          <p:nvPr/>
        </p:nvSpPr>
        <p:spPr>
          <a:xfrm>
            <a:off x="174648" y="836915"/>
            <a:ext cx="8229600" cy="195262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Securing the network infrastructure is critical to overall network security. The network infrastructure includes routers, switches, servers, endpoints, and other devices. Routers are a primary target for attacks because these devices direct traffic into, out of, and between networks.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edge router shown in the figure is the last router between the internal network and an untrusted network, such as the internet. All an organization’s internet traffic goes through an edge router, which often functions as the first and last line of defense for a network. </a:t>
            </a:r>
            <a:endParaRPr lang="en-US" sz="1600" dirty="0"/>
          </a:p>
        </p:txBody>
      </p:sp>
      <p:pic>
        <p:nvPicPr>
          <p:cNvPr id="4" name="Picture 3">
            <a:extLst>
              <a:ext uri="{FF2B5EF4-FFF2-40B4-BE49-F238E27FC236}">
                <a16:creationId xmlns:a16="http://schemas.microsoft.com/office/drawing/2014/main" id="{24168C2E-CBCD-47FF-B03E-92DE8D3230E1}"/>
              </a:ext>
            </a:extLst>
          </p:cNvPr>
          <p:cNvPicPr>
            <a:picLocks noChangeAspect="1"/>
          </p:cNvPicPr>
          <p:nvPr/>
        </p:nvPicPr>
        <p:blipFill>
          <a:blip r:embed="rId3"/>
          <a:stretch>
            <a:fillRect/>
          </a:stretch>
        </p:blipFill>
        <p:spPr>
          <a:xfrm>
            <a:off x="1561860" y="2960245"/>
            <a:ext cx="5524979" cy="14479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Edge Router Security Approaches</a:t>
            </a:r>
          </a:p>
        </p:txBody>
      </p:sp>
      <p:sp>
        <p:nvSpPr>
          <p:cNvPr id="5" name="Object4"/>
          <p:cNvSpPr/>
          <p:nvPr/>
        </p:nvSpPr>
        <p:spPr>
          <a:xfrm>
            <a:off x="0" y="760094"/>
            <a:ext cx="4471281" cy="3869055"/>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Single Router </a:t>
            </a:r>
            <a:r>
              <a:rPr lang="en-US" sz="1400" dirty="0">
                <a:solidFill>
                  <a:srgbClr val="000000"/>
                </a:solidFill>
                <a:latin typeface="Arial" pitchFamily="34" charset="0"/>
                <a:ea typeface="Arial" pitchFamily="34" charset="-122"/>
                <a:cs typeface="Arial" pitchFamily="34" charset="-120"/>
              </a:rPr>
              <a:t>- A single router connects the protected network or internal local area network (LAN), to the internet. All security policies are configured on this device.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Defense-in-Depth</a:t>
            </a:r>
            <a:r>
              <a:rPr lang="en-US" sz="1400" dirty="0">
                <a:solidFill>
                  <a:srgbClr val="000000"/>
                </a:solidFill>
                <a:latin typeface="Arial" pitchFamily="34" charset="0"/>
                <a:cs typeface="Arial" pitchFamily="34" charset="-120"/>
              </a:rPr>
              <a:t> – This uses multiple layers of security prior to traffic entering the protected LAN. There are three primary layers of defense: the edge router, the firewall, and an internal router that connects to the protected LAN.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DMZ</a:t>
            </a:r>
            <a:r>
              <a:rPr lang="en-US" sz="1400" dirty="0">
                <a:solidFill>
                  <a:srgbClr val="000000"/>
                </a:solidFill>
                <a:latin typeface="Arial" pitchFamily="34" charset="0"/>
                <a:cs typeface="Arial" pitchFamily="34" charset="-120"/>
              </a:rPr>
              <a:t> -  The DMZ can be used for servers that must be accessible from the internet or another external network. The DMZ can be set up between two routers, with an internal router connecting to the protected network and an external router connecting to the unprotected network. </a:t>
            </a:r>
            <a:endParaRPr lang="en-US" sz="1400" dirty="0"/>
          </a:p>
        </p:txBody>
      </p:sp>
      <p:pic>
        <p:nvPicPr>
          <p:cNvPr id="4" name="Picture 3">
            <a:extLst>
              <a:ext uri="{FF2B5EF4-FFF2-40B4-BE49-F238E27FC236}">
                <a16:creationId xmlns:a16="http://schemas.microsoft.com/office/drawing/2014/main" id="{51D5BD19-A56F-4CB0-83EB-673EF880A6C7}"/>
              </a:ext>
            </a:extLst>
          </p:cNvPr>
          <p:cNvPicPr>
            <a:picLocks noChangeAspect="1"/>
          </p:cNvPicPr>
          <p:nvPr/>
        </p:nvPicPr>
        <p:blipFill>
          <a:blip r:embed="rId3"/>
          <a:stretch>
            <a:fillRect/>
          </a:stretch>
        </p:blipFill>
        <p:spPr>
          <a:xfrm>
            <a:off x="4939420" y="731520"/>
            <a:ext cx="3975980" cy="34018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Three Areas of Router Security</a:t>
            </a:r>
          </a:p>
        </p:txBody>
      </p:sp>
      <p:sp>
        <p:nvSpPr>
          <p:cNvPr id="5" name="Object4"/>
          <p:cNvSpPr/>
          <p:nvPr/>
        </p:nvSpPr>
        <p:spPr>
          <a:xfrm>
            <a:off x="0" y="914400"/>
            <a:ext cx="8229600" cy="31813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Three areas of router security must be maintained:</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Physical </a:t>
            </a:r>
            <a:r>
              <a:rPr lang="en-US" sz="1400" dirty="0">
                <a:solidFill>
                  <a:srgbClr val="000000"/>
                </a:solidFill>
                <a:latin typeface="Arial" pitchFamily="34" charset="0"/>
                <a:cs typeface="Arial" pitchFamily="34" charset="-120"/>
              </a:rPr>
              <a:t>-  Place the router and physical devices that connect to it in a secure locked room that is accessible only to authorized personnel. Install an uninterruptible power supply (UPS) or diesel backup power generator.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Operating System </a:t>
            </a:r>
            <a:r>
              <a:rPr lang="en-US" sz="1400" dirty="0">
                <a:solidFill>
                  <a:srgbClr val="000000"/>
                </a:solidFill>
                <a:latin typeface="Arial" pitchFamily="34" charset="0"/>
                <a:cs typeface="Arial" pitchFamily="34" charset="-120"/>
              </a:rPr>
              <a:t>-  Configure the router with the maximum amount of memory possible. The availability of memory can help mitigate DoS attacks. Use the latest, stable version of the operating system that meets the feature specifications of the router or network device. Keep a secure copy of router operating system images and router configuration files as backups.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Router Hardening </a:t>
            </a:r>
            <a:r>
              <a:rPr lang="en-US" sz="1400" dirty="0">
                <a:solidFill>
                  <a:srgbClr val="000000"/>
                </a:solidFill>
                <a:latin typeface="Arial" pitchFamily="34" charset="0"/>
                <a:cs typeface="Arial" pitchFamily="34" charset="-120"/>
              </a:rPr>
              <a:t>-  Ensure that only authorized personnel have access and that their level of access is controlled. Disable unused ports and interfaces. Disable unnecessary services. A router has services that are enabled by default. Some of these services can be used by an attacker to gather information about the router and the network.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497205"/>
          </a:xfrm>
          <a:prstGeom prst="rect">
            <a:avLst/>
          </a:prstGeom>
          <a:noFill/>
          <a:ln/>
        </p:spPr>
        <p:txBody>
          <a:bodyPr wrap="square" rtlCol="0"/>
          <a:lstStyle/>
          <a:p>
            <a:pPr marL="0" indent="0">
              <a:buNone/>
            </a:pPr>
            <a:r>
              <a:rPr lang="en-US" dirty="0"/>
              <a:t>Secure Administrative Access</a:t>
            </a:r>
          </a:p>
        </p:txBody>
      </p:sp>
      <p:sp>
        <p:nvSpPr>
          <p:cNvPr id="5" name="Object4"/>
          <p:cNvSpPr/>
          <p:nvPr/>
        </p:nvSpPr>
        <p:spPr>
          <a:xfrm>
            <a:off x="-1" y="914400"/>
            <a:ext cx="8571627"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Securing administrative access is important. If an unauthorized person gains administrative access to a router, that person could alter routing parameters, disable routing functions, or discover and gain access to other systems within the network. Several tasks are involved in securing administrative access to an infrastructure device:</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Restrict device accessibility</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Log and account for all access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Authenticate access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Authorize actions</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Present legal notification</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Ensure the confidentiality of data</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the Edge Router</a:t>
            </a:r>
          </a:p>
        </p:txBody>
      </p:sp>
      <p:sp>
        <p:nvSpPr>
          <p:cNvPr id="3" name="Object2"/>
          <p:cNvSpPr>
            <a:spLocks noGrp="1"/>
          </p:cNvSpPr>
          <p:nvPr>
            <p:ph type="body" idx="100" hasCustomPrompt="1"/>
          </p:nvPr>
        </p:nvSpPr>
        <p:spPr>
          <a:xfrm>
            <a:off x="0" y="274320"/>
            <a:ext cx="9144000" cy="440055"/>
          </a:xfrm>
          <a:prstGeom prst="rect">
            <a:avLst/>
          </a:prstGeom>
          <a:noFill/>
          <a:ln/>
        </p:spPr>
        <p:txBody>
          <a:bodyPr wrap="square" rtlCol="0"/>
          <a:lstStyle/>
          <a:p>
            <a:pPr marL="0" indent="0">
              <a:buNone/>
            </a:pPr>
            <a:r>
              <a:rPr lang="en-US" dirty="0"/>
              <a:t>Secure Local and Remote Access</a:t>
            </a:r>
          </a:p>
        </p:txBody>
      </p:sp>
      <p:sp>
        <p:nvSpPr>
          <p:cNvPr id="5" name="Object4"/>
          <p:cNvSpPr/>
          <p:nvPr/>
        </p:nvSpPr>
        <p:spPr>
          <a:xfrm>
            <a:off x="0" y="783806"/>
            <a:ext cx="4994687" cy="332737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router can be accessed for administrative purposes locally or remotely:</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Local access </a:t>
            </a:r>
            <a:r>
              <a:rPr lang="en-US" sz="1400" dirty="0">
                <a:solidFill>
                  <a:srgbClr val="000000"/>
                </a:solidFill>
                <a:latin typeface="Arial" pitchFamily="34" charset="0"/>
                <a:ea typeface="Arial" pitchFamily="34" charset="-122"/>
                <a:cs typeface="Arial" pitchFamily="34" charset="-120"/>
              </a:rPr>
              <a:t>- The administrator must have physical access to the router and use a console cable to connect to the console port. Local access is typically used for initial configuration of the device.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Remote access </a:t>
            </a:r>
            <a:r>
              <a:rPr lang="en-US" sz="1400" dirty="0">
                <a:solidFill>
                  <a:srgbClr val="000000"/>
                </a:solidFill>
                <a:latin typeface="Arial" pitchFamily="34" charset="0"/>
                <a:ea typeface="Arial" pitchFamily="34" charset="-122"/>
                <a:cs typeface="Arial" pitchFamily="34" charset="-120"/>
              </a:rPr>
              <a:t>- Although the aux port option is available, the most common remote access method involves allowing </a:t>
            </a:r>
            <a:r>
              <a:rPr lang="en-US" sz="1400" b="1" dirty="0">
                <a:solidFill>
                  <a:srgbClr val="000000"/>
                </a:solidFill>
                <a:latin typeface="Arial" pitchFamily="34" charset="0"/>
                <a:ea typeface="Arial" pitchFamily="34" charset="-122"/>
                <a:cs typeface="Arial" pitchFamily="34" charset="-120"/>
              </a:rPr>
              <a:t>Telnet, SSH, HTTP, HTTPS, or SNMP </a:t>
            </a:r>
            <a:r>
              <a:rPr lang="en-US" sz="1400" dirty="0">
                <a:solidFill>
                  <a:srgbClr val="000000"/>
                </a:solidFill>
                <a:latin typeface="Arial" pitchFamily="34" charset="0"/>
                <a:ea typeface="Arial" pitchFamily="34" charset="-122"/>
                <a:cs typeface="Arial" pitchFamily="34" charset="-120"/>
              </a:rPr>
              <a:t>connections to the router from a computer. The computer can be on the local network or a remote network. </a:t>
            </a:r>
            <a:endParaRPr lang="en-US" sz="1400" dirty="0"/>
          </a:p>
        </p:txBody>
      </p:sp>
      <p:pic>
        <p:nvPicPr>
          <p:cNvPr id="4" name="Picture 3">
            <a:extLst>
              <a:ext uri="{FF2B5EF4-FFF2-40B4-BE49-F238E27FC236}">
                <a16:creationId xmlns:a16="http://schemas.microsoft.com/office/drawing/2014/main" id="{A18F396E-6061-4B47-8B0C-6943283165C9}"/>
              </a:ext>
            </a:extLst>
          </p:cNvPr>
          <p:cNvPicPr>
            <a:picLocks noChangeAspect="1"/>
          </p:cNvPicPr>
          <p:nvPr/>
        </p:nvPicPr>
        <p:blipFill>
          <a:blip r:embed="rId3"/>
          <a:stretch>
            <a:fillRect/>
          </a:stretch>
        </p:blipFill>
        <p:spPr>
          <a:xfrm>
            <a:off x="5108987" y="783807"/>
            <a:ext cx="3920713" cy="33273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4.2 Configure Secure Administrative Access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Passwords</a:t>
            </a:r>
          </a:p>
        </p:txBody>
      </p:sp>
      <p:sp>
        <p:nvSpPr>
          <p:cNvPr id="4" name="TextBox 3">
            <a:extLst>
              <a:ext uri="{FF2B5EF4-FFF2-40B4-BE49-F238E27FC236}">
                <a16:creationId xmlns:a16="http://schemas.microsoft.com/office/drawing/2014/main" id="{58E2F7DB-CC60-47AC-A881-80A16948EA3D}"/>
              </a:ext>
            </a:extLst>
          </p:cNvPr>
          <p:cNvSpPr txBox="1"/>
          <p:nvPr/>
        </p:nvSpPr>
        <p:spPr>
          <a:xfrm>
            <a:off x="342027" y="771566"/>
            <a:ext cx="737104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table shows examples of strong and weak passwords.</a:t>
            </a:r>
          </a:p>
        </p:txBody>
      </p:sp>
      <p:graphicFrame>
        <p:nvGraphicFramePr>
          <p:cNvPr id="16" name="Table 15"/>
          <p:cNvGraphicFramePr>
            <a:graphicFrameLocks noGrp="1"/>
          </p:cNvGraphicFramePr>
          <p:nvPr>
            <p:extLst>
              <p:ext uri="{D42A27DB-BD31-4B8C-83A1-F6EECF244321}">
                <p14:modId xmlns:p14="http://schemas.microsoft.com/office/powerpoint/2010/main" val="2876688346"/>
              </p:ext>
            </p:extLst>
          </p:nvPr>
        </p:nvGraphicFramePr>
        <p:xfrm>
          <a:off x="1866207" y="1354455"/>
          <a:ext cx="5411585" cy="1554480"/>
        </p:xfrm>
        <a:graphic>
          <a:graphicData uri="http://schemas.openxmlformats.org/drawingml/2006/table">
            <a:tbl>
              <a:tblPr/>
              <a:tblGrid>
                <a:gridCol w="1517073">
                  <a:extLst>
                    <a:ext uri="{9D8B030D-6E8A-4147-A177-3AD203B41FA5}">
                      <a16:colId xmlns:a16="http://schemas.microsoft.com/office/drawing/2014/main" val="20000"/>
                    </a:ext>
                  </a:extLst>
                </a:gridCol>
                <a:gridCol w="3894512">
                  <a:extLst>
                    <a:ext uri="{9D8B030D-6E8A-4147-A177-3AD203B41FA5}">
                      <a16:colId xmlns:a16="http://schemas.microsoft.com/office/drawing/2014/main" val="20001"/>
                    </a:ext>
                  </a:extLst>
                </a:gridCol>
              </a:tblGrid>
              <a:tr h="0">
                <a:tc>
                  <a:txBody>
                    <a:bodyPr/>
                    <a:lstStyle/>
                    <a:p>
                      <a:r>
                        <a:rPr lang="en-US" sz="1200" dirty="0">
                          <a:solidFill>
                            <a:srgbClr val="FFFFFF"/>
                          </a:solidFill>
                        </a:rPr>
                        <a:t>Weak Password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Why it is Weak</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secret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Simple dictionary password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smith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Maiden name of mother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toyota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Make of a car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bob1967</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Name and birthday of the user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Blueleaf23</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Simple words and numbers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1252632531"/>
              </p:ext>
            </p:extLst>
          </p:nvPr>
        </p:nvGraphicFramePr>
        <p:xfrm>
          <a:off x="1866207" y="3149349"/>
          <a:ext cx="5411585" cy="960120"/>
        </p:xfrm>
        <a:graphic>
          <a:graphicData uri="http://schemas.openxmlformats.org/drawingml/2006/table">
            <a:tbl>
              <a:tblPr/>
              <a:tblGrid>
                <a:gridCol w="1467197">
                  <a:extLst>
                    <a:ext uri="{9D8B030D-6E8A-4147-A177-3AD203B41FA5}">
                      <a16:colId xmlns:a16="http://schemas.microsoft.com/office/drawing/2014/main" val="20000"/>
                    </a:ext>
                  </a:extLst>
                </a:gridCol>
                <a:gridCol w="3944388">
                  <a:extLst>
                    <a:ext uri="{9D8B030D-6E8A-4147-A177-3AD203B41FA5}">
                      <a16:colId xmlns:a16="http://schemas.microsoft.com/office/drawing/2014/main" val="20001"/>
                    </a:ext>
                  </a:extLst>
                </a:gridCol>
              </a:tblGrid>
              <a:tr h="0">
                <a:tc>
                  <a:txBody>
                    <a:bodyPr/>
                    <a:lstStyle/>
                    <a:p>
                      <a:r>
                        <a:rPr lang="en-US" sz="1200" dirty="0">
                          <a:solidFill>
                            <a:srgbClr val="FFFFFF"/>
                          </a:solidFill>
                        </a:rPr>
                        <a:t>Strong Password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Why it is Strong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b67n42d39c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Combines alphanumeric characters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12^h u4@1p7</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Combines alphanumeric characters, symbols, and includes a space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Passwords</a:t>
            </a:r>
          </a:p>
        </p:txBody>
      </p:sp>
      <p:sp>
        <p:nvSpPr>
          <p:cNvPr id="5" name="Object4"/>
          <p:cNvSpPr/>
          <p:nvPr/>
        </p:nvSpPr>
        <p:spPr>
          <a:xfrm>
            <a:off x="1" y="708660"/>
            <a:ext cx="46672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secure user EXEC mode access, enter line console configuration mode using the </a:t>
            </a:r>
            <a:r>
              <a:rPr lang="en-US" sz="1400" b="1" dirty="0">
                <a:solidFill>
                  <a:srgbClr val="000000"/>
                </a:solidFill>
                <a:latin typeface="Arial" pitchFamily="34" charset="0"/>
                <a:ea typeface="Arial" pitchFamily="34" charset="-122"/>
                <a:cs typeface="Arial" pitchFamily="34" charset="-120"/>
              </a:rPr>
              <a:t>line console 0 </a:t>
            </a:r>
            <a:r>
              <a:rPr lang="en-US" sz="1400" dirty="0">
                <a:solidFill>
                  <a:srgbClr val="000000"/>
                </a:solidFill>
                <a:latin typeface="Arial" pitchFamily="34" charset="0"/>
                <a:ea typeface="Arial" pitchFamily="34" charset="-122"/>
                <a:cs typeface="Arial" pitchFamily="34" charset="-120"/>
              </a:rPr>
              <a:t>global configuration command. Specify the user EXEC mode password using the </a:t>
            </a:r>
            <a:r>
              <a:rPr lang="en-US" sz="1400" b="1" dirty="0">
                <a:solidFill>
                  <a:srgbClr val="000000"/>
                </a:solidFill>
                <a:latin typeface="Arial" pitchFamily="34" charset="0"/>
                <a:ea typeface="Arial" pitchFamily="34" charset="-122"/>
                <a:cs typeface="Arial" pitchFamily="34" charset="-120"/>
              </a:rPr>
              <a:t>password</a:t>
            </a:r>
            <a:r>
              <a:rPr lang="en-US" sz="1400" dirty="0">
                <a:solidFill>
                  <a:srgbClr val="000000"/>
                </a:solidFill>
                <a:latin typeface="Arial" pitchFamily="34" charset="0"/>
                <a:ea typeface="Arial" pitchFamily="34" charset="-122"/>
                <a:cs typeface="Arial" pitchFamily="34" charset="-120"/>
              </a:rPr>
              <a:t> </a:t>
            </a:r>
            <a:r>
              <a:rPr lang="en-US" sz="1400" i="1" dirty="0">
                <a:solidFill>
                  <a:srgbClr val="000000"/>
                </a:solidFill>
                <a:latin typeface="Arial" pitchFamily="34" charset="0"/>
                <a:ea typeface="Arial" pitchFamily="34" charset="-122"/>
                <a:cs typeface="Arial" pitchFamily="34" charset="-120"/>
              </a:rPr>
              <a:t>password</a:t>
            </a:r>
            <a:r>
              <a:rPr lang="en-US" sz="1400" dirty="0">
                <a:solidFill>
                  <a:srgbClr val="000000"/>
                </a:solidFill>
                <a:latin typeface="Arial" pitchFamily="34" charset="0"/>
                <a:ea typeface="Arial" pitchFamily="34" charset="-122"/>
                <a:cs typeface="Arial" pitchFamily="34" charset="-120"/>
              </a:rPr>
              <a:t> command. Enable user EXEC access using the </a:t>
            </a:r>
            <a:r>
              <a:rPr lang="en-US" sz="1400" b="1" dirty="0">
                <a:solidFill>
                  <a:srgbClr val="000000"/>
                </a:solidFill>
                <a:latin typeface="Arial" pitchFamily="34" charset="0"/>
                <a:ea typeface="Arial" pitchFamily="34" charset="-122"/>
                <a:cs typeface="Arial" pitchFamily="34" charset="-120"/>
              </a:rPr>
              <a:t>login</a:t>
            </a:r>
            <a:r>
              <a:rPr lang="en-US" sz="1400" dirty="0">
                <a:solidFill>
                  <a:srgbClr val="000000"/>
                </a:solidFill>
                <a:latin typeface="Arial" pitchFamily="34" charset="0"/>
                <a:ea typeface="Arial" pitchFamily="34" charset="-122"/>
                <a:cs typeface="Arial" pitchFamily="34" charset="-120"/>
              </a:rPr>
              <a:t> command.</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sp>
        <p:nvSpPr>
          <p:cNvPr id="6" name="Rectangle 5">
            <a:extLst>
              <a:ext uri="{FF2B5EF4-FFF2-40B4-BE49-F238E27FC236}">
                <a16:creationId xmlns:a16="http://schemas.microsoft.com/office/drawing/2014/main" id="{276174F0-3883-4E9E-891C-D712B4BE31BE}"/>
              </a:ext>
            </a:extLst>
          </p:cNvPr>
          <p:cNvSpPr/>
          <p:nvPr/>
        </p:nvSpPr>
        <p:spPr>
          <a:xfrm>
            <a:off x="0" y="2293800"/>
            <a:ext cx="4571999" cy="1169551"/>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To have administrator access to all IOS commands including configuring a device, you must gain privileged EXEC mode access. To secure privileged EXEC access, use the </a:t>
            </a:r>
            <a:r>
              <a:rPr lang="en-US" sz="1400" b="1" dirty="0">
                <a:latin typeface="Arial" panose="020B0604020202020204" pitchFamily="34" charset="0"/>
                <a:cs typeface="Arial" panose="020B0604020202020204" pitchFamily="34" charset="0"/>
              </a:rPr>
              <a:t>enable secret</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password</a:t>
            </a:r>
            <a:r>
              <a:rPr lang="en-US" sz="1400" dirty="0">
                <a:latin typeface="Arial" panose="020B0604020202020204" pitchFamily="34" charset="0"/>
                <a:cs typeface="Arial" panose="020B0604020202020204" pitchFamily="34" charset="0"/>
              </a:rPr>
              <a:t> global config command.</a:t>
            </a:r>
          </a:p>
        </p:txBody>
      </p:sp>
      <p:sp>
        <p:nvSpPr>
          <p:cNvPr id="8" name="Rectangle 7">
            <a:extLst>
              <a:ext uri="{FF2B5EF4-FFF2-40B4-BE49-F238E27FC236}">
                <a16:creationId xmlns:a16="http://schemas.microsoft.com/office/drawing/2014/main" id="{E584B9FC-7C16-4941-BCC2-81E825D7B6FB}"/>
              </a:ext>
            </a:extLst>
          </p:cNvPr>
          <p:cNvSpPr/>
          <p:nvPr/>
        </p:nvSpPr>
        <p:spPr>
          <a:xfrm>
            <a:off x="47626" y="3480733"/>
            <a:ext cx="4572000" cy="954107"/>
          </a:xfrm>
          <a:prstGeom prst="rect">
            <a:avLst/>
          </a:prstGeom>
        </p:spPr>
        <p:txBody>
          <a:bodyPr>
            <a:spAutoFit/>
          </a:bodyPr>
          <a:lstStyle/>
          <a:p>
            <a:r>
              <a:rPr lang="en-US" sz="1400" dirty="0">
                <a:latin typeface="Arial" panose="020B0604020202020204" pitchFamily="34" charset="0"/>
                <a:cs typeface="Arial" panose="020B0604020202020204" pitchFamily="34" charset="0"/>
              </a:rPr>
              <a:t>To secure vty lines, enter line vty mode using the </a:t>
            </a:r>
            <a:r>
              <a:rPr lang="en-US" sz="1400" b="1" dirty="0">
                <a:latin typeface="Arial" panose="020B0604020202020204" pitchFamily="34" charset="0"/>
                <a:cs typeface="Arial" panose="020B0604020202020204" pitchFamily="34" charset="0"/>
              </a:rPr>
              <a:t>line vty 0 15</a:t>
            </a:r>
            <a:r>
              <a:rPr lang="en-US" sz="1400" dirty="0">
                <a:latin typeface="Arial" panose="020B0604020202020204" pitchFamily="34" charset="0"/>
                <a:cs typeface="Arial" panose="020B0604020202020204" pitchFamily="34" charset="0"/>
              </a:rPr>
              <a:t> global config command. Specify the vty password using the </a:t>
            </a:r>
            <a:r>
              <a:rPr lang="en-US" sz="1400" b="1" dirty="0">
                <a:latin typeface="Arial" panose="020B0604020202020204" pitchFamily="34" charset="0"/>
                <a:cs typeface="Arial" panose="020B0604020202020204" pitchFamily="34" charset="0"/>
              </a:rPr>
              <a:t>password</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password</a:t>
            </a:r>
            <a:r>
              <a:rPr lang="en-US" sz="1400" dirty="0">
                <a:latin typeface="Arial" panose="020B0604020202020204" pitchFamily="34" charset="0"/>
                <a:cs typeface="Arial" panose="020B0604020202020204" pitchFamily="34" charset="0"/>
              </a:rPr>
              <a:t> command. Enable vty access using the </a:t>
            </a:r>
            <a:r>
              <a:rPr lang="en-US" sz="1400" b="1" dirty="0">
                <a:latin typeface="Arial" panose="020B0604020202020204" pitchFamily="34" charset="0"/>
                <a:cs typeface="Arial" panose="020B0604020202020204" pitchFamily="34" charset="0"/>
              </a:rPr>
              <a:t>login</a:t>
            </a:r>
            <a:r>
              <a:rPr lang="en-US" sz="1400" dirty="0">
                <a:latin typeface="Arial" panose="020B0604020202020204" pitchFamily="34" charset="0"/>
                <a:cs typeface="Arial" panose="020B0604020202020204" pitchFamily="34" charset="0"/>
              </a:rPr>
              <a:t> command.</a:t>
            </a:r>
          </a:p>
        </p:txBody>
      </p:sp>
      <p:pic>
        <p:nvPicPr>
          <p:cNvPr id="4" name="Picture 3">
            <a:extLst>
              <a:ext uri="{FF2B5EF4-FFF2-40B4-BE49-F238E27FC236}">
                <a16:creationId xmlns:a16="http://schemas.microsoft.com/office/drawing/2014/main" id="{704D4E6F-2E92-49D3-B258-9A7F1F3F4BFE}"/>
              </a:ext>
            </a:extLst>
          </p:cNvPr>
          <p:cNvPicPr>
            <a:picLocks noChangeAspect="1"/>
          </p:cNvPicPr>
          <p:nvPr/>
        </p:nvPicPr>
        <p:blipFill>
          <a:blip r:embed="rId3"/>
          <a:stretch>
            <a:fillRect/>
          </a:stretch>
        </p:blipFill>
        <p:spPr>
          <a:xfrm>
            <a:off x="5016504" y="812492"/>
            <a:ext cx="3498845" cy="1182043"/>
          </a:xfrm>
          <a:prstGeom prst="rect">
            <a:avLst/>
          </a:prstGeom>
        </p:spPr>
      </p:pic>
      <p:pic>
        <p:nvPicPr>
          <p:cNvPr id="7" name="Picture 6">
            <a:extLst>
              <a:ext uri="{FF2B5EF4-FFF2-40B4-BE49-F238E27FC236}">
                <a16:creationId xmlns:a16="http://schemas.microsoft.com/office/drawing/2014/main" id="{805C6440-A204-42E5-B8B5-1383DB920652}"/>
              </a:ext>
            </a:extLst>
          </p:cNvPr>
          <p:cNvPicPr>
            <a:picLocks noChangeAspect="1"/>
          </p:cNvPicPr>
          <p:nvPr/>
        </p:nvPicPr>
        <p:blipFill>
          <a:blip r:embed="rId4"/>
          <a:stretch>
            <a:fillRect/>
          </a:stretch>
        </p:blipFill>
        <p:spPr>
          <a:xfrm>
            <a:off x="5016504" y="2301057"/>
            <a:ext cx="3498845" cy="847909"/>
          </a:xfrm>
          <a:prstGeom prst="rect">
            <a:avLst/>
          </a:prstGeom>
        </p:spPr>
      </p:pic>
      <p:pic>
        <p:nvPicPr>
          <p:cNvPr id="9" name="Picture 8">
            <a:extLst>
              <a:ext uri="{FF2B5EF4-FFF2-40B4-BE49-F238E27FC236}">
                <a16:creationId xmlns:a16="http://schemas.microsoft.com/office/drawing/2014/main" id="{9BEA7E38-B474-41EB-80F2-4954909AF465}"/>
              </a:ext>
            </a:extLst>
          </p:cNvPr>
          <p:cNvPicPr>
            <a:picLocks noChangeAspect="1"/>
          </p:cNvPicPr>
          <p:nvPr/>
        </p:nvPicPr>
        <p:blipFill>
          <a:blip r:embed="rId5"/>
          <a:stretch>
            <a:fillRect/>
          </a:stretch>
        </p:blipFill>
        <p:spPr>
          <a:xfrm>
            <a:off x="5016503" y="3388312"/>
            <a:ext cx="3498845" cy="113894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392430"/>
          </a:xfrm>
          <a:prstGeom prst="rect">
            <a:avLst/>
          </a:prstGeom>
          <a:noFill/>
          <a:ln/>
        </p:spPr>
        <p:txBody>
          <a:bodyPr wrap="square" rtlCol="0"/>
          <a:lstStyle/>
          <a:p>
            <a:pPr marL="0" indent="0">
              <a:buNone/>
            </a:pPr>
            <a:r>
              <a:rPr lang="en-US" dirty="0"/>
              <a:t>Encrypt Passwords</a:t>
            </a:r>
          </a:p>
        </p:txBody>
      </p:sp>
      <p:sp>
        <p:nvSpPr>
          <p:cNvPr id="5" name="Object4"/>
          <p:cNvSpPr/>
          <p:nvPr/>
        </p:nvSpPr>
        <p:spPr>
          <a:xfrm>
            <a:off x="0" y="741044"/>
            <a:ext cx="3806322" cy="3670935"/>
          </a:xfrm>
          <a:prstGeom prst="rect">
            <a:avLst/>
          </a:prstGeom>
          <a:noFill/>
          <a:ln/>
        </p:spPr>
        <p:txBody>
          <a:bodyPr wrap="square" rtlCol="0" anchor="t"/>
          <a:lstStyle/>
          <a:p>
            <a:pPr>
              <a:lnSpc>
                <a:spcPts val="2000"/>
              </a:lnSpc>
            </a:pPr>
            <a:r>
              <a:rPr lang="en-US" sz="1400" dirty="0">
                <a:solidFill>
                  <a:srgbClr val="000000"/>
                </a:solidFill>
                <a:latin typeface="Arial" panose="020B0604020202020204" pitchFamily="34" charset="0"/>
                <a:ea typeface="Arial" pitchFamily="34" charset="-122"/>
                <a:cs typeface="Arial" panose="020B0604020202020204" pitchFamily="34" charset="0"/>
              </a:rPr>
              <a:t>Strong passwords are only useful if they are secret. There are several steps that can be taken to help ensure that passwords remain secret on a Cisco router and switch including these:</a:t>
            </a:r>
          </a:p>
          <a:p>
            <a:pPr>
              <a:lnSpc>
                <a:spcPts val="2000"/>
              </a:lnSpc>
            </a:pPr>
            <a:endParaRPr lang="en-US" sz="1400" dirty="0">
              <a:solidFill>
                <a:srgbClr val="000000"/>
              </a:solidFill>
              <a:latin typeface="Arial" panose="020B0604020202020204" pitchFamily="34" charset="0"/>
              <a:ea typeface="Arial" pitchFamily="34" charset="-122"/>
              <a:cs typeface="Arial" panose="020B0604020202020204" pitchFamily="34" charset="0"/>
            </a:endParaRP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Encrypting all plaintext passwords</a:t>
            </a: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Setting a minimum acceptable password length</a:t>
            </a: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Deterring brute-force password guessing attacks</a:t>
            </a:r>
          </a:p>
          <a:p>
            <a:pPr marL="285750" indent="-285750">
              <a:lnSpc>
                <a:spcPts val="2000"/>
              </a:lnSpc>
              <a:buFont typeface="Arial" panose="020B0604020202020204" pitchFamily="34" charset="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Disabling an inactive privileged EXEC mode access after a specified amount of time.</a:t>
            </a:r>
            <a:endParaRPr lang="en-US" sz="1400" dirty="0">
              <a:latin typeface="Arial" panose="020B0604020202020204" pitchFamily="34" charset="0"/>
              <a:cs typeface="Arial" panose="020B0604020202020204" pitchFamily="34" charset="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sp>
        <p:nvSpPr>
          <p:cNvPr id="10" name="TextBox 9">
            <a:extLst>
              <a:ext uri="{FF2B5EF4-FFF2-40B4-BE49-F238E27FC236}">
                <a16:creationId xmlns:a16="http://schemas.microsoft.com/office/drawing/2014/main" id="{3FF1501C-54A2-4F8F-AEA5-742F1FFB2952}"/>
              </a:ext>
            </a:extLst>
          </p:cNvPr>
          <p:cNvSpPr txBox="1"/>
          <p:nvPr/>
        </p:nvSpPr>
        <p:spPr>
          <a:xfrm>
            <a:off x="3945532" y="676823"/>
            <a:ext cx="4610390" cy="523220"/>
          </a:xfrm>
          <a:prstGeom prst="rect">
            <a:avLst/>
          </a:prstGeom>
          <a:noFill/>
        </p:spPr>
        <p:txBody>
          <a:bodyPr wrap="square">
            <a:spAutoFit/>
          </a:bodyPr>
          <a:lstStyle/>
          <a:p>
            <a:r>
              <a:rPr lang="en-US" sz="1400" dirty="0">
                <a:solidFill>
                  <a:srgbClr val="000000"/>
                </a:solidFill>
                <a:latin typeface="Arial" pitchFamily="34" charset="0"/>
                <a:ea typeface="Arial" pitchFamily="34" charset="-122"/>
                <a:cs typeface="Arial" pitchFamily="34" charset="-120"/>
              </a:rPr>
              <a:t>To encrypt all plaintext passwords, use the </a:t>
            </a:r>
            <a:r>
              <a:rPr lang="en-US" sz="1400" b="1" dirty="0">
                <a:solidFill>
                  <a:srgbClr val="000000"/>
                </a:solidFill>
                <a:latin typeface="Arial" pitchFamily="34" charset="0"/>
                <a:ea typeface="Arial" pitchFamily="34" charset="-122"/>
                <a:cs typeface="Arial" pitchFamily="34" charset="-120"/>
              </a:rPr>
              <a:t>service password-encryption</a:t>
            </a:r>
            <a:r>
              <a:rPr lang="en-US" sz="1400" dirty="0">
                <a:solidFill>
                  <a:srgbClr val="000000"/>
                </a:solidFill>
                <a:latin typeface="Arial" pitchFamily="34" charset="0"/>
                <a:ea typeface="Arial" pitchFamily="34" charset="-122"/>
                <a:cs typeface="Arial" pitchFamily="34" charset="-120"/>
              </a:rPr>
              <a:t> global config command.</a:t>
            </a:r>
            <a:endParaRPr lang="en-US" sz="1400" dirty="0"/>
          </a:p>
        </p:txBody>
      </p:sp>
      <p:sp>
        <p:nvSpPr>
          <p:cNvPr id="6" name="Rectangle 5">
            <a:extLst>
              <a:ext uri="{FF2B5EF4-FFF2-40B4-BE49-F238E27FC236}">
                <a16:creationId xmlns:a16="http://schemas.microsoft.com/office/drawing/2014/main" id="{F4843524-1916-4672-8B22-F01D2547FCEA}"/>
              </a:ext>
            </a:extLst>
          </p:cNvPr>
          <p:cNvSpPr/>
          <p:nvPr/>
        </p:nvSpPr>
        <p:spPr>
          <a:xfrm>
            <a:off x="4008879" y="1993910"/>
            <a:ext cx="5018730" cy="52322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Use the </a:t>
            </a:r>
            <a:r>
              <a:rPr lang="en-US" sz="1400" b="1" dirty="0">
                <a:latin typeface="Arial" panose="020B0604020202020204" pitchFamily="34" charset="0"/>
                <a:cs typeface="Arial" panose="020B0604020202020204" pitchFamily="34" charset="0"/>
              </a:rPr>
              <a:t>show running-config</a:t>
            </a:r>
            <a:r>
              <a:rPr lang="en-US" sz="1400" dirty="0">
                <a:latin typeface="Arial" panose="020B0604020202020204" pitchFamily="34" charset="0"/>
                <a:cs typeface="Arial" panose="020B0604020202020204" pitchFamily="34" charset="0"/>
              </a:rPr>
              <a:t> command to verify that passwords are now encrypted.</a:t>
            </a:r>
          </a:p>
        </p:txBody>
      </p:sp>
      <p:pic>
        <p:nvPicPr>
          <p:cNvPr id="7" name="Picture 6">
            <a:extLst>
              <a:ext uri="{FF2B5EF4-FFF2-40B4-BE49-F238E27FC236}">
                <a16:creationId xmlns:a16="http://schemas.microsoft.com/office/drawing/2014/main" id="{3D7736D0-F711-45B5-A1D0-A47CE07363EE}"/>
              </a:ext>
            </a:extLst>
          </p:cNvPr>
          <p:cNvPicPr>
            <a:picLocks noChangeAspect="1"/>
          </p:cNvPicPr>
          <p:nvPr/>
        </p:nvPicPr>
        <p:blipFill>
          <a:blip r:embed="rId3"/>
          <a:stretch>
            <a:fillRect/>
          </a:stretch>
        </p:blipFill>
        <p:spPr>
          <a:xfrm>
            <a:off x="4153356" y="1270874"/>
            <a:ext cx="3806322" cy="610537"/>
          </a:xfrm>
          <a:prstGeom prst="rect">
            <a:avLst/>
          </a:prstGeom>
        </p:spPr>
      </p:pic>
      <p:pic>
        <p:nvPicPr>
          <p:cNvPr id="8" name="Picture 7">
            <a:extLst>
              <a:ext uri="{FF2B5EF4-FFF2-40B4-BE49-F238E27FC236}">
                <a16:creationId xmlns:a16="http://schemas.microsoft.com/office/drawing/2014/main" id="{B3CDF162-2C50-41C0-A800-F1E6ED38FA64}"/>
              </a:ext>
            </a:extLst>
          </p:cNvPr>
          <p:cNvPicPr>
            <a:picLocks noChangeAspect="1"/>
          </p:cNvPicPr>
          <p:nvPr/>
        </p:nvPicPr>
        <p:blipFill>
          <a:blip r:embed="rId4"/>
          <a:stretch>
            <a:fillRect/>
          </a:stretch>
        </p:blipFill>
        <p:spPr>
          <a:xfrm>
            <a:off x="4364868" y="2503150"/>
            <a:ext cx="2364000" cy="21399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Additional Password Security</a:t>
            </a:r>
          </a:p>
        </p:txBody>
      </p:sp>
      <p:sp>
        <p:nvSpPr>
          <p:cNvPr id="5" name="Object4"/>
          <p:cNvSpPr/>
          <p:nvPr/>
        </p:nvSpPr>
        <p:spPr>
          <a:xfrm>
            <a:off x="0" y="914399"/>
            <a:ext cx="4355869" cy="3441469"/>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As shown in the sample configuration, the </a:t>
            </a:r>
            <a:r>
              <a:rPr lang="en-US" sz="1400" b="1" dirty="0">
                <a:latin typeface="Arial" panose="020B0604020202020204" pitchFamily="34" charset="0"/>
                <a:cs typeface="Arial" panose="020B0604020202020204" pitchFamily="34" charset="0"/>
              </a:rPr>
              <a:t>service password-encryption</a:t>
            </a:r>
            <a:r>
              <a:rPr lang="en-US" sz="1400" dirty="0">
                <a:latin typeface="Arial" panose="020B0604020202020204" pitchFamily="34" charset="0"/>
                <a:cs typeface="Arial" panose="020B0604020202020204" pitchFamily="34" charset="0"/>
              </a:rPr>
              <a:t> global configuration command prevents unauthorized individuals from viewing plaintext passwords in the configuration file.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ensure that all configured passwords are a minimum of a specified length, use the </a:t>
            </a:r>
            <a:r>
              <a:rPr lang="en-US" sz="1400" b="1" dirty="0">
                <a:latin typeface="Arial" panose="020B0604020202020204" pitchFamily="34" charset="0"/>
                <a:cs typeface="Arial" panose="020B0604020202020204" pitchFamily="34" charset="0"/>
              </a:rPr>
              <a:t>security passwords min-length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length</a:t>
            </a:r>
            <a:r>
              <a:rPr lang="en-US" sz="1400" dirty="0">
                <a:latin typeface="Arial" panose="020B0604020202020204" pitchFamily="34" charset="0"/>
                <a:cs typeface="Arial" panose="020B0604020202020204" pitchFamily="34" charset="0"/>
              </a:rPr>
              <a:t> command in global configuration mode.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Threat actors may use password cracking software to conduct a brute-force attack on a network device. This attack continuously attempts to guess the valid passwords until one works. Use the </a:t>
            </a:r>
            <a:r>
              <a:rPr lang="en-US" sz="1400" b="1" dirty="0">
                <a:latin typeface="Arial" panose="020B0604020202020204" pitchFamily="34" charset="0"/>
                <a:cs typeface="Arial" panose="020B0604020202020204" pitchFamily="34" charset="0"/>
              </a:rPr>
              <a:t>login block-for</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seconds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attempts</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number</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within</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seconds</a:t>
            </a:r>
            <a:r>
              <a:rPr lang="en-US" sz="1400" dirty="0">
                <a:latin typeface="Arial" panose="020B0604020202020204" pitchFamily="34" charset="0"/>
                <a:cs typeface="Arial" panose="020B0604020202020204" pitchFamily="34" charset="0"/>
              </a:rPr>
              <a:t> global configuration command to deter this type of attack.</a:t>
            </a:r>
          </a:p>
        </p:txBody>
      </p:sp>
      <p:pic>
        <p:nvPicPr>
          <p:cNvPr id="6" name="Picture 5">
            <a:extLst>
              <a:ext uri="{FF2B5EF4-FFF2-40B4-BE49-F238E27FC236}">
                <a16:creationId xmlns:a16="http://schemas.microsoft.com/office/drawing/2014/main" id="{4512F104-6A98-4DD4-B1BE-76B35A84F0F0}"/>
              </a:ext>
            </a:extLst>
          </p:cNvPr>
          <p:cNvPicPr>
            <a:picLocks noChangeAspect="1"/>
          </p:cNvPicPr>
          <p:nvPr/>
        </p:nvPicPr>
        <p:blipFill>
          <a:blip r:embed="rId3"/>
          <a:stretch>
            <a:fillRect/>
          </a:stretch>
        </p:blipFill>
        <p:spPr>
          <a:xfrm>
            <a:off x="4401408" y="1050816"/>
            <a:ext cx="4292821" cy="30799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sp>
        <p:nvSpPr>
          <p:cNvPr id="7" name="BlokTextu 6">
            <a:extLst>
              <a:ext uri="{FF2B5EF4-FFF2-40B4-BE49-F238E27FC236}">
                <a16:creationId xmlns:a16="http://schemas.microsoft.com/office/drawing/2014/main" id="{AE70B648-6AB8-AAB2-2459-D24B5EBA4396}"/>
              </a:ext>
            </a:extLst>
          </p:cNvPr>
          <p:cNvSpPr txBox="1"/>
          <p:nvPr/>
        </p:nvSpPr>
        <p:spPr>
          <a:xfrm>
            <a:off x="4218359" y="4259818"/>
            <a:ext cx="5063151" cy="923330"/>
          </a:xfrm>
          <a:prstGeom prst="rect">
            <a:avLst/>
          </a:prstGeom>
          <a:noFill/>
        </p:spPr>
        <p:txBody>
          <a:bodyPr wrap="square">
            <a:spAutoFit/>
          </a:bodyPr>
          <a:lstStyle/>
          <a:p>
            <a:r>
              <a:rPr lang="sk-SK" dirty="0"/>
              <a:t>R1(</a:t>
            </a:r>
            <a:r>
              <a:rPr lang="sk-SK" dirty="0" err="1"/>
              <a:t>config</a:t>
            </a:r>
            <a:r>
              <a:rPr lang="sk-SK" dirty="0"/>
              <a:t>)# </a:t>
            </a:r>
            <a:r>
              <a:rPr lang="sk-SK" b="1" dirty="0" err="1">
                <a:solidFill>
                  <a:srgbClr val="000000"/>
                </a:solidFill>
                <a:effectLst/>
                <a:latin typeface="inherit"/>
              </a:rPr>
              <a:t>login</a:t>
            </a:r>
            <a:r>
              <a:rPr lang="sk-SK" b="1" dirty="0">
                <a:solidFill>
                  <a:srgbClr val="000000"/>
                </a:solidFill>
                <a:effectLst/>
                <a:latin typeface="inherit"/>
              </a:rPr>
              <a:t> </a:t>
            </a:r>
            <a:r>
              <a:rPr lang="sk-SK" b="1" dirty="0" err="1">
                <a:solidFill>
                  <a:srgbClr val="000000"/>
                </a:solidFill>
                <a:effectLst/>
                <a:latin typeface="inherit"/>
              </a:rPr>
              <a:t>quiet-mode</a:t>
            </a:r>
            <a:r>
              <a:rPr lang="sk-SK" b="1" dirty="0">
                <a:solidFill>
                  <a:srgbClr val="000000"/>
                </a:solidFill>
                <a:effectLst/>
                <a:latin typeface="inherit"/>
              </a:rPr>
              <a:t> </a:t>
            </a:r>
            <a:r>
              <a:rPr lang="sk-SK" b="1" dirty="0" err="1">
                <a:solidFill>
                  <a:srgbClr val="000000"/>
                </a:solidFill>
                <a:effectLst/>
                <a:latin typeface="inherit"/>
              </a:rPr>
              <a:t>access-class</a:t>
            </a:r>
            <a:r>
              <a:rPr lang="sk-SK" b="1" dirty="0">
                <a:solidFill>
                  <a:srgbClr val="000000"/>
                </a:solidFill>
                <a:effectLst/>
                <a:latin typeface="inherit"/>
              </a:rPr>
              <a:t> </a:t>
            </a:r>
            <a:r>
              <a:rPr lang="sk-SK" b="1" dirty="0" err="1">
                <a:solidFill>
                  <a:srgbClr val="000000"/>
                </a:solidFill>
                <a:effectLst/>
                <a:latin typeface="inherit"/>
              </a:rPr>
              <a:t>myacl</a:t>
            </a:r>
            <a:endParaRPr lang="sk-SK" b="1" dirty="0">
              <a:solidFill>
                <a:srgbClr val="000000"/>
              </a:solidFill>
              <a:effectLst/>
              <a:latin typeface="inherit"/>
            </a:endParaRPr>
          </a:p>
          <a:p>
            <a:r>
              <a:rPr lang="sk-SK" dirty="0">
                <a:solidFill>
                  <a:srgbClr val="000000"/>
                </a:solidFill>
                <a:latin typeface="inherit"/>
              </a:rPr>
              <a:t>Bude uvedené neskôr ...</a:t>
            </a:r>
          </a:p>
          <a:p>
            <a:r>
              <a:rPr lang="sk-SK" b="1" dirty="0">
                <a:solidFill>
                  <a:srgbClr val="000000"/>
                </a:solidFill>
                <a:effectLst/>
                <a:latin typeface="inherit"/>
              </a:rPr>
              <a:t>show </a:t>
            </a:r>
            <a:r>
              <a:rPr lang="sk-SK" b="1" dirty="0" err="1">
                <a:solidFill>
                  <a:srgbClr val="000000"/>
                </a:solidFill>
                <a:effectLst/>
                <a:latin typeface="inherit"/>
              </a:rPr>
              <a:t>login</a:t>
            </a:r>
            <a:r>
              <a:rPr lang="sk-SK" b="1" dirty="0">
                <a:solidFill>
                  <a:srgbClr val="000000"/>
                </a:solidFill>
                <a:effectLst/>
                <a:latin typeface="inherit"/>
              </a:rPr>
              <a:t> </a:t>
            </a:r>
            <a:r>
              <a:rPr lang="sk-SK" b="1" dirty="0" err="1">
                <a:solidFill>
                  <a:srgbClr val="000000"/>
                </a:solidFill>
                <a:effectLst/>
                <a:latin typeface="inherit"/>
              </a:rPr>
              <a:t>failures</a:t>
            </a:r>
            <a:endParaRPr lang="sk-SK"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Secure Administrative Access</a:t>
            </a:r>
          </a:p>
        </p:txBody>
      </p:sp>
      <p:sp>
        <p:nvSpPr>
          <p:cNvPr id="3" name="Object2"/>
          <p:cNvSpPr>
            <a:spLocks noGrp="1"/>
          </p:cNvSpPr>
          <p:nvPr>
            <p:ph type="body" idx="100" hasCustomPrompt="1"/>
          </p:nvPr>
        </p:nvSpPr>
        <p:spPr>
          <a:xfrm>
            <a:off x="0" y="274320"/>
            <a:ext cx="9144000" cy="455295"/>
          </a:xfrm>
          <a:prstGeom prst="rect">
            <a:avLst/>
          </a:prstGeom>
          <a:noFill/>
          <a:ln/>
        </p:spPr>
        <p:txBody>
          <a:bodyPr wrap="square" rtlCol="0"/>
          <a:lstStyle/>
          <a:p>
            <a:pPr marL="0" indent="0">
              <a:buNone/>
            </a:pPr>
            <a:r>
              <a:rPr lang="en-US" dirty="0"/>
              <a:t>Secret Password Algorithms</a:t>
            </a:r>
          </a:p>
        </p:txBody>
      </p:sp>
      <p:sp>
        <p:nvSpPr>
          <p:cNvPr id="4" name="TextBox 3">
            <a:extLst>
              <a:ext uri="{FF2B5EF4-FFF2-40B4-BE49-F238E27FC236}">
                <a16:creationId xmlns:a16="http://schemas.microsoft.com/office/drawing/2014/main" id="{0C73DE47-6527-423C-BFA2-99BDF7B128AB}"/>
              </a:ext>
            </a:extLst>
          </p:cNvPr>
          <p:cNvSpPr txBox="1"/>
          <p:nvPr/>
        </p:nvSpPr>
        <p:spPr>
          <a:xfrm>
            <a:off x="182880" y="895350"/>
            <a:ext cx="8675370"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MD5 hashes are no longer considered secure because attackers can reconstruct valid certificates. This can allow attackers to spoof any website. The enable secret password uses an MD5 hash by default. It is now recommended that you configure all secret passwords using either type 8 or type 9 passwords. Type 8 and type 9 were introduced in Cisco IOS 15.3(3)M. Type 8 and type 9 use SHA encryption.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enter an unencrypted password, use the </a:t>
            </a:r>
            <a:r>
              <a:rPr lang="en-US" sz="1400" b="1" dirty="0">
                <a:latin typeface="Arial" panose="020B0604020202020204" pitchFamily="34" charset="0"/>
                <a:cs typeface="Arial" panose="020B0604020202020204" pitchFamily="34" charset="0"/>
              </a:rPr>
              <a:t>enable algorithm-type </a:t>
            </a:r>
            <a:r>
              <a:rPr lang="en-US" sz="1400" dirty="0">
                <a:latin typeface="Arial" panose="020B0604020202020204" pitchFamily="34" charset="0"/>
                <a:cs typeface="Arial" panose="020B0604020202020204" pitchFamily="34" charset="0"/>
              </a:rPr>
              <a:t>command syntax:</a:t>
            </a:r>
          </a:p>
        </p:txBody>
      </p:sp>
      <p:graphicFrame>
        <p:nvGraphicFramePr>
          <p:cNvPr id="20" name="Table 19"/>
          <p:cNvGraphicFramePr>
            <a:graphicFrameLocks noGrp="1"/>
          </p:cNvGraphicFramePr>
          <p:nvPr>
            <p:extLst>
              <p:ext uri="{D42A27DB-BD31-4B8C-83A1-F6EECF244321}">
                <p14:modId xmlns:p14="http://schemas.microsoft.com/office/powerpoint/2010/main" val="1143208990"/>
              </p:ext>
            </p:extLst>
          </p:nvPr>
        </p:nvGraphicFramePr>
        <p:xfrm>
          <a:off x="876819" y="3119227"/>
          <a:ext cx="6945458" cy="1371600"/>
        </p:xfrm>
        <a:graphic>
          <a:graphicData uri="http://schemas.openxmlformats.org/drawingml/2006/table">
            <a:tbl>
              <a:tblPr/>
              <a:tblGrid>
                <a:gridCol w="1116138">
                  <a:extLst>
                    <a:ext uri="{9D8B030D-6E8A-4147-A177-3AD203B41FA5}">
                      <a16:colId xmlns:a16="http://schemas.microsoft.com/office/drawing/2014/main" val="20000"/>
                    </a:ext>
                  </a:extLst>
                </a:gridCol>
                <a:gridCol w="5829320">
                  <a:extLst>
                    <a:ext uri="{9D8B030D-6E8A-4147-A177-3AD203B41FA5}">
                      <a16:colId xmlns:a16="http://schemas.microsoft.com/office/drawing/2014/main" val="20001"/>
                    </a:ext>
                  </a:extLst>
                </a:gridCol>
              </a:tblGrid>
              <a:tr h="0">
                <a:tc>
                  <a:txBody>
                    <a:bodyPr/>
                    <a:lstStyle/>
                    <a:p>
                      <a:r>
                        <a:rPr lang="en-US" sz="1200" dirty="0">
                          <a:solidFill>
                            <a:srgbClr val="FFFFFF"/>
                          </a:solidFill>
                        </a:rPr>
                        <a:t>Algorithm Keyword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md5</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Type 5; selects the message digest algorithm 5 (MD5) as the hashing algorithm.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50" dirty="0">
                          <a:solidFill>
                            <a:srgbClr val="58585B"/>
                          </a:solidFill>
                          <a:latin typeface="Arial" panose="020B0604020202020204" pitchFamily="34" charset="0"/>
                          <a:cs typeface="Arial" panose="020B0604020202020204" pitchFamily="34" charset="0"/>
                        </a:rPr>
                        <a:t>scrypt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Type 9; selects scrypt as the hashing algorithm.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50" dirty="0">
                          <a:solidFill>
                            <a:srgbClr val="58585B"/>
                          </a:solidFill>
                          <a:latin typeface="Arial" panose="020B0604020202020204" pitchFamily="34" charset="0"/>
                          <a:cs typeface="Arial" panose="020B0604020202020204" pitchFamily="34" charset="0"/>
                        </a:rPr>
                        <a:t>sha256</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Type 8: selects Password-Based Key Derivation Function 2 (PBKDF2) with Secure Hash Algorithm, 256-bits (SHA-256) as the hashing algorithm.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67BF13A4-DBD2-4DE6-ACCD-3EB1B8D41040}"/>
              </a:ext>
            </a:extLst>
          </p:cNvPr>
          <p:cNvPicPr>
            <a:picLocks noChangeAspect="1"/>
          </p:cNvPicPr>
          <p:nvPr/>
        </p:nvPicPr>
        <p:blipFill>
          <a:blip r:embed="rId3"/>
          <a:stretch>
            <a:fillRect/>
          </a:stretch>
        </p:blipFill>
        <p:spPr>
          <a:xfrm>
            <a:off x="182880" y="2257704"/>
            <a:ext cx="8141118" cy="368319"/>
          </a:xfrm>
          <a:prstGeom prst="rect">
            <a:avLst/>
          </a:prstGeom>
        </p:spPr>
      </p:pic>
      <p:pic>
        <p:nvPicPr>
          <p:cNvPr id="8" name="Picture 7">
            <a:extLst>
              <a:ext uri="{FF2B5EF4-FFF2-40B4-BE49-F238E27FC236}">
                <a16:creationId xmlns:a16="http://schemas.microsoft.com/office/drawing/2014/main" id="{654F3FB0-888A-4319-B16F-9BF60D446309}"/>
              </a:ext>
            </a:extLst>
          </p:cNvPr>
          <p:cNvPicPr>
            <a:picLocks noChangeAspect="1"/>
          </p:cNvPicPr>
          <p:nvPr/>
        </p:nvPicPr>
        <p:blipFill>
          <a:blip r:embed="rId4"/>
          <a:stretch>
            <a:fillRect/>
          </a:stretch>
        </p:blipFill>
        <p:spPr>
          <a:xfrm>
            <a:off x="230507" y="2621843"/>
            <a:ext cx="8045863" cy="4826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
        <p:nvSpPr>
          <p:cNvPr id="7" name="BlokTextu 6">
            <a:extLst>
              <a:ext uri="{FF2B5EF4-FFF2-40B4-BE49-F238E27FC236}">
                <a16:creationId xmlns:a16="http://schemas.microsoft.com/office/drawing/2014/main" id="{7D5B77BC-1AF5-4CAC-D92A-DF5424377895}"/>
              </a:ext>
            </a:extLst>
          </p:cNvPr>
          <p:cNvSpPr txBox="1"/>
          <p:nvPr/>
        </p:nvSpPr>
        <p:spPr>
          <a:xfrm>
            <a:off x="876819" y="4511763"/>
            <a:ext cx="7271300" cy="646331"/>
          </a:xfrm>
          <a:prstGeom prst="rect">
            <a:avLst/>
          </a:prstGeom>
          <a:noFill/>
        </p:spPr>
        <p:txBody>
          <a:bodyPr wrap="square" lIns="91440" tIns="45720" rIns="91440" bIns="45720" anchor="t">
            <a:spAutoFit/>
          </a:bodyPr>
          <a:lstStyle/>
          <a:p>
            <a:r>
              <a:rPr lang="sk-SK" dirty="0"/>
              <a:t>R1(</a:t>
            </a:r>
            <a:r>
              <a:rPr lang="sk-SK" dirty="0" err="1"/>
              <a:t>config</a:t>
            </a:r>
            <a:r>
              <a:rPr lang="sk-SK" dirty="0"/>
              <a:t>)# </a:t>
            </a:r>
            <a:r>
              <a:rPr lang="sk-SK" b="1" dirty="0" err="1">
                <a:effectLst/>
              </a:rPr>
              <a:t>enable</a:t>
            </a:r>
            <a:r>
              <a:rPr lang="sk-SK" b="1" dirty="0">
                <a:effectLst/>
              </a:rPr>
              <a:t> </a:t>
            </a:r>
            <a:r>
              <a:rPr lang="sk-SK" b="1" dirty="0" err="1">
                <a:effectLst/>
              </a:rPr>
              <a:t>algorithm</a:t>
            </a:r>
            <a:r>
              <a:rPr lang="sk-SK" b="1" dirty="0">
                <a:effectLst/>
              </a:rPr>
              <a:t>-type </a:t>
            </a:r>
            <a:r>
              <a:rPr lang="sk-SK" b="1" dirty="0" err="1">
                <a:effectLst/>
              </a:rPr>
              <a:t>scrypt</a:t>
            </a:r>
            <a:r>
              <a:rPr lang="sk-SK" b="1" dirty="0">
                <a:effectLst/>
              </a:rPr>
              <a:t> </a:t>
            </a:r>
            <a:r>
              <a:rPr lang="sk-SK" b="1" dirty="0" err="1">
                <a:effectLst/>
              </a:rPr>
              <a:t>secret</a:t>
            </a:r>
            <a:r>
              <a:rPr lang="sk-SK" b="1" dirty="0">
                <a:effectLst/>
              </a:rPr>
              <a:t> cisco12345</a:t>
            </a:r>
          </a:p>
          <a:p>
            <a:r>
              <a:rPr lang="sk-SK" dirty="0"/>
              <a:t>R1(</a:t>
            </a:r>
            <a:r>
              <a:rPr lang="sk-SK" dirty="0" err="1"/>
              <a:t>config</a:t>
            </a:r>
            <a:r>
              <a:rPr lang="sk-SK" dirty="0"/>
              <a:t>)# </a:t>
            </a:r>
            <a:r>
              <a:rPr lang="sk-SK" b="1" dirty="0" err="1">
                <a:effectLst/>
              </a:rPr>
              <a:t>username</a:t>
            </a:r>
            <a:r>
              <a:rPr lang="sk-SK" b="1" dirty="0">
                <a:effectLst/>
              </a:rPr>
              <a:t> Bob </a:t>
            </a:r>
            <a:r>
              <a:rPr lang="sk-SK" b="1" dirty="0" err="1">
                <a:effectLst/>
              </a:rPr>
              <a:t>algorithm</a:t>
            </a:r>
            <a:r>
              <a:rPr lang="sk-SK" b="1" dirty="0">
                <a:effectLst/>
              </a:rPr>
              <a:t>-type </a:t>
            </a:r>
            <a:r>
              <a:rPr lang="sk-SK" b="1" dirty="0" err="1">
                <a:effectLst/>
              </a:rPr>
              <a:t>scrypt</a:t>
            </a:r>
            <a:r>
              <a:rPr lang="sk-SK" b="1" dirty="0">
                <a:effectLst/>
              </a:rPr>
              <a:t> </a:t>
            </a:r>
            <a:r>
              <a:rPr lang="sk-SK" b="1" dirty="0" err="1">
                <a:effectLst/>
              </a:rPr>
              <a:t>secret</a:t>
            </a:r>
            <a:r>
              <a:rPr lang="sk-SK" b="1" dirty="0">
                <a:effectLst/>
              </a:rPr>
              <a:t> cisco54321</a:t>
            </a:r>
            <a:endParaRPr lang="sk-SK"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4.3 Configure Enhanced Security for Virtual Logins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Enhance the Login Process</a:t>
            </a:r>
          </a:p>
        </p:txBody>
      </p:sp>
      <p:sp>
        <p:nvSpPr>
          <p:cNvPr id="5" name="Object4"/>
          <p:cNvSpPr/>
          <p:nvPr/>
        </p:nvSpPr>
        <p:spPr>
          <a:xfrm>
            <a:off x="-1" y="800100"/>
            <a:ext cx="8902932" cy="14526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Login blocking is enabling a detection profile that lets you configure a network device to react to repeated failed login attempts by refusing further connection requests.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Access control lists (ACLs) can be used to permit legitimate connections from addresses of known system administrators.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banner</a:t>
            </a:r>
            <a:r>
              <a:rPr lang="en-US" sz="1400" dirty="0">
                <a:solidFill>
                  <a:srgbClr val="000000"/>
                </a:solidFill>
                <a:latin typeface="Arial" pitchFamily="34" charset="0"/>
                <a:ea typeface="Arial" pitchFamily="34" charset="-122"/>
                <a:cs typeface="Arial" pitchFamily="34" charset="-120"/>
              </a:rPr>
              <a:t> global configuration mode command to specify appropriate messages. Banners protect the organization from a legal perspective.</a:t>
            </a:r>
            <a:endParaRPr lang="en-US" sz="1400" dirty="0"/>
          </a:p>
        </p:txBody>
      </p:sp>
      <p:pic>
        <p:nvPicPr>
          <p:cNvPr id="7" name="Picture 6">
            <a:extLst>
              <a:ext uri="{FF2B5EF4-FFF2-40B4-BE49-F238E27FC236}">
                <a16:creationId xmlns:a16="http://schemas.microsoft.com/office/drawing/2014/main" id="{A6DF7B53-2180-4154-B8DC-D30D1CE4BA9F}"/>
              </a:ext>
            </a:extLst>
          </p:cNvPr>
          <p:cNvPicPr>
            <a:picLocks noChangeAspect="1"/>
          </p:cNvPicPr>
          <p:nvPr/>
        </p:nvPicPr>
        <p:blipFill>
          <a:blip r:embed="rId3"/>
          <a:stretch>
            <a:fillRect/>
          </a:stretch>
        </p:blipFill>
        <p:spPr>
          <a:xfrm>
            <a:off x="135681" y="2981991"/>
            <a:ext cx="8141118" cy="349268"/>
          </a:xfrm>
          <a:prstGeom prst="rect">
            <a:avLst/>
          </a:prstGeom>
        </p:spPr>
      </p:pic>
      <p:pic>
        <p:nvPicPr>
          <p:cNvPr id="9" name="Picture 8">
            <a:extLst>
              <a:ext uri="{FF2B5EF4-FFF2-40B4-BE49-F238E27FC236}">
                <a16:creationId xmlns:a16="http://schemas.microsoft.com/office/drawing/2014/main" id="{D829D468-8163-4A69-9FA5-821B0EA1FADD}"/>
              </a:ext>
            </a:extLst>
          </p:cNvPr>
          <p:cNvPicPr>
            <a:picLocks noChangeAspect="1"/>
          </p:cNvPicPr>
          <p:nvPr/>
        </p:nvPicPr>
        <p:blipFill>
          <a:blip r:embed="rId4"/>
          <a:stretch>
            <a:fillRect/>
          </a:stretch>
        </p:blipFill>
        <p:spPr>
          <a:xfrm>
            <a:off x="207084" y="3405147"/>
            <a:ext cx="3841947" cy="13653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Login Enhancement Features</a:t>
            </a:r>
          </a:p>
        </p:txBody>
      </p:sp>
      <p:sp>
        <p:nvSpPr>
          <p:cNvPr id="5" name="Object4"/>
          <p:cNvSpPr/>
          <p:nvPr/>
        </p:nvSpPr>
        <p:spPr>
          <a:xfrm>
            <a:off x="0" y="914400"/>
            <a:ext cx="8767072" cy="13525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a:t>
            </a:r>
            <a:r>
              <a:rPr lang="en-US" sz="1400" b="1" dirty="0">
                <a:solidFill>
                  <a:srgbClr val="000000"/>
                </a:solidFill>
                <a:latin typeface="Arial" pitchFamily="34" charset="0"/>
                <a:ea typeface="Arial" pitchFamily="34" charset="-122"/>
                <a:cs typeface="Arial" pitchFamily="34" charset="-120"/>
              </a:rPr>
              <a:t>login block-for</a:t>
            </a:r>
            <a:r>
              <a:rPr lang="en-US" sz="1400" dirty="0">
                <a:solidFill>
                  <a:srgbClr val="000000"/>
                </a:solidFill>
                <a:latin typeface="Arial" pitchFamily="34" charset="0"/>
                <a:ea typeface="Arial" pitchFamily="34" charset="-122"/>
                <a:cs typeface="Arial" pitchFamily="34" charset="-120"/>
              </a:rPr>
              <a:t> command can defend against DoS attacks by disabling logins after a specified number of failed login attempts. The </a:t>
            </a:r>
            <a:r>
              <a:rPr lang="en-US" sz="1400" b="1" dirty="0">
                <a:solidFill>
                  <a:srgbClr val="000000"/>
                </a:solidFill>
                <a:latin typeface="Arial" pitchFamily="34" charset="0"/>
                <a:ea typeface="Arial" pitchFamily="34" charset="-122"/>
                <a:cs typeface="Arial" pitchFamily="34" charset="-120"/>
              </a:rPr>
              <a:t>login quiet-mode</a:t>
            </a:r>
            <a:r>
              <a:rPr lang="en-US" sz="1400" dirty="0">
                <a:solidFill>
                  <a:srgbClr val="000000"/>
                </a:solidFill>
                <a:latin typeface="Arial" pitchFamily="34" charset="0"/>
                <a:ea typeface="Arial" pitchFamily="34" charset="-122"/>
                <a:cs typeface="Arial" pitchFamily="34" charset="-120"/>
              </a:rPr>
              <a:t> command maps to an ACL that identifies the permitted hosts. The </a:t>
            </a:r>
            <a:r>
              <a:rPr lang="en-US" sz="1400" b="1" dirty="0">
                <a:solidFill>
                  <a:srgbClr val="000000"/>
                </a:solidFill>
                <a:latin typeface="Arial" pitchFamily="34" charset="0"/>
                <a:ea typeface="Arial" pitchFamily="34" charset="-122"/>
                <a:cs typeface="Arial" pitchFamily="34" charset="-120"/>
              </a:rPr>
              <a:t>login delay</a:t>
            </a:r>
            <a:r>
              <a:rPr lang="en-US" sz="1400" dirty="0">
                <a:solidFill>
                  <a:srgbClr val="000000"/>
                </a:solidFill>
                <a:latin typeface="Arial" pitchFamily="34" charset="0"/>
                <a:ea typeface="Arial" pitchFamily="34" charset="-122"/>
                <a:cs typeface="Arial" pitchFamily="34" charset="-120"/>
              </a:rPr>
              <a:t> command specifies the number of seconds the user must wait between unsuccessful login attempts. The </a:t>
            </a:r>
            <a:r>
              <a:rPr lang="en-US" sz="1400" b="1" dirty="0">
                <a:solidFill>
                  <a:srgbClr val="000000"/>
                </a:solidFill>
                <a:latin typeface="Arial" pitchFamily="34" charset="0"/>
                <a:ea typeface="Arial" pitchFamily="34" charset="-122"/>
                <a:cs typeface="Arial" pitchFamily="34" charset="-120"/>
              </a:rPr>
              <a:t>login on-success</a:t>
            </a:r>
            <a:r>
              <a:rPr lang="en-US" sz="1400" dirty="0">
                <a:solidFill>
                  <a:srgbClr val="000000"/>
                </a:solidFill>
                <a:latin typeface="Arial" pitchFamily="34" charset="0"/>
                <a:ea typeface="Arial" pitchFamily="34" charset="-122"/>
                <a:cs typeface="Arial" pitchFamily="34" charset="-120"/>
              </a:rPr>
              <a:t> and </a:t>
            </a:r>
            <a:r>
              <a:rPr lang="en-US" sz="1400" b="1" dirty="0">
                <a:solidFill>
                  <a:srgbClr val="000000"/>
                </a:solidFill>
                <a:latin typeface="Arial" pitchFamily="34" charset="0"/>
                <a:ea typeface="Arial" pitchFamily="34" charset="-122"/>
                <a:cs typeface="Arial" pitchFamily="34" charset="-120"/>
              </a:rPr>
              <a:t>login on-failure</a:t>
            </a:r>
            <a:r>
              <a:rPr lang="en-US" sz="1400" dirty="0">
                <a:solidFill>
                  <a:srgbClr val="000000"/>
                </a:solidFill>
                <a:latin typeface="Arial" pitchFamily="34" charset="0"/>
                <a:ea typeface="Arial" pitchFamily="34" charset="-122"/>
                <a:cs typeface="Arial" pitchFamily="34" charset="-120"/>
              </a:rPr>
              <a:t> commands log successful and unsuccessful login attempts.</a:t>
            </a:r>
            <a:endParaRPr lang="en-US" sz="1400" dirty="0"/>
          </a:p>
        </p:txBody>
      </p:sp>
      <p:pic>
        <p:nvPicPr>
          <p:cNvPr id="7" name="Picture 6">
            <a:extLst>
              <a:ext uri="{FF2B5EF4-FFF2-40B4-BE49-F238E27FC236}">
                <a16:creationId xmlns:a16="http://schemas.microsoft.com/office/drawing/2014/main" id="{3B852264-4369-47DB-92FF-FC93D4F8C714}"/>
              </a:ext>
            </a:extLst>
          </p:cNvPr>
          <p:cNvPicPr>
            <a:picLocks noChangeAspect="1"/>
          </p:cNvPicPr>
          <p:nvPr/>
        </p:nvPicPr>
        <p:blipFill>
          <a:blip r:embed="rId3"/>
          <a:stretch>
            <a:fillRect/>
          </a:stretch>
        </p:blipFill>
        <p:spPr>
          <a:xfrm>
            <a:off x="1532002" y="2706692"/>
            <a:ext cx="5315223" cy="92714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Enable Login Enhancements</a:t>
            </a:r>
          </a:p>
        </p:txBody>
      </p:sp>
      <p:sp>
        <p:nvSpPr>
          <p:cNvPr id="5" name="Object4"/>
          <p:cNvSpPr/>
          <p:nvPr/>
        </p:nvSpPr>
        <p:spPr>
          <a:xfrm>
            <a:off x="-1" y="914400"/>
            <a:ext cx="894449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help a Cisco IOS device provide DoS detection, use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 which must be issued before any other login command.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 monitors login device activity and operates in two modes: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Normal mode </a:t>
            </a:r>
            <a:r>
              <a:rPr lang="en-US" sz="1400" dirty="0">
                <a:solidFill>
                  <a:srgbClr val="000000"/>
                </a:solidFill>
                <a:latin typeface="Arial" pitchFamily="34" charset="0"/>
                <a:ea typeface="Arial" pitchFamily="34" charset="-122"/>
                <a:cs typeface="Arial" pitchFamily="34" charset="-120"/>
              </a:rPr>
              <a:t>- Also called watch mode, the router keeps count of the number of failed login attempts within an identified amount of time.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Quiet mode </a:t>
            </a:r>
            <a:r>
              <a:rPr lang="en-US" sz="1400" dirty="0">
                <a:solidFill>
                  <a:srgbClr val="000000"/>
                </a:solidFill>
                <a:latin typeface="Arial" pitchFamily="34" charset="0"/>
                <a:ea typeface="Arial" pitchFamily="34" charset="-122"/>
                <a:cs typeface="Arial" pitchFamily="34" charset="-120"/>
              </a:rPr>
              <a:t>– Also called the quiet period. If the number of failed logins exceeds the configured threshold, all login attempts using Telnet, SSH, and HTTP are denied for the time specified in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a:t>
            </a:r>
          </a:p>
          <a:p>
            <a:pPr>
              <a:lnSpc>
                <a:spcPts val="2000"/>
              </a:lnSpc>
            </a:pPr>
            <a:r>
              <a:rPr lang="en-US" sz="1400" dirty="0">
                <a:solidFill>
                  <a:srgbClr val="000000"/>
                </a:solidFill>
                <a:latin typeface="Arial" pitchFamily="34" charset="0"/>
                <a:ea typeface="Arial" pitchFamily="34" charset="-122"/>
                <a:cs typeface="Arial" pitchFamily="34" charset="-120"/>
              </a:rPr>
              <a:t>    </a:t>
            </a:r>
            <a:endParaRPr lang="en-US" sz="1400" dirty="0"/>
          </a:p>
        </p:txBody>
      </p:sp>
      <p:pic>
        <p:nvPicPr>
          <p:cNvPr id="7" name="Picture 6">
            <a:extLst>
              <a:ext uri="{FF2B5EF4-FFF2-40B4-BE49-F238E27FC236}">
                <a16:creationId xmlns:a16="http://schemas.microsoft.com/office/drawing/2014/main" id="{E712B04C-FF9B-402F-AFCA-B50E5E793823}"/>
              </a:ext>
            </a:extLst>
          </p:cNvPr>
          <p:cNvPicPr>
            <a:picLocks noChangeAspect="1"/>
          </p:cNvPicPr>
          <p:nvPr/>
        </p:nvPicPr>
        <p:blipFill>
          <a:blip r:embed="rId3"/>
          <a:stretch>
            <a:fillRect/>
          </a:stretch>
        </p:blipFill>
        <p:spPr>
          <a:xfrm>
            <a:off x="1645272" y="3302430"/>
            <a:ext cx="4972306" cy="12319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Log Failed Attempts</a:t>
            </a:r>
          </a:p>
        </p:txBody>
      </p:sp>
      <p:sp>
        <p:nvSpPr>
          <p:cNvPr id="5" name="Object4"/>
          <p:cNvSpPr/>
          <p:nvPr/>
        </p:nvSpPr>
        <p:spPr>
          <a:xfrm>
            <a:off x="-1" y="914400"/>
            <a:ext cx="8934595" cy="1521673"/>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There are three commands that can be configured to help an administrator detect a password attack. Each lets a device to generate syslog messages for failed or successful login attempts. The first two commands, </a:t>
            </a:r>
            <a:r>
              <a:rPr lang="en-US" sz="1400" b="1" dirty="0">
                <a:solidFill>
                  <a:srgbClr val="000000"/>
                </a:solidFill>
                <a:latin typeface="Arial" pitchFamily="34" charset="0"/>
                <a:ea typeface="Arial" pitchFamily="34" charset="-122"/>
                <a:cs typeface="Arial" pitchFamily="34" charset="-120"/>
              </a:rPr>
              <a:t>login on-success log</a:t>
            </a:r>
            <a:r>
              <a:rPr lang="en-US" sz="1400" dirty="0">
                <a:solidFill>
                  <a:srgbClr val="000000"/>
                </a:solidFill>
                <a:latin typeface="Arial" pitchFamily="34" charset="0"/>
                <a:ea typeface="Arial" pitchFamily="34" charset="-122"/>
                <a:cs typeface="Arial" pitchFamily="34" charset="-120"/>
              </a:rPr>
              <a:t> and </a:t>
            </a:r>
            <a:r>
              <a:rPr lang="en-US" sz="1400" b="1" dirty="0">
                <a:solidFill>
                  <a:srgbClr val="000000"/>
                </a:solidFill>
                <a:latin typeface="Arial" pitchFamily="34" charset="0"/>
                <a:ea typeface="Arial" pitchFamily="34" charset="-122"/>
                <a:cs typeface="Arial" pitchFamily="34" charset="-120"/>
              </a:rPr>
              <a:t>login on-failure log</a:t>
            </a:r>
            <a:r>
              <a:rPr lang="en-US" sz="1400" dirty="0">
                <a:solidFill>
                  <a:srgbClr val="000000"/>
                </a:solidFill>
                <a:latin typeface="Arial" pitchFamily="34" charset="0"/>
                <a:ea typeface="Arial" pitchFamily="34" charset="-122"/>
                <a:cs typeface="Arial" pitchFamily="34" charset="-120"/>
              </a:rPr>
              <a:t>, generate syslog messages for successful and unsuccessful login attempts. An alternative to the </a:t>
            </a:r>
            <a:r>
              <a:rPr lang="en-US" sz="1400" b="1" dirty="0">
                <a:solidFill>
                  <a:srgbClr val="000000"/>
                </a:solidFill>
                <a:latin typeface="Arial" pitchFamily="34" charset="0"/>
                <a:ea typeface="Arial" pitchFamily="34" charset="-122"/>
                <a:cs typeface="Arial" pitchFamily="34" charset="-120"/>
              </a:rPr>
              <a:t>login on-failure log </a:t>
            </a:r>
            <a:r>
              <a:rPr lang="en-US" sz="1400" dirty="0">
                <a:solidFill>
                  <a:srgbClr val="000000"/>
                </a:solidFill>
                <a:latin typeface="Arial" pitchFamily="34" charset="0"/>
                <a:ea typeface="Arial" pitchFamily="34" charset="-122"/>
                <a:cs typeface="Arial" pitchFamily="34" charset="-120"/>
              </a:rPr>
              <a:t>command is the </a:t>
            </a:r>
            <a:r>
              <a:rPr lang="en-US" sz="1400" b="1" dirty="0">
                <a:solidFill>
                  <a:srgbClr val="000000"/>
                </a:solidFill>
                <a:latin typeface="Arial" pitchFamily="34" charset="0"/>
                <a:ea typeface="Arial" pitchFamily="34" charset="-122"/>
                <a:cs typeface="Arial" pitchFamily="34" charset="-120"/>
              </a:rPr>
              <a:t>security authentication failure rate </a:t>
            </a:r>
            <a:r>
              <a:rPr lang="en-US" sz="1400" dirty="0">
                <a:solidFill>
                  <a:srgbClr val="000000"/>
                </a:solidFill>
                <a:latin typeface="Arial" pitchFamily="34" charset="0"/>
                <a:ea typeface="Arial" pitchFamily="34" charset="-122"/>
                <a:cs typeface="Arial" pitchFamily="34" charset="-120"/>
              </a:rPr>
              <a:t>command can be configured to generate a log message when the login failure rate is exceeded.</a:t>
            </a:r>
            <a:endParaRPr lang="en-US" sz="1400" dirty="0"/>
          </a:p>
        </p:txBody>
      </p:sp>
      <p:pic>
        <p:nvPicPr>
          <p:cNvPr id="7" name="Picture 6">
            <a:extLst>
              <a:ext uri="{FF2B5EF4-FFF2-40B4-BE49-F238E27FC236}">
                <a16:creationId xmlns:a16="http://schemas.microsoft.com/office/drawing/2014/main" id="{5989B09C-294B-4F74-92BC-B9ABD8DAB3FB}"/>
              </a:ext>
            </a:extLst>
          </p:cNvPr>
          <p:cNvPicPr>
            <a:picLocks noChangeAspect="1"/>
          </p:cNvPicPr>
          <p:nvPr/>
        </p:nvPicPr>
        <p:blipFill>
          <a:blip r:embed="rId3"/>
          <a:stretch>
            <a:fillRect/>
          </a:stretch>
        </p:blipFill>
        <p:spPr>
          <a:xfrm>
            <a:off x="343213" y="2517025"/>
            <a:ext cx="8058564" cy="533427"/>
          </a:xfrm>
          <a:prstGeom prst="rect">
            <a:avLst/>
          </a:prstGeom>
        </p:spPr>
      </p:pic>
      <p:pic>
        <p:nvPicPr>
          <p:cNvPr id="9" name="Picture 8">
            <a:extLst>
              <a:ext uri="{FF2B5EF4-FFF2-40B4-BE49-F238E27FC236}">
                <a16:creationId xmlns:a16="http://schemas.microsoft.com/office/drawing/2014/main" id="{62A17689-1A54-4665-8DC1-A3EC008B9E58}"/>
              </a:ext>
            </a:extLst>
          </p:cNvPr>
          <p:cNvPicPr>
            <a:picLocks noChangeAspect="1"/>
          </p:cNvPicPr>
          <p:nvPr/>
        </p:nvPicPr>
        <p:blipFill>
          <a:blip r:embed="rId4"/>
          <a:stretch>
            <a:fillRect/>
          </a:stretch>
        </p:blipFill>
        <p:spPr>
          <a:xfrm>
            <a:off x="368614" y="3208648"/>
            <a:ext cx="8033163" cy="27306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Enhanced Security for Virtual Logins</a:t>
            </a:r>
          </a:p>
        </p:txBody>
      </p:sp>
      <p:sp>
        <p:nvSpPr>
          <p:cNvPr id="3" name="Object2"/>
          <p:cNvSpPr>
            <a:spLocks noGrp="1"/>
          </p:cNvSpPr>
          <p:nvPr>
            <p:ph type="body" idx="100" hasCustomPrompt="1"/>
          </p:nvPr>
        </p:nvSpPr>
        <p:spPr>
          <a:xfrm>
            <a:off x="0" y="274320"/>
            <a:ext cx="9144000" cy="507076"/>
          </a:xfrm>
          <a:prstGeom prst="rect">
            <a:avLst/>
          </a:prstGeom>
          <a:noFill/>
          <a:ln/>
        </p:spPr>
        <p:txBody>
          <a:bodyPr wrap="square" rtlCol="0"/>
          <a:lstStyle/>
          <a:p>
            <a:pPr marL="0" indent="0">
              <a:buNone/>
            </a:pPr>
            <a:r>
              <a:rPr lang="en-US" dirty="0"/>
              <a:t>Log Failed Attempts (Cont.)</a:t>
            </a:r>
          </a:p>
        </p:txBody>
      </p:sp>
      <p:sp>
        <p:nvSpPr>
          <p:cNvPr id="5" name="Object4"/>
          <p:cNvSpPr/>
          <p:nvPr/>
        </p:nvSpPr>
        <p:spPr>
          <a:xfrm>
            <a:off x="-1" y="914400"/>
            <a:ext cx="9035936" cy="972589"/>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show login </a:t>
            </a:r>
            <a:r>
              <a:rPr lang="en-US" sz="1400" dirty="0">
                <a:solidFill>
                  <a:srgbClr val="000000"/>
                </a:solidFill>
                <a:latin typeface="Arial" pitchFamily="34" charset="0"/>
                <a:ea typeface="Arial" pitchFamily="34" charset="-122"/>
                <a:cs typeface="Arial" pitchFamily="34" charset="-120"/>
              </a:rPr>
              <a:t>command to verify the </a:t>
            </a:r>
            <a:r>
              <a:rPr lang="en-US" sz="1400" b="1" dirty="0">
                <a:solidFill>
                  <a:srgbClr val="000000"/>
                </a:solidFill>
                <a:latin typeface="Arial" pitchFamily="34" charset="0"/>
                <a:ea typeface="Arial" pitchFamily="34" charset="-122"/>
                <a:cs typeface="Arial" pitchFamily="34" charset="-120"/>
              </a:rPr>
              <a:t>login block-for </a:t>
            </a:r>
            <a:r>
              <a:rPr lang="en-US" sz="1400" dirty="0">
                <a:solidFill>
                  <a:srgbClr val="000000"/>
                </a:solidFill>
                <a:latin typeface="Arial" pitchFamily="34" charset="0"/>
                <a:ea typeface="Arial" pitchFamily="34" charset="-122"/>
                <a:cs typeface="Arial" pitchFamily="34" charset="-120"/>
              </a:rPr>
              <a:t>command settings and current mode. </a:t>
            </a:r>
          </a:p>
          <a:p>
            <a:pPr>
              <a:lnSpc>
                <a:spcPts val="2000"/>
              </a:lnSpc>
            </a:pPr>
            <a:r>
              <a:rPr lang="en-US" sz="1400" dirty="0">
                <a:solidFill>
                  <a:srgbClr val="000000"/>
                </a:solidFill>
                <a:latin typeface="Arial" pitchFamily="34" charset="0"/>
                <a:ea typeface="Arial" pitchFamily="34" charset="-122"/>
                <a:cs typeface="Arial" pitchFamily="34" charset="-120"/>
              </a:rPr>
              <a:t>The </a:t>
            </a:r>
            <a:r>
              <a:rPr lang="en-US" sz="1400" b="1" dirty="0">
                <a:solidFill>
                  <a:srgbClr val="000000"/>
                </a:solidFill>
                <a:latin typeface="Arial" pitchFamily="34" charset="0"/>
                <a:ea typeface="Arial" pitchFamily="34" charset="-122"/>
                <a:cs typeface="Arial" pitchFamily="34" charset="-120"/>
              </a:rPr>
              <a:t>show login failures </a:t>
            </a:r>
            <a:r>
              <a:rPr lang="en-US" sz="1400" dirty="0">
                <a:solidFill>
                  <a:srgbClr val="000000"/>
                </a:solidFill>
                <a:latin typeface="Arial" pitchFamily="34" charset="0"/>
                <a:ea typeface="Arial" pitchFamily="34" charset="-122"/>
                <a:cs typeface="Arial" pitchFamily="34" charset="-120"/>
              </a:rPr>
              <a:t>command displays additional information regarding the failed attempts, such as the IP address from which the failed login attempts originated.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pic>
        <p:nvPicPr>
          <p:cNvPr id="10" name="Picture 9">
            <a:extLst>
              <a:ext uri="{FF2B5EF4-FFF2-40B4-BE49-F238E27FC236}">
                <a16:creationId xmlns:a16="http://schemas.microsoft.com/office/drawing/2014/main" id="{84AEFB47-F6A5-4E8B-BD2A-8027079B6AD2}"/>
              </a:ext>
            </a:extLst>
          </p:cNvPr>
          <p:cNvPicPr>
            <a:picLocks noChangeAspect="1"/>
          </p:cNvPicPr>
          <p:nvPr/>
        </p:nvPicPr>
        <p:blipFill>
          <a:blip r:embed="rId3"/>
          <a:stretch>
            <a:fillRect/>
          </a:stretch>
        </p:blipFill>
        <p:spPr>
          <a:xfrm>
            <a:off x="1727054" y="2205533"/>
            <a:ext cx="5689892" cy="2101958"/>
          </a:xfrm>
          <a:prstGeom prst="rect">
            <a:avLst/>
          </a:prstGeom>
        </p:spPr>
      </p:pic>
    </p:spTree>
    <p:extLst>
      <p:ext uri="{BB962C8B-B14F-4D97-AF65-F5344CB8AC3E}">
        <p14:creationId xmlns:p14="http://schemas.microsoft.com/office/powerpoint/2010/main" val="4030763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4.4 Configure SSH</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Enable SSH</a:t>
            </a:r>
          </a:p>
        </p:txBody>
      </p:sp>
      <p:sp>
        <p:nvSpPr>
          <p:cNvPr id="5" name="Object4"/>
          <p:cNvSpPr/>
          <p:nvPr/>
        </p:nvSpPr>
        <p:spPr>
          <a:xfrm>
            <a:off x="0" y="914400"/>
            <a:ext cx="33337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Configure a Cisco device to support SSH using the following six steps: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b="1" dirty="0">
                <a:solidFill>
                  <a:srgbClr val="000000"/>
                </a:solidFill>
                <a:latin typeface="Arial" pitchFamily="34" charset="0"/>
                <a:ea typeface="Arial" pitchFamily="34" charset="-122"/>
                <a:cs typeface="Arial" pitchFamily="34" charset="-120"/>
              </a:rPr>
              <a:t>Step 1</a:t>
            </a:r>
            <a:r>
              <a:rPr lang="en-US" sz="1400" dirty="0">
                <a:solidFill>
                  <a:srgbClr val="000000"/>
                </a:solidFill>
                <a:latin typeface="Arial" pitchFamily="34" charset="0"/>
                <a:ea typeface="Arial" pitchFamily="34" charset="-122"/>
                <a:cs typeface="Arial" pitchFamily="34" charset="-120"/>
              </a:rPr>
              <a:t>. Configure a unique device hostname. </a:t>
            </a:r>
          </a:p>
          <a:p>
            <a:pPr>
              <a:lnSpc>
                <a:spcPts val="2000"/>
              </a:lnSpc>
            </a:pPr>
            <a:r>
              <a:rPr lang="en-US" sz="1400" b="1" dirty="0">
                <a:solidFill>
                  <a:srgbClr val="000000"/>
                </a:solidFill>
                <a:latin typeface="Arial" pitchFamily="34" charset="0"/>
                <a:ea typeface="Arial" pitchFamily="34" charset="-122"/>
                <a:cs typeface="Arial" pitchFamily="34" charset="-120"/>
              </a:rPr>
              <a:t>Step 2</a:t>
            </a:r>
            <a:r>
              <a:rPr lang="en-US" sz="1400" dirty="0">
                <a:solidFill>
                  <a:srgbClr val="000000"/>
                </a:solidFill>
                <a:latin typeface="Arial" pitchFamily="34" charset="0"/>
                <a:ea typeface="Arial" pitchFamily="34" charset="-122"/>
                <a:cs typeface="Arial" pitchFamily="34" charset="-120"/>
              </a:rPr>
              <a:t>. Configure the IP domain name. </a:t>
            </a:r>
          </a:p>
          <a:p>
            <a:pPr>
              <a:lnSpc>
                <a:spcPts val="2000"/>
              </a:lnSpc>
            </a:pPr>
            <a:r>
              <a:rPr lang="en-US" sz="1400" b="1" dirty="0">
                <a:solidFill>
                  <a:srgbClr val="000000"/>
                </a:solidFill>
                <a:latin typeface="Arial" pitchFamily="34" charset="0"/>
                <a:ea typeface="Arial" pitchFamily="34" charset="-122"/>
                <a:cs typeface="Arial" pitchFamily="34" charset="-120"/>
              </a:rPr>
              <a:t>Step 3</a:t>
            </a:r>
            <a:r>
              <a:rPr lang="en-US" sz="1400" dirty="0">
                <a:solidFill>
                  <a:srgbClr val="000000"/>
                </a:solidFill>
                <a:latin typeface="Arial" pitchFamily="34" charset="0"/>
                <a:ea typeface="Arial" pitchFamily="34" charset="-122"/>
                <a:cs typeface="Arial" pitchFamily="34" charset="-120"/>
              </a:rPr>
              <a:t>. Generate a key to encrypt SSH traffic. </a:t>
            </a:r>
          </a:p>
          <a:p>
            <a:pPr>
              <a:lnSpc>
                <a:spcPts val="2000"/>
              </a:lnSpc>
            </a:pPr>
            <a:r>
              <a:rPr lang="en-US" sz="1400" b="1" dirty="0">
                <a:solidFill>
                  <a:srgbClr val="000000"/>
                </a:solidFill>
                <a:latin typeface="Arial" pitchFamily="34" charset="0"/>
                <a:ea typeface="Arial" pitchFamily="34" charset="-122"/>
                <a:cs typeface="Arial" pitchFamily="34" charset="-120"/>
              </a:rPr>
              <a:t>Step 4</a:t>
            </a:r>
            <a:r>
              <a:rPr lang="en-US" sz="1400" dirty="0">
                <a:solidFill>
                  <a:srgbClr val="000000"/>
                </a:solidFill>
                <a:latin typeface="Arial" pitchFamily="34" charset="0"/>
                <a:ea typeface="Arial" pitchFamily="34" charset="-122"/>
                <a:cs typeface="Arial" pitchFamily="34" charset="-120"/>
              </a:rPr>
              <a:t>. Verify or create a local database entry. </a:t>
            </a:r>
          </a:p>
          <a:p>
            <a:pPr>
              <a:lnSpc>
                <a:spcPts val="2000"/>
              </a:lnSpc>
            </a:pPr>
            <a:r>
              <a:rPr lang="en-US" sz="1400" b="1" dirty="0">
                <a:solidFill>
                  <a:srgbClr val="000000"/>
                </a:solidFill>
                <a:latin typeface="Arial" pitchFamily="34" charset="0"/>
                <a:ea typeface="Arial" pitchFamily="34" charset="-122"/>
                <a:cs typeface="Arial" pitchFamily="34" charset="-120"/>
              </a:rPr>
              <a:t>Step 5</a:t>
            </a:r>
            <a:r>
              <a:rPr lang="en-US" sz="1400" dirty="0">
                <a:solidFill>
                  <a:srgbClr val="000000"/>
                </a:solidFill>
                <a:latin typeface="Arial" pitchFamily="34" charset="0"/>
                <a:ea typeface="Arial" pitchFamily="34" charset="-122"/>
                <a:cs typeface="Arial" pitchFamily="34" charset="-120"/>
              </a:rPr>
              <a:t>. Authenticate against the local database. </a:t>
            </a:r>
          </a:p>
          <a:p>
            <a:pPr>
              <a:lnSpc>
                <a:spcPts val="2000"/>
              </a:lnSpc>
            </a:pPr>
            <a:r>
              <a:rPr lang="en-US" sz="1400" b="1" dirty="0">
                <a:solidFill>
                  <a:srgbClr val="000000"/>
                </a:solidFill>
                <a:latin typeface="Arial" pitchFamily="34" charset="0"/>
                <a:ea typeface="Arial" pitchFamily="34" charset="-122"/>
                <a:cs typeface="Arial" pitchFamily="34" charset="-120"/>
              </a:rPr>
              <a:t>Step 6</a:t>
            </a:r>
            <a:r>
              <a:rPr lang="en-US" sz="1400" dirty="0">
                <a:solidFill>
                  <a:srgbClr val="000000"/>
                </a:solidFill>
                <a:latin typeface="Arial" pitchFamily="34" charset="0"/>
                <a:ea typeface="Arial" pitchFamily="34" charset="-122"/>
                <a:cs typeface="Arial" pitchFamily="34" charset="-120"/>
              </a:rPr>
              <a:t>. Enable vty inbound SSH sessions. </a:t>
            </a:r>
            <a:endParaRPr lang="en-US" sz="1400" dirty="0"/>
          </a:p>
        </p:txBody>
      </p:sp>
      <p:pic>
        <p:nvPicPr>
          <p:cNvPr id="4" name="Picture 3">
            <a:extLst>
              <a:ext uri="{FF2B5EF4-FFF2-40B4-BE49-F238E27FC236}">
                <a16:creationId xmlns:a16="http://schemas.microsoft.com/office/drawing/2014/main" id="{AEA34855-CC3E-45DD-AB62-32EA060787C3}"/>
              </a:ext>
            </a:extLst>
          </p:cNvPr>
          <p:cNvPicPr>
            <a:picLocks noChangeAspect="1"/>
          </p:cNvPicPr>
          <p:nvPr/>
        </p:nvPicPr>
        <p:blipFill>
          <a:blip r:embed="rId3"/>
          <a:stretch>
            <a:fillRect/>
          </a:stretch>
        </p:blipFill>
        <p:spPr>
          <a:xfrm>
            <a:off x="3414881" y="1141002"/>
            <a:ext cx="5613127" cy="24118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2494062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Enhance SSH Login Security</a:t>
            </a:r>
          </a:p>
        </p:txBody>
      </p:sp>
      <p:sp>
        <p:nvSpPr>
          <p:cNvPr id="5" name="Object4"/>
          <p:cNvSpPr/>
          <p:nvPr/>
        </p:nvSpPr>
        <p:spPr>
          <a:xfrm>
            <a:off x="180975" y="838200"/>
            <a:ext cx="3505200" cy="13525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verify the optional SSH command settings, use the </a:t>
            </a:r>
            <a:r>
              <a:rPr lang="en-US" sz="1400" b="1" dirty="0">
                <a:solidFill>
                  <a:srgbClr val="000000"/>
                </a:solidFill>
                <a:latin typeface="Arial" pitchFamily="34" charset="0"/>
                <a:ea typeface="Arial" pitchFamily="34" charset="-122"/>
                <a:cs typeface="Arial" pitchFamily="34" charset="-120"/>
              </a:rPr>
              <a:t>show ip ssh</a:t>
            </a:r>
            <a:r>
              <a:rPr lang="en-US" sz="1400" dirty="0">
                <a:solidFill>
                  <a:srgbClr val="000000"/>
                </a:solidFill>
                <a:latin typeface="Arial" pitchFamily="34" charset="0"/>
                <a:ea typeface="Arial" pitchFamily="34" charset="-122"/>
                <a:cs typeface="Arial" pitchFamily="34" charset="-120"/>
              </a:rPr>
              <a:t> command. Use the </a:t>
            </a:r>
            <a:r>
              <a:rPr lang="en-US" sz="1400" b="1" dirty="0">
                <a:solidFill>
                  <a:srgbClr val="000000"/>
                </a:solidFill>
                <a:latin typeface="Arial" pitchFamily="34" charset="0"/>
                <a:ea typeface="Arial" pitchFamily="34" charset="-122"/>
                <a:cs typeface="Arial" pitchFamily="34" charset="-120"/>
              </a:rPr>
              <a:t>ip ssh time-out </a:t>
            </a:r>
            <a:r>
              <a:rPr lang="en-US" sz="1400" i="1" dirty="0">
                <a:solidFill>
                  <a:srgbClr val="000000"/>
                </a:solidFill>
                <a:latin typeface="Arial" pitchFamily="34" charset="0"/>
                <a:ea typeface="Arial" pitchFamily="34" charset="-122"/>
                <a:cs typeface="Arial" pitchFamily="34" charset="-120"/>
              </a:rPr>
              <a:t>seconds</a:t>
            </a:r>
            <a:r>
              <a:rPr lang="en-US" sz="1400" dirty="0">
                <a:solidFill>
                  <a:srgbClr val="000000"/>
                </a:solidFill>
                <a:latin typeface="Arial" pitchFamily="34" charset="0"/>
                <a:ea typeface="Arial" pitchFamily="34" charset="-122"/>
                <a:cs typeface="Arial" pitchFamily="34" charset="-120"/>
              </a:rPr>
              <a:t> global configuration mode command to modify the default 120-second timeout interval. This configures the number of seconds that SSH can use to authenticate a user. By default, a user logging in has three attempts to enter the correct password before being disconnected. To configure a different number of consecutive SSH retries, use the </a:t>
            </a:r>
            <a:r>
              <a:rPr lang="en-US" sz="1400" b="1" dirty="0">
                <a:solidFill>
                  <a:srgbClr val="000000"/>
                </a:solidFill>
                <a:latin typeface="Arial" pitchFamily="34" charset="0"/>
                <a:ea typeface="Arial" pitchFamily="34" charset="-122"/>
                <a:cs typeface="Arial" pitchFamily="34" charset="-120"/>
              </a:rPr>
              <a:t>ip ssh authentication-retries </a:t>
            </a:r>
            <a:r>
              <a:rPr lang="en-US" sz="1400" i="1" dirty="0">
                <a:solidFill>
                  <a:srgbClr val="000000"/>
                </a:solidFill>
                <a:latin typeface="Arial" pitchFamily="34" charset="0"/>
                <a:ea typeface="Arial" pitchFamily="34" charset="-122"/>
                <a:cs typeface="Arial" pitchFamily="34" charset="-120"/>
              </a:rPr>
              <a:t>integer</a:t>
            </a:r>
            <a:r>
              <a:rPr lang="en-US" sz="1400" dirty="0">
                <a:solidFill>
                  <a:srgbClr val="000000"/>
                </a:solidFill>
                <a:latin typeface="Arial" pitchFamily="34" charset="0"/>
                <a:ea typeface="Arial" pitchFamily="34" charset="-122"/>
                <a:cs typeface="Arial" pitchFamily="34" charset="-120"/>
              </a:rPr>
              <a:t> global configuration mode command.</a:t>
            </a:r>
            <a:endParaRPr lang="en-US" sz="1400" dirty="0"/>
          </a:p>
        </p:txBody>
      </p:sp>
      <p:pic>
        <p:nvPicPr>
          <p:cNvPr id="4" name="Picture 3">
            <a:extLst>
              <a:ext uri="{FF2B5EF4-FFF2-40B4-BE49-F238E27FC236}">
                <a16:creationId xmlns:a16="http://schemas.microsoft.com/office/drawing/2014/main" id="{3FD1BF8B-8B0C-4EFC-983E-2AC54E89270D}"/>
              </a:ext>
            </a:extLst>
          </p:cNvPr>
          <p:cNvPicPr>
            <a:picLocks noChangeAspect="1"/>
          </p:cNvPicPr>
          <p:nvPr/>
        </p:nvPicPr>
        <p:blipFill>
          <a:blip r:embed="rId3"/>
          <a:stretch>
            <a:fillRect/>
          </a:stretch>
        </p:blipFill>
        <p:spPr>
          <a:xfrm>
            <a:off x="4068680" y="1087635"/>
            <a:ext cx="4618120" cy="275867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Connect a Router to an SSH-Enabled Router</a:t>
            </a:r>
          </a:p>
        </p:txBody>
      </p:sp>
      <p:sp>
        <p:nvSpPr>
          <p:cNvPr id="5" name="Object4"/>
          <p:cNvSpPr/>
          <p:nvPr/>
        </p:nvSpPr>
        <p:spPr>
          <a:xfrm>
            <a:off x="104775" y="769620"/>
            <a:ext cx="2590801" cy="111633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verify the status of the client connections, use the </a:t>
            </a:r>
            <a:r>
              <a:rPr lang="en-US" sz="1400" b="1" dirty="0">
                <a:solidFill>
                  <a:srgbClr val="000000"/>
                </a:solidFill>
                <a:latin typeface="Arial" pitchFamily="34" charset="0"/>
                <a:ea typeface="Arial" pitchFamily="34" charset="-122"/>
                <a:cs typeface="Arial" pitchFamily="34" charset="-120"/>
              </a:rPr>
              <a:t>show ssh </a:t>
            </a:r>
            <a:r>
              <a:rPr lang="en-US" sz="1400" dirty="0">
                <a:solidFill>
                  <a:srgbClr val="000000"/>
                </a:solidFill>
                <a:latin typeface="Arial" pitchFamily="34" charset="0"/>
                <a:ea typeface="Arial" pitchFamily="34" charset="-122"/>
                <a:cs typeface="Arial" pitchFamily="34" charset="-120"/>
              </a:rPr>
              <a:t>command. There are two different ways to connect to an SSH-enabled router. By default, when SSH is enabled, a Cisco router can act as an SSH server or SSH client. As a server, a router can accept SSH client connections. As a client, a router can connect via SSH to another SSH-enabled router.</a:t>
            </a:r>
            <a:endParaRPr lang="en-US" sz="1400" dirty="0"/>
          </a:p>
        </p:txBody>
      </p:sp>
      <p:sp>
        <p:nvSpPr>
          <p:cNvPr id="6" name="TextBox 5">
            <a:extLst>
              <a:ext uri="{FF2B5EF4-FFF2-40B4-BE49-F238E27FC236}">
                <a16:creationId xmlns:a16="http://schemas.microsoft.com/office/drawing/2014/main" id="{28EAA54E-24A7-4D65-BD75-707721636705}"/>
              </a:ext>
            </a:extLst>
          </p:cNvPr>
          <p:cNvSpPr txBox="1"/>
          <p:nvPr/>
        </p:nvSpPr>
        <p:spPr>
          <a:xfrm>
            <a:off x="2911579" y="817827"/>
            <a:ext cx="167065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Check SSH Status</a:t>
            </a:r>
          </a:p>
        </p:txBody>
      </p:sp>
      <p:pic>
        <p:nvPicPr>
          <p:cNvPr id="7" name="Picture 6">
            <a:extLst>
              <a:ext uri="{FF2B5EF4-FFF2-40B4-BE49-F238E27FC236}">
                <a16:creationId xmlns:a16="http://schemas.microsoft.com/office/drawing/2014/main" id="{B71897FB-B539-4946-B526-37A1960D8FDE}"/>
              </a:ext>
            </a:extLst>
          </p:cNvPr>
          <p:cNvPicPr>
            <a:picLocks noChangeAspect="1"/>
          </p:cNvPicPr>
          <p:nvPr/>
        </p:nvPicPr>
        <p:blipFill>
          <a:blip r:embed="rId3"/>
          <a:stretch>
            <a:fillRect/>
          </a:stretch>
        </p:blipFill>
        <p:spPr>
          <a:xfrm>
            <a:off x="5438775" y="807663"/>
            <a:ext cx="3173835" cy="858333"/>
          </a:xfrm>
          <a:prstGeom prst="rect">
            <a:avLst/>
          </a:prstGeom>
        </p:spPr>
      </p:pic>
      <p:sp>
        <p:nvSpPr>
          <p:cNvPr id="9" name="TextBox 8">
            <a:extLst>
              <a:ext uri="{FF2B5EF4-FFF2-40B4-BE49-F238E27FC236}">
                <a16:creationId xmlns:a16="http://schemas.microsoft.com/office/drawing/2014/main" id="{5D0C2EAD-01E6-4826-988B-7145EBCB05DA}"/>
              </a:ext>
            </a:extLst>
          </p:cNvPr>
          <p:cNvSpPr txBox="1"/>
          <p:nvPr/>
        </p:nvSpPr>
        <p:spPr>
          <a:xfrm>
            <a:off x="2911579" y="1886116"/>
            <a:ext cx="1587294"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Connect from R2 </a:t>
            </a:r>
          </a:p>
          <a:p>
            <a:r>
              <a:rPr lang="en-US" sz="1400" dirty="0">
                <a:latin typeface="Arial" panose="020B0604020202020204" pitchFamily="34" charset="0"/>
                <a:cs typeface="Arial" panose="020B0604020202020204" pitchFamily="34" charset="0"/>
              </a:rPr>
              <a:t>To R1</a:t>
            </a:r>
          </a:p>
        </p:txBody>
      </p:sp>
      <p:pic>
        <p:nvPicPr>
          <p:cNvPr id="8" name="Picture 7">
            <a:extLst>
              <a:ext uri="{FF2B5EF4-FFF2-40B4-BE49-F238E27FC236}">
                <a16:creationId xmlns:a16="http://schemas.microsoft.com/office/drawing/2014/main" id="{93FB2C69-9E03-4443-909D-6F29A12E3587}"/>
              </a:ext>
            </a:extLst>
          </p:cNvPr>
          <p:cNvPicPr>
            <a:picLocks noChangeAspect="1"/>
          </p:cNvPicPr>
          <p:nvPr/>
        </p:nvPicPr>
        <p:blipFill>
          <a:blip r:embed="rId4"/>
          <a:stretch>
            <a:fillRect/>
          </a:stretch>
        </p:blipFill>
        <p:spPr>
          <a:xfrm>
            <a:off x="5438775" y="1893320"/>
            <a:ext cx="2628900" cy="1001486"/>
          </a:xfrm>
          <a:prstGeom prst="rect">
            <a:avLst/>
          </a:prstGeom>
        </p:spPr>
      </p:pic>
      <p:sp>
        <p:nvSpPr>
          <p:cNvPr id="11" name="TextBox 10">
            <a:extLst>
              <a:ext uri="{FF2B5EF4-FFF2-40B4-BE49-F238E27FC236}">
                <a16:creationId xmlns:a16="http://schemas.microsoft.com/office/drawing/2014/main" id="{3F90CEE4-5DF0-4946-B1DC-B4931778BF48}"/>
              </a:ext>
            </a:extLst>
          </p:cNvPr>
          <p:cNvSpPr txBox="1"/>
          <p:nvPr/>
        </p:nvSpPr>
        <p:spPr>
          <a:xfrm>
            <a:off x="2911579" y="3133484"/>
            <a:ext cx="203607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View SSH Connections</a:t>
            </a:r>
          </a:p>
        </p:txBody>
      </p:sp>
      <p:pic>
        <p:nvPicPr>
          <p:cNvPr id="10" name="Picture 9">
            <a:extLst>
              <a:ext uri="{FF2B5EF4-FFF2-40B4-BE49-F238E27FC236}">
                <a16:creationId xmlns:a16="http://schemas.microsoft.com/office/drawing/2014/main" id="{1A55BE3F-E4E3-4E06-BB2D-545E76314B0D}"/>
              </a:ext>
            </a:extLst>
          </p:cNvPr>
          <p:cNvPicPr>
            <a:picLocks noChangeAspect="1"/>
          </p:cNvPicPr>
          <p:nvPr/>
        </p:nvPicPr>
        <p:blipFill>
          <a:blip r:embed="rId5"/>
          <a:stretch>
            <a:fillRect/>
          </a:stretch>
        </p:blipFill>
        <p:spPr>
          <a:xfrm>
            <a:off x="4226996" y="3490880"/>
            <a:ext cx="4595258" cy="9221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SSH</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Connect a Host to an SSH-Enabled Router</a:t>
            </a:r>
          </a:p>
        </p:txBody>
      </p:sp>
      <p:sp>
        <p:nvSpPr>
          <p:cNvPr id="5" name="Object4"/>
          <p:cNvSpPr/>
          <p:nvPr/>
        </p:nvSpPr>
        <p:spPr>
          <a:xfrm>
            <a:off x="251600" y="914400"/>
            <a:ext cx="376237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Connect using an SSH client (e.g., PuTTY, OpenSSH, TeraTerm) running on a host.</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Generally, the SSH client initiates an SSH connection to the router. The router SSH service prompts for the correct username and password combination. After the login is verified, the router can be managed as if the administrator was using a standard Telnet session.</a:t>
            </a:r>
          </a:p>
          <a:p>
            <a:pPr>
              <a:lnSpc>
                <a:spcPts val="2000"/>
              </a:lnSpc>
            </a:pPr>
            <a:endParaRPr lang="en-US" sz="1600" dirty="0">
              <a:solidFill>
                <a:srgbClr val="000000"/>
              </a:solidFill>
              <a:latin typeface="Arial" pitchFamily="34" charset="0"/>
              <a:cs typeface="Arial" pitchFamily="34" charset="-120"/>
            </a:endParaRPr>
          </a:p>
          <a:p>
            <a:pPr>
              <a:lnSpc>
                <a:spcPts val="2000"/>
              </a:lnSpc>
            </a:pPr>
            <a:r>
              <a:rPr lang="en-US" sz="1600" b="1" dirty="0" err="1">
                <a:solidFill>
                  <a:srgbClr val="000000"/>
                </a:solidFill>
                <a:latin typeface="Arial" pitchFamily="34" charset="0"/>
                <a:cs typeface="Arial" pitchFamily="34" charset="-120"/>
              </a:rPr>
              <a:t>Existuje</a:t>
            </a:r>
            <a:r>
              <a:rPr lang="en-US" sz="1600" b="1" dirty="0">
                <a:solidFill>
                  <a:srgbClr val="000000"/>
                </a:solidFill>
                <a:latin typeface="Arial" pitchFamily="34" charset="0"/>
                <a:cs typeface="Arial" pitchFamily="34" charset="-120"/>
              </a:rPr>
              <a:t> </a:t>
            </a:r>
            <a:r>
              <a:rPr lang="en-US" sz="1600" b="1" dirty="0" err="1">
                <a:solidFill>
                  <a:srgbClr val="000000"/>
                </a:solidFill>
                <a:latin typeface="Arial" pitchFamily="34" charset="0"/>
                <a:cs typeface="Arial" pitchFamily="34" charset="-120"/>
              </a:rPr>
              <a:t>aj</a:t>
            </a:r>
            <a:r>
              <a:rPr lang="en-US" sz="1600" b="1" dirty="0">
                <a:solidFill>
                  <a:srgbClr val="000000"/>
                </a:solidFill>
                <a:latin typeface="Arial" pitchFamily="34" charset="0"/>
                <a:cs typeface="Arial" pitchFamily="34" charset="-120"/>
              </a:rPr>
              <a:t> </a:t>
            </a:r>
            <a:r>
              <a:rPr lang="en-US" sz="1600" b="1" dirty="0" err="1">
                <a:solidFill>
                  <a:srgbClr val="000000"/>
                </a:solidFill>
                <a:latin typeface="Arial" pitchFamily="34" charset="0"/>
                <a:cs typeface="Arial" pitchFamily="34" charset="-120"/>
              </a:rPr>
              <a:t>scp</a:t>
            </a:r>
            <a:r>
              <a:rPr lang="en-US" sz="1600" b="1" dirty="0">
                <a:solidFill>
                  <a:srgbClr val="000000"/>
                </a:solidFill>
                <a:latin typeface="Arial" pitchFamily="34" charset="0"/>
                <a:cs typeface="Arial" pitchFamily="34" charset="-120"/>
              </a:rPr>
              <a:t> …</a:t>
            </a:r>
            <a:endParaRPr lang="en-US" sz="1600" b="1" dirty="0"/>
          </a:p>
        </p:txBody>
      </p:sp>
      <p:pic>
        <p:nvPicPr>
          <p:cNvPr id="4" name="Picture 3">
            <a:extLst>
              <a:ext uri="{FF2B5EF4-FFF2-40B4-BE49-F238E27FC236}">
                <a16:creationId xmlns:a16="http://schemas.microsoft.com/office/drawing/2014/main" id="{0B388CC5-C97B-4519-A209-D96DBC9EEEE0}"/>
              </a:ext>
            </a:extLst>
          </p:cNvPr>
          <p:cNvPicPr>
            <a:picLocks noChangeAspect="1"/>
          </p:cNvPicPr>
          <p:nvPr/>
        </p:nvPicPr>
        <p:blipFill>
          <a:blip r:embed="rId3"/>
          <a:stretch>
            <a:fillRect/>
          </a:stretch>
        </p:blipFill>
        <p:spPr>
          <a:xfrm>
            <a:off x="4572000" y="807720"/>
            <a:ext cx="4013975" cy="37261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5: Assigning Administrative Roles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626388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4099" name="Rectangle 34"/>
          <p:cNvSpPr>
            <a:spLocks noGrp="1" noChangeArrowheads="1"/>
          </p:cNvSpPr>
          <p:nvPr>
            <p:ph idx="1"/>
          </p:nvPr>
        </p:nvSpPr>
        <p:spPr>
          <a:xfrm>
            <a:off x="0" y="685775"/>
            <a:ext cx="9006840" cy="1128717"/>
          </a:xfrm>
        </p:spPr>
        <p:txBody>
          <a:bodyPr/>
          <a:lstStyle/>
          <a:p>
            <a:pPr marL="188912" lvl="1" indent="0">
              <a:buNone/>
            </a:pPr>
            <a:r>
              <a:rPr lang="en-US" b="1" dirty="0"/>
              <a:t>Module Title</a:t>
            </a:r>
            <a:r>
              <a:rPr lang="en-US" dirty="0"/>
              <a:t>: Assigning Administrative Roles</a:t>
            </a:r>
          </a:p>
          <a:p>
            <a:pPr marL="188912" lvl="1" indent="0">
              <a:buNone/>
            </a:pPr>
            <a:r>
              <a:rPr lang="en-US" b="1" dirty="0"/>
              <a:t>Module Objective</a:t>
            </a:r>
            <a:r>
              <a:rPr lang="en-US" dirty="0"/>
              <a:t>: Configure command authorization using privilege levels and role-based CLI. </a:t>
            </a:r>
          </a:p>
          <a:p>
            <a:pPr marL="327818" lvl="2" indent="0">
              <a:buNone/>
            </a:pPr>
            <a:endParaRPr lang="en-US" sz="1150" dirty="0"/>
          </a:p>
        </p:txBody>
      </p:sp>
      <p:graphicFrame>
        <p:nvGraphicFramePr>
          <p:cNvPr id="4" name="Table 3">
            <a:extLst>
              <a:ext uri="{FF2B5EF4-FFF2-40B4-BE49-F238E27FC236}">
                <a16:creationId xmlns:a16="http://schemas.microsoft.com/office/drawing/2014/main" id="{73C07AB0-6822-FB4C-9445-25B1C20C98B1}"/>
              </a:ext>
            </a:extLst>
          </p:cNvPr>
          <p:cNvGraphicFramePr>
            <a:graphicFrameLocks noGrp="1"/>
          </p:cNvGraphicFramePr>
          <p:nvPr>
            <p:extLst>
              <p:ext uri="{D42A27DB-BD31-4B8C-83A1-F6EECF244321}">
                <p14:modId xmlns:p14="http://schemas.microsoft.com/office/powerpoint/2010/main" val="1738851961"/>
              </p:ext>
            </p:extLst>
          </p:nvPr>
        </p:nvGraphicFramePr>
        <p:xfrm>
          <a:off x="228600" y="2301040"/>
          <a:ext cx="8284704" cy="2344627"/>
        </p:xfrm>
        <a:graphic>
          <a:graphicData uri="http://schemas.openxmlformats.org/drawingml/2006/table">
            <a:tbl>
              <a:tblPr firstRow="1" firstCol="1" bandRow="1">
                <a:tableStyleId>{5C22544A-7EE6-4342-B048-85BDC9FD1C3A}</a:tableStyleId>
              </a:tblPr>
              <a:tblGrid>
                <a:gridCol w="4142352">
                  <a:extLst>
                    <a:ext uri="{9D8B030D-6E8A-4147-A177-3AD203B41FA5}">
                      <a16:colId xmlns:a16="http://schemas.microsoft.com/office/drawing/2014/main" val="1523797708"/>
                    </a:ext>
                  </a:extLst>
                </a:gridCol>
                <a:gridCol w="4142352">
                  <a:extLst>
                    <a:ext uri="{9D8B030D-6E8A-4147-A177-3AD203B41FA5}">
                      <a16:colId xmlns:a16="http://schemas.microsoft.com/office/drawing/2014/main" val="2750207184"/>
                    </a:ext>
                  </a:extLst>
                </a:gridCol>
              </a:tblGrid>
              <a:tr h="390771">
                <a:tc>
                  <a:txBody>
                    <a:bodyPr/>
                    <a:lstStyle/>
                    <a:p>
                      <a:r>
                        <a:rPr lang="en-US" b="1" dirty="0">
                          <a:effectLst/>
                        </a:rPr>
                        <a:t>Topic Title</a:t>
                      </a:r>
                      <a:endParaRPr lang="en-US" dirty="0">
                        <a:effectLst/>
                      </a:endParaRPr>
                    </a:p>
                  </a:txBody>
                  <a:tcPr anchor="ctr"/>
                </a:tc>
                <a:tc>
                  <a:txBody>
                    <a:bodyPr/>
                    <a:lstStyle/>
                    <a:p>
                      <a:r>
                        <a:rPr lang="en-US" b="1" dirty="0"/>
                        <a:t>Topic Objective</a:t>
                      </a:r>
                      <a:endParaRPr lang="en-US" dirty="0"/>
                    </a:p>
                  </a:txBody>
                  <a:tcPr anchor="ctr"/>
                </a:tc>
                <a:extLst>
                  <a:ext uri="{0D108BD9-81ED-4DB2-BD59-A6C34878D82A}">
                    <a16:rowId xmlns:a16="http://schemas.microsoft.com/office/drawing/2014/main" val="1874061904"/>
                  </a:ext>
                </a:extLst>
              </a:tr>
              <a:tr h="976928">
                <a:tc>
                  <a:txBody>
                    <a:bodyPr/>
                    <a:lstStyle/>
                    <a:p>
                      <a:r>
                        <a:rPr lang="en-US" b="1" dirty="0"/>
                        <a:t>Configure Privilege Levels</a:t>
                      </a:r>
                      <a:endParaRPr lang="en-US" dirty="0"/>
                    </a:p>
                  </a:txBody>
                  <a:tcPr anchor="ctr"/>
                </a:tc>
                <a:tc>
                  <a:txBody>
                    <a:bodyPr/>
                    <a:lstStyle/>
                    <a:p>
                      <a:r>
                        <a:rPr lang="en-US" dirty="0"/>
                        <a:t>Use the correct commands to configure administrative privilege levels to control command availability.</a:t>
                      </a:r>
                    </a:p>
                  </a:txBody>
                  <a:tcPr anchor="ctr"/>
                </a:tc>
                <a:extLst>
                  <a:ext uri="{0D108BD9-81ED-4DB2-BD59-A6C34878D82A}">
                    <a16:rowId xmlns:a16="http://schemas.microsoft.com/office/drawing/2014/main" val="1646858405"/>
                  </a:ext>
                </a:extLst>
              </a:tr>
              <a:tr h="976928">
                <a:tc>
                  <a:txBody>
                    <a:bodyPr/>
                    <a:lstStyle/>
                    <a:p>
                      <a:r>
                        <a:rPr lang="en-US" b="1" dirty="0"/>
                        <a:t>Configure Role-Based CLI</a:t>
                      </a:r>
                      <a:endParaRPr lang="en-US" dirty="0"/>
                    </a:p>
                  </a:txBody>
                  <a:tcPr anchor="ctr"/>
                </a:tc>
                <a:tc>
                  <a:txBody>
                    <a:bodyPr/>
                    <a:lstStyle/>
                    <a:p>
                      <a:r>
                        <a:rPr lang="en-US" dirty="0"/>
                        <a:t>Use the correct commands to configure role-based CLI access to control command availability.</a:t>
                      </a:r>
                    </a:p>
                  </a:txBody>
                  <a:tcPr anchor="ctr"/>
                </a:tc>
                <a:extLst>
                  <a:ext uri="{0D108BD9-81ED-4DB2-BD59-A6C34878D82A}">
                    <a16:rowId xmlns:a16="http://schemas.microsoft.com/office/drawing/2014/main" val="3216917477"/>
                  </a:ext>
                </a:extLst>
              </a:tr>
            </a:tbl>
          </a:graphicData>
        </a:graphic>
      </p:graphicFrame>
    </p:spTree>
    <p:custDataLst>
      <p:tags r:id="rId1"/>
    </p:custDataLst>
    <p:extLst>
      <p:ext uri="{BB962C8B-B14F-4D97-AF65-F5344CB8AC3E}">
        <p14:creationId xmlns:p14="http://schemas.microsoft.com/office/powerpoint/2010/main" val="380391668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5.1 Configure Privilege Levels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spTree>
    <p:extLst>
      <p:ext uri="{BB962C8B-B14F-4D97-AF65-F5344CB8AC3E}">
        <p14:creationId xmlns:p14="http://schemas.microsoft.com/office/powerpoint/2010/main" val="1294642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noFill/>
          <a:ln/>
        </p:spPr>
        <p:txBody>
          <a:bodyPr wrap="square" rtlCol="0"/>
          <a:lstStyle/>
          <a:p>
            <a:r>
              <a:rPr lang="en-US" dirty="0"/>
              <a:t>Configure Privilege Levels</a:t>
            </a:r>
          </a:p>
        </p:txBody>
      </p:sp>
      <p:sp>
        <p:nvSpPr>
          <p:cNvPr id="3" name="Object2"/>
          <p:cNvSpPr>
            <a:spLocks noGrp="1"/>
          </p:cNvSpPr>
          <p:nvPr>
            <p:ph type="body" idx="100" hasCustomPrompt="1"/>
          </p:nvPr>
        </p:nvSpPr>
        <p:spPr>
          <a:xfrm>
            <a:off x="0" y="274320"/>
            <a:ext cx="9144000" cy="914400"/>
          </a:xfrm>
          <a:noFill/>
          <a:ln/>
        </p:spPr>
        <p:txBody>
          <a:bodyPr wrap="square" rtlCol="0"/>
          <a:lstStyle/>
          <a:p>
            <a:r>
              <a:rPr lang="en-US" dirty="0"/>
              <a:t>Limiting Command Availability</a:t>
            </a:r>
          </a:p>
        </p:txBody>
      </p:sp>
      <p:sp>
        <p:nvSpPr>
          <p:cNvPr id="7" name="TextBox 6">
            <a:extLst>
              <a:ext uri="{FF2B5EF4-FFF2-40B4-BE49-F238E27FC236}">
                <a16:creationId xmlns:a16="http://schemas.microsoft.com/office/drawing/2014/main" id="{01D0ECF1-60DC-4E8E-951B-F160ABC7A7F2}"/>
              </a:ext>
            </a:extLst>
          </p:cNvPr>
          <p:cNvSpPr txBox="1"/>
          <p:nvPr/>
        </p:nvSpPr>
        <p:spPr>
          <a:xfrm>
            <a:off x="91439" y="786748"/>
            <a:ext cx="8961120" cy="1815882"/>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Cisco IOS software can provide infrastructure access using privilege level or role-based CLI.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By default, the Cisco IOS software CLI has two levels of access to commands.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User EXEC mode (privilege level 1)</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Privileged EXEC mode (privilege level 15).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There are 16 privilege levels in total.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assign commands to a custom privilege level, use the </a:t>
            </a:r>
            <a:r>
              <a:rPr lang="en-US" sz="1600" b="1" dirty="0">
                <a:latin typeface="Arial" panose="020B0604020202020204" pitchFamily="34" charset="0"/>
                <a:cs typeface="Arial" panose="020B0604020202020204" pitchFamily="34" charset="0"/>
              </a:rPr>
              <a:t>privilege </a:t>
            </a:r>
            <a:r>
              <a:rPr lang="en-US" sz="1600" i="1" dirty="0">
                <a:latin typeface="Arial" panose="020B0604020202020204" pitchFamily="34" charset="0"/>
                <a:cs typeface="Arial" panose="020B0604020202020204" pitchFamily="34" charset="0"/>
              </a:rPr>
              <a:t>mode </a:t>
            </a:r>
            <a:r>
              <a:rPr lang="en-US" sz="1600" b="1" dirty="0">
                <a:latin typeface="Arial" panose="020B0604020202020204" pitchFamily="34" charset="0"/>
                <a:cs typeface="Arial" panose="020B0604020202020204" pitchFamily="34" charset="0"/>
              </a:rPr>
              <a:t>{level </a:t>
            </a:r>
            <a:r>
              <a:rPr lang="en-US" sz="1600" i="1" dirty="0">
                <a:latin typeface="Arial" panose="020B0604020202020204" pitchFamily="34" charset="0"/>
                <a:cs typeface="Arial" panose="020B0604020202020204" pitchFamily="34" charset="0"/>
              </a:rPr>
              <a:t>level </a:t>
            </a:r>
            <a:r>
              <a:rPr lang="en-US" sz="1600" b="1" dirty="0">
                <a:latin typeface="Arial" panose="020B0604020202020204" pitchFamily="34" charset="0"/>
                <a:cs typeface="Arial" panose="020B0604020202020204" pitchFamily="34" charset="0"/>
              </a:rPr>
              <a:t>| reset} </a:t>
            </a:r>
            <a:r>
              <a:rPr lang="en-US" sz="1600" i="1" dirty="0">
                <a:latin typeface="Arial" panose="020B0604020202020204" pitchFamily="34" charset="0"/>
                <a:cs typeface="Arial" panose="020B0604020202020204" pitchFamily="34" charset="0"/>
              </a:rPr>
              <a:t>command </a:t>
            </a:r>
            <a:r>
              <a:rPr lang="en-US" sz="1600" dirty="0">
                <a:latin typeface="Arial" panose="020B0604020202020204" pitchFamily="34" charset="0"/>
                <a:cs typeface="Arial" panose="020B0604020202020204" pitchFamily="34" charset="0"/>
              </a:rPr>
              <a:t>global configuration mode command.</a:t>
            </a:r>
          </a:p>
        </p:txBody>
      </p:sp>
      <p:graphicFrame>
        <p:nvGraphicFramePr>
          <p:cNvPr id="10" name="Table 9"/>
          <p:cNvGraphicFramePr>
            <a:graphicFrameLocks noGrp="1"/>
          </p:cNvGraphicFramePr>
          <p:nvPr>
            <p:extLst>
              <p:ext uri="{D42A27DB-BD31-4B8C-83A1-F6EECF244321}">
                <p14:modId xmlns:p14="http://schemas.microsoft.com/office/powerpoint/2010/main" val="2024249095"/>
              </p:ext>
            </p:extLst>
          </p:nvPr>
        </p:nvGraphicFramePr>
        <p:xfrm>
          <a:off x="182880" y="2540334"/>
          <a:ext cx="8961120" cy="2026920"/>
        </p:xfrm>
        <a:graphic>
          <a:graphicData uri="http://schemas.openxmlformats.org/drawingml/2006/table">
            <a:tbl>
              <a:tblPr/>
              <a:tblGrid>
                <a:gridCol w="2194561">
                  <a:extLst>
                    <a:ext uri="{9D8B030D-6E8A-4147-A177-3AD203B41FA5}">
                      <a16:colId xmlns:a16="http://schemas.microsoft.com/office/drawing/2014/main" val="20000"/>
                    </a:ext>
                  </a:extLst>
                </a:gridCol>
                <a:gridCol w="6766559">
                  <a:extLst>
                    <a:ext uri="{9D8B030D-6E8A-4147-A177-3AD203B41FA5}">
                      <a16:colId xmlns:a16="http://schemas.microsoft.com/office/drawing/2014/main" val="20001"/>
                    </a:ext>
                  </a:extLst>
                </a:gridCol>
              </a:tblGrid>
              <a:tr h="0">
                <a:tc>
                  <a:txBody>
                    <a:bodyPr/>
                    <a:lstStyle/>
                    <a:p>
                      <a:r>
                        <a:rPr lang="en-US" sz="1200" dirty="0">
                          <a:solidFill>
                            <a:srgbClr val="FFFFFF"/>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300" i="1" dirty="0">
                          <a:solidFill>
                            <a:srgbClr val="58585B"/>
                          </a:solidFill>
                        </a:rPr>
                        <a:t>mode</a:t>
                      </a:r>
                      <a:endParaRPr lang="en-US" sz="1300" i="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300" dirty="0">
                          <a:solidFill>
                            <a:srgbClr val="58585B"/>
                          </a:solidFill>
                        </a:rPr>
                        <a:t>Specifies the configuration mode. Use the </a:t>
                      </a:r>
                      <a:r>
                        <a:rPr lang="en-US" sz="1300" b="1" dirty="0">
                          <a:solidFill>
                            <a:srgbClr val="58585B"/>
                          </a:solidFill>
                        </a:rPr>
                        <a:t>privilege ?</a:t>
                      </a:r>
                      <a:r>
                        <a:rPr lang="en-US" sz="1300" dirty="0">
                          <a:solidFill>
                            <a:srgbClr val="58585B"/>
                          </a:solidFill>
                        </a:rPr>
                        <a:t> command to see a complete list of router configuration modes available on your router.</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300" b="1" dirty="0">
                          <a:solidFill>
                            <a:srgbClr val="58585B"/>
                          </a:solidFill>
                        </a:rPr>
                        <a:t>level</a:t>
                      </a:r>
                      <a:endParaRPr lang="en-US" sz="13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300" dirty="0">
                          <a:solidFill>
                            <a:srgbClr val="58585B"/>
                          </a:solidFill>
                        </a:rPr>
                        <a:t>(Optional) Enables setting a privilege level with a specified command.</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300" i="1" dirty="0">
                          <a:solidFill>
                            <a:srgbClr val="58585B"/>
                          </a:solidFill>
                        </a:rPr>
                        <a:t>level</a:t>
                      </a:r>
                      <a:endParaRPr lang="en-US" sz="1300" i="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300" dirty="0">
                          <a:solidFill>
                            <a:srgbClr val="58585B"/>
                          </a:solidFill>
                        </a:rPr>
                        <a:t>(Optional) The privilege level that is associated with a command. You can specify up to 16 privilege levels, using numbers 0 to 15.</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300" b="1" dirty="0">
                          <a:solidFill>
                            <a:srgbClr val="58585B"/>
                          </a:solidFill>
                        </a:rPr>
                        <a:t>reset</a:t>
                      </a:r>
                      <a:endParaRPr lang="en-US" sz="13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300" dirty="0">
                          <a:solidFill>
                            <a:srgbClr val="58585B"/>
                          </a:solidFill>
                        </a:rPr>
                        <a:t>(Optional) Resets the privilege level of a command.</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300" i="1" dirty="0">
                          <a:solidFill>
                            <a:srgbClr val="58585B"/>
                          </a:solidFill>
                        </a:rPr>
                        <a:t>command</a:t>
                      </a:r>
                      <a:endParaRPr lang="en-US" sz="1300" i="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300" dirty="0">
                          <a:solidFill>
                            <a:srgbClr val="58585B"/>
                          </a:solidFill>
                        </a:rPr>
                        <a:t>(Optional) Argument to use when you want to reset the privilege level.</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smtClean="0"/>
              <a:pPr/>
              <a:t>29</a:t>
            </a:fld>
            <a:endParaRPr lang="en-US" dirty="0"/>
          </a:p>
        </p:txBody>
      </p:sp>
    </p:spTree>
    <p:extLst>
      <p:ext uri="{BB962C8B-B14F-4D97-AF65-F5344CB8AC3E}">
        <p14:creationId xmlns:p14="http://schemas.microsoft.com/office/powerpoint/2010/main" val="2946984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Privilege Levels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Configuring and Assigning Privilege Levels</a:t>
            </a:r>
          </a:p>
        </p:txBody>
      </p:sp>
      <p:sp>
        <p:nvSpPr>
          <p:cNvPr id="5" name="Object4"/>
          <p:cNvSpPr/>
          <p:nvPr/>
        </p:nvSpPr>
        <p:spPr>
          <a:xfrm>
            <a:off x="0" y="914400"/>
            <a:ext cx="4486275" cy="3355848"/>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configure a privilege level with specific commands, use the </a:t>
            </a:r>
            <a:r>
              <a:rPr lang="en-US" sz="1600" b="1" dirty="0">
                <a:latin typeface="Arial" panose="020B0604020202020204" pitchFamily="34" charset="0"/>
                <a:cs typeface="Arial" panose="020B0604020202020204" pitchFamily="34" charset="0"/>
              </a:rPr>
              <a:t>privilege exec level</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level</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command</a:t>
            </a:r>
            <a:r>
              <a:rPr lang="en-US" sz="1600" dirty="0">
                <a:latin typeface="Arial" panose="020B0604020202020204" pitchFamily="34" charset="0"/>
                <a:cs typeface="Arial" panose="020B0604020202020204" pitchFamily="34" charset="0"/>
              </a:rPr>
              <a:t>] global configuration command. </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two methods for assigning passwords to the different privilege levels: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assign a privilege level to a specific user, use the </a:t>
            </a:r>
            <a:r>
              <a:rPr lang="en-US" sz="1600" b="1" dirty="0">
                <a:latin typeface="Arial" panose="020B0604020202020204" pitchFamily="34" charset="0"/>
                <a:cs typeface="Arial" panose="020B0604020202020204" pitchFamily="34" charset="0"/>
              </a:rPr>
              <a:t>username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privilege </a:t>
            </a:r>
            <a:r>
              <a:rPr lang="en-US" sz="1600" i="1" dirty="0">
                <a:latin typeface="Arial" panose="020B0604020202020204" pitchFamily="34" charset="0"/>
                <a:cs typeface="Arial" panose="020B0604020202020204" pitchFamily="34" charset="0"/>
              </a:rPr>
              <a:t>level</a:t>
            </a:r>
            <a:r>
              <a:rPr lang="en-US" sz="1600" b="1" dirty="0">
                <a:latin typeface="Arial" panose="020B0604020202020204" pitchFamily="34" charset="0"/>
                <a:cs typeface="Arial" panose="020B0604020202020204" pitchFamily="34" charset="0"/>
              </a:rPr>
              <a:t> secret</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password</a:t>
            </a:r>
            <a:r>
              <a:rPr lang="en-US" sz="1600" dirty="0">
                <a:latin typeface="Arial" panose="020B0604020202020204" pitchFamily="34" charset="0"/>
                <a:cs typeface="Arial" panose="020B0604020202020204" pitchFamily="34" charset="0"/>
              </a:rPr>
              <a:t> global configuration mode command.</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assign a privilege level to a specific EXEC mode, use the </a:t>
            </a:r>
            <a:r>
              <a:rPr lang="en-US" sz="1600" b="1" dirty="0">
                <a:latin typeface="Arial" panose="020B0604020202020204" pitchFamily="34" charset="0"/>
                <a:cs typeface="Arial" panose="020B0604020202020204" pitchFamily="34" charset="0"/>
              </a:rPr>
              <a:t>enable secret level</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level password</a:t>
            </a:r>
            <a:r>
              <a:rPr lang="en-US" sz="1600" dirty="0">
                <a:latin typeface="Arial" panose="020B0604020202020204" pitchFamily="34" charset="0"/>
                <a:cs typeface="Arial" panose="020B0604020202020204" pitchFamily="34" charset="0"/>
              </a:rPr>
              <a:t> global configuration mode command.</a:t>
            </a:r>
          </a:p>
        </p:txBody>
      </p:sp>
      <p:sp>
        <p:nvSpPr>
          <p:cNvPr id="6" name="Rectangle: Rounded Corners 5">
            <a:extLst>
              <a:ext uri="{FF2B5EF4-FFF2-40B4-BE49-F238E27FC236}">
                <a16:creationId xmlns:a16="http://schemas.microsoft.com/office/drawing/2014/main" id="{7CC41710-C829-4393-A8BF-5FF927573CB7}"/>
              </a:ext>
            </a:extLst>
          </p:cNvPr>
          <p:cNvSpPr/>
          <p:nvPr/>
        </p:nvSpPr>
        <p:spPr>
          <a:xfrm>
            <a:off x="4572000" y="1059084"/>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 </a:t>
            </a:r>
            <a:r>
              <a:rPr lang="en-US" sz="1400" b="1" dirty="0">
                <a:solidFill>
                  <a:schemeClr val="bg1"/>
                </a:solidFill>
                <a:latin typeface="Courier New" panose="02070309020205020404" pitchFamily="49" charset="0"/>
                <a:cs typeface="Courier New" panose="02070309020205020404" pitchFamily="49" charset="0"/>
              </a:rPr>
              <a:t>privilege </a:t>
            </a:r>
            <a:r>
              <a:rPr lang="en-US" sz="1400" i="1" dirty="0">
                <a:solidFill>
                  <a:schemeClr val="bg1"/>
                </a:solidFill>
                <a:latin typeface="Courier New" panose="02070309020205020404" pitchFamily="49" charset="0"/>
                <a:cs typeface="Courier New" panose="02070309020205020404" pitchFamily="49" charset="0"/>
              </a:rPr>
              <a:t>mode </a:t>
            </a:r>
            <a:r>
              <a:rPr lang="en-US" sz="1400" b="1" dirty="0">
                <a:solidFill>
                  <a:schemeClr val="bg1"/>
                </a:solidFill>
                <a:latin typeface="Courier New" panose="02070309020205020404" pitchFamily="49" charset="0"/>
                <a:cs typeface="Courier New" panose="02070309020205020404" pitchFamily="49" charset="0"/>
              </a:rPr>
              <a:t>{level </a:t>
            </a:r>
            <a:r>
              <a:rPr lang="en-US" sz="1400" i="1" dirty="0">
                <a:solidFill>
                  <a:schemeClr val="bg1"/>
                </a:solidFill>
                <a:latin typeface="Courier New" panose="02070309020205020404" pitchFamily="49" charset="0"/>
                <a:cs typeface="Courier New" panose="02070309020205020404" pitchFamily="49" charset="0"/>
              </a:rPr>
              <a:t>level </a:t>
            </a:r>
            <a:r>
              <a:rPr lang="en-US" sz="1400" b="1" dirty="0">
                <a:solidFill>
                  <a:schemeClr val="bg1"/>
                </a:solidFill>
                <a:latin typeface="Courier New" panose="02070309020205020404" pitchFamily="49" charset="0"/>
                <a:cs typeface="Courier New" panose="02070309020205020404" pitchFamily="49" charset="0"/>
              </a:rPr>
              <a:t>| reset} </a:t>
            </a:r>
            <a:r>
              <a:rPr lang="en-US" sz="1400" i="1" dirty="0">
                <a:solidFill>
                  <a:schemeClr val="bg1"/>
                </a:solidFill>
                <a:latin typeface="Courier New" panose="02070309020205020404" pitchFamily="49" charset="0"/>
                <a:cs typeface="Courier New" panose="02070309020205020404" pitchFamily="49" charset="0"/>
              </a:rPr>
              <a:t>command</a:t>
            </a:r>
            <a:endParaRPr lang="en-CA" i="1" dirty="0">
              <a:solidFill>
                <a:schemeClr val="bg1"/>
              </a:solidFill>
              <a:latin typeface="Courier New" panose="02070309020205020404" pitchFamily="49" charset="0"/>
              <a:cs typeface="Courier New" panose="02070309020205020404" pitchFamily="49" charset="0"/>
            </a:endParaRPr>
          </a:p>
        </p:txBody>
      </p:sp>
      <p:sp>
        <p:nvSpPr>
          <p:cNvPr id="7" name="Rectangle: Rounded Corners 6">
            <a:extLst>
              <a:ext uri="{FF2B5EF4-FFF2-40B4-BE49-F238E27FC236}">
                <a16:creationId xmlns:a16="http://schemas.microsoft.com/office/drawing/2014/main" id="{46C0B0CC-8B9A-4C63-8ACD-B732C8219AE6}"/>
              </a:ext>
            </a:extLst>
          </p:cNvPr>
          <p:cNvSpPr/>
          <p:nvPr/>
        </p:nvSpPr>
        <p:spPr>
          <a:xfrm>
            <a:off x="4572000" y="2686494"/>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 </a:t>
            </a:r>
            <a:r>
              <a:rPr lang="en-CA" sz="1400" b="1" dirty="0">
                <a:solidFill>
                  <a:schemeClr val="bg1"/>
                </a:solidFill>
                <a:latin typeface="Courier New" panose="02070309020205020404" pitchFamily="49" charset="0"/>
                <a:cs typeface="Courier New" panose="02070309020205020404" pitchFamily="49" charset="0"/>
              </a:rPr>
              <a:t>username </a:t>
            </a:r>
            <a:r>
              <a:rPr lang="en-CA" sz="1400" b="1" i="1" dirty="0">
                <a:solidFill>
                  <a:schemeClr val="bg1"/>
                </a:solidFill>
                <a:latin typeface="Courier New" panose="02070309020205020404" pitchFamily="49" charset="0"/>
                <a:cs typeface="Courier New" panose="02070309020205020404" pitchFamily="49" charset="0"/>
              </a:rPr>
              <a:t>name </a:t>
            </a:r>
            <a:r>
              <a:rPr lang="en-CA" sz="1400" b="1" dirty="0">
                <a:solidFill>
                  <a:schemeClr val="bg1"/>
                </a:solidFill>
                <a:latin typeface="Courier New" panose="02070309020205020404" pitchFamily="49" charset="0"/>
                <a:cs typeface="Courier New" panose="02070309020205020404" pitchFamily="49" charset="0"/>
              </a:rPr>
              <a:t>privilege </a:t>
            </a:r>
            <a:r>
              <a:rPr lang="en-CA" sz="1400" i="1" dirty="0">
                <a:solidFill>
                  <a:schemeClr val="bg1"/>
                </a:solidFill>
                <a:latin typeface="Courier New" panose="02070309020205020404" pitchFamily="49" charset="0"/>
                <a:cs typeface="Courier New" panose="02070309020205020404" pitchFamily="49" charset="0"/>
              </a:rPr>
              <a:t>level </a:t>
            </a:r>
            <a:r>
              <a:rPr lang="en-CA" sz="1400" b="1" dirty="0">
                <a:solidFill>
                  <a:schemeClr val="bg1"/>
                </a:solidFill>
                <a:latin typeface="Courier New" panose="02070309020205020404" pitchFamily="49" charset="0"/>
                <a:cs typeface="Courier New" panose="02070309020205020404" pitchFamily="49" charset="0"/>
              </a:rPr>
              <a:t>secret </a:t>
            </a:r>
            <a:r>
              <a:rPr lang="en-CA" sz="1400" i="1" dirty="0">
                <a:solidFill>
                  <a:schemeClr val="bg1"/>
                </a:solidFill>
                <a:latin typeface="Courier New" panose="02070309020205020404" pitchFamily="49" charset="0"/>
                <a:cs typeface="Courier New" panose="02070309020205020404" pitchFamily="49" charset="0"/>
              </a:rPr>
              <a:t>password </a:t>
            </a:r>
            <a:endParaRPr lang="en-CA" i="1" dirty="0">
              <a:solidFill>
                <a:schemeClr val="bg1"/>
              </a:solidFill>
              <a:latin typeface="Courier New" panose="02070309020205020404" pitchFamily="49" charset="0"/>
              <a:cs typeface="Courier New" panose="02070309020205020404" pitchFamily="49" charset="0"/>
            </a:endParaRPr>
          </a:p>
        </p:txBody>
      </p:sp>
      <p:sp>
        <p:nvSpPr>
          <p:cNvPr id="8" name="Rectangle: Rounded Corners 7">
            <a:extLst>
              <a:ext uri="{FF2B5EF4-FFF2-40B4-BE49-F238E27FC236}">
                <a16:creationId xmlns:a16="http://schemas.microsoft.com/office/drawing/2014/main" id="{D915EB67-1BE5-45D0-A25D-09B3D6AEB5A9}"/>
              </a:ext>
            </a:extLst>
          </p:cNvPr>
          <p:cNvSpPr/>
          <p:nvPr/>
        </p:nvSpPr>
        <p:spPr>
          <a:xfrm>
            <a:off x="4571999" y="3657822"/>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 </a:t>
            </a:r>
            <a:r>
              <a:rPr lang="en-CA" sz="1400" b="1" dirty="0">
                <a:solidFill>
                  <a:schemeClr val="bg1"/>
                </a:solidFill>
                <a:latin typeface="Courier New" panose="02070309020205020404" pitchFamily="49" charset="0"/>
                <a:cs typeface="Courier New" panose="02070309020205020404" pitchFamily="49" charset="0"/>
              </a:rPr>
              <a:t>enable secret level </a:t>
            </a:r>
            <a:r>
              <a:rPr lang="en-CA" sz="1400" i="1" dirty="0">
                <a:solidFill>
                  <a:schemeClr val="bg1"/>
                </a:solidFill>
                <a:latin typeface="Courier New" panose="02070309020205020404" pitchFamily="49" charset="0"/>
                <a:cs typeface="Courier New" panose="02070309020205020404" pitchFamily="49" charset="0"/>
              </a:rPr>
              <a:t>level password </a:t>
            </a:r>
            <a:endParaRPr lang="en-CA" i="1" dirty="0">
              <a:solidFill>
                <a:schemeClr val="bg1"/>
              </a:solidFill>
              <a:latin typeface="Courier New" panose="02070309020205020404" pitchFamily="49" charset="0"/>
              <a:cs typeface="Courier New" panose="02070309020205020404" pitchFamily="49"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
        <p:nvSpPr>
          <p:cNvPr id="4" name="BlokTextu 3">
            <a:extLst>
              <a:ext uri="{FF2B5EF4-FFF2-40B4-BE49-F238E27FC236}">
                <a16:creationId xmlns:a16="http://schemas.microsoft.com/office/drawing/2014/main" id="{B8D85983-021E-9945-31CF-BB11BCD646F3}"/>
              </a:ext>
            </a:extLst>
          </p:cNvPr>
          <p:cNvSpPr txBox="1"/>
          <p:nvPr/>
        </p:nvSpPr>
        <p:spPr>
          <a:xfrm>
            <a:off x="1448973" y="4540996"/>
            <a:ext cx="7315200" cy="369332"/>
          </a:xfrm>
          <a:prstGeom prst="rect">
            <a:avLst/>
          </a:prstGeom>
          <a:noFill/>
        </p:spPr>
        <p:txBody>
          <a:bodyPr wrap="square" rtlCol="0">
            <a:spAutoFit/>
          </a:bodyPr>
          <a:lstStyle/>
          <a:p>
            <a:r>
              <a:rPr lang="sk-SK" dirty="0">
                <a:effectLst/>
              </a:rPr>
              <a:t>Router(</a:t>
            </a:r>
            <a:r>
              <a:rPr lang="sk-SK" dirty="0" err="1">
                <a:effectLst/>
              </a:rPr>
              <a:t>config</a:t>
            </a:r>
            <a:r>
              <a:rPr lang="sk-SK" dirty="0">
                <a:effectLst/>
              </a:rPr>
              <a:t>)#</a:t>
            </a:r>
            <a:r>
              <a:rPr lang="sk-SK" dirty="0" err="1">
                <a:effectLst/>
              </a:rPr>
              <a:t>license</a:t>
            </a:r>
            <a:r>
              <a:rPr lang="sk-SK" dirty="0">
                <a:effectLst/>
              </a:rPr>
              <a:t> </a:t>
            </a:r>
            <a:r>
              <a:rPr lang="sk-SK" dirty="0" err="1">
                <a:effectLst/>
              </a:rPr>
              <a:t>boot</a:t>
            </a:r>
            <a:r>
              <a:rPr lang="sk-SK" dirty="0">
                <a:effectLst/>
              </a:rPr>
              <a:t> module c2900 </a:t>
            </a:r>
            <a:r>
              <a:rPr lang="sk-SK" dirty="0" err="1">
                <a:effectLst/>
              </a:rPr>
              <a:t>technology-package</a:t>
            </a:r>
            <a:r>
              <a:rPr lang="sk-SK" dirty="0">
                <a:effectLst/>
              </a:rPr>
              <a:t> securityk9 </a:t>
            </a:r>
          </a:p>
        </p:txBody>
      </p:sp>
    </p:spTree>
    <p:extLst>
      <p:ext uri="{BB962C8B-B14F-4D97-AF65-F5344CB8AC3E}">
        <p14:creationId xmlns:p14="http://schemas.microsoft.com/office/powerpoint/2010/main" val="530051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05FF7120-7054-660C-35EB-0F7EC1F5526D}"/>
              </a:ext>
            </a:extLst>
          </p:cNvPr>
          <p:cNvSpPr>
            <a:spLocks noGrp="1"/>
          </p:cNvSpPr>
          <p:nvPr>
            <p:ph idx="1"/>
          </p:nvPr>
        </p:nvSpPr>
        <p:spPr/>
        <p:txBody>
          <a:bodyPr/>
          <a:lstStyle/>
          <a:p>
            <a:endParaRPr lang="sk-SK"/>
          </a:p>
        </p:txBody>
      </p:sp>
      <p:sp>
        <p:nvSpPr>
          <p:cNvPr id="12" name="Title 11"/>
          <p:cNvSpPr>
            <a:spLocks noGrp="1"/>
          </p:cNvSpPr>
          <p:nvPr>
            <p:ph type="title"/>
          </p:nvPr>
        </p:nvSpPr>
        <p:spPr/>
        <p:txBody>
          <a:bodyPr/>
          <a:lstStyle/>
          <a:p>
            <a:pPr>
              <a:lnSpc>
                <a:spcPct val="100000"/>
              </a:lnSpc>
            </a:pPr>
            <a:r>
              <a:rPr lang="en-US" sz="2400" dirty="0"/>
              <a:t>Configuring and Assigning Privilege Levels</a:t>
            </a:r>
          </a:p>
        </p:txBody>
      </p:sp>
      <p:pic>
        <p:nvPicPr>
          <p:cNvPr id="174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80" r="80" b="14347"/>
          <a:stretch/>
        </p:blipFill>
        <p:spPr bwMode="auto">
          <a:xfrm>
            <a:off x="269246" y="1073150"/>
            <a:ext cx="8786062" cy="3073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859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Privilege Levels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Limitations of Privilege Levels</a:t>
            </a:r>
          </a:p>
        </p:txBody>
      </p:sp>
      <p:sp>
        <p:nvSpPr>
          <p:cNvPr id="5" name="Object4"/>
          <p:cNvSpPr/>
          <p:nvPr/>
        </p:nvSpPr>
        <p:spPr>
          <a:xfrm>
            <a:off x="-1" y="740664"/>
            <a:ext cx="8988553" cy="3995928"/>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The use of privilege levels has its limitations:</a:t>
            </a:r>
          </a:p>
          <a:p>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is no access control to specific interfaces, ports, logical interfaces, and slots on a router.</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Commands available at lower privilege levels are always executable at higher levels.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Commands specifically set at a higher privilege level are not available for lower privileged users.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Assigning a command with multiple keywords allows access to all commands that use those keywords. For example, allowing access to </a:t>
            </a:r>
            <a:r>
              <a:rPr lang="en-US" b="1" dirty="0">
                <a:latin typeface="Arial" panose="020B0604020202020204" pitchFamily="34" charset="0"/>
                <a:cs typeface="Arial" panose="020B0604020202020204" pitchFamily="34" charset="0"/>
              </a:rPr>
              <a:t>show ip route</a:t>
            </a:r>
            <a:r>
              <a:rPr lang="en-US" dirty="0">
                <a:latin typeface="Arial" panose="020B0604020202020204" pitchFamily="34" charset="0"/>
                <a:cs typeface="Arial" panose="020B0604020202020204" pitchFamily="34" charset="0"/>
              </a:rPr>
              <a:t> allows the user access to all </a:t>
            </a:r>
            <a:r>
              <a:rPr lang="en-US" b="1" dirty="0">
                <a:latin typeface="Arial" panose="020B0604020202020204" pitchFamily="34" charset="0"/>
                <a:cs typeface="Arial" panose="020B0604020202020204" pitchFamily="34" charset="0"/>
              </a:rPr>
              <a:t>show</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show ip</a:t>
            </a:r>
            <a:r>
              <a:rPr lang="en-US" dirty="0">
                <a:latin typeface="Arial" panose="020B0604020202020204" pitchFamily="34" charset="0"/>
                <a:cs typeface="Arial" panose="020B0604020202020204" pitchFamily="34" charset="0"/>
              </a:rPr>
              <a:t>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4156483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5.2 Configure Role-Based CLI</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2563845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Role-Based CLI Access</a:t>
            </a:r>
          </a:p>
        </p:txBody>
      </p:sp>
      <p:sp>
        <p:nvSpPr>
          <p:cNvPr id="5" name="Object4"/>
          <p:cNvSpPr/>
          <p:nvPr/>
        </p:nvSpPr>
        <p:spPr>
          <a:xfrm>
            <a:off x="0" y="914400"/>
            <a:ext cx="8942832"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The Cisco IOS Release 12.3(11)T feature provides finer, more granular access by controlling which commands are available to specific roles.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Role-based CLI access enables the network administrator to create different views of router configurations for different users.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Role-based CLI access enables the network administrator to create different views of router configurations for different users.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Each view defines the CLI commands that each user can access.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It addresses security, availability, and operational efficiency.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dirty="0"/>
          </a:p>
        </p:txBody>
      </p:sp>
    </p:spTree>
    <p:extLst>
      <p:ext uri="{BB962C8B-B14F-4D97-AF65-F5344CB8AC3E}">
        <p14:creationId xmlns:p14="http://schemas.microsoft.com/office/powerpoint/2010/main" val="506149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Role-Based Views</a:t>
            </a:r>
          </a:p>
        </p:txBody>
      </p:sp>
      <p:sp>
        <p:nvSpPr>
          <p:cNvPr id="5" name="Object4"/>
          <p:cNvSpPr/>
          <p:nvPr/>
        </p:nvSpPr>
        <p:spPr>
          <a:xfrm>
            <a:off x="100584" y="731520"/>
            <a:ext cx="9144000" cy="3767328"/>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Role-based CLI provides three types of views that dictate which commands are available: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Root View </a:t>
            </a:r>
            <a:r>
              <a:rPr lang="en-US" sz="1600" dirty="0">
                <a:latin typeface="Arial" panose="020B0604020202020204" pitchFamily="34" charset="0"/>
                <a:cs typeface="Arial" panose="020B0604020202020204" pitchFamily="34" charset="0"/>
              </a:rPr>
              <a:t>-To configure any view for the system, the administrator must be in root view.</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CLI View </a:t>
            </a:r>
            <a:r>
              <a:rPr lang="en-US" sz="1600" dirty="0">
                <a:latin typeface="Arial" panose="020B0604020202020204" pitchFamily="34" charset="0"/>
                <a:cs typeface="Arial" panose="020B0604020202020204" pitchFamily="34" charset="0"/>
              </a:rPr>
              <a:t>- A specific set of commands can be bundled into a CLI view.</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Superview</a:t>
            </a:r>
            <a:r>
              <a:rPr lang="en-US" sz="1600" dirty="0">
                <a:latin typeface="Arial" panose="020B0604020202020204" pitchFamily="34" charset="0"/>
                <a:cs typeface="Arial" panose="020B0604020202020204" pitchFamily="34" charset="0"/>
              </a:rPr>
              <a:t> - A superview consists of one or more CLI views.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Superviews have several specific characteristics: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single CLI view can be shared within multiple superviews.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Commands cannot be configured for a superview. An administrator must add commands to the CLI view and add that CLI view to the superview.</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Users who are logged into a superview can access all the commands that are configured for any of the CLI views that are part of the superview.</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Each superview has a password that is used to switch between superviews or from a CLI view to a superview.</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Deleting a superview does not delete the associated CLI views. The CLI views remain available to be assigned to another superview.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3705547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Role-Based Views</a:t>
            </a:r>
          </a:p>
        </p:txBody>
      </p:sp>
      <p:sp>
        <p:nvSpPr>
          <p:cNvPr id="8" name="TextBox 7">
            <a:extLst>
              <a:ext uri="{FF2B5EF4-FFF2-40B4-BE49-F238E27FC236}">
                <a16:creationId xmlns:a16="http://schemas.microsoft.com/office/drawing/2014/main" id="{04DD4949-38B9-41B1-B021-2CB0BDD3A69F}"/>
              </a:ext>
            </a:extLst>
          </p:cNvPr>
          <p:cNvSpPr txBox="1"/>
          <p:nvPr/>
        </p:nvSpPr>
        <p:spPr>
          <a:xfrm>
            <a:off x="-14287" y="932140"/>
            <a:ext cx="6540215" cy="369332"/>
          </a:xfrm>
          <a:prstGeom prst="rect">
            <a:avLst/>
          </a:prstGeom>
          <a:noFill/>
        </p:spPr>
        <p:txBody>
          <a:bodyPr wrap="square" rtlCol="0">
            <a:spAutoFit/>
          </a:bodyPr>
          <a:lstStyle/>
          <a:p>
            <a:r>
              <a:rPr lang="en-US" dirty="0">
                <a:effectLst/>
                <a:latin typeface="Arial" panose="020B0604020202020204" pitchFamily="34" charset="0"/>
                <a:cs typeface="Arial" panose="020B0604020202020204" pitchFamily="34" charset="0"/>
              </a:rPr>
              <a:t>There are five steps to create and manage a specific view.</a:t>
            </a:r>
          </a:p>
        </p:txBody>
      </p:sp>
      <p:sp>
        <p:nvSpPr>
          <p:cNvPr id="7" name="TextBox 6">
            <a:extLst>
              <a:ext uri="{FF2B5EF4-FFF2-40B4-BE49-F238E27FC236}">
                <a16:creationId xmlns:a16="http://schemas.microsoft.com/office/drawing/2014/main" id="{C6BC5D70-D0C8-4653-AD0E-39FE4499CF84}"/>
              </a:ext>
            </a:extLst>
          </p:cNvPr>
          <p:cNvSpPr txBox="1"/>
          <p:nvPr/>
        </p:nvSpPr>
        <p:spPr>
          <a:xfrm>
            <a:off x="-14287" y="1585912"/>
            <a:ext cx="4505325" cy="2585323"/>
          </a:xfrm>
          <a:prstGeom prst="rect">
            <a:avLst/>
          </a:prstGeom>
          <a:noFill/>
        </p:spPr>
        <p:txBody>
          <a:bodyPr wrap="square">
            <a:spAutoFit/>
          </a:bodyPr>
          <a:lstStyle/>
          <a:p>
            <a:r>
              <a:rPr lang="en-US" b="1" dirty="0">
                <a:effectLst/>
                <a:latin typeface="Arial" panose="020B0604020202020204" pitchFamily="34" charset="0"/>
                <a:cs typeface="Arial" panose="020B0604020202020204" pitchFamily="34" charset="0"/>
              </a:rPr>
              <a:t>Step 1.</a:t>
            </a:r>
            <a:r>
              <a:rPr lang="en-US" dirty="0">
                <a:effectLst/>
                <a:latin typeface="Arial" panose="020B0604020202020204" pitchFamily="34" charset="0"/>
                <a:cs typeface="Arial" panose="020B0604020202020204" pitchFamily="34" charset="0"/>
              </a:rPr>
              <a:t> Enable AAA with the </a:t>
            </a:r>
            <a:r>
              <a:rPr lang="en-US" b="1" dirty="0">
                <a:effectLst/>
                <a:latin typeface="Arial" panose="020B0604020202020204" pitchFamily="34" charset="0"/>
                <a:cs typeface="Arial" panose="020B0604020202020204" pitchFamily="34" charset="0"/>
              </a:rPr>
              <a:t>aaa new-model</a:t>
            </a:r>
            <a:r>
              <a:rPr lang="en-US" dirty="0">
                <a:effectLst/>
                <a:latin typeface="Arial" panose="020B0604020202020204" pitchFamily="34" charset="0"/>
                <a:cs typeface="Arial" panose="020B0604020202020204" pitchFamily="34" charset="0"/>
              </a:rPr>
              <a:t> global configuration mode command. Exit and enter the root view with the </a:t>
            </a:r>
            <a:r>
              <a:rPr lang="en-US" b="1" dirty="0">
                <a:effectLst/>
                <a:latin typeface="Arial" panose="020B0604020202020204" pitchFamily="34" charset="0"/>
                <a:cs typeface="Arial" panose="020B0604020202020204" pitchFamily="34" charset="0"/>
              </a:rPr>
              <a:t>enable view</a:t>
            </a:r>
            <a:r>
              <a:rPr lang="en-US" dirty="0">
                <a:effectLst/>
                <a:latin typeface="Arial" panose="020B0604020202020204" pitchFamily="34" charset="0"/>
                <a:cs typeface="Arial" panose="020B0604020202020204" pitchFamily="34" charset="0"/>
              </a:rPr>
              <a:t> command.</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Step 2.</a:t>
            </a:r>
            <a:r>
              <a:rPr lang="en-US" dirty="0">
                <a:latin typeface="Arial" panose="020B0604020202020204" pitchFamily="34" charset="0"/>
                <a:cs typeface="Arial" panose="020B0604020202020204" pitchFamily="34" charset="0"/>
              </a:rPr>
              <a:t> Create a view using the </a:t>
            </a:r>
            <a:r>
              <a:rPr lang="en-US" b="1" dirty="0">
                <a:latin typeface="Arial" panose="020B0604020202020204" pitchFamily="34" charset="0"/>
                <a:cs typeface="Arial" panose="020B0604020202020204" pitchFamily="34" charset="0"/>
              </a:rPr>
              <a:t>parser view</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view-name</a:t>
            </a:r>
            <a:r>
              <a:rPr lang="en-US" dirty="0">
                <a:latin typeface="Arial" panose="020B0604020202020204" pitchFamily="34" charset="0"/>
                <a:cs typeface="Arial" panose="020B0604020202020204" pitchFamily="34" charset="0"/>
              </a:rPr>
              <a:t> global configuration mode command. This enables the view configuration mode.</a:t>
            </a:r>
            <a:endParaRPr lang="en-US" dirty="0">
              <a:effectLst/>
              <a:latin typeface="Arial" panose="020B0604020202020204" pitchFamily="34" charset="0"/>
              <a:cs typeface="Arial" panose="020B0604020202020204" pitchFamily="34" charset="0"/>
            </a:endParaRPr>
          </a:p>
        </p:txBody>
      </p:sp>
      <p:sp>
        <p:nvSpPr>
          <p:cNvPr id="10" name="Rectangle: Rounded Corners 9">
            <a:extLst>
              <a:ext uri="{FF2B5EF4-FFF2-40B4-BE49-F238E27FC236}">
                <a16:creationId xmlns:a16="http://schemas.microsoft.com/office/drawing/2014/main" id="{E73FB924-DA31-4990-8457-24B20D742A2D}"/>
              </a:ext>
            </a:extLst>
          </p:cNvPr>
          <p:cNvSpPr/>
          <p:nvPr/>
        </p:nvSpPr>
        <p:spPr>
          <a:xfrm>
            <a:off x="4572000" y="2043524"/>
            <a:ext cx="4306044" cy="677419"/>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 </a:t>
            </a:r>
            <a:r>
              <a:rPr lang="en-US" sz="1400" b="1" dirty="0">
                <a:solidFill>
                  <a:schemeClr val="bg1"/>
                </a:solidFill>
                <a:latin typeface="Courier New" panose="02070309020205020404" pitchFamily="49" charset="0"/>
                <a:cs typeface="Courier New" panose="02070309020205020404" pitchFamily="49" charset="0"/>
              </a:rPr>
              <a:t>aaa new-model</a:t>
            </a:r>
          </a:p>
          <a:p>
            <a:r>
              <a:rPr lang="en-US" sz="1400" dirty="0">
                <a:solidFill>
                  <a:schemeClr val="bg1"/>
                </a:solidFill>
                <a:latin typeface="Courier New" panose="02070309020205020404" pitchFamily="49" charset="0"/>
                <a:cs typeface="Courier New" panose="02070309020205020404" pitchFamily="49" charset="0"/>
              </a:rPr>
              <a:t>Router# </a:t>
            </a:r>
            <a:r>
              <a:rPr lang="en-US" sz="1400" b="1" dirty="0">
                <a:solidFill>
                  <a:schemeClr val="bg1"/>
                </a:solidFill>
                <a:latin typeface="Courier New" panose="02070309020205020404" pitchFamily="49" charset="0"/>
                <a:cs typeface="Courier New" panose="02070309020205020404" pitchFamily="49" charset="0"/>
              </a:rPr>
              <a:t>enable</a:t>
            </a:r>
            <a:r>
              <a:rPr lang="en-US" sz="1400" dirty="0">
                <a:solidFill>
                  <a:schemeClr val="bg1"/>
                </a:solidFill>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view </a:t>
            </a:r>
            <a:r>
              <a:rPr lang="en-US" sz="1400" dirty="0">
                <a:solidFill>
                  <a:schemeClr val="bg1"/>
                </a:solidFill>
                <a:latin typeface="Courier New" panose="02070309020205020404" pitchFamily="49" charset="0"/>
                <a:cs typeface="Courier New" panose="02070309020205020404" pitchFamily="49" charset="0"/>
              </a:rPr>
              <a:t>[</a:t>
            </a:r>
            <a:r>
              <a:rPr lang="en-US" sz="1400" i="1" dirty="0">
                <a:solidFill>
                  <a:schemeClr val="bg1"/>
                </a:solidFill>
                <a:latin typeface="Courier New" panose="02070309020205020404" pitchFamily="49" charset="0"/>
                <a:cs typeface="Courier New" panose="02070309020205020404" pitchFamily="49" charset="0"/>
              </a:rPr>
              <a:t>view-name</a:t>
            </a:r>
            <a:r>
              <a:rPr lang="en-US" sz="1400" dirty="0">
                <a:solidFill>
                  <a:schemeClr val="bg1"/>
                </a:solidFill>
                <a:latin typeface="Courier New" panose="02070309020205020404" pitchFamily="49" charset="0"/>
                <a:cs typeface="Courier New" panose="02070309020205020404" pitchFamily="49" charset="0"/>
              </a:rPr>
              <a:t>]]</a:t>
            </a:r>
            <a:endParaRPr lang="en-CA" dirty="0">
              <a:solidFill>
                <a:schemeClr val="bg1"/>
              </a:solidFill>
              <a:latin typeface="Courier New" panose="02070309020205020404" pitchFamily="49" charset="0"/>
              <a:cs typeface="Courier New" panose="02070309020205020404" pitchFamily="49" charset="0"/>
            </a:endParaRPr>
          </a:p>
        </p:txBody>
      </p:sp>
      <p:sp>
        <p:nvSpPr>
          <p:cNvPr id="12" name="Rectangle: Rounded Corners 11">
            <a:extLst>
              <a:ext uri="{FF2B5EF4-FFF2-40B4-BE49-F238E27FC236}">
                <a16:creationId xmlns:a16="http://schemas.microsoft.com/office/drawing/2014/main" id="{7206A2DD-4B0D-46B3-97F3-3B23800663C4}"/>
              </a:ext>
            </a:extLst>
          </p:cNvPr>
          <p:cNvSpPr/>
          <p:nvPr/>
        </p:nvSpPr>
        <p:spPr>
          <a:xfrm>
            <a:off x="4464234" y="3099976"/>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 </a:t>
            </a:r>
            <a:r>
              <a:rPr lang="en-US" sz="1400" b="1" dirty="0">
                <a:solidFill>
                  <a:schemeClr val="bg1"/>
                </a:solidFill>
                <a:latin typeface="Courier New" panose="02070309020205020404" pitchFamily="49" charset="0"/>
                <a:cs typeface="Courier New" panose="02070309020205020404" pitchFamily="49" charset="0"/>
              </a:rPr>
              <a:t>parser</a:t>
            </a:r>
            <a:r>
              <a:rPr lang="en-US" sz="1400" dirty="0">
                <a:solidFill>
                  <a:schemeClr val="bg1"/>
                </a:solidFill>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view</a:t>
            </a:r>
            <a:r>
              <a:rPr lang="en-US" sz="1400" dirty="0">
                <a:solidFill>
                  <a:schemeClr val="bg1"/>
                </a:solidFill>
                <a:latin typeface="Courier New" panose="02070309020205020404" pitchFamily="49" charset="0"/>
                <a:cs typeface="Courier New" panose="02070309020205020404" pitchFamily="49" charset="0"/>
              </a:rPr>
              <a:t> </a:t>
            </a:r>
            <a:r>
              <a:rPr lang="en-US" sz="1400" i="1" dirty="0">
                <a:solidFill>
                  <a:schemeClr val="bg1"/>
                </a:solidFill>
                <a:latin typeface="Courier New" panose="02070309020205020404" pitchFamily="49" charset="0"/>
                <a:cs typeface="Courier New" panose="02070309020205020404" pitchFamily="49" charset="0"/>
              </a:rPr>
              <a:t>view-name</a:t>
            </a:r>
            <a:endParaRPr lang="en-CA" dirty="0">
              <a:solidFill>
                <a:schemeClr val="bg1"/>
              </a:solidFill>
              <a:latin typeface="Courier New" panose="02070309020205020404" pitchFamily="49" charset="0"/>
              <a:cs typeface="Courier New" panose="02070309020205020404" pitchFamily="49"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dirty="0"/>
          </a:p>
        </p:txBody>
      </p:sp>
      <p:sp>
        <p:nvSpPr>
          <p:cNvPr id="4" name="BlokTextu 3">
            <a:extLst>
              <a:ext uri="{FF2B5EF4-FFF2-40B4-BE49-F238E27FC236}">
                <a16:creationId xmlns:a16="http://schemas.microsoft.com/office/drawing/2014/main" id="{616374F8-5B0C-F501-A579-B2F8CC2ADA06}"/>
              </a:ext>
            </a:extLst>
          </p:cNvPr>
          <p:cNvSpPr txBox="1"/>
          <p:nvPr/>
        </p:nvSpPr>
        <p:spPr>
          <a:xfrm>
            <a:off x="6317087" y="695459"/>
            <a:ext cx="1983347" cy="923330"/>
          </a:xfrm>
          <a:prstGeom prst="rect">
            <a:avLst/>
          </a:prstGeom>
          <a:noFill/>
        </p:spPr>
        <p:txBody>
          <a:bodyPr wrap="square" rtlCol="0">
            <a:spAutoFit/>
          </a:bodyPr>
          <a:lstStyle/>
          <a:p>
            <a:r>
              <a:rPr lang="sk-SK" dirty="0"/>
              <a:t>Musí byť nastavené </a:t>
            </a:r>
            <a:r>
              <a:rPr lang="sk-SK" dirty="0" err="1"/>
              <a:t>enable</a:t>
            </a:r>
            <a:r>
              <a:rPr lang="sk-SK" dirty="0"/>
              <a:t> </a:t>
            </a:r>
            <a:r>
              <a:rPr lang="sk-SK" dirty="0" err="1"/>
              <a:t>secret</a:t>
            </a:r>
            <a:r>
              <a:rPr lang="sk-SK" dirty="0"/>
              <a:t> heslo ...</a:t>
            </a:r>
          </a:p>
        </p:txBody>
      </p:sp>
    </p:spTree>
    <p:extLst>
      <p:ext uri="{BB962C8B-B14F-4D97-AF65-F5344CB8AC3E}">
        <p14:creationId xmlns:p14="http://schemas.microsoft.com/office/powerpoint/2010/main" val="2968003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Role-Based Views (Cont.)</a:t>
            </a:r>
          </a:p>
        </p:txBody>
      </p:sp>
      <p:sp>
        <p:nvSpPr>
          <p:cNvPr id="7" name="TextBox 6">
            <a:extLst>
              <a:ext uri="{FF2B5EF4-FFF2-40B4-BE49-F238E27FC236}">
                <a16:creationId xmlns:a16="http://schemas.microsoft.com/office/drawing/2014/main" id="{C6BC5D70-D0C8-4653-AD0E-39FE4499CF84}"/>
              </a:ext>
            </a:extLst>
          </p:cNvPr>
          <p:cNvSpPr txBox="1"/>
          <p:nvPr/>
        </p:nvSpPr>
        <p:spPr>
          <a:xfrm>
            <a:off x="0" y="960120"/>
            <a:ext cx="4505325" cy="230832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3.</a:t>
            </a:r>
            <a:r>
              <a:rPr lang="en-US" dirty="0">
                <a:latin typeface="Arial" panose="020B0604020202020204" pitchFamily="34" charset="0"/>
                <a:cs typeface="Arial" panose="020B0604020202020204" pitchFamily="34" charset="0"/>
              </a:rPr>
              <a:t> Assign a secret password to the view using the </a:t>
            </a:r>
            <a:r>
              <a:rPr lang="en-US" b="1" dirty="0">
                <a:latin typeface="Arial" panose="020B0604020202020204" pitchFamily="34" charset="0"/>
                <a:cs typeface="Arial" panose="020B0604020202020204" pitchFamily="34" charset="0"/>
              </a:rPr>
              <a:t>secret</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password</a:t>
            </a:r>
            <a:r>
              <a:rPr lang="en-US" dirty="0">
                <a:latin typeface="Arial" panose="020B0604020202020204" pitchFamily="34" charset="0"/>
                <a:cs typeface="Arial" panose="020B0604020202020204" pitchFamily="34" charset="0"/>
              </a:rPr>
              <a:t> view configuration mode command.</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Step 4.</a:t>
            </a:r>
            <a:r>
              <a:rPr lang="en-US" dirty="0">
                <a:latin typeface="Arial" panose="020B0604020202020204" pitchFamily="34" charset="0"/>
                <a:cs typeface="Arial" panose="020B0604020202020204" pitchFamily="34" charset="0"/>
              </a:rPr>
              <a:t> Assign commands to the selected view using the </a:t>
            </a:r>
            <a:r>
              <a:rPr lang="en-US" b="1" dirty="0">
                <a:latin typeface="Arial" panose="020B0604020202020204" pitchFamily="34" charset="0"/>
                <a:cs typeface="Arial" panose="020B0604020202020204" pitchFamily="34" charset="0"/>
              </a:rPr>
              <a:t>commands</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parser-mode</a:t>
            </a:r>
            <a:r>
              <a:rPr lang="en-US" dirty="0">
                <a:latin typeface="Arial" panose="020B0604020202020204" pitchFamily="34" charset="0"/>
                <a:cs typeface="Arial" panose="020B0604020202020204" pitchFamily="34" charset="0"/>
              </a:rPr>
              <a:t> command in view configuration mode.</a:t>
            </a:r>
            <a:endParaRPr lang="en-US" dirty="0">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0ED45A7-9DE5-44A3-B128-3918448B3AF3}"/>
              </a:ext>
            </a:extLst>
          </p:cNvPr>
          <p:cNvSpPr txBox="1"/>
          <p:nvPr/>
        </p:nvSpPr>
        <p:spPr>
          <a:xfrm>
            <a:off x="0" y="3632592"/>
            <a:ext cx="4613148"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5.</a:t>
            </a:r>
            <a:r>
              <a:rPr lang="en-US" dirty="0">
                <a:latin typeface="Arial" panose="020B0604020202020204" pitchFamily="34" charset="0"/>
                <a:cs typeface="Arial" panose="020B0604020202020204" pitchFamily="34" charset="0"/>
              </a:rPr>
              <a:t> Exit view configuration mode by typing the </a:t>
            </a:r>
            <a:r>
              <a:rPr lang="en-US" b="1" dirty="0">
                <a:latin typeface="Arial" panose="020B0604020202020204" pitchFamily="34" charset="0"/>
                <a:cs typeface="Arial" panose="020B0604020202020204" pitchFamily="34" charset="0"/>
              </a:rPr>
              <a:t>exit</a:t>
            </a:r>
            <a:r>
              <a:rPr lang="en-US" dirty="0">
                <a:latin typeface="Arial" panose="020B0604020202020204" pitchFamily="34" charset="0"/>
                <a:cs typeface="Arial" panose="020B0604020202020204" pitchFamily="34" charset="0"/>
              </a:rPr>
              <a:t> command.</a:t>
            </a:r>
          </a:p>
        </p:txBody>
      </p:sp>
      <p:sp>
        <p:nvSpPr>
          <p:cNvPr id="9" name="Rectangle: Rounded Corners 8">
            <a:extLst>
              <a:ext uri="{FF2B5EF4-FFF2-40B4-BE49-F238E27FC236}">
                <a16:creationId xmlns:a16="http://schemas.microsoft.com/office/drawing/2014/main" id="{3C86C741-1A81-4F2F-A23C-180473F308A9}"/>
              </a:ext>
            </a:extLst>
          </p:cNvPr>
          <p:cNvSpPr/>
          <p:nvPr/>
        </p:nvSpPr>
        <p:spPr>
          <a:xfrm>
            <a:off x="4613148" y="1083987"/>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Router(config-view)# </a:t>
            </a:r>
            <a:r>
              <a:rPr lang="en-US" sz="1400" b="1" dirty="0">
                <a:solidFill>
                  <a:schemeClr val="bg1"/>
                </a:solidFill>
                <a:latin typeface="Courier New" panose="02070309020205020404" pitchFamily="49" charset="0"/>
                <a:cs typeface="Courier New" panose="02070309020205020404" pitchFamily="49" charset="0"/>
              </a:rPr>
              <a:t>secret</a:t>
            </a:r>
            <a:r>
              <a:rPr lang="en-US" sz="1400" dirty="0">
                <a:solidFill>
                  <a:schemeClr val="bg1"/>
                </a:solidFill>
                <a:latin typeface="Courier New" panose="02070309020205020404" pitchFamily="49" charset="0"/>
                <a:cs typeface="Courier New" panose="02070309020205020404" pitchFamily="49" charset="0"/>
              </a:rPr>
              <a:t> </a:t>
            </a:r>
            <a:r>
              <a:rPr lang="en-US" sz="1400" i="1" dirty="0">
                <a:solidFill>
                  <a:schemeClr val="bg1"/>
                </a:solidFill>
                <a:latin typeface="Courier New" panose="02070309020205020404" pitchFamily="49" charset="0"/>
                <a:cs typeface="Courier New" panose="02070309020205020404" pitchFamily="49" charset="0"/>
              </a:rPr>
              <a:t>password</a:t>
            </a:r>
            <a:endParaRPr lang="en-CA" dirty="0">
              <a:solidFill>
                <a:schemeClr val="bg1"/>
              </a:solidFill>
              <a:latin typeface="Courier New" panose="02070309020205020404" pitchFamily="49" charset="0"/>
              <a:cs typeface="Courier New" panose="02070309020205020404" pitchFamily="49" charset="0"/>
            </a:endParaRPr>
          </a:p>
        </p:txBody>
      </p:sp>
      <p:sp>
        <p:nvSpPr>
          <p:cNvPr id="11" name="Rectangle: Rounded Corners 10">
            <a:extLst>
              <a:ext uri="{FF2B5EF4-FFF2-40B4-BE49-F238E27FC236}">
                <a16:creationId xmlns:a16="http://schemas.microsoft.com/office/drawing/2014/main" id="{ED3B23A7-A6A3-4AD3-81F9-AEB0BF7DD037}"/>
              </a:ext>
            </a:extLst>
          </p:cNvPr>
          <p:cNvSpPr/>
          <p:nvPr/>
        </p:nvSpPr>
        <p:spPr>
          <a:xfrm>
            <a:off x="4613148" y="2382743"/>
            <a:ext cx="4372661" cy="107612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Router(config-view)# </a:t>
            </a:r>
            <a:r>
              <a:rPr lang="en-US" sz="1400" b="1" dirty="0">
                <a:solidFill>
                  <a:schemeClr val="bg1"/>
                </a:solidFill>
                <a:latin typeface="Courier New" panose="02070309020205020404" pitchFamily="49" charset="0"/>
                <a:cs typeface="Courier New" panose="02070309020205020404" pitchFamily="49" charset="0"/>
              </a:rPr>
              <a:t>commands </a:t>
            </a:r>
            <a:r>
              <a:rPr lang="en-US" sz="1400" i="1" dirty="0">
                <a:solidFill>
                  <a:schemeClr val="bg1"/>
                </a:solidFill>
                <a:latin typeface="Courier New" panose="02070309020205020404" pitchFamily="49" charset="0"/>
                <a:cs typeface="Courier New" panose="02070309020205020404" pitchFamily="49" charset="0"/>
              </a:rPr>
              <a:t>parser-mode </a:t>
            </a:r>
            <a:r>
              <a:rPr lang="en-US" sz="1400" b="1" dirty="0">
                <a:solidFill>
                  <a:schemeClr val="bg1"/>
                </a:solidFill>
                <a:latin typeface="Courier New" panose="02070309020205020404" pitchFamily="49" charset="0"/>
                <a:cs typeface="Courier New" panose="02070309020205020404" pitchFamily="49" charset="0"/>
              </a:rPr>
              <a:t>{include | include-exclusive | exclude} [all] [interface </a:t>
            </a:r>
            <a:r>
              <a:rPr lang="en-US" sz="1400" i="1" dirty="0">
                <a:solidFill>
                  <a:schemeClr val="bg1"/>
                </a:solidFill>
                <a:latin typeface="Courier New" panose="02070309020205020404" pitchFamily="49" charset="0"/>
                <a:cs typeface="Courier New" panose="02070309020205020404" pitchFamily="49" charset="0"/>
              </a:rPr>
              <a:t>interface-name </a:t>
            </a:r>
            <a:r>
              <a:rPr lang="en-US" sz="1400" b="1" dirty="0">
                <a:solidFill>
                  <a:schemeClr val="bg1"/>
                </a:solidFill>
                <a:latin typeface="Courier New" panose="02070309020205020404" pitchFamily="49" charset="0"/>
                <a:cs typeface="Courier New" panose="02070309020205020404" pitchFamily="49" charset="0"/>
              </a:rPr>
              <a:t>| </a:t>
            </a:r>
            <a:r>
              <a:rPr lang="en-US" sz="1400" i="1" dirty="0">
                <a:solidFill>
                  <a:schemeClr val="bg1"/>
                </a:solidFill>
                <a:latin typeface="Courier New" panose="02070309020205020404" pitchFamily="49" charset="0"/>
                <a:cs typeface="Courier New" panose="02070309020205020404" pitchFamily="49" charset="0"/>
              </a:rPr>
              <a:t>command</a:t>
            </a:r>
            <a:r>
              <a:rPr lang="en-US" sz="1400" b="1" dirty="0">
                <a:solidFill>
                  <a:schemeClr val="bg1"/>
                </a:solidFill>
                <a:latin typeface="Courier New" panose="02070309020205020404" pitchFamily="49" charset="0"/>
                <a:cs typeface="Courier New" panose="02070309020205020404" pitchFamily="49" charset="0"/>
              </a:rPr>
              <a:t>]</a:t>
            </a:r>
            <a:endParaRPr lang="en-CA" dirty="0">
              <a:solidFill>
                <a:schemeClr val="bg1"/>
              </a:solidFill>
              <a:latin typeface="Courier New" panose="02070309020205020404" pitchFamily="49" charset="0"/>
              <a:cs typeface="Courier New" panose="02070309020205020404" pitchFamily="49"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dirty="0"/>
          </a:p>
        </p:txBody>
      </p:sp>
    </p:spTree>
    <p:extLst>
      <p:ext uri="{BB962C8B-B14F-4D97-AF65-F5344CB8AC3E}">
        <p14:creationId xmlns:p14="http://schemas.microsoft.com/office/powerpoint/2010/main" val="787856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704088"/>
          </a:xfrm>
          <a:prstGeom prst="rect">
            <a:avLst/>
          </a:prstGeom>
          <a:noFill/>
          <a:ln/>
        </p:spPr>
        <p:txBody>
          <a:bodyPr wrap="square" rtlCol="0"/>
          <a:lstStyle/>
          <a:p>
            <a:pPr marL="0" indent="0">
              <a:buNone/>
            </a:pPr>
            <a:r>
              <a:rPr lang="en-US" dirty="0"/>
              <a:t>Configure Role-Based Views (Cont.)</a:t>
            </a:r>
          </a:p>
        </p:txBody>
      </p:sp>
      <p:sp>
        <p:nvSpPr>
          <p:cNvPr id="5" name="TextBox 4">
            <a:extLst>
              <a:ext uri="{FF2B5EF4-FFF2-40B4-BE49-F238E27FC236}">
                <a16:creationId xmlns:a16="http://schemas.microsoft.com/office/drawing/2014/main" id="{83AA3EA2-8B38-4B16-8B93-286F1A35C3C9}"/>
              </a:ext>
            </a:extLst>
          </p:cNvPr>
          <p:cNvSpPr txBox="1"/>
          <p:nvPr/>
        </p:nvSpPr>
        <p:spPr>
          <a:xfrm>
            <a:off x="0" y="690360"/>
            <a:ext cx="74706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Below is a list of commands and the description.</a:t>
            </a:r>
          </a:p>
        </p:txBody>
      </p:sp>
      <p:graphicFrame>
        <p:nvGraphicFramePr>
          <p:cNvPr id="17" name="Table 16"/>
          <p:cNvGraphicFramePr>
            <a:graphicFrameLocks noGrp="1"/>
          </p:cNvGraphicFramePr>
          <p:nvPr>
            <p:extLst>
              <p:ext uri="{D42A27DB-BD31-4B8C-83A1-F6EECF244321}">
                <p14:modId xmlns:p14="http://schemas.microsoft.com/office/powerpoint/2010/main" val="214335531"/>
              </p:ext>
            </p:extLst>
          </p:nvPr>
        </p:nvGraphicFramePr>
        <p:xfrm>
          <a:off x="91440" y="1074039"/>
          <a:ext cx="8961120" cy="3459480"/>
        </p:xfrm>
        <a:graphic>
          <a:graphicData uri="http://schemas.openxmlformats.org/drawingml/2006/table">
            <a:tbl>
              <a:tblPr/>
              <a:tblGrid>
                <a:gridCol w="1573731">
                  <a:extLst>
                    <a:ext uri="{9D8B030D-6E8A-4147-A177-3AD203B41FA5}">
                      <a16:colId xmlns:a16="http://schemas.microsoft.com/office/drawing/2014/main" val="20000"/>
                    </a:ext>
                  </a:extLst>
                </a:gridCol>
                <a:gridCol w="7387389">
                  <a:extLst>
                    <a:ext uri="{9D8B030D-6E8A-4147-A177-3AD203B41FA5}">
                      <a16:colId xmlns:a16="http://schemas.microsoft.com/office/drawing/2014/main" val="20001"/>
                    </a:ext>
                  </a:extLst>
                </a:gridCol>
              </a:tblGrid>
              <a:tr h="0">
                <a:tc>
                  <a:txBody>
                    <a:bodyPr/>
                    <a:lstStyle/>
                    <a:p>
                      <a:r>
                        <a:rPr lang="en-US" sz="1400" dirty="0">
                          <a:solidFill>
                            <a:srgbClr val="FFFFFF"/>
                          </a:solidFill>
                          <a:latin typeface="Arial" panose="020B0604020202020204" pitchFamily="34" charset="0"/>
                          <a:cs typeface="Arial" panose="020B0604020202020204" pitchFamily="34" charset="0"/>
                        </a:rPr>
                        <a:t>Commands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latin typeface="Arial" panose="020B0604020202020204" pitchFamily="34" charset="0"/>
                          <a:cs typeface="Arial" panose="020B0604020202020204" pitchFamily="34" charset="0"/>
                        </a:rPr>
                        <a:t>Description</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b="1" dirty="0">
                          <a:solidFill>
                            <a:srgbClr val="58585B"/>
                          </a:solidFill>
                          <a:latin typeface="Arial" panose="020B0604020202020204" pitchFamily="34" charset="0"/>
                          <a:cs typeface="Arial" panose="020B0604020202020204" pitchFamily="34" charset="0"/>
                        </a:rPr>
                        <a:t>commands</a:t>
                      </a:r>
                      <a:endParaRPr lang="en-US" sz="1400" b="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Adds commands or interfaces to a view.</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i="1" dirty="0">
                          <a:solidFill>
                            <a:srgbClr val="58585B"/>
                          </a:solidFill>
                          <a:latin typeface="Arial" panose="020B0604020202020204" pitchFamily="34" charset="0"/>
                          <a:cs typeface="Arial" panose="020B0604020202020204" pitchFamily="34" charset="0"/>
                        </a:rPr>
                        <a:t>parser-mode</a:t>
                      </a:r>
                      <a:endParaRPr lang="en-US" sz="1400" i="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The mode in which the specified command exists; for example, EXEC mode.</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400" b="1" dirty="0">
                          <a:solidFill>
                            <a:srgbClr val="58585B"/>
                          </a:solidFill>
                          <a:latin typeface="Arial" panose="020B0604020202020204" pitchFamily="34" charset="0"/>
                          <a:cs typeface="Arial" panose="020B0604020202020204" pitchFamily="34" charset="0"/>
                        </a:rPr>
                        <a:t>include</a:t>
                      </a:r>
                      <a:endParaRPr lang="en-US" sz="1400" b="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Adds a command or an interface to the view and allows the same command or interface to be added to other views.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b="1" dirty="0">
                          <a:solidFill>
                            <a:srgbClr val="58585B"/>
                          </a:solidFill>
                          <a:latin typeface="Arial" panose="020B0604020202020204" pitchFamily="34" charset="0"/>
                          <a:cs typeface="Arial" panose="020B0604020202020204" pitchFamily="34" charset="0"/>
                        </a:rPr>
                        <a:t>include-exclusive</a:t>
                      </a:r>
                      <a:endParaRPr lang="en-US" sz="1400" b="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Adds a command or an interface to the view and excludes the same command or interface from being added to all other views.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400" b="1" dirty="0">
                          <a:solidFill>
                            <a:srgbClr val="58585B"/>
                          </a:solidFill>
                          <a:latin typeface="Arial" panose="020B0604020202020204" pitchFamily="34" charset="0"/>
                          <a:cs typeface="Arial" panose="020B0604020202020204" pitchFamily="34" charset="0"/>
                        </a:rPr>
                        <a:t>exclude</a:t>
                      </a:r>
                      <a:endParaRPr lang="en-US" sz="1400" b="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Excludes a command or an interface from the view.</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b="1" dirty="0">
                          <a:solidFill>
                            <a:srgbClr val="58585B"/>
                          </a:solidFill>
                          <a:latin typeface="Arial" panose="020B0604020202020204" pitchFamily="34" charset="0"/>
                          <a:cs typeface="Arial" panose="020B0604020202020204" pitchFamily="34" charset="0"/>
                        </a:rPr>
                        <a:t>All</a:t>
                      </a:r>
                      <a:endParaRPr lang="en-US" sz="1400" b="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A "wildcard" that allows every command in a specified configuration mode that begins with the same keyword or every subinterface for a specified interface to be part of the view.</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400" b="1" dirty="0">
                          <a:solidFill>
                            <a:srgbClr val="58585B"/>
                          </a:solidFill>
                          <a:latin typeface="Arial" panose="020B0604020202020204" pitchFamily="34" charset="0"/>
                          <a:cs typeface="Arial" panose="020B0604020202020204" pitchFamily="34" charset="0"/>
                        </a:rPr>
                        <a:t>interface </a:t>
                      </a:r>
                      <a:r>
                        <a:rPr lang="en-US" sz="1400" i="1" dirty="0">
                          <a:solidFill>
                            <a:srgbClr val="58585B"/>
                          </a:solidFill>
                          <a:latin typeface="Arial" panose="020B0604020202020204" pitchFamily="34" charset="0"/>
                          <a:cs typeface="Arial" panose="020B0604020202020204" pitchFamily="34" charset="0"/>
                        </a:rPr>
                        <a:t>interface-name</a:t>
                      </a:r>
                      <a:endParaRPr lang="en-US" sz="1400" i="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Interface that is added to the view.</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400" i="1" dirty="0">
                          <a:solidFill>
                            <a:srgbClr val="58585B"/>
                          </a:solidFill>
                          <a:latin typeface="Arial" panose="020B0604020202020204" pitchFamily="34" charset="0"/>
                          <a:cs typeface="Arial" panose="020B0604020202020204" pitchFamily="34" charset="0"/>
                        </a:rPr>
                        <a:t>command</a:t>
                      </a:r>
                      <a:endParaRPr lang="en-US" sz="1400" i="1"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Command that is added to the view.</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1566294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Role-Based CLI Superviews</a:t>
            </a:r>
          </a:p>
        </p:txBody>
      </p:sp>
      <p:sp>
        <p:nvSpPr>
          <p:cNvPr id="9" name="TextBox 8">
            <a:extLst>
              <a:ext uri="{FF2B5EF4-FFF2-40B4-BE49-F238E27FC236}">
                <a16:creationId xmlns:a16="http://schemas.microsoft.com/office/drawing/2014/main" id="{27AE0B45-2C5B-4C66-9A1B-DB6136304FAD}"/>
              </a:ext>
            </a:extLst>
          </p:cNvPr>
          <p:cNvSpPr txBox="1"/>
          <p:nvPr/>
        </p:nvSpPr>
        <p:spPr>
          <a:xfrm>
            <a:off x="0" y="988827"/>
            <a:ext cx="8826366"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steps to configure a superview are essentially the same as configuring a CLI view, except that the</a:t>
            </a:r>
            <a:r>
              <a:rPr lang="en-US" sz="1600" b="1" dirty="0">
                <a:latin typeface="Arial" panose="020B0604020202020204" pitchFamily="34" charset="0"/>
                <a:cs typeface="Arial" panose="020B0604020202020204" pitchFamily="34" charset="0"/>
              </a:rPr>
              <a:t> view </a:t>
            </a:r>
            <a:r>
              <a:rPr lang="en-US" sz="1600" i="1" dirty="0">
                <a:latin typeface="Arial" panose="020B0604020202020204" pitchFamily="34" charset="0"/>
                <a:cs typeface="Arial" panose="020B0604020202020204" pitchFamily="34" charset="0"/>
              </a:rPr>
              <a:t>view-name </a:t>
            </a:r>
            <a:r>
              <a:rPr lang="en-US" sz="1600" dirty="0">
                <a:latin typeface="Arial" panose="020B0604020202020204" pitchFamily="34" charset="0"/>
                <a:cs typeface="Arial" panose="020B0604020202020204" pitchFamily="34" charset="0"/>
              </a:rPr>
              <a:t>command is used to assign commands to the superview. </a:t>
            </a:r>
          </a:p>
        </p:txBody>
      </p:sp>
      <p:sp>
        <p:nvSpPr>
          <p:cNvPr id="5" name="Object4"/>
          <p:cNvSpPr/>
          <p:nvPr/>
        </p:nvSpPr>
        <p:spPr>
          <a:xfrm>
            <a:off x="0" y="1766887"/>
            <a:ext cx="4649002" cy="2571750"/>
          </a:xfrm>
          <a:prstGeom prst="rect">
            <a:avLst/>
          </a:prstGeom>
          <a:noFill/>
          <a:ln/>
        </p:spPr>
        <p:txBody>
          <a:bodyPr wrap="square" rtlCol="0" anchor="t"/>
          <a:lstStyle/>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b="1" dirty="0">
                <a:latin typeface="Arial" panose="020B0604020202020204" pitchFamily="34" charset="0"/>
                <a:cs typeface="Arial" panose="020B0604020202020204" pitchFamily="34" charset="0"/>
              </a:rPr>
              <a:t>Step 1</a:t>
            </a:r>
            <a:r>
              <a:rPr lang="en-US" sz="1600" dirty="0">
                <a:latin typeface="Arial" panose="020B0604020202020204" pitchFamily="34" charset="0"/>
                <a:cs typeface="Arial" panose="020B0604020202020204" pitchFamily="34" charset="0"/>
              </a:rPr>
              <a:t>. Create a view using the </a:t>
            </a:r>
            <a:r>
              <a:rPr lang="en-US" sz="1600" b="1" dirty="0">
                <a:latin typeface="Arial" panose="020B0604020202020204" pitchFamily="34" charset="0"/>
                <a:cs typeface="Arial" panose="020B0604020202020204" pitchFamily="34" charset="0"/>
              </a:rPr>
              <a:t>parser view</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view-name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superview</a:t>
            </a:r>
            <a:r>
              <a:rPr lang="en-US" sz="1600" dirty="0">
                <a:latin typeface="Arial" panose="020B0604020202020204" pitchFamily="34" charset="0"/>
                <a:cs typeface="Arial" panose="020B0604020202020204" pitchFamily="34" charset="0"/>
              </a:rPr>
              <a:t> command and enter superview configuration mode.</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b="1" dirty="0">
                <a:latin typeface="Arial" panose="020B0604020202020204" pitchFamily="34" charset="0"/>
                <a:cs typeface="Arial" panose="020B0604020202020204" pitchFamily="34" charset="0"/>
              </a:rPr>
              <a:t>Step 2. </a:t>
            </a:r>
            <a:r>
              <a:rPr lang="en-US" sz="1600" dirty="0">
                <a:latin typeface="Arial" panose="020B0604020202020204" pitchFamily="34" charset="0"/>
                <a:cs typeface="Arial" panose="020B0604020202020204" pitchFamily="34" charset="0"/>
              </a:rPr>
              <a:t>Assign a secret password to the view using the </a:t>
            </a:r>
            <a:r>
              <a:rPr lang="en-US" sz="1600" b="1" dirty="0">
                <a:latin typeface="Arial" panose="020B0604020202020204" pitchFamily="34" charset="0"/>
                <a:cs typeface="Arial" panose="020B0604020202020204" pitchFamily="34" charset="0"/>
              </a:rPr>
              <a:t>secret</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password</a:t>
            </a:r>
            <a:r>
              <a:rPr lang="en-US" sz="1600" dirty="0">
                <a:latin typeface="Arial" panose="020B0604020202020204" pitchFamily="34" charset="0"/>
                <a:cs typeface="Arial" panose="020B0604020202020204" pitchFamily="34" charset="0"/>
              </a:rPr>
              <a:t> command. This sets a password to protect access to the superview.</a:t>
            </a:r>
          </a:p>
        </p:txBody>
      </p:sp>
      <p:sp>
        <p:nvSpPr>
          <p:cNvPr id="10" name="Rectangle: Rounded Corners 9">
            <a:extLst>
              <a:ext uri="{FF2B5EF4-FFF2-40B4-BE49-F238E27FC236}">
                <a16:creationId xmlns:a16="http://schemas.microsoft.com/office/drawing/2014/main" id="{D66EC8FD-5129-433C-9E1C-887C273C2EC1}"/>
              </a:ext>
            </a:extLst>
          </p:cNvPr>
          <p:cNvSpPr/>
          <p:nvPr/>
        </p:nvSpPr>
        <p:spPr>
          <a:xfrm>
            <a:off x="4649002" y="3184436"/>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Router(config-view)# </a:t>
            </a:r>
            <a:r>
              <a:rPr lang="en-US" sz="1400" b="1" dirty="0">
                <a:solidFill>
                  <a:schemeClr val="bg1"/>
                </a:solidFill>
                <a:latin typeface="Courier New" panose="02070309020205020404" pitchFamily="49" charset="0"/>
                <a:cs typeface="Courier New" panose="02070309020205020404" pitchFamily="49" charset="0"/>
              </a:rPr>
              <a:t>secret</a:t>
            </a:r>
            <a:r>
              <a:rPr lang="en-US" sz="1400" dirty="0">
                <a:solidFill>
                  <a:schemeClr val="bg1"/>
                </a:solidFill>
                <a:latin typeface="Courier New" panose="02070309020205020404" pitchFamily="49" charset="0"/>
                <a:cs typeface="Courier New" panose="02070309020205020404" pitchFamily="49" charset="0"/>
              </a:rPr>
              <a:t> </a:t>
            </a:r>
            <a:r>
              <a:rPr lang="en-US" sz="1400" i="1" dirty="0">
                <a:solidFill>
                  <a:schemeClr val="bg1"/>
                </a:solidFill>
                <a:latin typeface="Courier New" panose="02070309020205020404" pitchFamily="49" charset="0"/>
                <a:cs typeface="Courier New" panose="02070309020205020404" pitchFamily="49" charset="0"/>
              </a:rPr>
              <a:t>password</a:t>
            </a:r>
            <a:endParaRPr lang="en-CA" dirty="0">
              <a:solidFill>
                <a:schemeClr val="bg1"/>
              </a:solidFill>
              <a:latin typeface="Courier New" panose="02070309020205020404" pitchFamily="49" charset="0"/>
              <a:cs typeface="Courier New" panose="02070309020205020404" pitchFamily="49" charset="0"/>
            </a:endParaRPr>
          </a:p>
        </p:txBody>
      </p:sp>
      <p:sp>
        <p:nvSpPr>
          <p:cNvPr id="11" name="Rectangle: Rounded Corners 10">
            <a:extLst>
              <a:ext uri="{FF2B5EF4-FFF2-40B4-BE49-F238E27FC236}">
                <a16:creationId xmlns:a16="http://schemas.microsoft.com/office/drawing/2014/main" id="{FF9EAC77-DB93-4F95-86CD-29F75CBB00AC}"/>
              </a:ext>
            </a:extLst>
          </p:cNvPr>
          <p:cNvSpPr/>
          <p:nvPr/>
        </p:nvSpPr>
        <p:spPr>
          <a:xfrm>
            <a:off x="4649002" y="2036029"/>
            <a:ext cx="4413809" cy="67082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 </a:t>
            </a:r>
            <a:r>
              <a:rPr lang="en-US" sz="1400" b="1" dirty="0">
                <a:solidFill>
                  <a:schemeClr val="bg1"/>
                </a:solidFill>
                <a:latin typeface="Courier New" panose="02070309020205020404" pitchFamily="49" charset="0"/>
                <a:cs typeface="Courier New" panose="02070309020205020404" pitchFamily="49" charset="0"/>
              </a:rPr>
              <a:t>parser view</a:t>
            </a:r>
            <a:r>
              <a:rPr lang="en-US" sz="1400" dirty="0">
                <a:solidFill>
                  <a:schemeClr val="bg1"/>
                </a:solidFill>
                <a:latin typeface="Courier New" panose="02070309020205020404" pitchFamily="49" charset="0"/>
                <a:cs typeface="Courier New" panose="02070309020205020404" pitchFamily="49" charset="0"/>
              </a:rPr>
              <a:t> </a:t>
            </a:r>
            <a:r>
              <a:rPr lang="en-US" sz="1400" i="1" dirty="0">
                <a:solidFill>
                  <a:schemeClr val="bg1"/>
                </a:solidFill>
                <a:latin typeface="Courier New" panose="02070309020205020404" pitchFamily="49" charset="0"/>
                <a:cs typeface="Courier New" panose="02070309020205020404" pitchFamily="49" charset="0"/>
              </a:rPr>
              <a:t>view-name </a:t>
            </a:r>
            <a:r>
              <a:rPr lang="en-US" sz="1400" b="1" i="1" dirty="0">
                <a:solidFill>
                  <a:schemeClr val="bg1"/>
                </a:solidFill>
                <a:latin typeface="Courier New" panose="02070309020205020404" pitchFamily="49" charset="0"/>
                <a:cs typeface="Courier New" panose="02070309020205020404" pitchFamily="49" charset="0"/>
              </a:rPr>
              <a:t>superview</a:t>
            </a:r>
            <a:endParaRPr lang="en-CA" dirty="0">
              <a:solidFill>
                <a:schemeClr val="bg1"/>
              </a:solidFill>
              <a:latin typeface="Courier New" panose="02070309020205020404" pitchFamily="49" charset="0"/>
              <a:cs typeface="Courier New" panose="02070309020205020404" pitchFamily="49"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1199840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Role-Based CLI Superviews (Cont.)</a:t>
            </a:r>
          </a:p>
        </p:txBody>
      </p:sp>
      <p:sp>
        <p:nvSpPr>
          <p:cNvPr id="5" name="Object4"/>
          <p:cNvSpPr/>
          <p:nvPr/>
        </p:nvSpPr>
        <p:spPr>
          <a:xfrm>
            <a:off x="0" y="914400"/>
            <a:ext cx="4123944" cy="2571750"/>
          </a:xfrm>
          <a:prstGeom prst="rect">
            <a:avLst/>
          </a:prstGeom>
          <a:noFill/>
          <a:ln/>
        </p:spPr>
        <p:txBody>
          <a:bodyPr wrap="square" rtlCol="0" anchor="t"/>
          <a:lstStyle/>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b="1" dirty="0">
                <a:latin typeface="Arial" panose="020B0604020202020204" pitchFamily="34" charset="0"/>
                <a:cs typeface="Arial" panose="020B0604020202020204" pitchFamily="34" charset="0"/>
              </a:rPr>
              <a:t>Step 3. </a:t>
            </a:r>
            <a:r>
              <a:rPr lang="en-US" dirty="0">
                <a:latin typeface="Arial" panose="020B0604020202020204" pitchFamily="34" charset="0"/>
                <a:cs typeface="Arial" panose="020B0604020202020204" pitchFamily="34" charset="0"/>
              </a:rPr>
              <a:t>Assign an existing view using the </a:t>
            </a:r>
            <a:r>
              <a:rPr lang="en-US" b="1" dirty="0">
                <a:latin typeface="Arial" panose="020B0604020202020204" pitchFamily="34" charset="0"/>
                <a:cs typeface="Arial" panose="020B0604020202020204" pitchFamily="34" charset="0"/>
              </a:rPr>
              <a:t>view</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view-name</a:t>
            </a:r>
            <a:r>
              <a:rPr lang="en-US" dirty="0">
                <a:latin typeface="Arial" panose="020B0604020202020204" pitchFamily="34" charset="0"/>
                <a:cs typeface="Arial" panose="020B0604020202020204" pitchFamily="34" charset="0"/>
              </a:rPr>
              <a:t> command in view configuration mode. This adds a CLI view to superview.</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b="1" dirty="0">
                <a:latin typeface="Arial" panose="020B0604020202020204" pitchFamily="34" charset="0"/>
                <a:cs typeface="Arial" panose="020B0604020202020204" pitchFamily="34" charset="0"/>
              </a:rPr>
              <a:t>Step 4. </a:t>
            </a:r>
            <a:r>
              <a:rPr lang="en-US" dirty="0">
                <a:latin typeface="Arial" panose="020B0604020202020204" pitchFamily="34" charset="0"/>
                <a:cs typeface="Arial" panose="020B0604020202020204" pitchFamily="34" charset="0"/>
              </a:rPr>
              <a:t>Exit superview configuration mode by typing the </a:t>
            </a:r>
            <a:r>
              <a:rPr lang="en-US" b="1" dirty="0">
                <a:latin typeface="Arial" panose="020B0604020202020204" pitchFamily="34" charset="0"/>
                <a:cs typeface="Arial" panose="020B0604020202020204" pitchFamily="34" charset="0"/>
              </a:rPr>
              <a:t>exit</a:t>
            </a:r>
            <a:r>
              <a:rPr lang="en-US" dirty="0">
                <a:latin typeface="Arial" panose="020B0604020202020204" pitchFamily="34" charset="0"/>
                <a:cs typeface="Arial" panose="020B0604020202020204" pitchFamily="34" charset="0"/>
              </a:rPr>
              <a:t> command.</a:t>
            </a:r>
          </a:p>
        </p:txBody>
      </p:sp>
      <p:sp>
        <p:nvSpPr>
          <p:cNvPr id="7" name="Rectangle: Rounded Corners 6">
            <a:extLst>
              <a:ext uri="{FF2B5EF4-FFF2-40B4-BE49-F238E27FC236}">
                <a16:creationId xmlns:a16="http://schemas.microsoft.com/office/drawing/2014/main" id="{CE76828B-AF1D-4DCC-BBEB-051077338FFB}"/>
              </a:ext>
            </a:extLst>
          </p:cNvPr>
          <p:cNvSpPr/>
          <p:nvPr/>
        </p:nvSpPr>
        <p:spPr>
          <a:xfrm>
            <a:off x="4360582" y="1365161"/>
            <a:ext cx="4413809" cy="5040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Courier New" panose="02070309020205020404" pitchFamily="49" charset="0"/>
                <a:cs typeface="Courier New" panose="02070309020205020404" pitchFamily="49" charset="0"/>
              </a:rPr>
              <a:t>Router(config-view)# </a:t>
            </a:r>
            <a:r>
              <a:rPr lang="en-US" sz="1400" b="1" dirty="0">
                <a:solidFill>
                  <a:schemeClr val="bg1"/>
                </a:solidFill>
                <a:latin typeface="Courier New" panose="02070309020205020404" pitchFamily="49" charset="0"/>
                <a:cs typeface="Courier New" panose="02070309020205020404" pitchFamily="49" charset="0"/>
              </a:rPr>
              <a:t>view</a:t>
            </a:r>
            <a:r>
              <a:rPr lang="en-US" sz="1400" dirty="0">
                <a:solidFill>
                  <a:schemeClr val="bg1"/>
                </a:solidFill>
                <a:latin typeface="Courier New" panose="02070309020205020404" pitchFamily="49" charset="0"/>
                <a:cs typeface="Courier New" panose="02070309020205020404" pitchFamily="49" charset="0"/>
              </a:rPr>
              <a:t> </a:t>
            </a:r>
            <a:r>
              <a:rPr lang="en-US" sz="1400" i="1" dirty="0">
                <a:solidFill>
                  <a:schemeClr val="bg1"/>
                </a:solidFill>
                <a:latin typeface="Courier New" panose="02070309020205020404" pitchFamily="49" charset="0"/>
                <a:cs typeface="Courier New" panose="02070309020205020404" pitchFamily="49" charset="0"/>
              </a:rPr>
              <a:t>view-name</a:t>
            </a:r>
            <a:endParaRPr lang="en-CA" dirty="0">
              <a:solidFill>
                <a:schemeClr val="bg1"/>
              </a:solidFill>
              <a:latin typeface="Courier New" panose="02070309020205020404" pitchFamily="49" charset="0"/>
              <a:cs typeface="Courier New" panose="02070309020205020404" pitchFamily="49"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dirty="0"/>
          </a:p>
        </p:txBody>
      </p:sp>
    </p:spTree>
    <p:extLst>
      <p:ext uri="{BB962C8B-B14F-4D97-AF65-F5344CB8AC3E}">
        <p14:creationId xmlns:p14="http://schemas.microsoft.com/office/powerpoint/2010/main" val="4267964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9B8388B-B78F-4284-8618-2354B9E8EEA8}"/>
              </a:ext>
            </a:extLst>
          </p:cNvPr>
          <p:cNvSpPr>
            <a:spLocks noGrp="1" noChangeArrowheads="1"/>
          </p:cNvSpPr>
          <p:nvPr>
            <p:ph idx="1"/>
          </p:nvPr>
        </p:nvSpPr>
        <p:spPr bwMode="auto">
          <a:xfrm>
            <a:off x="437767" y="1227039"/>
            <a:ext cx="8345487" cy="350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14264" numCol="1" rtlCol="0" anchor="ctr" anchorCtr="0" compatLnSpc="1">
            <a:prstTxWarp prst="textNoShape">
              <a:avLst/>
            </a:prstTxWarp>
            <a:spAutoFit/>
          </a:bodyPr>
          <a:lstStyle/>
          <a:p>
            <a:pPr marL="0" indent="0" algn="l"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a:t>
            </a:r>
            <a:r>
              <a:rPr lang="sk-SK" altLang="sk-SK" sz="1100" dirty="0" err="1">
                <a:solidFill>
                  <a:schemeClr val="tx1"/>
                </a:solidFill>
              </a:rPr>
              <a:t>enable</a:t>
            </a:r>
            <a:r>
              <a:rPr lang="sk-SK" altLang="sk-SK" sz="1100" dirty="0">
                <a:solidFill>
                  <a:schemeClr val="tx1"/>
                </a:solidFill>
              </a:rPr>
              <a:t> </a:t>
            </a:r>
            <a:r>
              <a:rPr lang="sk-SK" altLang="sk-SK" sz="1100" dirty="0" err="1">
                <a:solidFill>
                  <a:schemeClr val="tx1"/>
                </a:solidFill>
              </a:rPr>
              <a:t>secret</a:t>
            </a:r>
            <a:r>
              <a:rPr lang="sk-SK" altLang="sk-SK" sz="1100" dirty="0">
                <a:solidFill>
                  <a:schemeClr val="tx1"/>
                </a:solidFill>
              </a:rPr>
              <a:t> </a:t>
            </a:r>
            <a:r>
              <a:rPr lang="sk-SK" altLang="sk-SK" sz="1100" dirty="0" err="1">
                <a:solidFill>
                  <a:schemeClr val="tx1"/>
                </a:solidFill>
              </a:rPr>
              <a:t>cisco</a:t>
            </a:r>
            <a:r>
              <a:rPr lang="sk-SK" altLang="sk-SK" sz="1100" dirty="0">
                <a:solidFill>
                  <a:schemeClr val="tx1"/>
                </a:solidFill>
              </a:rPr>
              <a:t> </a:t>
            </a:r>
          </a:p>
          <a:p>
            <a:pPr marL="0" indent="0" algn="l"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a:t>
            </a:r>
            <a:r>
              <a:rPr lang="sk-SK" altLang="sk-SK" sz="1100" dirty="0" err="1">
                <a:solidFill>
                  <a:schemeClr val="tx1"/>
                </a:solidFill>
              </a:rPr>
              <a:t>aaa</a:t>
            </a:r>
            <a:r>
              <a:rPr lang="sk-SK" altLang="sk-SK" sz="1100" dirty="0">
                <a:solidFill>
                  <a:schemeClr val="tx1"/>
                </a:solidFill>
              </a:rPr>
              <a:t> new-model </a:t>
            </a:r>
          </a:p>
          <a:p>
            <a:pPr marL="0" indent="0" algn="l" eaLnBrk="0" fontAlgn="base" hangingPunct="0">
              <a:spcBef>
                <a:spcPct val="0"/>
              </a:spcBef>
              <a:spcAft>
                <a:spcPct val="0"/>
              </a:spcAft>
              <a:buNone/>
            </a:pPr>
            <a:r>
              <a:rPr lang="sk-SK" altLang="sk-SK" sz="1100" dirty="0">
                <a:solidFill>
                  <a:schemeClr val="tx1"/>
                </a:solidFill>
              </a:rPr>
              <a:t>! </a:t>
            </a:r>
            <a:r>
              <a:rPr lang="sk-SK" altLang="sk-SK" sz="1100" dirty="0" err="1">
                <a:solidFill>
                  <a:schemeClr val="tx1"/>
                </a:solidFill>
              </a:rPr>
              <a:t>For</a:t>
            </a:r>
            <a:r>
              <a:rPr lang="sk-SK" altLang="sk-SK" sz="1100" dirty="0">
                <a:solidFill>
                  <a:schemeClr val="tx1"/>
                </a:solidFill>
              </a:rPr>
              <a:t> </a:t>
            </a:r>
            <a:r>
              <a:rPr lang="sk-SK" altLang="sk-SK" sz="1100" dirty="0" err="1">
                <a:solidFill>
                  <a:schemeClr val="tx1"/>
                </a:solidFill>
              </a:rPr>
              <a:t>automatic</a:t>
            </a:r>
            <a:r>
              <a:rPr lang="sk-SK" altLang="sk-SK" sz="1100" dirty="0">
                <a:solidFill>
                  <a:schemeClr val="tx1"/>
                </a:solidFill>
              </a:rPr>
              <a:t> user </a:t>
            </a:r>
            <a:r>
              <a:rPr lang="sk-SK" altLang="sk-SK" sz="1100" dirty="0" err="1">
                <a:solidFill>
                  <a:schemeClr val="tx1"/>
                </a:solidFill>
              </a:rPr>
              <a:t>login</a:t>
            </a:r>
            <a:r>
              <a:rPr lang="sk-SK" altLang="sk-SK" sz="1100" dirty="0">
                <a:solidFill>
                  <a:schemeClr val="tx1"/>
                </a:solidFill>
              </a:rPr>
              <a:t> </a:t>
            </a:r>
            <a:r>
              <a:rPr lang="sk-SK" altLang="sk-SK" sz="1100" dirty="0" err="1">
                <a:solidFill>
                  <a:schemeClr val="tx1"/>
                </a:solidFill>
              </a:rPr>
              <a:t>with</a:t>
            </a:r>
            <a:r>
              <a:rPr lang="sk-SK" altLang="sk-SK" sz="1100" dirty="0">
                <a:solidFill>
                  <a:schemeClr val="tx1"/>
                </a:solidFill>
              </a:rPr>
              <a:t> </a:t>
            </a:r>
            <a:r>
              <a:rPr lang="sk-SK" altLang="sk-SK" sz="1100" dirty="0" err="1">
                <a:solidFill>
                  <a:schemeClr val="tx1"/>
                </a:solidFill>
              </a:rPr>
              <a:t>view</a:t>
            </a:r>
            <a:r>
              <a:rPr lang="sk-SK" altLang="sk-SK" sz="1100" dirty="0">
                <a:solidFill>
                  <a:schemeClr val="tx1"/>
                </a:solidFill>
              </a:rPr>
              <a:t> ....</a:t>
            </a:r>
          </a:p>
          <a:p>
            <a:pPr marL="0" indent="0" algn="l" defTabSz="685800"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 </a:t>
            </a:r>
            <a:r>
              <a:rPr lang="sk-SK" altLang="sk-SK" sz="1100" dirty="0" err="1">
                <a:solidFill>
                  <a:schemeClr val="tx1"/>
                </a:solidFill>
              </a:rPr>
              <a:t>aaa</a:t>
            </a:r>
            <a:r>
              <a:rPr lang="sk-SK" altLang="sk-SK" sz="1100" dirty="0">
                <a:solidFill>
                  <a:schemeClr val="tx1"/>
                </a:solidFill>
              </a:rPr>
              <a:t> </a:t>
            </a:r>
            <a:r>
              <a:rPr lang="sk-SK" altLang="sk-SK" sz="1100" dirty="0" err="1">
                <a:solidFill>
                  <a:schemeClr val="tx1"/>
                </a:solidFill>
              </a:rPr>
              <a:t>authentication</a:t>
            </a:r>
            <a:r>
              <a:rPr lang="sk-SK" altLang="sk-SK" sz="1100" dirty="0">
                <a:solidFill>
                  <a:schemeClr val="tx1"/>
                </a:solidFill>
              </a:rPr>
              <a:t> </a:t>
            </a:r>
            <a:r>
              <a:rPr lang="sk-SK" altLang="sk-SK" sz="1100" dirty="0" err="1">
                <a:solidFill>
                  <a:schemeClr val="tx1"/>
                </a:solidFill>
              </a:rPr>
              <a:t>login</a:t>
            </a:r>
            <a:r>
              <a:rPr lang="sk-SK" altLang="sk-SK" sz="1100" dirty="0">
                <a:solidFill>
                  <a:schemeClr val="tx1"/>
                </a:solidFill>
              </a:rPr>
              <a:t> default </a:t>
            </a:r>
            <a:r>
              <a:rPr lang="sk-SK" altLang="sk-SK" sz="1100" dirty="0" err="1">
                <a:solidFill>
                  <a:schemeClr val="tx1"/>
                </a:solidFill>
              </a:rPr>
              <a:t>local</a:t>
            </a:r>
            <a:endParaRPr lang="sk-SK" altLang="sk-SK" sz="1100" dirty="0">
              <a:solidFill>
                <a:schemeClr val="tx1"/>
              </a:solidFill>
            </a:endParaRPr>
          </a:p>
          <a:p>
            <a:pPr marL="0" indent="0" algn="l" defTabSz="685800"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 </a:t>
            </a:r>
            <a:r>
              <a:rPr lang="sk-SK" altLang="sk-SK" sz="1100" dirty="0" err="1">
                <a:solidFill>
                  <a:schemeClr val="tx1"/>
                </a:solidFill>
              </a:rPr>
              <a:t>aaa</a:t>
            </a:r>
            <a:r>
              <a:rPr lang="sk-SK" altLang="sk-SK" sz="1100" dirty="0">
                <a:solidFill>
                  <a:schemeClr val="tx1"/>
                </a:solidFill>
              </a:rPr>
              <a:t> </a:t>
            </a:r>
            <a:r>
              <a:rPr lang="sk-SK" altLang="sk-SK" sz="1100" dirty="0" err="1">
                <a:solidFill>
                  <a:schemeClr val="tx1"/>
                </a:solidFill>
              </a:rPr>
              <a:t>authorization</a:t>
            </a:r>
            <a:r>
              <a:rPr lang="sk-SK" altLang="sk-SK" sz="1100" dirty="0">
                <a:solidFill>
                  <a:schemeClr val="tx1"/>
                </a:solidFill>
              </a:rPr>
              <a:t> </a:t>
            </a:r>
            <a:r>
              <a:rPr lang="sk-SK" altLang="sk-SK" sz="1100" dirty="0" err="1">
                <a:solidFill>
                  <a:schemeClr val="tx1"/>
                </a:solidFill>
              </a:rPr>
              <a:t>console</a:t>
            </a:r>
            <a:endParaRPr lang="sk-SK" altLang="sk-SK" sz="1100" dirty="0">
              <a:solidFill>
                <a:schemeClr val="tx1"/>
              </a:solidFill>
            </a:endParaRPr>
          </a:p>
          <a:p>
            <a:pPr marL="0" indent="0" algn="l" defTabSz="685800"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 </a:t>
            </a:r>
            <a:r>
              <a:rPr lang="sk-SK" altLang="sk-SK" sz="1100" dirty="0" err="1">
                <a:solidFill>
                  <a:schemeClr val="tx1"/>
                </a:solidFill>
              </a:rPr>
              <a:t>aaa</a:t>
            </a:r>
            <a:r>
              <a:rPr lang="sk-SK" altLang="sk-SK" sz="1100" dirty="0">
                <a:solidFill>
                  <a:schemeClr val="tx1"/>
                </a:solidFill>
              </a:rPr>
              <a:t> </a:t>
            </a:r>
            <a:r>
              <a:rPr lang="sk-SK" altLang="sk-SK" sz="1100" dirty="0" err="1">
                <a:solidFill>
                  <a:schemeClr val="tx1"/>
                </a:solidFill>
              </a:rPr>
              <a:t>authorization</a:t>
            </a:r>
            <a:r>
              <a:rPr lang="sk-SK" altLang="sk-SK" sz="1100" dirty="0">
                <a:solidFill>
                  <a:schemeClr val="tx1"/>
                </a:solidFill>
              </a:rPr>
              <a:t> </a:t>
            </a:r>
            <a:r>
              <a:rPr lang="sk-SK" altLang="sk-SK" sz="1100" dirty="0" err="1">
                <a:solidFill>
                  <a:schemeClr val="tx1"/>
                </a:solidFill>
              </a:rPr>
              <a:t>exec</a:t>
            </a:r>
            <a:r>
              <a:rPr lang="sk-SK" altLang="sk-SK" sz="1100" dirty="0">
                <a:solidFill>
                  <a:schemeClr val="tx1"/>
                </a:solidFill>
              </a:rPr>
              <a:t> default </a:t>
            </a:r>
            <a:r>
              <a:rPr lang="sk-SK" altLang="sk-SK" sz="1100" dirty="0" err="1">
                <a:solidFill>
                  <a:schemeClr val="tx1"/>
                </a:solidFill>
              </a:rPr>
              <a:t>local</a:t>
            </a:r>
            <a:r>
              <a:rPr lang="sk-SK" altLang="sk-SK" sz="1100" dirty="0">
                <a:solidFill>
                  <a:schemeClr val="tx1"/>
                </a:solidFill>
              </a:rPr>
              <a:t> </a:t>
            </a:r>
          </a:p>
          <a:p>
            <a:pPr marL="0" indent="0" algn="l" defTabSz="685800" eaLnBrk="0" fontAlgn="base" hangingPunct="0">
              <a:spcBef>
                <a:spcPct val="0"/>
              </a:spcBef>
              <a:spcAft>
                <a:spcPct val="0"/>
              </a:spcAft>
              <a:buNone/>
            </a:pPr>
            <a:r>
              <a:rPr lang="sk-SK" altLang="sk-SK" sz="1100" dirty="0">
                <a:solidFill>
                  <a:schemeClr val="tx1"/>
                </a:solidFill>
              </a:rPr>
              <a:t>!</a:t>
            </a:r>
          </a:p>
          <a:p>
            <a:pPr marL="0" indent="0" algn="l" defTabSz="685800"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 </a:t>
            </a:r>
            <a:r>
              <a:rPr lang="sk-SK" altLang="sk-SK" sz="1100" dirty="0" err="1">
                <a:solidFill>
                  <a:schemeClr val="tx1"/>
                </a:solidFill>
              </a:rPr>
              <a:t>username</a:t>
            </a:r>
            <a:r>
              <a:rPr lang="sk-SK" altLang="sk-SK" sz="1100" dirty="0">
                <a:solidFill>
                  <a:schemeClr val="tx1"/>
                </a:solidFill>
              </a:rPr>
              <a:t> XXX </a:t>
            </a:r>
            <a:r>
              <a:rPr lang="sk-SK" altLang="sk-SK" sz="1100" dirty="0" err="1">
                <a:solidFill>
                  <a:schemeClr val="tx1"/>
                </a:solidFill>
              </a:rPr>
              <a:t>view</a:t>
            </a:r>
            <a:r>
              <a:rPr lang="sk-SK" altLang="sk-SK" sz="1100" dirty="0">
                <a:solidFill>
                  <a:schemeClr val="tx1"/>
                </a:solidFill>
              </a:rPr>
              <a:t> vw01 </a:t>
            </a:r>
            <a:r>
              <a:rPr lang="sk-SK" altLang="sk-SK" sz="1100" dirty="0" err="1">
                <a:solidFill>
                  <a:schemeClr val="tx1"/>
                </a:solidFill>
              </a:rPr>
              <a:t>secret</a:t>
            </a:r>
            <a:r>
              <a:rPr lang="sk-SK" altLang="sk-SK" sz="1100" dirty="0">
                <a:solidFill>
                  <a:schemeClr val="tx1"/>
                </a:solidFill>
              </a:rPr>
              <a:t> </a:t>
            </a:r>
            <a:r>
              <a:rPr lang="sk-SK" altLang="sk-SK" sz="1100" dirty="0" err="1">
                <a:solidFill>
                  <a:schemeClr val="tx1"/>
                </a:solidFill>
              </a:rPr>
              <a:t>cisco</a:t>
            </a:r>
            <a:endParaRPr lang="sk-SK" altLang="sk-SK" sz="1100" dirty="0">
              <a:solidFill>
                <a:schemeClr val="tx1"/>
              </a:solidFill>
            </a:endParaRPr>
          </a:p>
          <a:p>
            <a:pPr marL="0" indent="0" algn="l"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)#end </a:t>
            </a:r>
          </a:p>
          <a:p>
            <a:pPr marL="0" indent="0" algn="l" eaLnBrk="0" fontAlgn="base" hangingPunct="0">
              <a:spcBef>
                <a:spcPct val="0"/>
              </a:spcBef>
              <a:spcAft>
                <a:spcPct val="0"/>
              </a:spcAft>
              <a:buNone/>
            </a:pPr>
            <a:endParaRPr lang="sk-SK" altLang="sk-SK" sz="1100" dirty="0">
              <a:solidFill>
                <a:schemeClr val="tx1"/>
              </a:solidFill>
            </a:endParaRPr>
          </a:p>
          <a:p>
            <a:pPr marL="0" indent="0" algn="l" eaLnBrk="0" fontAlgn="base" hangingPunct="0">
              <a:spcBef>
                <a:spcPct val="0"/>
              </a:spcBef>
              <a:spcAft>
                <a:spcPct val="0"/>
              </a:spcAft>
              <a:buNone/>
            </a:pPr>
            <a:r>
              <a:rPr lang="sk-SK" altLang="sk-SK" sz="1100" dirty="0">
                <a:solidFill>
                  <a:schemeClr val="tx1"/>
                </a:solidFill>
              </a:rPr>
              <a:t>R2#enable </a:t>
            </a:r>
            <a:r>
              <a:rPr lang="sk-SK" altLang="sk-SK" sz="1100" dirty="0" err="1">
                <a:solidFill>
                  <a:schemeClr val="tx1"/>
                </a:solidFill>
              </a:rPr>
              <a:t>view</a:t>
            </a:r>
            <a:endParaRPr lang="sk-SK" altLang="sk-SK" sz="1100" dirty="0">
              <a:solidFill>
                <a:schemeClr val="tx1"/>
              </a:solidFill>
            </a:endParaRPr>
          </a:p>
          <a:p>
            <a:pPr marL="0" indent="0" algn="l" eaLnBrk="0" fontAlgn="base" hangingPunct="0">
              <a:spcBef>
                <a:spcPct val="0"/>
              </a:spcBef>
              <a:spcAft>
                <a:spcPct val="0"/>
              </a:spcAft>
              <a:buNone/>
            </a:pPr>
            <a:r>
              <a:rPr lang="sk-SK" altLang="sk-SK" sz="1100" dirty="0">
                <a:solidFill>
                  <a:schemeClr val="tx1"/>
                </a:solidFill>
              </a:rPr>
              <a:t> </a:t>
            </a:r>
          </a:p>
          <a:p>
            <a:pPr marL="0" indent="0" algn="l"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a:t>
            </a:r>
            <a:r>
              <a:rPr lang="sk-SK" altLang="sk-SK" sz="1100" dirty="0">
                <a:solidFill>
                  <a:schemeClr val="tx1"/>
                </a:solidFill>
              </a:rPr>
              <a:t>)#</a:t>
            </a:r>
            <a:r>
              <a:rPr lang="sk-SK" altLang="sk-SK" sz="1100" dirty="0" err="1">
                <a:solidFill>
                  <a:schemeClr val="tx1"/>
                </a:solidFill>
              </a:rPr>
              <a:t>parser</a:t>
            </a:r>
            <a:r>
              <a:rPr lang="sk-SK" altLang="sk-SK" sz="1100" dirty="0">
                <a:solidFill>
                  <a:schemeClr val="tx1"/>
                </a:solidFill>
              </a:rPr>
              <a:t> </a:t>
            </a:r>
            <a:r>
              <a:rPr lang="sk-SK" altLang="sk-SK" sz="1100" dirty="0" err="1">
                <a:solidFill>
                  <a:schemeClr val="tx1"/>
                </a:solidFill>
              </a:rPr>
              <a:t>view</a:t>
            </a:r>
            <a:r>
              <a:rPr lang="sk-SK" altLang="sk-SK" sz="1100" dirty="0">
                <a:solidFill>
                  <a:schemeClr val="tx1"/>
                </a:solidFill>
              </a:rPr>
              <a:t> vw01 </a:t>
            </a:r>
          </a:p>
          <a:p>
            <a:pPr marL="0" indent="0" algn="l"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config-view</a:t>
            </a:r>
            <a:r>
              <a:rPr lang="sk-SK" altLang="sk-SK" sz="1100" dirty="0">
                <a:solidFill>
                  <a:schemeClr val="tx1"/>
                </a:solidFill>
              </a:rPr>
              <a:t>)#</a:t>
            </a:r>
            <a:r>
              <a:rPr lang="sk-SK" altLang="sk-SK" sz="1100" dirty="0" err="1">
                <a:solidFill>
                  <a:schemeClr val="tx1"/>
                </a:solidFill>
              </a:rPr>
              <a:t>secret</a:t>
            </a:r>
            <a:r>
              <a:rPr lang="sk-SK" altLang="sk-SK" sz="1100" dirty="0">
                <a:solidFill>
                  <a:schemeClr val="tx1"/>
                </a:solidFill>
              </a:rPr>
              <a:t> </a:t>
            </a:r>
            <a:r>
              <a:rPr lang="sk-SK" altLang="sk-SK" sz="1100" dirty="0" err="1">
                <a:solidFill>
                  <a:schemeClr val="tx1"/>
                </a:solidFill>
              </a:rPr>
              <a:t>cisco</a:t>
            </a:r>
            <a:endParaRPr lang="sk-SK" altLang="sk-SK" sz="1100" dirty="0">
              <a:solidFill>
                <a:schemeClr val="tx1"/>
              </a:solidFill>
            </a:endParaRPr>
          </a:p>
          <a:p>
            <a:pPr marL="0" indent="0" algn="l" defTabSz="685800"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config-view</a:t>
            </a:r>
            <a:r>
              <a:rPr lang="sk-SK" altLang="sk-SK" sz="1100" dirty="0">
                <a:solidFill>
                  <a:schemeClr val="tx1"/>
                </a:solidFill>
              </a:rPr>
              <a:t>)#commands </a:t>
            </a:r>
            <a:r>
              <a:rPr lang="sk-SK" altLang="sk-SK" sz="1100" dirty="0" err="1">
                <a:solidFill>
                  <a:schemeClr val="tx1"/>
                </a:solidFill>
              </a:rPr>
              <a:t>exec</a:t>
            </a:r>
            <a:r>
              <a:rPr lang="sk-SK" altLang="sk-SK" sz="1100" dirty="0">
                <a:solidFill>
                  <a:schemeClr val="tx1"/>
                </a:solidFill>
              </a:rPr>
              <a:t> </a:t>
            </a:r>
            <a:r>
              <a:rPr lang="sk-SK" altLang="sk-SK" sz="1100" dirty="0" err="1">
                <a:solidFill>
                  <a:schemeClr val="tx1"/>
                </a:solidFill>
              </a:rPr>
              <a:t>include</a:t>
            </a:r>
            <a:r>
              <a:rPr lang="sk-SK" altLang="sk-SK" sz="1100" dirty="0">
                <a:solidFill>
                  <a:schemeClr val="tx1"/>
                </a:solidFill>
              </a:rPr>
              <a:t> </a:t>
            </a:r>
            <a:r>
              <a:rPr lang="sk-SK" altLang="sk-SK" sz="1100" dirty="0" err="1">
                <a:solidFill>
                  <a:schemeClr val="tx1"/>
                </a:solidFill>
              </a:rPr>
              <a:t>ping</a:t>
            </a:r>
            <a:r>
              <a:rPr lang="sk-SK" altLang="sk-SK" sz="1100" dirty="0">
                <a:solidFill>
                  <a:schemeClr val="tx1"/>
                </a:solidFill>
              </a:rPr>
              <a:t> </a:t>
            </a:r>
          </a:p>
          <a:p>
            <a:pPr marL="0" indent="0" algn="l" defTabSz="685800" eaLnBrk="0" fontAlgn="base" hangingPunct="0">
              <a:spcBef>
                <a:spcPct val="0"/>
              </a:spcBef>
              <a:spcAft>
                <a:spcPct val="0"/>
              </a:spcAft>
              <a:buNone/>
            </a:pPr>
            <a:r>
              <a:rPr lang="sk-SK" altLang="sk-SK" sz="1100" dirty="0">
                <a:solidFill>
                  <a:schemeClr val="tx1"/>
                </a:solidFill>
              </a:rPr>
              <a:t>R2(</a:t>
            </a:r>
            <a:r>
              <a:rPr lang="sk-SK" altLang="sk-SK" sz="1100" dirty="0" err="1">
                <a:solidFill>
                  <a:schemeClr val="tx1"/>
                </a:solidFill>
              </a:rPr>
              <a:t>config-view</a:t>
            </a:r>
            <a:r>
              <a:rPr lang="sk-SK" altLang="sk-SK" sz="1100" dirty="0">
                <a:solidFill>
                  <a:schemeClr val="tx1"/>
                </a:solidFill>
              </a:rPr>
              <a:t>)#commands </a:t>
            </a:r>
            <a:r>
              <a:rPr lang="sk-SK" altLang="sk-SK" sz="1100" dirty="0" err="1">
                <a:solidFill>
                  <a:schemeClr val="tx1"/>
                </a:solidFill>
              </a:rPr>
              <a:t>exec</a:t>
            </a:r>
            <a:r>
              <a:rPr lang="sk-SK" altLang="sk-SK" sz="1100" dirty="0">
                <a:solidFill>
                  <a:schemeClr val="tx1"/>
                </a:solidFill>
              </a:rPr>
              <a:t> </a:t>
            </a:r>
            <a:r>
              <a:rPr lang="sk-SK" altLang="sk-SK" sz="1100" dirty="0" err="1">
                <a:solidFill>
                  <a:schemeClr val="tx1"/>
                </a:solidFill>
              </a:rPr>
              <a:t>include</a:t>
            </a:r>
            <a:r>
              <a:rPr lang="sk-SK" altLang="sk-SK" sz="1100" dirty="0">
                <a:solidFill>
                  <a:schemeClr val="tx1"/>
                </a:solidFill>
              </a:rPr>
              <a:t> </a:t>
            </a:r>
            <a:r>
              <a:rPr lang="sk-SK" altLang="sk-SK" sz="1100" dirty="0" err="1">
                <a:solidFill>
                  <a:schemeClr val="tx1"/>
                </a:solidFill>
              </a:rPr>
              <a:t>all</a:t>
            </a:r>
            <a:r>
              <a:rPr lang="sk-SK" altLang="sk-SK" sz="1100" dirty="0">
                <a:solidFill>
                  <a:schemeClr val="tx1"/>
                </a:solidFill>
              </a:rPr>
              <a:t> show</a:t>
            </a:r>
          </a:p>
          <a:p>
            <a:pPr marL="0" indent="0" algn="l" defTabSz="685800" eaLnBrk="0" fontAlgn="base" hangingPunct="0">
              <a:spcBef>
                <a:spcPct val="0"/>
              </a:spcBef>
              <a:spcAft>
                <a:spcPct val="0"/>
              </a:spcAft>
              <a:buNone/>
            </a:pPr>
            <a:endParaRPr lang="sk-SK" altLang="sk-SK" sz="1100" dirty="0">
              <a:solidFill>
                <a:schemeClr val="tx1"/>
              </a:solidFill>
            </a:endParaRPr>
          </a:p>
          <a:p>
            <a:pPr marL="0" indent="0" algn="l" defTabSz="685800" eaLnBrk="0" fontAlgn="base" hangingPunct="0">
              <a:spcBef>
                <a:spcPct val="0"/>
              </a:spcBef>
              <a:spcAft>
                <a:spcPct val="0"/>
              </a:spcAft>
              <a:buNone/>
            </a:pPr>
            <a:r>
              <a:rPr lang="sk-SK" altLang="sk-SK" sz="1100" dirty="0">
                <a:solidFill>
                  <a:schemeClr val="tx1"/>
                </a:solidFill>
              </a:rPr>
              <a:t>Note:</a:t>
            </a:r>
          </a:p>
          <a:p>
            <a:pPr marL="0" indent="0" algn="l" defTabSz="685800" eaLnBrk="0" fontAlgn="base" hangingPunct="0">
              <a:spcBef>
                <a:spcPct val="0"/>
              </a:spcBef>
              <a:spcAft>
                <a:spcPct val="0"/>
              </a:spcAft>
              <a:buNone/>
            </a:pPr>
            <a:r>
              <a:rPr lang="sk-SK" altLang="sk-SK" sz="1100" dirty="0">
                <a:solidFill>
                  <a:schemeClr val="tx1"/>
                </a:solidFill>
              </a:rPr>
              <a:t>Router# </a:t>
            </a:r>
            <a:r>
              <a:rPr lang="sk-SK" altLang="sk-SK" sz="1100" dirty="0" err="1">
                <a:solidFill>
                  <a:schemeClr val="tx1"/>
                </a:solidFill>
              </a:rPr>
              <a:t>enable</a:t>
            </a:r>
            <a:r>
              <a:rPr lang="sk-SK" altLang="sk-SK" sz="1100" dirty="0">
                <a:solidFill>
                  <a:schemeClr val="tx1"/>
                </a:solidFill>
              </a:rPr>
              <a:t> </a:t>
            </a:r>
            <a:r>
              <a:rPr lang="sk-SK" altLang="sk-SK" sz="1100" dirty="0" err="1">
                <a:solidFill>
                  <a:schemeClr val="tx1"/>
                </a:solidFill>
              </a:rPr>
              <a:t>view</a:t>
            </a:r>
            <a:r>
              <a:rPr lang="sk-SK" altLang="sk-SK" sz="1100" dirty="0">
                <a:solidFill>
                  <a:schemeClr val="tx1"/>
                </a:solidFill>
              </a:rPr>
              <a:t> vw01</a:t>
            </a:r>
          </a:p>
          <a:p>
            <a:pPr marL="0" indent="0" algn="l" defTabSz="685800" eaLnBrk="0" fontAlgn="base" hangingPunct="0">
              <a:spcBef>
                <a:spcPct val="0"/>
              </a:spcBef>
              <a:spcAft>
                <a:spcPct val="0"/>
              </a:spcAft>
              <a:buNone/>
            </a:pPr>
            <a:r>
              <a:rPr lang="sk-SK" altLang="sk-SK" sz="1100" dirty="0">
                <a:solidFill>
                  <a:schemeClr val="tx1"/>
                </a:solidFill>
              </a:rPr>
              <a:t>Router# Show </a:t>
            </a:r>
            <a:r>
              <a:rPr lang="sk-SK" altLang="sk-SK" sz="1100" dirty="0" err="1">
                <a:solidFill>
                  <a:schemeClr val="tx1"/>
                </a:solidFill>
              </a:rPr>
              <a:t>parser</a:t>
            </a:r>
            <a:r>
              <a:rPr lang="sk-SK" altLang="sk-SK" sz="1100" dirty="0">
                <a:solidFill>
                  <a:schemeClr val="tx1"/>
                </a:solidFill>
              </a:rPr>
              <a:t> </a:t>
            </a:r>
            <a:r>
              <a:rPr lang="sk-SK" altLang="sk-SK" sz="1100" dirty="0" err="1">
                <a:solidFill>
                  <a:schemeClr val="tx1"/>
                </a:solidFill>
              </a:rPr>
              <a:t>view</a:t>
            </a:r>
            <a:endParaRPr lang="sk-SK" altLang="sk-SK" sz="1100" dirty="0">
              <a:solidFill>
                <a:schemeClr val="tx1"/>
              </a:solidFill>
            </a:endParaRPr>
          </a:p>
        </p:txBody>
      </p:sp>
      <p:sp>
        <p:nvSpPr>
          <p:cNvPr id="2" name="Nadpis 1">
            <a:extLst>
              <a:ext uri="{FF2B5EF4-FFF2-40B4-BE49-F238E27FC236}">
                <a16:creationId xmlns:a16="http://schemas.microsoft.com/office/drawing/2014/main" id="{7A28F2CA-8258-42EA-AFA4-5BB204849A9B}"/>
              </a:ext>
            </a:extLst>
          </p:cNvPr>
          <p:cNvSpPr>
            <a:spLocks noGrp="1"/>
          </p:cNvSpPr>
          <p:nvPr>
            <p:ph type="title"/>
          </p:nvPr>
        </p:nvSpPr>
        <p:spPr/>
        <p:txBody>
          <a:bodyPr/>
          <a:lstStyle/>
          <a:p>
            <a:r>
              <a:rPr lang="en-US" dirty="0"/>
              <a:t>Role-Based CLI Views</a:t>
            </a:r>
            <a:endParaRPr lang="sk-SK" dirty="0"/>
          </a:p>
        </p:txBody>
      </p:sp>
      <p:sp>
        <p:nvSpPr>
          <p:cNvPr id="16" name="Rectangle 13">
            <a:extLst>
              <a:ext uri="{FF2B5EF4-FFF2-40B4-BE49-F238E27FC236}">
                <a16:creationId xmlns:a16="http://schemas.microsoft.com/office/drawing/2014/main" id="{4F40C003-65B6-401A-BD44-31D01E84827F}"/>
              </a:ext>
            </a:extLst>
          </p:cNvPr>
          <p:cNvSpPr>
            <a:spLocks noChangeArrowheads="1"/>
          </p:cNvSpPr>
          <p:nvPr/>
        </p:nvSpPr>
        <p:spPr bwMode="auto">
          <a:xfrm>
            <a:off x="1143000" y="-24739"/>
            <a:ext cx="65" cy="392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14264" numCol="1" anchor="ctr" anchorCtr="0" compatLnSpc="1">
            <a:prstTxWarp prst="textNoShape">
              <a:avLst/>
            </a:prstTxWarp>
            <a:spAutoFit/>
          </a:bodyPr>
          <a:lstStyle/>
          <a:p>
            <a:pPr defTabSz="685800" eaLnBrk="0" fontAlgn="base" hangingPunct="0">
              <a:spcBef>
                <a:spcPct val="0"/>
              </a:spcBef>
              <a:spcAft>
                <a:spcPct val="0"/>
              </a:spcAft>
            </a:pPr>
            <a:br>
              <a:rPr lang="sk-SK" altLang="sk-SK" sz="450" dirty="0"/>
            </a:br>
            <a:endParaRPr lang="sk-SK" altLang="sk-SK" sz="1350" dirty="0">
              <a:latin typeface="Arial" panose="020B0604020202020204" pitchFamily="34" charset="0"/>
            </a:endParaRPr>
          </a:p>
        </p:txBody>
      </p:sp>
    </p:spTree>
    <p:extLst>
      <p:ext uri="{BB962C8B-B14F-4D97-AF65-F5344CB8AC3E}">
        <p14:creationId xmlns:p14="http://schemas.microsoft.com/office/powerpoint/2010/main" val="3548429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Role-Based CLI Views</a:t>
            </a:r>
          </a:p>
        </p:txBody>
      </p:sp>
      <p:sp>
        <p:nvSpPr>
          <p:cNvPr id="5" name="Object4"/>
          <p:cNvSpPr/>
          <p:nvPr/>
        </p:nvSpPr>
        <p:spPr>
          <a:xfrm>
            <a:off x="66294" y="774114"/>
            <a:ext cx="8961120" cy="91440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verify a view, use the </a:t>
            </a:r>
            <a:r>
              <a:rPr lang="en-US" sz="1600" b="1" dirty="0">
                <a:latin typeface="Arial" panose="020B0604020202020204" pitchFamily="34" charset="0"/>
                <a:cs typeface="Arial" panose="020B0604020202020204" pitchFamily="34" charset="0"/>
              </a:rPr>
              <a:t>enable view </a:t>
            </a:r>
            <a:r>
              <a:rPr lang="en-US" sz="1600" i="1" dirty="0">
                <a:latin typeface="Arial" panose="020B0604020202020204" pitchFamily="34" charset="0"/>
                <a:cs typeface="Arial" panose="020B0604020202020204" pitchFamily="34" charset="0"/>
              </a:rPr>
              <a:t>view-name</a:t>
            </a:r>
            <a:r>
              <a:rPr lang="en-US" sz="1600" dirty="0">
                <a:latin typeface="Arial" panose="020B0604020202020204" pitchFamily="34" charset="0"/>
                <a:cs typeface="Arial" panose="020B0604020202020204" pitchFamily="34" charset="0"/>
              </a:rPr>
              <a:t> command. Enter the name of the view to verify and provide the password to log into the view. Use the question mark (</a:t>
            </a:r>
            <a:r>
              <a:rPr lang="en-US" sz="1600" b="1" dirty="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command to verify that the commands available in the view are correct. The example enables the USER superview and lists the commands available in the view.</a:t>
            </a:r>
          </a:p>
          <a:p>
            <a:pPr>
              <a:lnSpc>
                <a:spcPts val="2000"/>
              </a:lnSpc>
            </a:pPr>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6191EFC-E02A-42FB-BEEB-22784A8B45BA}"/>
              </a:ext>
            </a:extLst>
          </p:cNvPr>
          <p:cNvPicPr>
            <a:picLocks noChangeAspect="1"/>
          </p:cNvPicPr>
          <p:nvPr/>
        </p:nvPicPr>
        <p:blipFill>
          <a:blip r:embed="rId3"/>
          <a:stretch>
            <a:fillRect/>
          </a:stretch>
        </p:blipFill>
        <p:spPr>
          <a:xfrm>
            <a:off x="1014984" y="1865142"/>
            <a:ext cx="6531589" cy="282433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dirty="0"/>
          </a:p>
        </p:txBody>
      </p:sp>
    </p:spTree>
    <p:extLst>
      <p:ext uri="{BB962C8B-B14F-4D97-AF65-F5344CB8AC3E}">
        <p14:creationId xmlns:p14="http://schemas.microsoft.com/office/powerpoint/2010/main" val="1664232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Role-Based CLI</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Role-Based CLI Views (Cont.)</a:t>
            </a:r>
          </a:p>
        </p:txBody>
      </p:sp>
      <p:sp>
        <p:nvSpPr>
          <p:cNvPr id="5" name="Object4"/>
          <p:cNvSpPr/>
          <p:nvPr/>
        </p:nvSpPr>
        <p:spPr>
          <a:xfrm>
            <a:off x="66294" y="774114"/>
            <a:ext cx="8961120" cy="91440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This example enables the JR-ADMIN view and lists the commands available in the view</a:t>
            </a:r>
            <a:r>
              <a:rPr lang="en-US" sz="1600" dirty="0"/>
              <a:t>.</a:t>
            </a:r>
            <a:endParaRPr lang="en-US" sz="16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5A53BF6-05B3-477A-AEDD-EBA6947728DA}"/>
              </a:ext>
            </a:extLst>
          </p:cNvPr>
          <p:cNvSpPr txBox="1"/>
          <p:nvPr/>
        </p:nvSpPr>
        <p:spPr>
          <a:xfrm>
            <a:off x="219456" y="3982819"/>
            <a:ext cx="8807958" cy="615553"/>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By not specifying a view for the </a:t>
            </a:r>
            <a:r>
              <a:rPr lang="en-US" sz="1600" b="1" dirty="0">
                <a:latin typeface="Arial" panose="020B0604020202020204" pitchFamily="34" charset="0"/>
                <a:cs typeface="Arial" panose="020B0604020202020204" pitchFamily="34" charset="0"/>
              </a:rPr>
              <a:t>enable view </a:t>
            </a:r>
            <a:r>
              <a:rPr lang="en-US" sz="1600" dirty="0">
                <a:latin typeface="Arial" panose="020B0604020202020204" pitchFamily="34" charset="0"/>
                <a:cs typeface="Arial" panose="020B0604020202020204" pitchFamily="34" charset="0"/>
              </a:rPr>
              <a:t>command, you can log in as root. From the root view, use the </a:t>
            </a:r>
            <a:r>
              <a:rPr lang="en-US" sz="1600" b="1" dirty="0">
                <a:latin typeface="Arial" panose="020B0604020202020204" pitchFamily="34" charset="0"/>
                <a:cs typeface="Arial" panose="020B0604020202020204" pitchFamily="34" charset="0"/>
              </a:rPr>
              <a:t>show parser view all </a:t>
            </a:r>
            <a:r>
              <a:rPr lang="en-US" sz="1600" dirty="0">
                <a:latin typeface="Arial" panose="020B0604020202020204" pitchFamily="34" charset="0"/>
                <a:cs typeface="Arial" panose="020B0604020202020204" pitchFamily="34" charset="0"/>
              </a:rPr>
              <a:t>command to see a summary of all views</a:t>
            </a:r>
            <a:r>
              <a:rPr lang="en-US" dirty="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C835EFA6-A8D0-4C81-9FE9-D950CFEE06D4}"/>
              </a:ext>
            </a:extLst>
          </p:cNvPr>
          <p:cNvPicPr>
            <a:picLocks noChangeAspect="1"/>
          </p:cNvPicPr>
          <p:nvPr/>
        </p:nvPicPr>
        <p:blipFill>
          <a:blip r:embed="rId3"/>
          <a:stretch>
            <a:fillRect/>
          </a:stretch>
        </p:blipFill>
        <p:spPr>
          <a:xfrm>
            <a:off x="299466" y="1124594"/>
            <a:ext cx="7797546" cy="289431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dirty="0"/>
          </a:p>
        </p:txBody>
      </p:sp>
    </p:spTree>
    <p:extLst>
      <p:ext uri="{BB962C8B-B14F-4D97-AF65-F5344CB8AC3E}">
        <p14:creationId xmlns:p14="http://schemas.microsoft.com/office/powerpoint/2010/main" val="2444017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6: Device Monitoring and Management</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20656109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4099" name="Rectangle 34"/>
          <p:cNvSpPr>
            <a:spLocks noGrp="1" noChangeArrowheads="1"/>
          </p:cNvSpPr>
          <p:nvPr>
            <p:ph idx="1"/>
          </p:nvPr>
        </p:nvSpPr>
        <p:spPr>
          <a:xfrm>
            <a:off x="0" y="685775"/>
            <a:ext cx="9006840" cy="1128717"/>
          </a:xfrm>
        </p:spPr>
        <p:txBody>
          <a:bodyPr/>
          <a:lstStyle/>
          <a:p>
            <a:pPr marL="188912" lvl="1" indent="0">
              <a:buNone/>
            </a:pPr>
            <a:r>
              <a:rPr lang="en-US" b="1" dirty="0">
                <a:latin typeface="Arial" panose="020B0604020202020204" pitchFamily="34" charset="0"/>
                <a:cs typeface="Arial" panose="020B0604020202020204" pitchFamily="34" charset="0"/>
              </a:rPr>
              <a:t>Module Title</a:t>
            </a:r>
            <a:r>
              <a:rPr lang="en-US" dirty="0">
                <a:latin typeface="Arial" panose="020B0604020202020204" pitchFamily="34" charset="0"/>
                <a:cs typeface="Arial" panose="020B0604020202020204" pitchFamily="34" charset="0"/>
              </a:rPr>
              <a:t>: Device </a:t>
            </a:r>
            <a:r>
              <a:rPr lang="en-US" i="0" u="none" strike="noStrike" dirty="0">
                <a:solidFill>
                  <a:srgbClr val="000000"/>
                </a:solidFill>
                <a:effectLst/>
                <a:latin typeface="Arial" panose="020B0604020202020204" pitchFamily="34" charset="0"/>
                <a:cs typeface="Arial" panose="020B0604020202020204" pitchFamily="34" charset="0"/>
              </a:rPr>
              <a:t>Monitoring and Management</a:t>
            </a:r>
            <a:endParaRPr lang="en-US" dirty="0">
              <a:latin typeface="Arial" panose="020B0604020202020204" pitchFamily="34" charset="0"/>
              <a:cs typeface="Arial" panose="020B0604020202020204" pitchFamily="34" charset="0"/>
            </a:endParaRPr>
          </a:p>
          <a:p>
            <a:pPr marL="188912" lvl="1" indent="0">
              <a:buNone/>
            </a:pPr>
            <a:endParaRPr lang="en-US" b="1" dirty="0">
              <a:latin typeface="Arial" panose="020B0604020202020204" pitchFamily="34" charset="0"/>
              <a:cs typeface="Arial" panose="020B0604020202020204" pitchFamily="34" charset="0"/>
            </a:endParaRPr>
          </a:p>
          <a:p>
            <a:pPr marL="188912" lvl="1" indent="0">
              <a:buNone/>
            </a:pPr>
            <a:r>
              <a:rPr lang="en-US" b="1" dirty="0">
                <a:latin typeface="Arial" panose="020B0604020202020204" pitchFamily="34" charset="0"/>
                <a:cs typeface="Arial" panose="020B0604020202020204" pitchFamily="34" charset="0"/>
              </a:rPr>
              <a:t>Module Objective</a:t>
            </a:r>
            <a:r>
              <a:rPr lang="en-US" dirty="0">
                <a:latin typeface="Arial" panose="020B0604020202020204" pitchFamily="34" charset="0"/>
                <a:cs typeface="Arial" panose="020B0604020202020204" pitchFamily="34" charset="0"/>
              </a:rPr>
              <a:t>: </a:t>
            </a:r>
            <a:r>
              <a:rPr lang="en-US" i="0" u="none" strike="noStrike" dirty="0">
                <a:solidFill>
                  <a:srgbClr val="000000"/>
                </a:solidFill>
                <a:effectLst/>
                <a:latin typeface="Arial" panose="020B0604020202020204" pitchFamily="34" charset="0"/>
                <a:cs typeface="Arial" panose="020B0604020202020204" pitchFamily="34" charset="0"/>
              </a:rPr>
              <a:t>Implement the secure management and monitoring of network devices. </a:t>
            </a:r>
            <a:endParaRPr lang="en-US" sz="115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73C07AB0-6822-FB4C-9445-25B1C20C98B1}"/>
              </a:ext>
            </a:extLst>
          </p:cNvPr>
          <p:cNvGraphicFramePr>
            <a:graphicFrameLocks noGrp="1"/>
          </p:cNvGraphicFramePr>
          <p:nvPr>
            <p:extLst>
              <p:ext uri="{D42A27DB-BD31-4B8C-83A1-F6EECF244321}">
                <p14:modId xmlns:p14="http://schemas.microsoft.com/office/powerpoint/2010/main" val="460735702"/>
              </p:ext>
            </p:extLst>
          </p:nvPr>
        </p:nvGraphicFramePr>
        <p:xfrm>
          <a:off x="68580" y="1636053"/>
          <a:ext cx="9006840" cy="2841250"/>
        </p:xfrm>
        <a:graphic>
          <a:graphicData uri="http://schemas.openxmlformats.org/drawingml/2006/table">
            <a:tbl>
              <a:tblPr firstRow="1" firstCol="1" bandRow="1">
                <a:tableStyleId>{5C22544A-7EE6-4342-B048-85BDC9FD1C3A}</a:tableStyleId>
              </a:tblPr>
              <a:tblGrid>
                <a:gridCol w="3836670">
                  <a:extLst>
                    <a:ext uri="{9D8B030D-6E8A-4147-A177-3AD203B41FA5}">
                      <a16:colId xmlns:a16="http://schemas.microsoft.com/office/drawing/2014/main" val="1523797708"/>
                    </a:ext>
                  </a:extLst>
                </a:gridCol>
                <a:gridCol w="5170170">
                  <a:extLst>
                    <a:ext uri="{9D8B030D-6E8A-4147-A177-3AD203B41FA5}">
                      <a16:colId xmlns:a16="http://schemas.microsoft.com/office/drawing/2014/main" val="2750207184"/>
                    </a:ext>
                  </a:extLst>
                </a:gridCol>
              </a:tblGrid>
              <a:tr h="134479">
                <a:tc>
                  <a:txBody>
                    <a:bodyPr/>
                    <a:lstStyle/>
                    <a:p>
                      <a:r>
                        <a:rPr lang="en-US" sz="1100" b="1" dirty="0">
                          <a:effectLst/>
                        </a:rPr>
                        <a:t>Topic Title</a:t>
                      </a:r>
                      <a:endParaRPr lang="en-US" sz="1100" dirty="0">
                        <a:effectLst/>
                      </a:endParaRPr>
                    </a:p>
                  </a:txBody>
                  <a:tcPr anchor="ctr"/>
                </a:tc>
                <a:tc>
                  <a:txBody>
                    <a:bodyPr/>
                    <a:lstStyle/>
                    <a:p>
                      <a:r>
                        <a:rPr lang="en-US" sz="1100" b="1" dirty="0"/>
                        <a:t>Topic Objective</a:t>
                      </a:r>
                      <a:endParaRPr lang="en-US" sz="1100" dirty="0"/>
                    </a:p>
                  </a:txBody>
                  <a:tcPr anchor="ctr"/>
                </a:tc>
                <a:extLst>
                  <a:ext uri="{0D108BD9-81ED-4DB2-BD59-A6C34878D82A}">
                    <a16:rowId xmlns:a16="http://schemas.microsoft.com/office/drawing/2014/main" val="1874061904"/>
                  </a:ext>
                </a:extLst>
              </a:tr>
              <a:tr h="333554">
                <a:tc>
                  <a:txBody>
                    <a:bodyPr/>
                    <a:lstStyle/>
                    <a:p>
                      <a:r>
                        <a:rPr lang="en-US" sz="1200" b="1" dirty="0"/>
                        <a:t>Secure Cisco IOS Image and Configuration Files</a:t>
                      </a:r>
                      <a:endParaRPr lang="en-US" sz="1200" dirty="0"/>
                    </a:p>
                  </a:txBody>
                  <a:tcPr anchor="ctr"/>
                </a:tc>
                <a:tc>
                  <a:txBody>
                    <a:bodyPr/>
                    <a:lstStyle/>
                    <a:p>
                      <a:r>
                        <a:rPr lang="en-US" sz="1200" dirty="0"/>
                        <a:t>Explain how the Cisco IOS resilient configuration feature and Secure Copy are used to secure the Cisco IOS image and configuration files.</a:t>
                      </a:r>
                    </a:p>
                  </a:txBody>
                  <a:tcPr anchor="ctr"/>
                </a:tc>
                <a:extLst>
                  <a:ext uri="{0D108BD9-81ED-4DB2-BD59-A6C34878D82A}">
                    <a16:rowId xmlns:a16="http://schemas.microsoft.com/office/drawing/2014/main" val="1646858405"/>
                  </a:ext>
                </a:extLst>
              </a:tr>
              <a:tr h="333554">
                <a:tc>
                  <a:txBody>
                    <a:bodyPr/>
                    <a:lstStyle/>
                    <a:p>
                      <a:r>
                        <a:rPr lang="en-US" sz="1200" b="1" dirty="0"/>
                        <a:t>Lock Down a Router Using AutoSecure</a:t>
                      </a:r>
                      <a:endParaRPr lang="en-US" sz="1200" dirty="0"/>
                    </a:p>
                  </a:txBody>
                  <a:tcPr anchor="ctr"/>
                </a:tc>
                <a:tc>
                  <a:txBody>
                    <a:bodyPr/>
                    <a:lstStyle/>
                    <a:p>
                      <a:r>
                        <a:rPr lang="en-US" sz="1200" dirty="0"/>
                        <a:t>Use the correct commands for AutoSecure to enable security on IOS-based routers.</a:t>
                      </a:r>
                    </a:p>
                  </a:txBody>
                  <a:tcPr anchor="ctr"/>
                </a:tc>
                <a:extLst>
                  <a:ext uri="{0D108BD9-81ED-4DB2-BD59-A6C34878D82A}">
                    <a16:rowId xmlns:a16="http://schemas.microsoft.com/office/drawing/2014/main" val="3762369207"/>
                  </a:ext>
                </a:extLst>
              </a:tr>
              <a:tr h="333554">
                <a:tc>
                  <a:txBody>
                    <a:bodyPr/>
                    <a:lstStyle/>
                    <a:p>
                      <a:r>
                        <a:rPr lang="en-US" sz="1200" b="1" dirty="0"/>
                        <a:t>Routing Protocol Authentication</a:t>
                      </a:r>
                      <a:endParaRPr lang="en-US" sz="1200" dirty="0"/>
                    </a:p>
                  </a:txBody>
                  <a:tcPr anchor="ctr"/>
                </a:tc>
                <a:tc>
                  <a:txBody>
                    <a:bodyPr/>
                    <a:lstStyle/>
                    <a:p>
                      <a:r>
                        <a:rPr lang="en-US" sz="1200" dirty="0"/>
                        <a:t>Use the correct command to configure routing protocol authentication.</a:t>
                      </a:r>
                    </a:p>
                  </a:txBody>
                  <a:tcPr anchor="ctr"/>
                </a:tc>
                <a:extLst>
                  <a:ext uri="{0D108BD9-81ED-4DB2-BD59-A6C34878D82A}">
                    <a16:rowId xmlns:a16="http://schemas.microsoft.com/office/drawing/2014/main" val="2781006153"/>
                  </a:ext>
                </a:extLst>
              </a:tr>
              <a:tr h="333554">
                <a:tc>
                  <a:txBody>
                    <a:bodyPr/>
                    <a:lstStyle/>
                    <a:p>
                      <a:r>
                        <a:rPr lang="en-US" sz="1200" b="1" dirty="0"/>
                        <a:t>Secure Management and Reporting</a:t>
                      </a:r>
                      <a:endParaRPr lang="en-US" sz="1200" dirty="0"/>
                    </a:p>
                  </a:txBody>
                  <a:tcPr anchor="ctr"/>
                </a:tc>
                <a:tc>
                  <a:txBody>
                    <a:bodyPr/>
                    <a:lstStyle/>
                    <a:p>
                      <a:r>
                        <a:rPr lang="en-US" sz="1200" dirty="0"/>
                        <a:t>Compare in-band and out-of-band management access.</a:t>
                      </a:r>
                    </a:p>
                  </a:txBody>
                  <a:tcPr anchor="ctr"/>
                </a:tc>
                <a:extLst>
                  <a:ext uri="{0D108BD9-81ED-4DB2-BD59-A6C34878D82A}">
                    <a16:rowId xmlns:a16="http://schemas.microsoft.com/office/drawing/2014/main" val="3192478012"/>
                  </a:ext>
                </a:extLst>
              </a:tr>
              <a:tr h="333554">
                <a:tc>
                  <a:txBody>
                    <a:bodyPr/>
                    <a:lstStyle/>
                    <a:p>
                      <a:r>
                        <a:rPr lang="en-US" sz="1200" b="1" dirty="0"/>
                        <a:t>Network Security Using Syslog</a:t>
                      </a:r>
                      <a:endParaRPr lang="en-US" sz="1200" dirty="0"/>
                    </a:p>
                  </a:txBody>
                  <a:tcPr anchor="ctr"/>
                </a:tc>
                <a:tc>
                  <a:txBody>
                    <a:bodyPr/>
                    <a:lstStyle/>
                    <a:p>
                      <a:r>
                        <a:rPr lang="en-US" sz="1200" dirty="0"/>
                        <a:t>Explain how to configure syslog to log system events.</a:t>
                      </a:r>
                    </a:p>
                  </a:txBody>
                  <a:tcPr anchor="ctr"/>
                </a:tc>
                <a:extLst>
                  <a:ext uri="{0D108BD9-81ED-4DB2-BD59-A6C34878D82A}">
                    <a16:rowId xmlns:a16="http://schemas.microsoft.com/office/drawing/2014/main" val="2277701727"/>
                  </a:ext>
                </a:extLst>
              </a:tr>
              <a:tr h="333554">
                <a:tc>
                  <a:txBody>
                    <a:bodyPr/>
                    <a:lstStyle/>
                    <a:p>
                      <a:r>
                        <a:rPr lang="en-US" sz="1200" b="1" dirty="0"/>
                        <a:t>NTP Configuration</a:t>
                      </a:r>
                      <a:endParaRPr lang="en-US" sz="1200" dirty="0"/>
                    </a:p>
                  </a:txBody>
                  <a:tcPr anchor="ctr"/>
                </a:tc>
                <a:tc>
                  <a:txBody>
                    <a:bodyPr/>
                    <a:lstStyle/>
                    <a:p>
                      <a:r>
                        <a:rPr lang="en-US" sz="1200" dirty="0"/>
                        <a:t>Configure NTP to enable accurate timestamping between all devices.</a:t>
                      </a:r>
                    </a:p>
                  </a:txBody>
                  <a:tcPr anchor="ctr"/>
                </a:tc>
                <a:extLst>
                  <a:ext uri="{0D108BD9-81ED-4DB2-BD59-A6C34878D82A}">
                    <a16:rowId xmlns:a16="http://schemas.microsoft.com/office/drawing/2014/main" val="3427659189"/>
                  </a:ext>
                </a:extLst>
              </a:tr>
              <a:tr h="333554">
                <a:tc>
                  <a:txBody>
                    <a:bodyPr/>
                    <a:lstStyle/>
                    <a:p>
                      <a:r>
                        <a:rPr lang="en-US" sz="1200" b="1" dirty="0"/>
                        <a:t>SNMP Configuration</a:t>
                      </a:r>
                      <a:endParaRPr lang="en-US" sz="1200" dirty="0"/>
                    </a:p>
                  </a:txBody>
                  <a:tcPr anchor="ctr"/>
                </a:tc>
                <a:tc>
                  <a:txBody>
                    <a:bodyPr/>
                    <a:lstStyle/>
                    <a:p>
                      <a:r>
                        <a:rPr lang="en-US" sz="1200" dirty="0"/>
                        <a:t>Configure SNMP to monitor system status.</a:t>
                      </a:r>
                    </a:p>
                  </a:txBody>
                  <a:tcPr anchor="ctr"/>
                </a:tc>
                <a:extLst>
                  <a:ext uri="{0D108BD9-81ED-4DB2-BD59-A6C34878D82A}">
                    <a16:rowId xmlns:a16="http://schemas.microsoft.com/office/drawing/2014/main" val="2382253584"/>
                  </a:ext>
                </a:extLst>
              </a:tr>
            </a:tbl>
          </a:graphicData>
        </a:graphic>
      </p:graphicFrame>
    </p:spTree>
    <p:custDataLst>
      <p:tags r:id="rId1"/>
    </p:custDataLst>
    <p:extLst>
      <p:ext uri="{BB962C8B-B14F-4D97-AF65-F5344CB8AC3E}">
        <p14:creationId xmlns:p14="http://schemas.microsoft.com/office/powerpoint/2010/main" val="19636680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6.1 Secure Cisco IOS Image and Configuration Files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46</a:t>
            </a:fld>
            <a:endParaRPr lang="en-US" dirty="0"/>
          </a:p>
        </p:txBody>
      </p:sp>
    </p:spTree>
    <p:extLst>
      <p:ext uri="{BB962C8B-B14F-4D97-AF65-F5344CB8AC3E}">
        <p14:creationId xmlns:p14="http://schemas.microsoft.com/office/powerpoint/2010/main" val="9187583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IOS Resilient Configuration Feature</a:t>
            </a:r>
          </a:p>
        </p:txBody>
      </p:sp>
      <p:sp>
        <p:nvSpPr>
          <p:cNvPr id="5" name="Object4"/>
          <p:cNvSpPr/>
          <p:nvPr/>
        </p:nvSpPr>
        <p:spPr>
          <a:xfrm>
            <a:off x="146050" y="930303"/>
            <a:ext cx="8851900" cy="3784572"/>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The Cisco IOS resilient configuration feature allows for faster recovery if someone maliciously or unintentionally </a:t>
            </a:r>
            <a:r>
              <a:rPr lang="en-US" b="1" dirty="0">
                <a:latin typeface="Arial" panose="020B0604020202020204" pitchFamily="34" charset="0"/>
                <a:cs typeface="Arial" panose="020B0604020202020204" pitchFamily="34" charset="0"/>
              </a:rPr>
              <a:t>reformats flash memory</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erases the startup configuration file</a:t>
            </a:r>
            <a:r>
              <a:rPr lang="en-US" dirty="0">
                <a:latin typeface="Arial" panose="020B0604020202020204" pitchFamily="34" charset="0"/>
                <a:cs typeface="Arial" panose="020B0604020202020204" pitchFamily="34" charset="0"/>
              </a:rPr>
              <a:t> in nonvolatile random-access memory (NVRAM). </a:t>
            </a:r>
          </a:p>
          <a:p>
            <a:pPr>
              <a:lnSpc>
                <a:spcPts val="2000"/>
              </a:lnSpc>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configuration file in the primary bootset is a copy of the running configuration that was in the router when the feature was first enabled.</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feature secures the smallest working set of files to preserve persistent storage space.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No extra space is required to secure the primary Cisco IOS image file. The feature automatically detects image or configuration version mismatch.</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Only local storage is used for securing files.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feature can be disabled only through a console session.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47</a:t>
            </a:fld>
            <a:endParaRPr lang="en-US" dirty="0"/>
          </a:p>
        </p:txBody>
      </p:sp>
    </p:spTree>
    <p:extLst>
      <p:ext uri="{BB962C8B-B14F-4D97-AF65-F5344CB8AC3E}">
        <p14:creationId xmlns:p14="http://schemas.microsoft.com/office/powerpoint/2010/main" val="14803305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Enabling the IOS Image Resilience Feature</a:t>
            </a:r>
          </a:p>
        </p:txBody>
      </p:sp>
      <p:sp>
        <p:nvSpPr>
          <p:cNvPr id="5" name="Object4"/>
          <p:cNvSpPr/>
          <p:nvPr/>
        </p:nvSpPr>
        <p:spPr>
          <a:xfrm>
            <a:off x="136525" y="914400"/>
            <a:ext cx="8870950"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To secure the IOS image and enable Cisco IOS image resilience, use the </a:t>
            </a:r>
            <a:r>
              <a:rPr lang="en-US" b="1" dirty="0">
                <a:latin typeface="Arial" panose="020B0604020202020204" pitchFamily="34" charset="0"/>
                <a:cs typeface="Arial" panose="020B0604020202020204" pitchFamily="34" charset="0"/>
              </a:rPr>
              <a:t>secure boot-image</a:t>
            </a:r>
            <a:r>
              <a:rPr lang="en-US" dirty="0">
                <a:latin typeface="Arial" panose="020B0604020202020204" pitchFamily="34" charset="0"/>
                <a:cs typeface="Arial" panose="020B0604020202020204" pitchFamily="34" charset="0"/>
              </a:rPr>
              <a:t> global configuration mode command. When enabled for the first time, the running Cisco IOS image is secured, and a log entry is generated.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Cisco IOS image resilience feature can only be disabled through a console session using the </a:t>
            </a:r>
            <a:r>
              <a:rPr lang="en-US" b="1" dirty="0">
                <a:latin typeface="Arial" panose="020B0604020202020204" pitchFamily="34" charset="0"/>
                <a:cs typeface="Arial" panose="020B0604020202020204" pitchFamily="34" charset="0"/>
              </a:rPr>
              <a:t>no</a:t>
            </a:r>
            <a:r>
              <a:rPr lang="en-US" dirty="0">
                <a:latin typeface="Arial" panose="020B0604020202020204" pitchFamily="34" charset="0"/>
                <a:cs typeface="Arial" panose="020B0604020202020204" pitchFamily="34" charset="0"/>
              </a:rPr>
              <a:t> form of the command. Use the </a:t>
            </a:r>
            <a:r>
              <a:rPr lang="en-US" b="1" dirty="0">
                <a:latin typeface="Arial" panose="020B0604020202020204" pitchFamily="34" charset="0"/>
                <a:cs typeface="Arial" panose="020B0604020202020204" pitchFamily="34" charset="0"/>
              </a:rPr>
              <a:t>show secure bootset</a:t>
            </a:r>
            <a:r>
              <a:rPr lang="en-US" dirty="0">
                <a:latin typeface="Arial" panose="020B0604020202020204" pitchFamily="34" charset="0"/>
                <a:cs typeface="Arial" panose="020B0604020202020204" pitchFamily="34" charset="0"/>
              </a:rPr>
              <a:t> command to verify the existence of the archive.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dirty="0"/>
          </a:p>
        </p:txBody>
      </p:sp>
    </p:spTree>
    <p:extLst>
      <p:ext uri="{BB962C8B-B14F-4D97-AF65-F5344CB8AC3E}">
        <p14:creationId xmlns:p14="http://schemas.microsoft.com/office/powerpoint/2010/main" val="3435332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Enabling the IOS Image Resilience Feature (Cont.)</a:t>
            </a:r>
          </a:p>
        </p:txBody>
      </p:sp>
      <p:pic>
        <p:nvPicPr>
          <p:cNvPr id="6" name="Picture 5">
            <a:extLst>
              <a:ext uri="{FF2B5EF4-FFF2-40B4-BE49-F238E27FC236}">
                <a16:creationId xmlns:a16="http://schemas.microsoft.com/office/drawing/2014/main" id="{F1CBA615-B946-4137-9A30-3E5B03C36CF8}"/>
              </a:ext>
            </a:extLst>
          </p:cNvPr>
          <p:cNvPicPr>
            <a:picLocks noChangeAspect="1"/>
          </p:cNvPicPr>
          <p:nvPr/>
        </p:nvPicPr>
        <p:blipFill>
          <a:blip r:embed="rId3"/>
          <a:stretch>
            <a:fillRect/>
          </a:stretch>
        </p:blipFill>
        <p:spPr>
          <a:xfrm>
            <a:off x="923925" y="682525"/>
            <a:ext cx="6749693" cy="426094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49</a:t>
            </a:fld>
            <a:endParaRPr lang="en-US" dirty="0"/>
          </a:p>
        </p:txBody>
      </p:sp>
    </p:spTree>
    <p:extLst>
      <p:ext uri="{BB962C8B-B14F-4D97-AF65-F5344CB8AC3E}">
        <p14:creationId xmlns:p14="http://schemas.microsoft.com/office/powerpoint/2010/main" val="32370725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Primary Bootset Image</a:t>
            </a:r>
          </a:p>
        </p:txBody>
      </p:sp>
      <p:sp>
        <p:nvSpPr>
          <p:cNvPr id="5" name="Object4"/>
          <p:cNvSpPr/>
          <p:nvPr/>
        </p:nvSpPr>
        <p:spPr>
          <a:xfrm>
            <a:off x="0" y="734060"/>
            <a:ext cx="9279172"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Restore a primary bootset from a secure archive after the router has been tampered with, as follows:</a:t>
            </a:r>
          </a:p>
          <a:p>
            <a:pPr>
              <a:lnSpc>
                <a:spcPts val="2000"/>
              </a:lnSpc>
            </a:pPr>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Step 1</a:t>
            </a:r>
            <a:r>
              <a:rPr lang="en-US" sz="1500" dirty="0">
                <a:latin typeface="Arial" panose="020B0604020202020204" pitchFamily="34" charset="0"/>
                <a:cs typeface="Arial" panose="020B0604020202020204" pitchFamily="34" charset="0"/>
              </a:rPr>
              <a:t>. Reload the router using the </a:t>
            </a:r>
            <a:r>
              <a:rPr lang="en-US" sz="1500" b="1" dirty="0">
                <a:latin typeface="Arial" panose="020B0604020202020204" pitchFamily="34" charset="0"/>
                <a:cs typeface="Arial" panose="020B0604020202020204" pitchFamily="34" charset="0"/>
              </a:rPr>
              <a:t>reload</a:t>
            </a:r>
            <a:r>
              <a:rPr lang="en-US" sz="1500" dirty="0">
                <a:latin typeface="Arial" panose="020B0604020202020204" pitchFamily="34" charset="0"/>
                <a:cs typeface="Arial" panose="020B0604020202020204" pitchFamily="34" charset="0"/>
              </a:rPr>
              <a:t> command. If necessary, issue the break sequence to enter ROM monitor (ROMmon) mode.</a:t>
            </a:r>
          </a:p>
          <a:p>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Step 2</a:t>
            </a:r>
            <a:r>
              <a:rPr lang="en-US" sz="1500" dirty="0">
                <a:latin typeface="Arial" panose="020B0604020202020204" pitchFamily="34" charset="0"/>
                <a:cs typeface="Arial" panose="020B0604020202020204" pitchFamily="34" charset="0"/>
              </a:rPr>
              <a:t>. From ROMmon mode, enter the </a:t>
            </a:r>
            <a:r>
              <a:rPr lang="en-US" sz="1500" b="1" dirty="0">
                <a:latin typeface="Arial" panose="020B0604020202020204" pitchFamily="34" charset="0"/>
                <a:cs typeface="Arial" panose="020B0604020202020204" pitchFamily="34" charset="0"/>
              </a:rPr>
              <a:t>dir</a:t>
            </a:r>
            <a:r>
              <a:rPr lang="en-US" sz="1500" dirty="0">
                <a:latin typeface="Arial" panose="020B0604020202020204" pitchFamily="34" charset="0"/>
                <a:cs typeface="Arial" panose="020B0604020202020204" pitchFamily="34" charset="0"/>
              </a:rPr>
              <a:t> command to list the contents of the device that contains the secure bootset file.</a:t>
            </a:r>
          </a:p>
          <a:p>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Step 3</a:t>
            </a:r>
            <a:r>
              <a:rPr lang="en-US" sz="1500" dirty="0">
                <a:latin typeface="Arial" panose="020B0604020202020204" pitchFamily="34" charset="0"/>
                <a:cs typeface="Arial" panose="020B0604020202020204" pitchFamily="34" charset="0"/>
              </a:rPr>
              <a:t>. Boot the router with the secure bootset image using the </a:t>
            </a:r>
            <a:r>
              <a:rPr lang="en-US" sz="1500" b="1" dirty="0">
                <a:latin typeface="Arial" panose="020B0604020202020204" pitchFamily="34" charset="0"/>
                <a:cs typeface="Arial" panose="020B0604020202020204" pitchFamily="34" charset="0"/>
              </a:rPr>
              <a:t>boot</a:t>
            </a:r>
            <a:r>
              <a:rPr lang="en-US" sz="1500" dirty="0">
                <a:latin typeface="Arial" panose="020B0604020202020204" pitchFamily="34" charset="0"/>
                <a:cs typeface="Arial" panose="020B0604020202020204" pitchFamily="34" charset="0"/>
              </a:rPr>
              <a:t> command followed by the flash memory location (e.g. flash0), a colon, and the filename found in Step 2.</a:t>
            </a:r>
          </a:p>
          <a:p>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Step 4</a:t>
            </a:r>
            <a:r>
              <a:rPr lang="en-US" sz="1500" dirty="0">
                <a:latin typeface="Arial" panose="020B0604020202020204" pitchFamily="34" charset="0"/>
                <a:cs typeface="Arial" panose="020B0604020202020204" pitchFamily="34" charset="0"/>
              </a:rPr>
              <a:t>. Enter global configuration mode and restore the secure configuration to a filename of your choice using the </a:t>
            </a:r>
            <a:r>
              <a:rPr lang="en-US" sz="1500" b="1" dirty="0">
                <a:latin typeface="Arial" panose="020B0604020202020204" pitchFamily="34" charset="0"/>
                <a:cs typeface="Arial" panose="020B0604020202020204" pitchFamily="34" charset="0"/>
              </a:rPr>
              <a:t>secure boot-config restore</a:t>
            </a:r>
            <a:r>
              <a:rPr lang="en-US" sz="1500" dirty="0">
                <a:latin typeface="Arial" panose="020B0604020202020204" pitchFamily="34" charset="0"/>
                <a:cs typeface="Arial" panose="020B0604020202020204" pitchFamily="34" charset="0"/>
              </a:rPr>
              <a:t> command followed by the flash memory location (e.g. flash0), a colon, and a filename of your choice. In the figure, the filename rescue-cfg is used.</a:t>
            </a:r>
          </a:p>
          <a:p>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Step 5</a:t>
            </a:r>
            <a:r>
              <a:rPr lang="en-US" sz="1500" dirty="0">
                <a:latin typeface="Arial" panose="020B0604020202020204" pitchFamily="34" charset="0"/>
                <a:cs typeface="Arial" panose="020B0604020202020204" pitchFamily="34" charset="0"/>
              </a:rPr>
              <a:t>. Exit global configuration mode and issue the </a:t>
            </a:r>
            <a:r>
              <a:rPr lang="en-US" sz="1500" b="1" dirty="0">
                <a:latin typeface="Arial" panose="020B0604020202020204" pitchFamily="34" charset="0"/>
                <a:cs typeface="Arial" panose="020B0604020202020204" pitchFamily="34" charset="0"/>
              </a:rPr>
              <a:t>copy</a:t>
            </a:r>
            <a:r>
              <a:rPr lang="en-US" sz="1500" dirty="0">
                <a:latin typeface="Arial" panose="020B0604020202020204" pitchFamily="34" charset="0"/>
                <a:cs typeface="Arial" panose="020B0604020202020204" pitchFamily="34" charset="0"/>
              </a:rPr>
              <a:t> command to copy the rescued configuration file to the running configuration.</a:t>
            </a:r>
          </a:p>
          <a:p>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50</a:t>
            </a:fld>
            <a:endParaRPr lang="en-US" dirty="0"/>
          </a:p>
        </p:txBody>
      </p:sp>
    </p:spTree>
    <p:extLst>
      <p:ext uri="{BB962C8B-B14F-4D97-AF65-F5344CB8AC3E}">
        <p14:creationId xmlns:p14="http://schemas.microsoft.com/office/powerpoint/2010/main" val="3432851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Primary Bootset Image (Cont.)</a:t>
            </a:r>
          </a:p>
        </p:txBody>
      </p:sp>
      <p:pic>
        <p:nvPicPr>
          <p:cNvPr id="6" name="Picture 5">
            <a:extLst>
              <a:ext uri="{FF2B5EF4-FFF2-40B4-BE49-F238E27FC236}">
                <a16:creationId xmlns:a16="http://schemas.microsoft.com/office/drawing/2014/main" id="{7DFDC683-B825-4228-9D7F-B703C7316B14}"/>
              </a:ext>
            </a:extLst>
          </p:cNvPr>
          <p:cNvPicPr>
            <a:picLocks noChangeAspect="1"/>
          </p:cNvPicPr>
          <p:nvPr/>
        </p:nvPicPr>
        <p:blipFill>
          <a:blip r:embed="rId3"/>
          <a:stretch>
            <a:fillRect/>
          </a:stretch>
        </p:blipFill>
        <p:spPr>
          <a:xfrm>
            <a:off x="1377755" y="736238"/>
            <a:ext cx="6185095" cy="41406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dirty="0"/>
          </a:p>
        </p:txBody>
      </p:sp>
    </p:spTree>
    <p:extLst>
      <p:ext uri="{BB962C8B-B14F-4D97-AF65-F5344CB8AC3E}">
        <p14:creationId xmlns:p14="http://schemas.microsoft.com/office/powerpoint/2010/main" val="41364767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Configuring Secure Copy</a:t>
            </a:r>
          </a:p>
        </p:txBody>
      </p:sp>
      <p:sp>
        <p:nvSpPr>
          <p:cNvPr id="5" name="Object4"/>
          <p:cNvSpPr/>
          <p:nvPr/>
        </p:nvSpPr>
        <p:spPr>
          <a:xfrm>
            <a:off x="0" y="635000"/>
            <a:ext cx="9359900" cy="2571750"/>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The Secure Copy Protocol (SCP) feature is used to remotely copy IOS and configuration files. SCP provides a secure and authenticated method for copying router configuration or router image files to a remote location. SRC relies on SCP relies on SSH to secure communication and AAA to provide authentication and authorization.</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Configure the router for server-side SCP with local AAA:</a:t>
            </a:r>
          </a:p>
          <a:p>
            <a:endParaRPr lang="en-US" sz="1400" dirty="0">
              <a:latin typeface="Arial" panose="020B0604020202020204" pitchFamily="34" charset="0"/>
              <a:cs typeface="Arial" panose="020B0604020202020204" pitchFamily="34" charset="0"/>
            </a:endParaRPr>
          </a:p>
          <a:p>
            <a:r>
              <a:rPr lang="en-US" sz="1350" b="1" dirty="0">
                <a:latin typeface="Arial" panose="020B0604020202020204" pitchFamily="34" charset="0"/>
                <a:cs typeface="Arial" panose="020B0604020202020204" pitchFamily="34" charset="0"/>
              </a:rPr>
              <a:t>Step 1</a:t>
            </a:r>
            <a:r>
              <a:rPr lang="en-US" sz="1350" dirty="0">
                <a:latin typeface="Arial" panose="020B0604020202020204" pitchFamily="34" charset="0"/>
                <a:cs typeface="Arial" panose="020B0604020202020204" pitchFamily="34" charset="0"/>
              </a:rPr>
              <a:t>. Configure SSH, if not already configured.</a:t>
            </a:r>
          </a:p>
          <a:p>
            <a:endParaRPr lang="en-US" sz="1350" dirty="0">
              <a:latin typeface="Arial" panose="020B0604020202020204" pitchFamily="34" charset="0"/>
              <a:cs typeface="Arial" panose="020B0604020202020204" pitchFamily="34" charset="0"/>
            </a:endParaRPr>
          </a:p>
          <a:p>
            <a:r>
              <a:rPr lang="en-US" sz="1350" b="1" dirty="0">
                <a:latin typeface="Arial" panose="020B0604020202020204" pitchFamily="34" charset="0"/>
                <a:cs typeface="Arial" panose="020B0604020202020204" pitchFamily="34" charset="0"/>
              </a:rPr>
              <a:t>Step 2</a:t>
            </a:r>
            <a:r>
              <a:rPr lang="en-US" sz="1350" dirty="0">
                <a:latin typeface="Arial" panose="020B0604020202020204" pitchFamily="34" charset="0"/>
                <a:cs typeface="Arial" panose="020B0604020202020204" pitchFamily="34" charset="0"/>
              </a:rPr>
              <a:t>. For local authentication, configure at least one local database user with privilege level 15.</a:t>
            </a:r>
          </a:p>
          <a:p>
            <a:endParaRPr lang="en-US" sz="1350" dirty="0">
              <a:latin typeface="Arial" panose="020B0604020202020204" pitchFamily="34" charset="0"/>
              <a:cs typeface="Arial" panose="020B0604020202020204" pitchFamily="34" charset="0"/>
            </a:endParaRPr>
          </a:p>
          <a:p>
            <a:r>
              <a:rPr lang="en-US" sz="1350" b="1" dirty="0">
                <a:latin typeface="Arial" panose="020B0604020202020204" pitchFamily="34" charset="0"/>
                <a:cs typeface="Arial" panose="020B0604020202020204" pitchFamily="34" charset="0"/>
              </a:rPr>
              <a:t>Step 3</a:t>
            </a:r>
            <a:r>
              <a:rPr lang="en-US" sz="1350" dirty="0">
                <a:latin typeface="Arial" panose="020B0604020202020204" pitchFamily="34" charset="0"/>
                <a:cs typeface="Arial" panose="020B0604020202020204" pitchFamily="34" charset="0"/>
              </a:rPr>
              <a:t>. Enable AAA with the </a:t>
            </a:r>
            <a:r>
              <a:rPr lang="en-US" sz="1350" b="1" dirty="0">
                <a:latin typeface="Arial" panose="020B0604020202020204" pitchFamily="34" charset="0"/>
                <a:cs typeface="Arial" panose="020B0604020202020204" pitchFamily="34" charset="0"/>
              </a:rPr>
              <a:t>aaa new-model</a:t>
            </a:r>
            <a:r>
              <a:rPr lang="en-US" sz="1350" dirty="0">
                <a:latin typeface="Arial" panose="020B0604020202020204" pitchFamily="34" charset="0"/>
                <a:cs typeface="Arial" panose="020B0604020202020204" pitchFamily="34" charset="0"/>
              </a:rPr>
              <a:t> global configuration mode command.</a:t>
            </a:r>
          </a:p>
          <a:p>
            <a:endParaRPr lang="en-US" sz="1350" dirty="0">
              <a:latin typeface="Arial" panose="020B0604020202020204" pitchFamily="34" charset="0"/>
              <a:cs typeface="Arial" panose="020B0604020202020204" pitchFamily="34" charset="0"/>
            </a:endParaRPr>
          </a:p>
          <a:p>
            <a:r>
              <a:rPr lang="en-US" sz="1350" b="1" dirty="0">
                <a:latin typeface="Arial" panose="020B0604020202020204" pitchFamily="34" charset="0"/>
                <a:cs typeface="Arial" panose="020B0604020202020204" pitchFamily="34" charset="0"/>
              </a:rPr>
              <a:t>Step 4</a:t>
            </a:r>
            <a:r>
              <a:rPr lang="en-US" sz="1350" dirty="0">
                <a:latin typeface="Arial" panose="020B0604020202020204" pitchFamily="34" charset="0"/>
                <a:cs typeface="Arial" panose="020B0604020202020204" pitchFamily="34" charset="0"/>
              </a:rPr>
              <a:t>. Use the </a:t>
            </a:r>
            <a:r>
              <a:rPr lang="en-US" sz="1350" b="1" dirty="0">
                <a:latin typeface="Arial" panose="020B0604020202020204" pitchFamily="34" charset="0"/>
                <a:cs typeface="Arial" panose="020B0604020202020204" pitchFamily="34" charset="0"/>
              </a:rPr>
              <a:t>aaa authentication login default local</a:t>
            </a:r>
            <a:r>
              <a:rPr lang="en-US" sz="1350" dirty="0">
                <a:latin typeface="Arial" panose="020B0604020202020204" pitchFamily="34" charset="0"/>
                <a:cs typeface="Arial" panose="020B0604020202020204" pitchFamily="34" charset="0"/>
              </a:rPr>
              <a:t> command to specify that the local database be used for authentication.</a:t>
            </a:r>
          </a:p>
          <a:p>
            <a:endParaRPr lang="en-US" sz="1350" dirty="0">
              <a:latin typeface="Arial" panose="020B0604020202020204" pitchFamily="34" charset="0"/>
              <a:cs typeface="Arial" panose="020B0604020202020204" pitchFamily="34" charset="0"/>
            </a:endParaRPr>
          </a:p>
          <a:p>
            <a:r>
              <a:rPr lang="en-US" sz="1350" b="1" dirty="0">
                <a:latin typeface="Arial" panose="020B0604020202020204" pitchFamily="34" charset="0"/>
                <a:cs typeface="Arial" panose="020B0604020202020204" pitchFamily="34" charset="0"/>
              </a:rPr>
              <a:t>Step 5</a:t>
            </a:r>
            <a:r>
              <a:rPr lang="en-US" sz="1350" dirty="0">
                <a:latin typeface="Arial" panose="020B0604020202020204" pitchFamily="34" charset="0"/>
                <a:cs typeface="Arial" panose="020B0604020202020204" pitchFamily="34" charset="0"/>
              </a:rPr>
              <a:t>. Use the </a:t>
            </a:r>
            <a:r>
              <a:rPr lang="en-US" sz="1350" b="1" dirty="0">
                <a:latin typeface="Arial" panose="020B0604020202020204" pitchFamily="34" charset="0"/>
                <a:cs typeface="Arial" panose="020B0604020202020204" pitchFamily="34" charset="0"/>
              </a:rPr>
              <a:t>aaa authorization exec default local</a:t>
            </a:r>
            <a:r>
              <a:rPr lang="en-US" sz="1350" dirty="0">
                <a:latin typeface="Arial" panose="020B0604020202020204" pitchFamily="34" charset="0"/>
                <a:cs typeface="Arial" panose="020B0604020202020204" pitchFamily="34" charset="0"/>
              </a:rPr>
              <a:t> command to configure command authorization. In this example, all local users will have access to EXEC commands.</a:t>
            </a:r>
          </a:p>
          <a:p>
            <a:endParaRPr lang="en-US" sz="1350" dirty="0">
              <a:latin typeface="Arial" panose="020B0604020202020204" pitchFamily="34" charset="0"/>
              <a:cs typeface="Arial" panose="020B0604020202020204" pitchFamily="34" charset="0"/>
            </a:endParaRPr>
          </a:p>
          <a:p>
            <a:r>
              <a:rPr lang="en-US" sz="1350" b="1" dirty="0">
                <a:latin typeface="Arial" panose="020B0604020202020204" pitchFamily="34" charset="0"/>
                <a:cs typeface="Arial" panose="020B0604020202020204" pitchFamily="34" charset="0"/>
              </a:rPr>
              <a:t>Step 6</a:t>
            </a:r>
            <a:r>
              <a:rPr lang="en-US" sz="1350" dirty="0">
                <a:latin typeface="Arial" panose="020B0604020202020204" pitchFamily="34" charset="0"/>
                <a:cs typeface="Arial" panose="020B0604020202020204" pitchFamily="34" charset="0"/>
              </a:rPr>
              <a:t>. Enable SCP server-side functionality with the </a:t>
            </a:r>
            <a:r>
              <a:rPr lang="en-US" sz="1350" b="1" dirty="0">
                <a:latin typeface="Arial" panose="020B0604020202020204" pitchFamily="34" charset="0"/>
                <a:cs typeface="Arial" panose="020B0604020202020204" pitchFamily="34" charset="0"/>
              </a:rPr>
              <a:t>ip scp server enable</a:t>
            </a:r>
            <a:r>
              <a:rPr lang="en-US" sz="1350" dirty="0">
                <a:latin typeface="Arial" panose="020B0604020202020204" pitchFamily="34" charset="0"/>
                <a:cs typeface="Arial" panose="020B0604020202020204" pitchFamily="34" charset="0"/>
              </a:rPr>
              <a:t> command.</a:t>
            </a:r>
          </a:p>
          <a:p>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52</a:t>
            </a:fld>
            <a:endParaRPr lang="en-US" dirty="0"/>
          </a:p>
        </p:txBody>
      </p:sp>
    </p:spTree>
    <p:extLst>
      <p:ext uri="{BB962C8B-B14F-4D97-AF65-F5344CB8AC3E}">
        <p14:creationId xmlns:p14="http://schemas.microsoft.com/office/powerpoint/2010/main" val="2049489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Configuring Secure Copy (Cont.)</a:t>
            </a:r>
          </a:p>
        </p:txBody>
      </p:sp>
      <p:pic>
        <p:nvPicPr>
          <p:cNvPr id="6" name="Picture 5">
            <a:extLst>
              <a:ext uri="{FF2B5EF4-FFF2-40B4-BE49-F238E27FC236}">
                <a16:creationId xmlns:a16="http://schemas.microsoft.com/office/drawing/2014/main" id="{ED41738D-F902-4F90-A2E7-2C2FF3171486}"/>
              </a:ext>
            </a:extLst>
          </p:cNvPr>
          <p:cNvPicPr>
            <a:picLocks noChangeAspect="1"/>
          </p:cNvPicPr>
          <p:nvPr/>
        </p:nvPicPr>
        <p:blipFill>
          <a:blip r:embed="rId3"/>
          <a:stretch>
            <a:fillRect/>
          </a:stretch>
        </p:blipFill>
        <p:spPr>
          <a:xfrm>
            <a:off x="1415888" y="889531"/>
            <a:ext cx="6312224" cy="1346269"/>
          </a:xfrm>
          <a:prstGeom prst="rect">
            <a:avLst/>
          </a:prstGeom>
        </p:spPr>
      </p:pic>
      <p:pic>
        <p:nvPicPr>
          <p:cNvPr id="8" name="Picture 7">
            <a:extLst>
              <a:ext uri="{FF2B5EF4-FFF2-40B4-BE49-F238E27FC236}">
                <a16:creationId xmlns:a16="http://schemas.microsoft.com/office/drawing/2014/main" id="{365101CE-DE60-4CB0-B3F3-A75B50D738A3}"/>
              </a:ext>
            </a:extLst>
          </p:cNvPr>
          <p:cNvPicPr>
            <a:picLocks noChangeAspect="1"/>
          </p:cNvPicPr>
          <p:nvPr/>
        </p:nvPicPr>
        <p:blipFill>
          <a:blip r:embed="rId4"/>
          <a:stretch>
            <a:fillRect/>
          </a:stretch>
        </p:blipFill>
        <p:spPr>
          <a:xfrm>
            <a:off x="1415888" y="2444700"/>
            <a:ext cx="4286470" cy="19304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53</a:t>
            </a:fld>
            <a:endParaRPr lang="en-US" dirty="0"/>
          </a:p>
        </p:txBody>
      </p:sp>
    </p:spTree>
    <p:extLst>
      <p:ext uri="{BB962C8B-B14F-4D97-AF65-F5344CB8AC3E}">
        <p14:creationId xmlns:p14="http://schemas.microsoft.com/office/powerpoint/2010/main" val="18590572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sz="2000" dirty="0"/>
              <a:t>Recover a Router Password</a:t>
            </a:r>
          </a:p>
        </p:txBody>
      </p:sp>
      <p:sp>
        <p:nvSpPr>
          <p:cNvPr id="7" name="TextBox 6">
            <a:extLst>
              <a:ext uri="{FF2B5EF4-FFF2-40B4-BE49-F238E27FC236}">
                <a16:creationId xmlns:a16="http://schemas.microsoft.com/office/drawing/2014/main" id="{38C488FD-4D52-4F82-920E-198A24CAFCB1}"/>
              </a:ext>
            </a:extLst>
          </p:cNvPr>
          <p:cNvSpPr txBox="1"/>
          <p:nvPr/>
        </p:nvSpPr>
        <p:spPr>
          <a:xfrm>
            <a:off x="116010" y="987707"/>
            <a:ext cx="1914525" cy="304698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If a router is compromised or needs to be recovered from a misconfigured password, an administrator must use password recovery procedures, such as those shown in the table. </a:t>
            </a:r>
          </a:p>
        </p:txBody>
      </p:sp>
      <p:graphicFrame>
        <p:nvGraphicFramePr>
          <p:cNvPr id="14" name="Table 13"/>
          <p:cNvGraphicFramePr>
            <a:graphicFrameLocks noGrp="1"/>
          </p:cNvGraphicFramePr>
          <p:nvPr>
            <p:extLst>
              <p:ext uri="{D42A27DB-BD31-4B8C-83A1-F6EECF244321}">
                <p14:modId xmlns:p14="http://schemas.microsoft.com/office/powerpoint/2010/main" val="1196260799"/>
              </p:ext>
            </p:extLst>
          </p:nvPr>
        </p:nvGraphicFramePr>
        <p:xfrm>
          <a:off x="1958975" y="594360"/>
          <a:ext cx="6997700" cy="4465320"/>
        </p:xfrm>
        <a:graphic>
          <a:graphicData uri="http://schemas.openxmlformats.org/drawingml/2006/table">
            <a:tbl>
              <a:tblPr/>
              <a:tblGrid>
                <a:gridCol w="2242430">
                  <a:extLst>
                    <a:ext uri="{9D8B030D-6E8A-4147-A177-3AD203B41FA5}">
                      <a16:colId xmlns:a16="http://schemas.microsoft.com/office/drawing/2014/main" val="20000"/>
                    </a:ext>
                  </a:extLst>
                </a:gridCol>
                <a:gridCol w="4755270">
                  <a:extLst>
                    <a:ext uri="{9D8B030D-6E8A-4147-A177-3AD203B41FA5}">
                      <a16:colId xmlns:a16="http://schemas.microsoft.com/office/drawing/2014/main" val="3678301469"/>
                    </a:ext>
                  </a:extLst>
                </a:gridCol>
              </a:tblGrid>
              <a:tr h="0">
                <a:tc>
                  <a:txBody>
                    <a:bodyPr/>
                    <a:lstStyle/>
                    <a:p>
                      <a:r>
                        <a:rPr lang="en-US" sz="1200" dirty="0">
                          <a:solidFill>
                            <a:srgbClr val="FFFFFF"/>
                          </a:solidFill>
                          <a:latin typeface="+mn-lt"/>
                        </a:rPr>
                        <a:t>Recover Router Passwords Steps</a:t>
                      </a:r>
                      <a:endParaRPr lang="en-US" sz="12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endParaRPr lang="en-US" sz="12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latin typeface="+mn-lt"/>
                          <a:cs typeface="Arial" panose="020B0604020202020204" pitchFamily="34" charset="0"/>
                        </a:rPr>
                        <a:t>Step 1.</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Connect to the console port.</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latin typeface="+mn-lt"/>
                          <a:cs typeface="Arial" panose="020B0604020202020204" pitchFamily="34" charset="0"/>
                        </a:rPr>
                        <a:t>Step 2.</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Record the configuration register setting.</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latin typeface="+mn-lt"/>
                          <a:cs typeface="Arial" panose="020B0604020202020204" pitchFamily="34" charset="0"/>
                        </a:rPr>
                        <a:t>Step 3.</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Power cycle the router.</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latin typeface="+mn-lt"/>
                          <a:cs typeface="Arial" panose="020B0604020202020204" pitchFamily="34" charset="0"/>
                        </a:rPr>
                        <a:t>Step 4.</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Issue the break sequence.</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b="1" dirty="0">
                          <a:latin typeface="+mn-lt"/>
                          <a:cs typeface="Arial" panose="020B0604020202020204" pitchFamily="34" charset="0"/>
                        </a:rPr>
                        <a:t>Step 5.</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Change the default configuration register with the </a:t>
                      </a:r>
                      <a:r>
                        <a:rPr lang="en-US" sz="1200" b="1" dirty="0">
                          <a:latin typeface="+mn-lt"/>
                          <a:cs typeface="Arial" panose="020B0604020202020204" pitchFamily="34" charset="0"/>
                        </a:rPr>
                        <a:t>confreg 0x2142</a:t>
                      </a:r>
                      <a:r>
                        <a:rPr lang="en-US" sz="1200" dirty="0">
                          <a:latin typeface="+mn-lt"/>
                          <a:cs typeface="Arial" panose="020B0604020202020204" pitchFamily="34" charset="0"/>
                        </a:rPr>
                        <a:t> command. </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b="1" dirty="0">
                          <a:latin typeface="+mn-lt"/>
                          <a:cs typeface="Arial" panose="020B0604020202020204" pitchFamily="34" charset="0"/>
                        </a:rPr>
                        <a:t>Step 6.</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Reboot the router.</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b="1" dirty="0">
                          <a:latin typeface="+mn-lt"/>
                          <a:cs typeface="Arial" panose="020B0604020202020204" pitchFamily="34" charset="0"/>
                        </a:rPr>
                        <a:t>Step 7.</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Press </a:t>
                      </a:r>
                      <a:r>
                        <a:rPr lang="en-US" sz="1200" b="1" dirty="0">
                          <a:latin typeface="+mn-lt"/>
                          <a:cs typeface="Arial" panose="020B0604020202020204" pitchFamily="34" charset="0"/>
                        </a:rPr>
                        <a:t>Ctrl-C</a:t>
                      </a:r>
                      <a:r>
                        <a:rPr lang="en-US" sz="1200" dirty="0">
                          <a:latin typeface="+mn-lt"/>
                          <a:cs typeface="Arial" panose="020B0604020202020204" pitchFamily="34" charset="0"/>
                        </a:rPr>
                        <a:t> to skip the initial setup procedure.</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b="1" dirty="0">
                          <a:latin typeface="+mn-lt"/>
                          <a:cs typeface="Arial" panose="020B0604020202020204" pitchFamily="34" charset="0"/>
                        </a:rPr>
                        <a:t>Step 8.</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Put the router into privileged EXEC mode.</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b="1" dirty="0">
                          <a:latin typeface="+mn-lt"/>
                          <a:cs typeface="Arial" panose="020B0604020202020204" pitchFamily="34" charset="0"/>
                        </a:rPr>
                        <a:t>Step 9.</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Copy the startup configuration to the running configuration.</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200" b="1" dirty="0">
                          <a:latin typeface="+mn-lt"/>
                          <a:cs typeface="Arial" panose="020B0604020202020204" pitchFamily="34" charset="0"/>
                        </a:rPr>
                        <a:t>Step 10.</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Verify the configuration.</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b="1" dirty="0">
                          <a:latin typeface="+mn-lt"/>
                          <a:cs typeface="Arial" panose="020B0604020202020204" pitchFamily="34" charset="0"/>
                        </a:rPr>
                        <a:t>Step 11.</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Change the enable secret password.</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r h="0">
                <a:tc>
                  <a:txBody>
                    <a:bodyPr/>
                    <a:lstStyle/>
                    <a:p>
                      <a:r>
                        <a:rPr lang="en-US" sz="1200" b="1" dirty="0">
                          <a:latin typeface="+mn-lt"/>
                          <a:cs typeface="Arial" panose="020B0604020202020204" pitchFamily="34" charset="0"/>
                        </a:rPr>
                        <a:t>Step 12.</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Enable all interfaces.</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r h="0">
                <a:tc>
                  <a:txBody>
                    <a:bodyPr/>
                    <a:lstStyle/>
                    <a:p>
                      <a:r>
                        <a:rPr lang="en-US" sz="1200" b="1" dirty="0">
                          <a:latin typeface="+mn-lt"/>
                          <a:cs typeface="Arial" panose="020B0604020202020204" pitchFamily="34" charset="0"/>
                        </a:rPr>
                        <a:t>Step 13.</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Return the configuration-register to the original setting recorded from Step 2. Use the </a:t>
                      </a:r>
                      <a:r>
                        <a:rPr lang="en-US" sz="1200" b="1" dirty="0">
                          <a:latin typeface="+mn-lt"/>
                          <a:cs typeface="Arial" panose="020B0604020202020204" pitchFamily="34" charset="0"/>
                        </a:rPr>
                        <a:t>config-register</a:t>
                      </a:r>
                      <a:r>
                        <a:rPr lang="en-US" sz="1200" dirty="0">
                          <a:latin typeface="+mn-lt"/>
                          <a:cs typeface="Arial" panose="020B0604020202020204" pitchFamily="34" charset="0"/>
                        </a:rPr>
                        <a:t> global config command. </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3"/>
                  </a:ext>
                </a:extLst>
              </a:tr>
              <a:tr h="0">
                <a:tc>
                  <a:txBody>
                    <a:bodyPr/>
                    <a:lstStyle/>
                    <a:p>
                      <a:r>
                        <a:rPr lang="en-US" sz="1200" b="1" dirty="0">
                          <a:latin typeface="+mn-lt"/>
                          <a:cs typeface="Arial" panose="020B0604020202020204" pitchFamily="34" charset="0"/>
                        </a:rPr>
                        <a:t>Step 14.</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latin typeface="+mn-lt"/>
                          <a:cs typeface="Arial" panose="020B0604020202020204" pitchFamily="34" charset="0"/>
                        </a:rPr>
                        <a:t>Save the configuration changes.</a:t>
                      </a: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54</a:t>
            </a:fld>
            <a:endParaRPr lang="en-US" dirty="0"/>
          </a:p>
        </p:txBody>
      </p:sp>
    </p:spTree>
    <p:extLst>
      <p:ext uri="{BB962C8B-B14F-4D97-AF65-F5344CB8AC3E}">
        <p14:creationId xmlns:p14="http://schemas.microsoft.com/office/powerpoint/2010/main" val="8636857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Password Recovery </a:t>
            </a:r>
          </a:p>
        </p:txBody>
      </p:sp>
      <p:sp>
        <p:nvSpPr>
          <p:cNvPr id="5" name="Object4"/>
          <p:cNvSpPr/>
          <p:nvPr/>
        </p:nvSpPr>
        <p:spPr>
          <a:xfrm>
            <a:off x="0" y="673400"/>
            <a:ext cx="862012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If someone gained physical access to a router, they could potentially gain control of that device through the password recovery procedure.</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An administrator can mitigate this potential security breach by using the </a:t>
            </a:r>
            <a:r>
              <a:rPr lang="en-US" sz="1600" b="1" dirty="0">
                <a:latin typeface="Arial" panose="020B0604020202020204" pitchFamily="34" charset="0"/>
                <a:cs typeface="Arial" panose="020B0604020202020204" pitchFamily="34" charset="0"/>
              </a:rPr>
              <a:t>no service password-recovery</a:t>
            </a:r>
            <a:r>
              <a:rPr lang="en-US" sz="1600" dirty="0">
                <a:latin typeface="Arial" panose="020B0604020202020204" pitchFamily="34" charset="0"/>
                <a:cs typeface="Arial" panose="020B0604020202020204" pitchFamily="34" charset="0"/>
              </a:rPr>
              <a:t> global configuration mode command. This command is a hidden Cisco IOS command and has no arguments or keywords. When the </a:t>
            </a:r>
            <a:r>
              <a:rPr lang="en-US" sz="1600" b="1" dirty="0">
                <a:latin typeface="Arial" panose="020B0604020202020204" pitchFamily="34" charset="0"/>
                <a:cs typeface="Arial" panose="020B0604020202020204" pitchFamily="34" charset="0"/>
              </a:rPr>
              <a:t>no service password-recovery</a:t>
            </a:r>
            <a:r>
              <a:rPr lang="en-US" sz="1600" dirty="0">
                <a:latin typeface="Arial" panose="020B0604020202020204" pitchFamily="34" charset="0"/>
                <a:cs typeface="Arial" panose="020B0604020202020204" pitchFamily="34" charset="0"/>
              </a:rPr>
              <a:t> command is entered, a warning message displays and must be acknowledged before the feature is enabled, as shown in the figure.</a:t>
            </a:r>
          </a:p>
        </p:txBody>
      </p:sp>
      <p:pic>
        <p:nvPicPr>
          <p:cNvPr id="8" name="Picture 7">
            <a:extLst>
              <a:ext uri="{FF2B5EF4-FFF2-40B4-BE49-F238E27FC236}">
                <a16:creationId xmlns:a16="http://schemas.microsoft.com/office/drawing/2014/main" id="{4A90AA54-EC05-42B8-AA93-CB4AAA8782E9}"/>
              </a:ext>
            </a:extLst>
          </p:cNvPr>
          <p:cNvPicPr>
            <a:picLocks noChangeAspect="1"/>
          </p:cNvPicPr>
          <p:nvPr/>
        </p:nvPicPr>
        <p:blipFill>
          <a:blip r:embed="rId3"/>
          <a:stretch>
            <a:fillRect/>
          </a:stretch>
        </p:blipFill>
        <p:spPr>
          <a:xfrm>
            <a:off x="1884237" y="3016167"/>
            <a:ext cx="4851649" cy="161298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dirty="0"/>
          </a:p>
        </p:txBody>
      </p:sp>
    </p:spTree>
    <p:extLst>
      <p:ext uri="{BB962C8B-B14F-4D97-AF65-F5344CB8AC3E}">
        <p14:creationId xmlns:p14="http://schemas.microsoft.com/office/powerpoint/2010/main" val="20721413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Password Recovery (Cont.) </a:t>
            </a:r>
          </a:p>
        </p:txBody>
      </p:sp>
      <p:sp>
        <p:nvSpPr>
          <p:cNvPr id="5" name="Object4"/>
          <p:cNvSpPr/>
          <p:nvPr/>
        </p:nvSpPr>
        <p:spPr>
          <a:xfrm>
            <a:off x="0" y="673400"/>
            <a:ext cx="8686800" cy="6029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When it is configured, the </a:t>
            </a:r>
            <a:r>
              <a:rPr lang="en-US" sz="1600" b="1" dirty="0">
                <a:latin typeface="Arial" panose="020B0604020202020204" pitchFamily="34" charset="0"/>
                <a:cs typeface="Arial" panose="020B0604020202020204" pitchFamily="34" charset="0"/>
              </a:rPr>
              <a:t>show running-config</a:t>
            </a:r>
            <a:r>
              <a:rPr lang="en-US" sz="1600" dirty="0">
                <a:latin typeface="Arial" panose="020B0604020202020204" pitchFamily="34" charset="0"/>
                <a:cs typeface="Arial" panose="020B0604020202020204" pitchFamily="34" charset="0"/>
              </a:rPr>
              <a:t> command displays a </a:t>
            </a:r>
            <a:r>
              <a:rPr lang="en-US" sz="1600" b="1" dirty="0">
                <a:latin typeface="Arial" panose="020B0604020202020204" pitchFamily="34" charset="0"/>
                <a:cs typeface="Arial" panose="020B0604020202020204" pitchFamily="34" charset="0"/>
              </a:rPr>
              <a:t>no service password-recovery</a:t>
            </a:r>
            <a:r>
              <a:rPr lang="en-US" sz="1600" dirty="0">
                <a:latin typeface="Arial" panose="020B0604020202020204" pitchFamily="34" charset="0"/>
                <a:cs typeface="Arial" panose="020B0604020202020204" pitchFamily="34" charset="0"/>
              </a:rPr>
              <a:t> statement, as shown here.</a:t>
            </a:r>
          </a:p>
        </p:txBody>
      </p:sp>
      <p:pic>
        <p:nvPicPr>
          <p:cNvPr id="8" name="Picture 7">
            <a:extLst>
              <a:ext uri="{FF2B5EF4-FFF2-40B4-BE49-F238E27FC236}">
                <a16:creationId xmlns:a16="http://schemas.microsoft.com/office/drawing/2014/main" id="{80247A8C-DEC1-46AD-ACEE-E612C02152AF}"/>
              </a:ext>
            </a:extLst>
          </p:cNvPr>
          <p:cNvPicPr>
            <a:picLocks noChangeAspect="1"/>
          </p:cNvPicPr>
          <p:nvPr/>
        </p:nvPicPr>
        <p:blipFill>
          <a:blip r:embed="rId3"/>
          <a:stretch>
            <a:fillRect/>
          </a:stretch>
        </p:blipFill>
        <p:spPr>
          <a:xfrm>
            <a:off x="2292258" y="1374724"/>
            <a:ext cx="3587934" cy="19749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56</a:t>
            </a:fld>
            <a:endParaRPr lang="en-US" dirty="0"/>
          </a:p>
        </p:txBody>
      </p:sp>
    </p:spTree>
    <p:extLst>
      <p:ext uri="{BB962C8B-B14F-4D97-AF65-F5344CB8AC3E}">
        <p14:creationId xmlns:p14="http://schemas.microsoft.com/office/powerpoint/2010/main" val="6942433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Cisco IOS Image and Configuration Files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Password Recovery (Cont.) </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To recover a device after the </a:t>
            </a:r>
            <a:r>
              <a:rPr lang="en-US" b="1" dirty="0">
                <a:latin typeface="Arial" panose="020B0604020202020204" pitchFamily="34" charset="0"/>
                <a:cs typeface="Arial" panose="020B0604020202020204" pitchFamily="34" charset="0"/>
              </a:rPr>
              <a:t>no service password-recovery</a:t>
            </a:r>
            <a:r>
              <a:rPr lang="en-US" dirty="0">
                <a:latin typeface="Arial" panose="020B0604020202020204" pitchFamily="34" charset="0"/>
                <a:cs typeface="Arial" panose="020B0604020202020204" pitchFamily="34" charset="0"/>
              </a:rPr>
              <a:t> command is entered, initiate the break sequence within five seconds after the image decompresses during the boot. </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You are prompted to confirm the break key action. After the action is confirmed, </a:t>
            </a:r>
            <a:r>
              <a:rPr lang="en-US" b="1" dirty="0">
                <a:latin typeface="Arial" panose="020B0604020202020204" pitchFamily="34" charset="0"/>
                <a:cs typeface="Arial" panose="020B0604020202020204" pitchFamily="34" charset="0"/>
              </a:rPr>
              <a:t>the startup configuration is completely erased</a:t>
            </a:r>
            <a:r>
              <a:rPr lang="en-US" dirty="0">
                <a:latin typeface="Arial" panose="020B0604020202020204" pitchFamily="34" charset="0"/>
                <a:cs typeface="Arial" panose="020B0604020202020204" pitchFamily="34" charset="0"/>
              </a:rPr>
              <a:t>, the password recovery procedure is enabled, and the router boots with the factory default configuration. </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If you do not confirm the break action, the router boots normally with the </a:t>
            </a:r>
            <a:r>
              <a:rPr lang="en-US" b="1" dirty="0">
                <a:latin typeface="Arial" panose="020B0604020202020204" pitchFamily="34" charset="0"/>
                <a:cs typeface="Arial" panose="020B0604020202020204" pitchFamily="34" charset="0"/>
              </a:rPr>
              <a:t>no service password-recovery</a:t>
            </a:r>
            <a:r>
              <a:rPr lang="en-US" dirty="0">
                <a:latin typeface="Arial" panose="020B0604020202020204" pitchFamily="34" charset="0"/>
                <a:cs typeface="Arial" panose="020B0604020202020204" pitchFamily="34" charset="0"/>
              </a:rPr>
              <a:t> command enabled.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dirty="0"/>
          </a:p>
        </p:txBody>
      </p:sp>
    </p:spTree>
    <p:extLst>
      <p:ext uri="{BB962C8B-B14F-4D97-AF65-F5344CB8AC3E}">
        <p14:creationId xmlns:p14="http://schemas.microsoft.com/office/powerpoint/2010/main" val="34721272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6.2 Lock Down a Router Using AutoSecure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58</a:t>
            </a:fld>
            <a:endParaRPr lang="en-US" dirty="0"/>
          </a:p>
        </p:txBody>
      </p:sp>
    </p:spTree>
    <p:extLst>
      <p:ext uri="{BB962C8B-B14F-4D97-AF65-F5344CB8AC3E}">
        <p14:creationId xmlns:p14="http://schemas.microsoft.com/office/powerpoint/2010/main" val="13654596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Lock Down a Router Using AutoSecure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Discovery Protocols CDP and LLDP</a:t>
            </a:r>
          </a:p>
        </p:txBody>
      </p:sp>
      <p:sp>
        <p:nvSpPr>
          <p:cNvPr id="5" name="Object4"/>
          <p:cNvSpPr/>
          <p:nvPr/>
        </p:nvSpPr>
        <p:spPr>
          <a:xfrm>
            <a:off x="-1" y="914400"/>
            <a:ext cx="881799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Some of the default services can make the device vulnerable to attack if security is not enabled.</a:t>
            </a:r>
          </a:p>
          <a:p>
            <a:pPr>
              <a:lnSpc>
                <a:spcPts val="2000"/>
              </a:lnSpc>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Cisco Discovery Protocol (CDP) is an example of a service that is enabled by default on Cisco routers.</a:t>
            </a:r>
          </a:p>
          <a:p>
            <a:pPr>
              <a:lnSpc>
                <a:spcPts val="2000"/>
              </a:lnSpc>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Link Layer Discovery Protocol (LLDP) is an open standard that can be enabled on Cisco devices, as well as other vendor devices that support LLDP. </a:t>
            </a:r>
          </a:p>
          <a:p>
            <a:pPr>
              <a:lnSpc>
                <a:spcPts val="2000"/>
              </a:lnSpc>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intent of CDP and LLDP is to make it easier for administrators to discover and troubleshoot other devices on the network. However, because of the security implications, these discovery protocols should be used with caution.</a:t>
            </a:r>
          </a:p>
          <a:p>
            <a:pPr>
              <a:lnSpc>
                <a:spcPts val="2000"/>
              </a:lnSpc>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Edge devices are an example of a device that should have this feature disabled.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59</a:t>
            </a:fld>
            <a:endParaRPr lang="en-US" dirty="0"/>
          </a:p>
        </p:txBody>
      </p:sp>
    </p:spTree>
    <p:extLst>
      <p:ext uri="{BB962C8B-B14F-4D97-AF65-F5344CB8AC3E}">
        <p14:creationId xmlns:p14="http://schemas.microsoft.com/office/powerpoint/2010/main" val="1909491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Lock Down a Router Using AutoSecure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Discovery Protocols CDP and LLDP (Cont.)</a:t>
            </a:r>
          </a:p>
        </p:txBody>
      </p:sp>
      <p:sp>
        <p:nvSpPr>
          <p:cNvPr id="5" name="Object4"/>
          <p:cNvSpPr/>
          <p:nvPr/>
        </p:nvSpPr>
        <p:spPr>
          <a:xfrm>
            <a:off x="-1" y="914400"/>
            <a:ext cx="3762375" cy="2505075"/>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LLDP configuration and verification is similar to CDP.</a:t>
            </a:r>
          </a:p>
        </p:txBody>
      </p:sp>
      <p:pic>
        <p:nvPicPr>
          <p:cNvPr id="6" name="Picture 5">
            <a:extLst>
              <a:ext uri="{FF2B5EF4-FFF2-40B4-BE49-F238E27FC236}">
                <a16:creationId xmlns:a16="http://schemas.microsoft.com/office/drawing/2014/main" id="{FB5C3E3E-40F0-4F63-A10F-D3A228A44958}"/>
              </a:ext>
            </a:extLst>
          </p:cNvPr>
          <p:cNvPicPr>
            <a:picLocks noChangeAspect="1"/>
          </p:cNvPicPr>
          <p:nvPr/>
        </p:nvPicPr>
        <p:blipFill>
          <a:blip r:embed="rId3"/>
          <a:stretch>
            <a:fillRect/>
          </a:stretch>
        </p:blipFill>
        <p:spPr>
          <a:xfrm>
            <a:off x="3990975" y="914400"/>
            <a:ext cx="4924425" cy="391379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60</a:t>
            </a:fld>
            <a:endParaRPr lang="en-US" dirty="0"/>
          </a:p>
        </p:txBody>
      </p:sp>
    </p:spTree>
    <p:extLst>
      <p:ext uri="{BB962C8B-B14F-4D97-AF65-F5344CB8AC3E}">
        <p14:creationId xmlns:p14="http://schemas.microsoft.com/office/powerpoint/2010/main" val="26910982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Lock Down a Router Using AutoSecure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Settings for Protocols and Services</a:t>
            </a:r>
          </a:p>
        </p:txBody>
      </p:sp>
      <p:sp>
        <p:nvSpPr>
          <p:cNvPr id="8" name="TextBox 7">
            <a:extLst>
              <a:ext uri="{FF2B5EF4-FFF2-40B4-BE49-F238E27FC236}">
                <a16:creationId xmlns:a16="http://schemas.microsoft.com/office/drawing/2014/main" id="{E3CBD539-36F6-496F-A6F5-21D914DE0896}"/>
              </a:ext>
            </a:extLst>
          </p:cNvPr>
          <p:cNvSpPr txBox="1"/>
          <p:nvPr/>
        </p:nvSpPr>
        <p:spPr>
          <a:xfrm>
            <a:off x="55660" y="711716"/>
            <a:ext cx="8961120"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Attackers choose services and protocols that make the network more vulnerable to malicious exploitation. Many of these features should be disabled or restricted in their capabilities based on the security needs of an organization. These features range from network discovery protocols, such as CDP and LLDP, to globally available protocols such as ICMP and other scanning tools.</a:t>
            </a:r>
          </a:p>
          <a:p>
            <a:r>
              <a:rPr lang="en-US" sz="1600" dirty="0">
                <a:latin typeface="Arial" panose="020B0604020202020204" pitchFamily="34" charset="0"/>
                <a:cs typeface="Arial" panose="020B0604020202020204" pitchFamily="34" charset="0"/>
              </a:rPr>
              <a:t>The table summarizes the feature and default settings for protocols and services.</a:t>
            </a:r>
          </a:p>
        </p:txBody>
      </p:sp>
      <p:graphicFrame>
        <p:nvGraphicFramePr>
          <p:cNvPr id="18" name="Table 17"/>
          <p:cNvGraphicFramePr>
            <a:graphicFrameLocks noGrp="1"/>
          </p:cNvGraphicFramePr>
          <p:nvPr>
            <p:extLst>
              <p:ext uri="{D42A27DB-BD31-4B8C-83A1-F6EECF244321}">
                <p14:modId xmlns:p14="http://schemas.microsoft.com/office/powerpoint/2010/main" val="1861002884"/>
              </p:ext>
            </p:extLst>
          </p:nvPr>
        </p:nvGraphicFramePr>
        <p:xfrm>
          <a:off x="91440" y="2038350"/>
          <a:ext cx="8961120" cy="259080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Feature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Default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Cisco Discovery Protocol (CDP)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Link Layer Discovery Protocol (LLDP)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Configuration autoloading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FTP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TFTP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Network Time Protocol (NTP) service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dirty="0">
                          <a:solidFill>
                            <a:srgbClr val="58585B"/>
                          </a:solidFill>
                        </a:rPr>
                        <a:t>Packet assembler/disassembler (PAD) service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dirty="0">
                          <a:solidFill>
                            <a:srgbClr val="58585B"/>
                          </a:solidFill>
                        </a:rPr>
                        <a:t>TCP and User Datagram Protocol (UDP) minor services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Enabled in versions 11.3 and later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dirty="0">
                          <a:solidFill>
                            <a:srgbClr val="58585B"/>
                          </a:solidFill>
                        </a:rPr>
                        <a:t>Maintenance Operation Protocol (MOP) service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Enabled on most Ethernet interfaces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61</a:t>
            </a:fld>
            <a:endParaRPr lang="en-US" dirty="0"/>
          </a:p>
        </p:txBody>
      </p:sp>
    </p:spTree>
    <p:extLst>
      <p:ext uri="{BB962C8B-B14F-4D97-AF65-F5344CB8AC3E}">
        <p14:creationId xmlns:p14="http://schemas.microsoft.com/office/powerpoint/2010/main" val="1199466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Lock Down a Router Using AutoSecure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AutoSecure</a:t>
            </a:r>
          </a:p>
        </p:txBody>
      </p:sp>
      <p:sp>
        <p:nvSpPr>
          <p:cNvPr id="5" name="Object4"/>
          <p:cNvSpPr/>
          <p:nvPr/>
        </p:nvSpPr>
        <p:spPr>
          <a:xfrm>
            <a:off x="0" y="914400"/>
            <a:ext cx="8849802"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AutoSecure can lock down the management plane functions and the forwarding plane services and functions of a router. There are several management plane services and functions: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Secure BOOTP, CDP, FTP, TFTP, PAD, UDP, and TCP small servers, MOP, ICMP (redirects, mask-replies), IP source routing, Finger, password encryption, TCP keepalives, gratuitous ARP, proxy ARP, and directed broadcast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Legal notification using a banner</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Secure password and login functions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Secure NTP</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Secure SSH access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TCP intercept services</a:t>
            </a:r>
          </a:p>
          <a:p>
            <a:pPr>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three forwarding plane services and functions that AutoSecure enables: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Cisco Express Forwarding (CEF)</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Traffic filtering with ACLs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Cisco IOS firewall inspection for common protocols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62</a:t>
            </a:fld>
            <a:endParaRPr lang="en-US" dirty="0"/>
          </a:p>
        </p:txBody>
      </p:sp>
    </p:spTree>
    <p:extLst>
      <p:ext uri="{BB962C8B-B14F-4D97-AF65-F5344CB8AC3E}">
        <p14:creationId xmlns:p14="http://schemas.microsoft.com/office/powerpoint/2010/main" val="7827917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Lock Down a Router Using AutoSecure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AutoSecure Command Syntax</a:t>
            </a:r>
          </a:p>
        </p:txBody>
      </p:sp>
      <p:graphicFrame>
        <p:nvGraphicFramePr>
          <p:cNvPr id="20" name="Table 19"/>
          <p:cNvGraphicFramePr>
            <a:graphicFrameLocks noGrp="1"/>
          </p:cNvGraphicFramePr>
          <p:nvPr>
            <p:extLst>
              <p:ext uri="{D42A27DB-BD31-4B8C-83A1-F6EECF244321}">
                <p14:modId xmlns:p14="http://schemas.microsoft.com/office/powerpoint/2010/main" val="4163248666"/>
              </p:ext>
            </p:extLst>
          </p:nvPr>
        </p:nvGraphicFramePr>
        <p:xfrm>
          <a:off x="530017" y="2926080"/>
          <a:ext cx="7922895" cy="1219200"/>
        </p:xfrm>
        <a:graphic>
          <a:graphicData uri="http://schemas.openxmlformats.org/drawingml/2006/table">
            <a:tbl>
              <a:tblPr/>
              <a:tblGrid>
                <a:gridCol w="1261532">
                  <a:extLst>
                    <a:ext uri="{9D8B030D-6E8A-4147-A177-3AD203B41FA5}">
                      <a16:colId xmlns:a16="http://schemas.microsoft.com/office/drawing/2014/main" val="20000"/>
                    </a:ext>
                  </a:extLst>
                </a:gridCol>
                <a:gridCol w="6661363">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no-interact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The user will not be prompted for any interactive configurations. No interactive dialogue parameters will be configured, including usernames or passwords.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forwarding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Only the forwarding plane will be secured.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management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Only the management plane will be secured.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141E8281-518F-447A-B4E1-DE6D5A472FB1}"/>
              </a:ext>
            </a:extLst>
          </p:cNvPr>
          <p:cNvSpPr txBox="1"/>
          <p:nvPr/>
        </p:nvSpPr>
        <p:spPr>
          <a:xfrm>
            <a:off x="-1" y="898326"/>
            <a:ext cx="8961119"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Use the </a:t>
            </a:r>
            <a:r>
              <a:rPr lang="en-US" b="1" dirty="0">
                <a:latin typeface="Arial" panose="020B0604020202020204" pitchFamily="34" charset="0"/>
                <a:cs typeface="Arial" panose="020B0604020202020204" pitchFamily="34" charset="0"/>
              </a:rPr>
              <a:t>auto secure </a:t>
            </a:r>
            <a:r>
              <a:rPr lang="en-US" dirty="0">
                <a:latin typeface="Arial" panose="020B0604020202020204" pitchFamily="34" charset="0"/>
                <a:cs typeface="Arial" panose="020B0604020202020204" pitchFamily="34" charset="0"/>
              </a:rPr>
              <a:t>command to enable the Cisco AutoSecure feature setup. This setup can be interactive or non-interactive. The figure shows the command syntax for the auto secure command.</a:t>
            </a:r>
          </a:p>
        </p:txBody>
      </p:sp>
      <p:pic>
        <p:nvPicPr>
          <p:cNvPr id="6" name="Picture 5">
            <a:extLst>
              <a:ext uri="{FF2B5EF4-FFF2-40B4-BE49-F238E27FC236}">
                <a16:creationId xmlns:a16="http://schemas.microsoft.com/office/drawing/2014/main" id="{5F6FBE5B-C386-4CA9-934B-8B3E9569E268}"/>
              </a:ext>
            </a:extLst>
          </p:cNvPr>
          <p:cNvPicPr>
            <a:picLocks noChangeAspect="1"/>
          </p:cNvPicPr>
          <p:nvPr/>
        </p:nvPicPr>
        <p:blipFill>
          <a:blip r:embed="rId3"/>
          <a:stretch>
            <a:fillRect/>
          </a:stretch>
        </p:blipFill>
        <p:spPr>
          <a:xfrm>
            <a:off x="530017" y="2064532"/>
            <a:ext cx="8083965" cy="4572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63</a:t>
            </a:fld>
            <a:endParaRPr lang="en-US" dirty="0"/>
          </a:p>
        </p:txBody>
      </p:sp>
    </p:spTree>
    <p:extLst>
      <p:ext uri="{BB962C8B-B14F-4D97-AF65-F5344CB8AC3E}">
        <p14:creationId xmlns:p14="http://schemas.microsoft.com/office/powerpoint/2010/main" val="14839311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Lock Down a Router Using AutoSecure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Using the auto secure Command</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solidFill>
                  <a:srgbClr val="000000"/>
                </a:solidFill>
                <a:latin typeface="Arial" panose="020B0604020202020204" pitchFamily="34" charset="0"/>
                <a:ea typeface="Arial" pitchFamily="34" charset="-122"/>
                <a:cs typeface="Arial" panose="020B0604020202020204" pitchFamily="34" charset="0"/>
              </a:rPr>
              <a:t>When </a:t>
            </a:r>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auto secure</a:t>
            </a:r>
            <a:r>
              <a:rPr lang="en-US" sz="1600" dirty="0">
                <a:latin typeface="Arial" panose="020B0604020202020204" pitchFamily="34" charset="0"/>
                <a:cs typeface="Arial" panose="020B0604020202020204" pitchFamily="34" charset="0"/>
              </a:rPr>
              <a:t> command is initiated, a CLI wizard steps the administrator through the configuration of the device. User input is required.</a:t>
            </a:r>
          </a:p>
          <a:p>
            <a:pPr>
              <a:lnSpc>
                <a:spcPts val="2000"/>
              </a:lnSpc>
            </a:pPr>
            <a:endParaRPr lang="en-US" sz="1600" dirty="0">
              <a:solidFill>
                <a:srgbClr val="000000"/>
              </a:solidFill>
              <a:latin typeface="Arial" panose="020B0604020202020204" pitchFamily="34" charset="0"/>
              <a:cs typeface="Arial" panose="020B0604020202020204" pitchFamily="34" charset="0"/>
            </a:endParaRPr>
          </a:p>
          <a:p>
            <a:pPr>
              <a:lnSpc>
                <a:spcPts val="2000"/>
              </a:lnSpc>
            </a:pPr>
            <a:r>
              <a:rPr lang="en-US" sz="1600" b="1" dirty="0">
                <a:solidFill>
                  <a:srgbClr val="000000"/>
                </a:solidFill>
                <a:latin typeface="Arial" panose="020B0604020202020204" pitchFamily="34" charset="0"/>
                <a:cs typeface="Arial" panose="020B0604020202020204" pitchFamily="34" charset="0"/>
              </a:rPr>
              <a:t>Step 1. </a:t>
            </a:r>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auto secure </a:t>
            </a:r>
            <a:r>
              <a:rPr lang="en-US" sz="1600" dirty="0">
                <a:latin typeface="Arial" panose="020B0604020202020204" pitchFamily="34" charset="0"/>
                <a:cs typeface="Arial" panose="020B0604020202020204" pitchFamily="34" charset="0"/>
              </a:rPr>
              <a:t>command is entered. The router displays the AutoSecure configuration wizard welcome message.</a:t>
            </a:r>
            <a:endParaRPr lang="en-US" sz="1600" dirty="0">
              <a:solidFill>
                <a:srgbClr val="000000"/>
              </a:solidFill>
              <a:latin typeface="Arial" panose="020B0604020202020204" pitchFamily="34" charset="0"/>
              <a:cs typeface="Arial" panose="020B0604020202020204" pitchFamily="34" charset="0"/>
            </a:endParaRPr>
          </a:p>
          <a:p>
            <a:pPr>
              <a:lnSpc>
                <a:spcPts val="2000"/>
              </a:lnSpc>
            </a:pPr>
            <a:r>
              <a:rPr lang="en-US" sz="1600" b="1" dirty="0">
                <a:solidFill>
                  <a:srgbClr val="000000"/>
                </a:solidFill>
                <a:latin typeface="Arial" panose="020B0604020202020204" pitchFamily="34" charset="0"/>
                <a:cs typeface="Arial" panose="020B0604020202020204" pitchFamily="34" charset="0"/>
              </a:rPr>
              <a:t>Step 2. </a:t>
            </a:r>
            <a:r>
              <a:rPr lang="en-US" sz="1600" dirty="0">
                <a:latin typeface="Arial" panose="020B0604020202020204" pitchFamily="34" charset="0"/>
                <a:cs typeface="Arial" panose="020B0604020202020204" pitchFamily="34" charset="0"/>
              </a:rPr>
              <a:t>The wizard gathers information about the outside interfaces.</a:t>
            </a:r>
            <a:endParaRPr lang="en-US" sz="1600" dirty="0">
              <a:solidFill>
                <a:srgbClr val="000000"/>
              </a:solidFill>
              <a:latin typeface="Arial" panose="020B0604020202020204" pitchFamily="34" charset="0"/>
              <a:cs typeface="Arial" panose="020B0604020202020204" pitchFamily="34" charset="0"/>
            </a:endParaRPr>
          </a:p>
          <a:p>
            <a:pPr>
              <a:lnSpc>
                <a:spcPts val="2000"/>
              </a:lnSpc>
            </a:pPr>
            <a:r>
              <a:rPr lang="en-US" sz="1600" b="1" dirty="0">
                <a:solidFill>
                  <a:srgbClr val="000000"/>
                </a:solidFill>
                <a:latin typeface="Arial" panose="020B0604020202020204" pitchFamily="34" charset="0"/>
                <a:cs typeface="Arial" panose="020B0604020202020204" pitchFamily="34" charset="0"/>
              </a:rPr>
              <a:t>Step 3. </a:t>
            </a:r>
            <a:r>
              <a:rPr lang="en-US" sz="1600" dirty="0">
                <a:latin typeface="Arial" panose="020B0604020202020204" pitchFamily="34" charset="0"/>
                <a:cs typeface="Arial" panose="020B0604020202020204" pitchFamily="34" charset="0"/>
              </a:rPr>
              <a:t>AutoSecure secures the management plane by disabling unnecessary services.</a:t>
            </a:r>
          </a:p>
          <a:p>
            <a:pPr>
              <a:lnSpc>
                <a:spcPts val="2000"/>
              </a:lnSpc>
            </a:pPr>
            <a:r>
              <a:rPr lang="en-US" sz="1600" b="1" dirty="0">
                <a:solidFill>
                  <a:srgbClr val="000000"/>
                </a:solidFill>
                <a:latin typeface="Arial" panose="020B0604020202020204" pitchFamily="34" charset="0"/>
                <a:cs typeface="Arial" panose="020B0604020202020204" pitchFamily="34" charset="0"/>
              </a:rPr>
              <a:t>Step 4</a:t>
            </a:r>
            <a:r>
              <a:rPr lang="en-US" sz="1600" dirty="0">
                <a:solidFill>
                  <a:srgbClr val="000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AutoSecure prompts for a banner.</a:t>
            </a:r>
          </a:p>
          <a:p>
            <a:pPr>
              <a:lnSpc>
                <a:spcPts val="2000"/>
              </a:lnSpc>
            </a:pPr>
            <a:r>
              <a:rPr lang="en-US" sz="1600" b="1" dirty="0">
                <a:solidFill>
                  <a:srgbClr val="000000"/>
                </a:solidFill>
                <a:latin typeface="Arial" panose="020B0604020202020204" pitchFamily="34" charset="0"/>
                <a:cs typeface="Arial" panose="020B0604020202020204" pitchFamily="34" charset="0"/>
              </a:rPr>
              <a:t>Step 5. </a:t>
            </a:r>
            <a:r>
              <a:rPr lang="en-US" sz="1600" dirty="0">
                <a:latin typeface="Arial" panose="020B0604020202020204" pitchFamily="34" charset="0"/>
                <a:cs typeface="Arial" panose="020B0604020202020204" pitchFamily="34" charset="0"/>
              </a:rPr>
              <a:t>AutoSecure prompts for passwords and enables password and login features.</a:t>
            </a:r>
          </a:p>
          <a:p>
            <a:pPr>
              <a:lnSpc>
                <a:spcPts val="2000"/>
              </a:lnSpc>
            </a:pPr>
            <a:r>
              <a:rPr lang="en-US" sz="1600" b="1" dirty="0">
                <a:solidFill>
                  <a:srgbClr val="000000"/>
                </a:solidFill>
                <a:latin typeface="Arial" panose="020B0604020202020204" pitchFamily="34" charset="0"/>
                <a:cs typeface="Arial" panose="020B0604020202020204" pitchFamily="34" charset="0"/>
              </a:rPr>
              <a:t>Step 6</a:t>
            </a:r>
            <a:r>
              <a:rPr lang="en-US" sz="1600" dirty="0">
                <a:solidFill>
                  <a:srgbClr val="000000"/>
                </a:solidFill>
                <a:latin typeface="Arial" panose="020B0604020202020204" pitchFamily="34" charset="0"/>
                <a:cs typeface="Arial" panose="020B0604020202020204" pitchFamily="34" charset="0"/>
              </a:rPr>
              <a:t>. Interfaces are secured.</a:t>
            </a:r>
          </a:p>
          <a:p>
            <a:pPr>
              <a:lnSpc>
                <a:spcPts val="2000"/>
              </a:lnSpc>
            </a:pPr>
            <a:r>
              <a:rPr lang="en-US" sz="1600" b="1" dirty="0">
                <a:solidFill>
                  <a:srgbClr val="000000"/>
                </a:solidFill>
                <a:latin typeface="Arial" panose="020B0604020202020204" pitchFamily="34" charset="0"/>
                <a:cs typeface="Arial" panose="020B0604020202020204" pitchFamily="34" charset="0"/>
              </a:rPr>
              <a:t>Step 7</a:t>
            </a:r>
            <a:r>
              <a:rPr lang="en-US" sz="1600" dirty="0">
                <a:solidFill>
                  <a:srgbClr val="000000"/>
                </a:solidFill>
                <a:latin typeface="Arial" panose="020B0604020202020204" pitchFamily="34" charset="0"/>
                <a:cs typeface="Arial" panose="020B0604020202020204" pitchFamily="34" charset="0"/>
              </a:rPr>
              <a:t>. The forwarding plane is secured.</a:t>
            </a:r>
          </a:p>
          <a:p>
            <a:pPr>
              <a:lnSpc>
                <a:spcPts val="2000"/>
              </a:lnSpc>
            </a:pPr>
            <a:endParaRPr lang="en-US" sz="1400" dirty="0"/>
          </a:p>
        </p:txBody>
      </p:sp>
      <p:sp>
        <p:nvSpPr>
          <p:cNvPr id="12" name="TextBox 11">
            <a:extLst>
              <a:ext uri="{FF2B5EF4-FFF2-40B4-BE49-F238E27FC236}">
                <a16:creationId xmlns:a16="http://schemas.microsoft.com/office/drawing/2014/main" id="{E5AECDCE-4056-4E20-8E32-241DCCF879AA}"/>
              </a:ext>
            </a:extLst>
          </p:cNvPr>
          <p:cNvSpPr txBox="1"/>
          <p:nvPr/>
        </p:nvSpPr>
        <p:spPr>
          <a:xfrm>
            <a:off x="0" y="3936712"/>
            <a:ext cx="8115300"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AutoSecure should be used when a router is initially being configured. It is not recommended on production routers.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64</a:t>
            </a:fld>
            <a:endParaRPr lang="en-US" dirty="0"/>
          </a:p>
        </p:txBody>
      </p:sp>
    </p:spTree>
    <p:extLst>
      <p:ext uri="{BB962C8B-B14F-4D97-AF65-F5344CB8AC3E}">
        <p14:creationId xmlns:p14="http://schemas.microsoft.com/office/powerpoint/2010/main" val="5723814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6.3 Routing Protocol Authentication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65</a:t>
            </a:fld>
            <a:endParaRPr lang="en-US" dirty="0"/>
          </a:p>
        </p:txBody>
      </p:sp>
    </p:spTree>
    <p:extLst>
      <p:ext uri="{BB962C8B-B14F-4D97-AF65-F5344CB8AC3E}">
        <p14:creationId xmlns:p14="http://schemas.microsoft.com/office/powerpoint/2010/main" val="42082836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Dynamic Routing Protocols</a:t>
            </a:r>
          </a:p>
        </p:txBody>
      </p:sp>
      <p:sp>
        <p:nvSpPr>
          <p:cNvPr id="5" name="Object4"/>
          <p:cNvSpPr/>
          <p:nvPr/>
        </p:nvSpPr>
        <p:spPr>
          <a:xfrm>
            <a:off x="0" y="914400"/>
            <a:ext cx="4095053"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Dynamic routing protocols perform several activities: including network discovery and maintaining routing tables. </a:t>
            </a:r>
          </a:p>
          <a:p>
            <a:pPr>
              <a:lnSpc>
                <a:spcPts val="2000"/>
              </a:lnSpc>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Important advantages of dynamic routing protocols are the ability to select a best path, and the ability to automatically discover a new best path when there is a change in the topology.</a:t>
            </a:r>
          </a:p>
          <a:p>
            <a:pPr>
              <a:lnSpc>
                <a:spcPts val="2000"/>
              </a:lnSpc>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A dynamic routing protocol allows the routers to automatically learn about these networks from other routers.</a:t>
            </a:r>
          </a:p>
        </p:txBody>
      </p:sp>
      <p:pic>
        <p:nvPicPr>
          <p:cNvPr id="4" name="Picture 3">
            <a:extLst>
              <a:ext uri="{FF2B5EF4-FFF2-40B4-BE49-F238E27FC236}">
                <a16:creationId xmlns:a16="http://schemas.microsoft.com/office/drawing/2014/main" id="{3118DD05-22A1-4EFA-AE54-85F2BC593C47}"/>
              </a:ext>
            </a:extLst>
          </p:cNvPr>
          <p:cNvPicPr>
            <a:picLocks noChangeAspect="1"/>
          </p:cNvPicPr>
          <p:nvPr/>
        </p:nvPicPr>
        <p:blipFill>
          <a:blip r:embed="rId3"/>
          <a:stretch>
            <a:fillRect/>
          </a:stretch>
        </p:blipFill>
        <p:spPr>
          <a:xfrm>
            <a:off x="4166483" y="382806"/>
            <a:ext cx="4906087" cy="3045157"/>
          </a:xfrm>
          <a:prstGeom prst="rect">
            <a:avLst/>
          </a:prstGeom>
        </p:spPr>
      </p:pic>
      <p:sp>
        <p:nvSpPr>
          <p:cNvPr id="8" name="TextBox 7">
            <a:extLst>
              <a:ext uri="{FF2B5EF4-FFF2-40B4-BE49-F238E27FC236}">
                <a16:creationId xmlns:a16="http://schemas.microsoft.com/office/drawing/2014/main" id="{79D2CC7B-E004-44DF-B03B-14608A304C10}"/>
              </a:ext>
            </a:extLst>
          </p:cNvPr>
          <p:cNvSpPr txBox="1"/>
          <p:nvPr/>
        </p:nvSpPr>
        <p:spPr>
          <a:xfrm>
            <a:off x="4460814" y="3767376"/>
            <a:ext cx="4611756" cy="861774"/>
          </a:xfrm>
          <a:prstGeom prst="rect">
            <a:avLst/>
          </a:prstGeom>
          <a:noFill/>
        </p:spPr>
        <p:txBody>
          <a:bodyPr wrap="square">
            <a:spAutoFit/>
          </a:bodyPr>
          <a:lstStyle/>
          <a:p>
            <a:pPr>
              <a:lnSpc>
                <a:spcPts val="2000"/>
              </a:lnSpc>
            </a:pPr>
            <a:r>
              <a:rPr lang="en-US" sz="1600" dirty="0">
                <a:latin typeface="Arial" panose="020B0604020202020204" pitchFamily="34" charset="0"/>
                <a:cs typeface="Arial" panose="020B0604020202020204" pitchFamily="34" charset="0"/>
              </a:rPr>
              <a:t>The figure shows routers R1 and R2 using a common routing protocol to share network information.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66</a:t>
            </a:fld>
            <a:endParaRPr lang="en-US" dirty="0"/>
          </a:p>
        </p:txBody>
      </p:sp>
    </p:spTree>
    <p:extLst>
      <p:ext uri="{BB962C8B-B14F-4D97-AF65-F5344CB8AC3E}">
        <p14:creationId xmlns:p14="http://schemas.microsoft.com/office/powerpoint/2010/main" val="21768663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Routing Protocol Spoofing</a:t>
            </a:r>
          </a:p>
        </p:txBody>
      </p:sp>
      <p:sp>
        <p:nvSpPr>
          <p:cNvPr id="5" name="Object4"/>
          <p:cNvSpPr/>
          <p:nvPr/>
        </p:nvSpPr>
        <p:spPr>
          <a:xfrm>
            <a:off x="-1" y="914400"/>
            <a:ext cx="8881607"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Routing systems can be attacked by disrupting peer network routers, or by falsifying or spoofing the information carried within the routing protocols. Spoofing routing information may generally be used to cause systems to misinform (lie to) each other, cause a DoS attack, or cause traffic to follow a path it would not normally follow.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There are several consequences of routing information being spoofed:</a:t>
            </a:r>
          </a:p>
          <a:p>
            <a:endParaRPr lang="en-US" dirty="0">
              <a:latin typeface="Arial" panose="020B0604020202020204" pitchFamily="34" charset="0"/>
              <a:cs typeface="Arial" panose="020B0604020202020204" pitchFamily="34" charset="0"/>
            </a:endParaRPr>
          </a:p>
          <a:p>
            <a:pPr marL="685800" lvl="1" indent="-228600">
              <a:buFont typeface="Arial" panose="020B0604020202020204" pitchFamily="34" charset="0"/>
              <a:buChar char="•"/>
            </a:pPr>
            <a:r>
              <a:rPr lang="en-US" dirty="0">
                <a:latin typeface="Arial" panose="020B0604020202020204" pitchFamily="34" charset="0"/>
                <a:cs typeface="Arial" panose="020B0604020202020204" pitchFamily="34" charset="0"/>
              </a:rPr>
              <a:t>Redirecting traffic to create routing loops</a:t>
            </a:r>
          </a:p>
          <a:p>
            <a:pPr marL="685800" lvl="1" indent="-228600">
              <a:buFont typeface="Arial" panose="020B0604020202020204" pitchFamily="34" charset="0"/>
              <a:buChar char="•"/>
            </a:pPr>
            <a:r>
              <a:rPr lang="en-US" dirty="0">
                <a:latin typeface="Arial" panose="020B0604020202020204" pitchFamily="34" charset="0"/>
                <a:cs typeface="Arial" panose="020B0604020202020204" pitchFamily="34" charset="0"/>
              </a:rPr>
              <a:t>Redirecting traffic so it can be monitored on an insecure link</a:t>
            </a:r>
          </a:p>
          <a:p>
            <a:pPr marL="685800" lvl="1" indent="-228600">
              <a:buFont typeface="Arial" panose="020B0604020202020204" pitchFamily="34" charset="0"/>
              <a:buChar char="•"/>
            </a:pPr>
            <a:r>
              <a:rPr lang="en-US" dirty="0">
                <a:latin typeface="Arial" panose="020B0604020202020204" pitchFamily="34" charset="0"/>
                <a:cs typeface="Arial" panose="020B0604020202020204" pitchFamily="34" charset="0"/>
              </a:rPr>
              <a:t>Redirecting traffic to discard it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67</a:t>
            </a:fld>
            <a:endParaRPr lang="en-US" dirty="0"/>
          </a:p>
        </p:txBody>
      </p:sp>
    </p:spTree>
    <p:extLst>
      <p:ext uri="{BB962C8B-B14F-4D97-AF65-F5344CB8AC3E}">
        <p14:creationId xmlns:p14="http://schemas.microsoft.com/office/powerpoint/2010/main" val="35969910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OSPF MD5 Routing Protocol Authentication</a:t>
            </a:r>
          </a:p>
        </p:txBody>
      </p:sp>
      <p:sp>
        <p:nvSpPr>
          <p:cNvPr id="5" name="Object4"/>
          <p:cNvSpPr/>
          <p:nvPr/>
        </p:nvSpPr>
        <p:spPr>
          <a:xfrm>
            <a:off x="0" y="914400"/>
            <a:ext cx="8754386"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Enable OSPF MD5 authentication globally:</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ip ospf message-digest-key</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key</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md5</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password</a:t>
            </a:r>
            <a:r>
              <a:rPr lang="en-US" dirty="0">
                <a:latin typeface="Arial" panose="020B0604020202020204" pitchFamily="34" charset="0"/>
                <a:cs typeface="Arial" panose="020B0604020202020204" pitchFamily="34" charset="0"/>
              </a:rPr>
              <a:t> interface configuration command.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area</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area-id</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authentication message-digest</a:t>
            </a:r>
            <a:r>
              <a:rPr lang="en-US" dirty="0">
                <a:latin typeface="Arial" panose="020B0604020202020204" pitchFamily="34" charset="0"/>
                <a:cs typeface="Arial" panose="020B0604020202020204" pitchFamily="34" charset="0"/>
              </a:rPr>
              <a:t> router configuration command.</a:t>
            </a:r>
          </a:p>
          <a:p>
            <a:r>
              <a:rPr lang="en-US" dirty="0">
                <a:latin typeface="Arial" panose="020B0604020202020204" pitchFamily="34" charset="0"/>
                <a:cs typeface="Arial" panose="020B0604020202020204" pitchFamily="34" charset="0"/>
              </a:rPr>
              <a:t>This method forces authentication on all OSPF enabled interfaces. If an interface is not configured with th</a:t>
            </a:r>
            <a:r>
              <a:rPr lang="en-US" b="1" dirty="0">
                <a:latin typeface="Arial" panose="020B0604020202020204" pitchFamily="34" charset="0"/>
                <a:cs typeface="Arial" panose="020B0604020202020204" pitchFamily="34" charset="0"/>
              </a:rPr>
              <a:t>e ip ospf message-digest-key</a:t>
            </a:r>
            <a:r>
              <a:rPr lang="en-US" dirty="0">
                <a:latin typeface="Arial" panose="020B0604020202020204" pitchFamily="34" charset="0"/>
                <a:cs typeface="Arial" panose="020B0604020202020204" pitchFamily="34" charset="0"/>
              </a:rPr>
              <a:t> command, it will not be able to form adjacencies with other OSPF neighbors.</a:t>
            </a: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Enable MD5 authentication on a per interface basis: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ip ospf message-digest-key</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key</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md5</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password</a:t>
            </a:r>
            <a:r>
              <a:rPr lang="en-US" dirty="0">
                <a:latin typeface="Arial" panose="020B0604020202020204" pitchFamily="34" charset="0"/>
                <a:cs typeface="Arial" panose="020B0604020202020204" pitchFamily="34" charset="0"/>
              </a:rPr>
              <a:t> interface configuration command.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ip ospf authentication message-digest</a:t>
            </a:r>
            <a:r>
              <a:rPr lang="en-US" dirty="0">
                <a:latin typeface="Arial" panose="020B0604020202020204" pitchFamily="34" charset="0"/>
                <a:cs typeface="Arial" panose="020B0604020202020204" pitchFamily="34" charset="0"/>
              </a:rPr>
              <a:t> interface configuration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68</a:t>
            </a:fld>
            <a:endParaRPr lang="en-US" dirty="0"/>
          </a:p>
        </p:txBody>
      </p:sp>
    </p:spTree>
    <p:extLst>
      <p:ext uri="{BB962C8B-B14F-4D97-AF65-F5344CB8AC3E}">
        <p14:creationId xmlns:p14="http://schemas.microsoft.com/office/powerpoint/2010/main" val="633902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OSPF MD5 Routing Protocol Authentication (Cont.)</a:t>
            </a:r>
          </a:p>
        </p:txBody>
      </p:sp>
      <p:pic>
        <p:nvPicPr>
          <p:cNvPr id="6" name="Picture 5">
            <a:extLst>
              <a:ext uri="{FF2B5EF4-FFF2-40B4-BE49-F238E27FC236}">
                <a16:creationId xmlns:a16="http://schemas.microsoft.com/office/drawing/2014/main" id="{80D2A496-8441-4AA8-B53C-42972CCC2592}"/>
              </a:ext>
            </a:extLst>
          </p:cNvPr>
          <p:cNvPicPr>
            <a:picLocks noChangeAspect="1"/>
          </p:cNvPicPr>
          <p:nvPr/>
        </p:nvPicPr>
        <p:blipFill>
          <a:blip r:embed="rId3"/>
          <a:stretch>
            <a:fillRect/>
          </a:stretch>
        </p:blipFill>
        <p:spPr>
          <a:xfrm>
            <a:off x="1114247" y="895882"/>
            <a:ext cx="6915505" cy="402610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69</a:t>
            </a:fld>
            <a:endParaRPr lang="en-US" dirty="0"/>
          </a:p>
        </p:txBody>
      </p:sp>
    </p:spTree>
    <p:extLst>
      <p:ext uri="{BB962C8B-B14F-4D97-AF65-F5344CB8AC3E}">
        <p14:creationId xmlns:p14="http://schemas.microsoft.com/office/powerpoint/2010/main" val="35994779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OSPF SHA Routing Protocol Authentication </a:t>
            </a:r>
          </a:p>
        </p:txBody>
      </p:sp>
      <p:sp>
        <p:nvSpPr>
          <p:cNvPr id="5" name="Object4"/>
          <p:cNvSpPr/>
          <p:nvPr/>
        </p:nvSpPr>
        <p:spPr>
          <a:xfrm>
            <a:off x="0" y="914400"/>
            <a:ext cx="9056536" cy="779228"/>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MD5 is now considered vulnerable to attacks and should only be used when stronger authentication is not available. Administrators should use SHA authentication as long as all of the router operating systems support OSPF SHA authentication.</a:t>
            </a:r>
          </a:p>
          <a:p>
            <a:pPr>
              <a:lnSpc>
                <a:spcPts val="2000"/>
              </a:lnSpc>
            </a:pPr>
            <a:endParaRPr lang="en-US" sz="1400" dirty="0"/>
          </a:p>
          <a:p>
            <a:pPr>
              <a:lnSpc>
                <a:spcPts val="2000"/>
              </a:lnSpc>
            </a:pPr>
            <a:endParaRPr lang="en-US" sz="1400" dirty="0"/>
          </a:p>
        </p:txBody>
      </p:sp>
      <p:sp>
        <p:nvSpPr>
          <p:cNvPr id="7" name="TextBox 6">
            <a:extLst>
              <a:ext uri="{FF2B5EF4-FFF2-40B4-BE49-F238E27FC236}">
                <a16:creationId xmlns:a16="http://schemas.microsoft.com/office/drawing/2014/main" id="{4BDEBFD1-75E8-4AE5-8CB2-A4ADF786325B}"/>
              </a:ext>
            </a:extLst>
          </p:cNvPr>
          <p:cNvSpPr txBox="1"/>
          <p:nvPr/>
        </p:nvSpPr>
        <p:spPr>
          <a:xfrm>
            <a:off x="-2" y="1828800"/>
            <a:ext cx="8857753" cy="1323439"/>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Step 1.</a:t>
            </a:r>
            <a:r>
              <a:rPr lang="en-US" sz="1600" dirty="0">
                <a:latin typeface="Arial" panose="020B0604020202020204" pitchFamily="34" charset="0"/>
                <a:cs typeface="Arial" panose="020B0604020202020204" pitchFamily="34" charset="0"/>
              </a:rPr>
              <a:t> Specify an authentication key chain in global configuration mode: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Configure a key chain name with the </a:t>
            </a:r>
            <a:r>
              <a:rPr lang="en-US" sz="1600" b="1" dirty="0">
                <a:latin typeface="Arial" panose="020B0604020202020204" pitchFamily="34" charset="0"/>
                <a:cs typeface="Arial" panose="020B0604020202020204" pitchFamily="34" charset="0"/>
              </a:rPr>
              <a:t>key chain</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Assign the key chain a number and a password with the </a:t>
            </a:r>
            <a:r>
              <a:rPr lang="en-US" sz="1600" b="1" dirty="0">
                <a:latin typeface="Arial" panose="020B0604020202020204" pitchFamily="34" charset="0"/>
                <a:cs typeface="Arial" panose="020B0604020202020204" pitchFamily="34" charset="0"/>
              </a:rPr>
              <a:t>key</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key-string</a:t>
            </a:r>
            <a:r>
              <a:rPr lang="en-US" sz="1600" dirty="0">
                <a:latin typeface="Arial" panose="020B0604020202020204" pitchFamily="34" charset="0"/>
                <a:cs typeface="Arial" panose="020B0604020202020204" pitchFamily="34" charset="0"/>
              </a:rPr>
              <a:t> commands.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Specify SHA authentication with the </a:t>
            </a:r>
            <a:r>
              <a:rPr lang="en-US" sz="1600" b="1" dirty="0">
                <a:latin typeface="Arial" panose="020B0604020202020204" pitchFamily="34" charset="0"/>
                <a:cs typeface="Arial" panose="020B0604020202020204" pitchFamily="34" charset="0"/>
              </a:rPr>
              <a:t>cryptographic-algorithm</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(Optional) Specify when this key will expire with the </a:t>
            </a:r>
            <a:r>
              <a:rPr lang="en-US" sz="1600" b="1" dirty="0">
                <a:latin typeface="Arial" panose="020B0604020202020204" pitchFamily="34" charset="0"/>
                <a:cs typeface="Arial" panose="020B0604020202020204" pitchFamily="34" charset="0"/>
              </a:rPr>
              <a:t>send-lifetime</a:t>
            </a:r>
            <a:r>
              <a:rPr lang="en-US" sz="1600" dirty="0">
                <a:latin typeface="Arial" panose="020B0604020202020204" pitchFamily="34" charset="0"/>
                <a:cs typeface="Arial" panose="020B0604020202020204" pitchFamily="34" charset="0"/>
              </a:rPr>
              <a:t> command.</a:t>
            </a:r>
          </a:p>
        </p:txBody>
      </p:sp>
      <p:pic>
        <p:nvPicPr>
          <p:cNvPr id="8" name="Picture 7">
            <a:extLst>
              <a:ext uri="{FF2B5EF4-FFF2-40B4-BE49-F238E27FC236}">
                <a16:creationId xmlns:a16="http://schemas.microsoft.com/office/drawing/2014/main" id="{387AFB4D-60E9-432C-A1AF-0AF9CB1CC0F1}"/>
              </a:ext>
            </a:extLst>
          </p:cNvPr>
          <p:cNvPicPr>
            <a:picLocks noChangeAspect="1"/>
          </p:cNvPicPr>
          <p:nvPr/>
        </p:nvPicPr>
        <p:blipFill>
          <a:blip r:embed="rId3"/>
          <a:stretch>
            <a:fillRect/>
          </a:stretch>
        </p:blipFill>
        <p:spPr>
          <a:xfrm>
            <a:off x="310943" y="3213883"/>
            <a:ext cx="8045863" cy="128911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70</a:t>
            </a:fld>
            <a:endParaRPr lang="en-US" dirty="0"/>
          </a:p>
        </p:txBody>
      </p:sp>
    </p:spTree>
    <p:extLst>
      <p:ext uri="{BB962C8B-B14F-4D97-AF65-F5344CB8AC3E}">
        <p14:creationId xmlns:p14="http://schemas.microsoft.com/office/powerpoint/2010/main" val="718289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OSPF SHA Routing Protocol Authentication (Cont.)</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endParaRPr lang="en-US" sz="1400" dirty="0"/>
          </a:p>
          <a:p>
            <a:pPr>
              <a:lnSpc>
                <a:spcPts val="2000"/>
              </a:lnSpc>
            </a:pPr>
            <a:endParaRPr lang="en-US" sz="1400" dirty="0"/>
          </a:p>
        </p:txBody>
      </p:sp>
      <p:sp>
        <p:nvSpPr>
          <p:cNvPr id="7" name="TextBox 6">
            <a:extLst>
              <a:ext uri="{FF2B5EF4-FFF2-40B4-BE49-F238E27FC236}">
                <a16:creationId xmlns:a16="http://schemas.microsoft.com/office/drawing/2014/main" id="{4BDEBFD1-75E8-4AE5-8CB2-A4ADF786325B}"/>
              </a:ext>
            </a:extLst>
          </p:cNvPr>
          <p:cNvSpPr txBox="1"/>
          <p:nvPr/>
        </p:nvSpPr>
        <p:spPr>
          <a:xfrm>
            <a:off x="55659" y="929371"/>
            <a:ext cx="6599582"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2.</a:t>
            </a:r>
            <a:r>
              <a:rPr lang="en-US" dirty="0">
                <a:latin typeface="Arial" panose="020B0604020202020204" pitchFamily="34" charset="0"/>
                <a:cs typeface="Arial" panose="020B0604020202020204" pitchFamily="34" charset="0"/>
              </a:rPr>
              <a:t> Assign the authentication key to the desired interfaces with the </a:t>
            </a:r>
            <a:r>
              <a:rPr lang="en-US" b="1" dirty="0">
                <a:latin typeface="Arial" panose="020B0604020202020204" pitchFamily="34" charset="0"/>
                <a:cs typeface="Arial" panose="020B0604020202020204" pitchFamily="34" charset="0"/>
              </a:rPr>
              <a:t>ip ospf authentication key-chain</a:t>
            </a:r>
            <a:r>
              <a:rPr lang="en-US" dirty="0">
                <a:latin typeface="Arial" panose="020B0604020202020204" pitchFamily="34" charset="0"/>
                <a:cs typeface="Arial" panose="020B0604020202020204" pitchFamily="34" charset="0"/>
              </a:rPr>
              <a:t> command.</a:t>
            </a:r>
          </a:p>
        </p:txBody>
      </p:sp>
      <p:pic>
        <p:nvPicPr>
          <p:cNvPr id="4" name="Picture 3">
            <a:extLst>
              <a:ext uri="{FF2B5EF4-FFF2-40B4-BE49-F238E27FC236}">
                <a16:creationId xmlns:a16="http://schemas.microsoft.com/office/drawing/2014/main" id="{561B693B-BB32-4836-9EAE-7ED2398E92B2}"/>
              </a:ext>
            </a:extLst>
          </p:cNvPr>
          <p:cNvPicPr>
            <a:picLocks noChangeAspect="1"/>
          </p:cNvPicPr>
          <p:nvPr/>
        </p:nvPicPr>
        <p:blipFill>
          <a:blip r:embed="rId3"/>
          <a:stretch>
            <a:fillRect/>
          </a:stretch>
        </p:blipFill>
        <p:spPr>
          <a:xfrm>
            <a:off x="55659" y="1679602"/>
            <a:ext cx="9144000" cy="673090"/>
          </a:xfrm>
          <a:prstGeom prst="rect">
            <a:avLst/>
          </a:prstGeom>
        </p:spPr>
      </p:pic>
      <p:sp>
        <p:nvSpPr>
          <p:cNvPr id="11" name="TextBox 10">
            <a:extLst>
              <a:ext uri="{FF2B5EF4-FFF2-40B4-BE49-F238E27FC236}">
                <a16:creationId xmlns:a16="http://schemas.microsoft.com/office/drawing/2014/main" id="{15009334-BA7D-4148-8EEB-81AA70E4932D}"/>
              </a:ext>
            </a:extLst>
          </p:cNvPr>
          <p:cNvSpPr txBox="1"/>
          <p:nvPr/>
        </p:nvSpPr>
        <p:spPr>
          <a:xfrm>
            <a:off x="-1" y="2486136"/>
            <a:ext cx="8772526"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next slide shows an SHA authentication example for R1 and R2.</a:t>
            </a:r>
          </a:p>
        </p:txBody>
      </p:sp>
      <p:pic>
        <p:nvPicPr>
          <p:cNvPr id="8" name="Picture 7">
            <a:extLst>
              <a:ext uri="{FF2B5EF4-FFF2-40B4-BE49-F238E27FC236}">
                <a16:creationId xmlns:a16="http://schemas.microsoft.com/office/drawing/2014/main" id="{CBEB0E3D-E856-402E-83DB-002973F4AD51}"/>
              </a:ext>
            </a:extLst>
          </p:cNvPr>
          <p:cNvPicPr>
            <a:picLocks noChangeAspect="1"/>
          </p:cNvPicPr>
          <p:nvPr/>
        </p:nvPicPr>
        <p:blipFill>
          <a:blip r:embed="rId4"/>
          <a:stretch>
            <a:fillRect/>
          </a:stretch>
        </p:blipFill>
        <p:spPr>
          <a:xfrm>
            <a:off x="549073" y="3132467"/>
            <a:ext cx="7855354" cy="12510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71</a:t>
            </a:fld>
            <a:endParaRPr lang="en-US" dirty="0"/>
          </a:p>
        </p:txBody>
      </p:sp>
    </p:spTree>
    <p:extLst>
      <p:ext uri="{BB962C8B-B14F-4D97-AF65-F5344CB8AC3E}">
        <p14:creationId xmlns:p14="http://schemas.microsoft.com/office/powerpoint/2010/main" val="38888268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Routing Protocol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OSPF SHA Routing Protocol Authentication (Cont.)</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endParaRPr lang="en-US" sz="1400" dirty="0"/>
          </a:p>
          <a:p>
            <a:pPr>
              <a:lnSpc>
                <a:spcPts val="2000"/>
              </a:lnSpc>
            </a:pPr>
            <a:endParaRPr lang="en-US" sz="1400" dirty="0"/>
          </a:p>
        </p:txBody>
      </p:sp>
      <p:pic>
        <p:nvPicPr>
          <p:cNvPr id="8" name="Picture 7">
            <a:extLst>
              <a:ext uri="{FF2B5EF4-FFF2-40B4-BE49-F238E27FC236}">
                <a16:creationId xmlns:a16="http://schemas.microsoft.com/office/drawing/2014/main" id="{7333FA43-F0AE-4C4B-BF92-0896947F3915}"/>
              </a:ext>
            </a:extLst>
          </p:cNvPr>
          <p:cNvPicPr>
            <a:picLocks noChangeAspect="1"/>
          </p:cNvPicPr>
          <p:nvPr/>
        </p:nvPicPr>
        <p:blipFill>
          <a:blip r:embed="rId3"/>
          <a:stretch>
            <a:fillRect/>
          </a:stretch>
        </p:blipFill>
        <p:spPr>
          <a:xfrm>
            <a:off x="1289232" y="868921"/>
            <a:ext cx="6219825" cy="397624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72</a:t>
            </a:fld>
            <a:endParaRPr lang="en-US" dirty="0"/>
          </a:p>
        </p:txBody>
      </p:sp>
    </p:spTree>
    <p:extLst>
      <p:ext uri="{BB962C8B-B14F-4D97-AF65-F5344CB8AC3E}">
        <p14:creationId xmlns:p14="http://schemas.microsoft.com/office/powerpoint/2010/main" val="4218166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6.4 Secure Management and Reporting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73</a:t>
            </a:fld>
            <a:endParaRPr lang="en-US" dirty="0"/>
          </a:p>
        </p:txBody>
      </p:sp>
    </p:spTree>
    <p:extLst>
      <p:ext uri="{BB962C8B-B14F-4D97-AF65-F5344CB8AC3E}">
        <p14:creationId xmlns:p14="http://schemas.microsoft.com/office/powerpoint/2010/main" val="1910898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Management and Reporting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Management Access</a:t>
            </a:r>
          </a:p>
        </p:txBody>
      </p:sp>
      <p:sp>
        <p:nvSpPr>
          <p:cNvPr id="5" name="Object4"/>
          <p:cNvSpPr/>
          <p:nvPr/>
        </p:nvSpPr>
        <p:spPr>
          <a:xfrm>
            <a:off x="-1" y="914400"/>
            <a:ext cx="5159967" cy="2571750"/>
          </a:xfrm>
          <a:prstGeom prst="rect">
            <a:avLst/>
          </a:prstGeom>
          <a:noFill/>
          <a:ln/>
        </p:spPr>
        <p:txBody>
          <a:bodyPr wrap="square" rtlCol="0" anchor="t"/>
          <a:lstStyle/>
          <a:p>
            <a:r>
              <a:rPr lang="en-US" sz="1600" dirty="0">
                <a:solidFill>
                  <a:srgbClr val="000000"/>
                </a:solidFill>
                <a:latin typeface="Arial" panose="020B0604020202020204" pitchFamily="34" charset="0"/>
                <a:ea typeface="Arial" pitchFamily="34" charset="-122"/>
                <a:cs typeface="Arial" panose="020B0604020202020204" pitchFamily="34" charset="0"/>
              </a:rPr>
              <a:t>(</a:t>
            </a:r>
            <a:r>
              <a:rPr lang="en-US" sz="1600" dirty="0">
                <a:latin typeface="Arial" panose="020B0604020202020204" pitchFamily="34" charset="0"/>
                <a:cs typeface="Arial" panose="020B0604020202020204" pitchFamily="34" charset="0"/>
              </a:rPr>
              <a:t>From a reporting standpoint, most networking devices can send log data that can be invaluable when troubleshooting network problems or security threats. This data can be viewed in real time, on demand, and in scheduled reports.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logging and managing information, the information flow between management hosts and the managed devices can take two paths:</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In-band</a:t>
            </a:r>
            <a:r>
              <a:rPr lang="en-US" sz="1400" dirty="0">
                <a:latin typeface="Arial" panose="020B0604020202020204" pitchFamily="34" charset="0"/>
                <a:cs typeface="Arial" panose="020B0604020202020204" pitchFamily="34" charset="0"/>
              </a:rPr>
              <a:t> - Information flows across an enterprise production network, the Internet, or both, using regular data channels.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Out-of-band (OOB)</a:t>
            </a:r>
            <a:r>
              <a:rPr lang="en-US" sz="1400" dirty="0">
                <a:latin typeface="Arial" panose="020B0604020202020204" pitchFamily="34" charset="0"/>
                <a:cs typeface="Arial" panose="020B0604020202020204" pitchFamily="34" charset="0"/>
              </a:rPr>
              <a:t> - Information flows on a dedicated management network on which no production traffic resides.</a:t>
            </a:r>
          </a:p>
          <a:p>
            <a:pPr>
              <a:lnSpc>
                <a:spcPts val="2000"/>
              </a:lnSpc>
            </a:pPr>
            <a:endParaRPr lang="en-US" sz="1400" dirty="0"/>
          </a:p>
        </p:txBody>
      </p:sp>
      <p:pic>
        <p:nvPicPr>
          <p:cNvPr id="4" name="Picture 3">
            <a:extLst>
              <a:ext uri="{FF2B5EF4-FFF2-40B4-BE49-F238E27FC236}">
                <a16:creationId xmlns:a16="http://schemas.microsoft.com/office/drawing/2014/main" id="{533898F8-7D69-4320-B544-54D10E878A0A}"/>
              </a:ext>
            </a:extLst>
          </p:cNvPr>
          <p:cNvPicPr>
            <a:picLocks noChangeAspect="1"/>
          </p:cNvPicPr>
          <p:nvPr/>
        </p:nvPicPr>
        <p:blipFill>
          <a:blip r:embed="rId3"/>
          <a:stretch>
            <a:fillRect/>
          </a:stretch>
        </p:blipFill>
        <p:spPr>
          <a:xfrm>
            <a:off x="4890051" y="703358"/>
            <a:ext cx="4070637" cy="1754092"/>
          </a:xfrm>
          <a:prstGeom prst="rect">
            <a:avLst/>
          </a:prstGeom>
        </p:spPr>
      </p:pic>
      <p:pic>
        <p:nvPicPr>
          <p:cNvPr id="6" name="Picture 5">
            <a:extLst>
              <a:ext uri="{FF2B5EF4-FFF2-40B4-BE49-F238E27FC236}">
                <a16:creationId xmlns:a16="http://schemas.microsoft.com/office/drawing/2014/main" id="{347F18E5-777A-45E0-873A-F350AC43B067}"/>
              </a:ext>
            </a:extLst>
          </p:cNvPr>
          <p:cNvPicPr>
            <a:picLocks noChangeAspect="1"/>
          </p:cNvPicPr>
          <p:nvPr/>
        </p:nvPicPr>
        <p:blipFill>
          <a:blip r:embed="rId4"/>
          <a:stretch>
            <a:fillRect/>
          </a:stretch>
        </p:blipFill>
        <p:spPr>
          <a:xfrm>
            <a:off x="5263333" y="2686051"/>
            <a:ext cx="3320100" cy="24003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74</a:t>
            </a:fld>
            <a:endParaRPr lang="en-US" dirty="0"/>
          </a:p>
        </p:txBody>
      </p:sp>
    </p:spTree>
    <p:extLst>
      <p:ext uri="{BB962C8B-B14F-4D97-AF65-F5344CB8AC3E}">
        <p14:creationId xmlns:p14="http://schemas.microsoft.com/office/powerpoint/2010/main" val="23626518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Management and Reporting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Out-of-Band and In-Band Access</a:t>
            </a:r>
          </a:p>
        </p:txBody>
      </p:sp>
      <p:sp>
        <p:nvSpPr>
          <p:cNvPr id="5" name="Object4"/>
          <p:cNvSpPr/>
          <p:nvPr/>
        </p:nvSpPr>
        <p:spPr>
          <a:xfrm>
            <a:off x="0" y="708660"/>
            <a:ext cx="9310977" cy="2571750"/>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As a general rule, for security purposes, OOB management is appropriate for large enterprise networks. However, it is not always desirable. The decision to use OOB management depends on the type of management applications running and the protocols being monitored.</a:t>
            </a:r>
          </a:p>
          <a:p>
            <a:pPr>
              <a:lnSpc>
                <a:spcPts val="2000"/>
              </a:lnSpc>
            </a:pP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OOB management guidelines are:</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Provide the highest level of security.</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Mitigate the risk of passing insecure management protocols over the production network.</a:t>
            </a:r>
          </a:p>
          <a:p>
            <a:pPr>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In-band management is recommended in smaller networks as a means of achieving a more cost-effective security deployment. In such architectures, management traffic flows in-band in all cases. It is made as secure as possible using secure management protocols, for example using SSH instead of Telnet.</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In-band management guidelines are:</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Apply only to devices that need to be managed or monitored.</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Use IPsec, SSH, or SSL when possible.</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Decide whether the management channel needs to be open at all times.</a:t>
            </a:r>
          </a:p>
          <a:p>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75</a:t>
            </a:fld>
            <a:endParaRPr lang="en-US" dirty="0"/>
          </a:p>
        </p:txBody>
      </p:sp>
    </p:spTree>
    <p:extLst>
      <p:ext uri="{BB962C8B-B14F-4D97-AF65-F5344CB8AC3E}">
        <p14:creationId xmlns:p14="http://schemas.microsoft.com/office/powerpoint/2010/main" val="26787021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6.5 Network Security Using Syslog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76</a:t>
            </a:fld>
            <a:endParaRPr lang="en-US" dirty="0"/>
          </a:p>
        </p:txBody>
      </p:sp>
    </p:spTree>
    <p:extLst>
      <p:ext uri="{BB962C8B-B14F-4D97-AF65-F5344CB8AC3E}">
        <p14:creationId xmlns:p14="http://schemas.microsoft.com/office/powerpoint/2010/main" val="11080429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to Syslog</a:t>
            </a:r>
          </a:p>
        </p:txBody>
      </p:sp>
      <p:sp>
        <p:nvSpPr>
          <p:cNvPr id="5" name="Object4"/>
          <p:cNvSpPr/>
          <p:nvPr/>
        </p:nvSpPr>
        <p:spPr>
          <a:xfrm>
            <a:off x="-1" y="723569"/>
            <a:ext cx="6143625" cy="2762581"/>
          </a:xfrm>
          <a:prstGeom prst="rect">
            <a:avLst/>
          </a:prstGeom>
          <a:noFill/>
          <a:ln/>
        </p:spPr>
        <p:txBody>
          <a:bodyPr wrap="square" rtlCol="0" anchor="t"/>
          <a:lstStyle/>
          <a:p>
            <a:r>
              <a:rPr lang="en-US" sz="1500" dirty="0">
                <a:latin typeface="Arial" panose="020B0604020202020204" pitchFamily="34" charset="0"/>
                <a:cs typeface="Arial" panose="020B0604020202020204" pitchFamily="34" charset="0"/>
              </a:rPr>
              <a:t>The most common method of accessing system messages is to use a protocol called syslog.</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Syslog is a term used to describe a standard. It is also used to describe the protocol developed for that standard. Many networking devices support syslog, including routers, switches, application servers, firewalls, and other network appliances. The syslog protocol allows networking devices to send their system messages across the network to syslog servers.</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syslog logging service provides three primary functions, as follows:</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The ability to gather logging information for monitoring and troubleshooting</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The ability to select the type of logging information that is captured</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The ability to specify the destinations of captured syslog messages</a:t>
            </a:r>
          </a:p>
          <a:p>
            <a:endParaRPr lang="en-US" sz="1400" dirty="0"/>
          </a:p>
        </p:txBody>
      </p:sp>
      <p:pic>
        <p:nvPicPr>
          <p:cNvPr id="4" name="Picture 3">
            <a:extLst>
              <a:ext uri="{FF2B5EF4-FFF2-40B4-BE49-F238E27FC236}">
                <a16:creationId xmlns:a16="http://schemas.microsoft.com/office/drawing/2014/main" id="{BBD123F8-8E56-4508-ACCC-E92E16C55542}"/>
              </a:ext>
            </a:extLst>
          </p:cNvPr>
          <p:cNvPicPr>
            <a:picLocks noChangeAspect="1"/>
          </p:cNvPicPr>
          <p:nvPr/>
        </p:nvPicPr>
        <p:blipFill>
          <a:blip r:embed="rId3"/>
          <a:stretch>
            <a:fillRect/>
          </a:stretch>
        </p:blipFill>
        <p:spPr>
          <a:xfrm>
            <a:off x="5947576" y="1384439"/>
            <a:ext cx="3093057" cy="182689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77</a:t>
            </a:fld>
            <a:endParaRPr lang="en-US" dirty="0"/>
          </a:p>
        </p:txBody>
      </p:sp>
    </p:spTree>
    <p:extLst>
      <p:ext uri="{BB962C8B-B14F-4D97-AF65-F5344CB8AC3E}">
        <p14:creationId xmlns:p14="http://schemas.microsoft.com/office/powerpoint/2010/main" val="18493198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Syslog Operation</a:t>
            </a:r>
          </a:p>
        </p:txBody>
      </p:sp>
      <p:sp>
        <p:nvSpPr>
          <p:cNvPr id="5" name="Object4"/>
          <p:cNvSpPr/>
          <p:nvPr/>
        </p:nvSpPr>
        <p:spPr>
          <a:xfrm>
            <a:off x="0" y="731520"/>
            <a:ext cx="6066845" cy="220599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On Cisco network devices, the syslog protocol starts by sending system messages and </a:t>
            </a:r>
            <a:r>
              <a:rPr lang="en-US" sz="1600" b="1" dirty="0">
                <a:latin typeface="Arial" panose="020B0604020202020204" pitchFamily="34" charset="0"/>
                <a:cs typeface="Arial" panose="020B0604020202020204" pitchFamily="34" charset="0"/>
              </a:rPr>
              <a:t>debug</a:t>
            </a:r>
            <a:r>
              <a:rPr lang="en-US" sz="1600" dirty="0">
                <a:latin typeface="Arial" panose="020B0604020202020204" pitchFamily="34" charset="0"/>
                <a:cs typeface="Arial" panose="020B0604020202020204" pitchFamily="34" charset="0"/>
              </a:rPr>
              <a:t> output to a local logging process that is internal to the device. How the logging process manages these messages and outputs is based on device configurations. </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As shown in the figure, popular destinations for syslog messages include the: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Logging buffer (RAM inside a router or switch)</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Console line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Terminal line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Syslog server</a:t>
            </a:r>
          </a:p>
          <a:p>
            <a:pPr>
              <a:lnSpc>
                <a:spcPts val="2000"/>
              </a:lnSpc>
            </a:pPr>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BA65FDC-7975-441C-8DF2-F4214554209D}"/>
              </a:ext>
            </a:extLst>
          </p:cNvPr>
          <p:cNvSpPr txBox="1"/>
          <p:nvPr/>
        </p:nvSpPr>
        <p:spPr>
          <a:xfrm>
            <a:off x="0" y="3689610"/>
            <a:ext cx="8707424" cy="605294"/>
          </a:xfrm>
          <a:prstGeom prst="rect">
            <a:avLst/>
          </a:prstGeom>
          <a:noFill/>
        </p:spPr>
        <p:txBody>
          <a:bodyPr wrap="square">
            <a:spAutoFit/>
          </a:bodyPr>
          <a:lstStyle/>
          <a:p>
            <a:pPr>
              <a:lnSpc>
                <a:spcPts val="2000"/>
              </a:lnSpc>
            </a:pPr>
            <a:r>
              <a:rPr lang="en-US" sz="1600" dirty="0">
                <a:latin typeface="Arial" panose="020B0604020202020204" pitchFamily="34" charset="0"/>
                <a:cs typeface="Arial" panose="020B0604020202020204" pitchFamily="34" charset="0"/>
              </a:rPr>
              <a:t>It is possible to remotely monitor system messages by viewing the logs on a syslog server, or by accessing the device through Telnet, SSH, or through the console port</a:t>
            </a:r>
            <a:r>
              <a:rPr lang="en-US" sz="1600" dirty="0"/>
              <a:t>.</a:t>
            </a:r>
          </a:p>
        </p:txBody>
      </p:sp>
      <p:pic>
        <p:nvPicPr>
          <p:cNvPr id="4" name="Picture 3">
            <a:extLst>
              <a:ext uri="{FF2B5EF4-FFF2-40B4-BE49-F238E27FC236}">
                <a16:creationId xmlns:a16="http://schemas.microsoft.com/office/drawing/2014/main" id="{858CE352-6C03-43AD-9D00-C6FE200EF1D7}"/>
              </a:ext>
            </a:extLst>
          </p:cNvPr>
          <p:cNvPicPr>
            <a:picLocks noChangeAspect="1"/>
          </p:cNvPicPr>
          <p:nvPr/>
        </p:nvPicPr>
        <p:blipFill>
          <a:blip r:embed="rId3"/>
          <a:stretch>
            <a:fillRect/>
          </a:stretch>
        </p:blipFill>
        <p:spPr>
          <a:xfrm>
            <a:off x="5995283" y="1013653"/>
            <a:ext cx="2831410" cy="199618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78</a:t>
            </a:fld>
            <a:endParaRPr lang="en-US" dirty="0"/>
          </a:p>
        </p:txBody>
      </p:sp>
    </p:spTree>
    <p:extLst>
      <p:ext uri="{BB962C8B-B14F-4D97-AF65-F5344CB8AC3E}">
        <p14:creationId xmlns:p14="http://schemas.microsoft.com/office/powerpoint/2010/main" val="38395003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Syslog Message Format</a:t>
            </a:r>
          </a:p>
        </p:txBody>
      </p:sp>
      <p:sp>
        <p:nvSpPr>
          <p:cNvPr id="7" name="TextBox 6">
            <a:extLst>
              <a:ext uri="{FF2B5EF4-FFF2-40B4-BE49-F238E27FC236}">
                <a16:creationId xmlns:a16="http://schemas.microsoft.com/office/drawing/2014/main" id="{8F8DE6CF-768F-4FC7-A82F-9F1EC7FC8C4F}"/>
              </a:ext>
            </a:extLst>
          </p:cNvPr>
          <p:cNvSpPr txBox="1"/>
          <p:nvPr/>
        </p:nvSpPr>
        <p:spPr>
          <a:xfrm>
            <a:off x="91440" y="805994"/>
            <a:ext cx="9052560" cy="120032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Cisco devices produce syslog messages as a result of network events. Every syslog message contains a severity level and a facility.</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smaller numerical levels are the more critical syslog alarms.</a:t>
            </a:r>
          </a:p>
        </p:txBody>
      </p:sp>
      <p:graphicFrame>
        <p:nvGraphicFramePr>
          <p:cNvPr id="35" name="Table 34"/>
          <p:cNvGraphicFramePr>
            <a:graphicFrameLocks noGrp="1"/>
          </p:cNvGraphicFramePr>
          <p:nvPr>
            <p:extLst>
              <p:ext uri="{D42A27DB-BD31-4B8C-83A1-F6EECF244321}">
                <p14:modId xmlns:p14="http://schemas.microsoft.com/office/powerpoint/2010/main" val="934958104"/>
              </p:ext>
            </p:extLst>
          </p:nvPr>
        </p:nvGraphicFramePr>
        <p:xfrm>
          <a:off x="1794510" y="2126503"/>
          <a:ext cx="5006340" cy="2331720"/>
        </p:xfrm>
        <a:graphic>
          <a:graphicData uri="http://schemas.openxmlformats.org/drawingml/2006/table">
            <a:tbl>
              <a:tblPr/>
              <a:tblGrid>
                <a:gridCol w="1472565">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2352675">
                  <a:extLst>
                    <a:ext uri="{9D8B030D-6E8A-4147-A177-3AD203B41FA5}">
                      <a16:colId xmlns:a16="http://schemas.microsoft.com/office/drawing/2014/main" val="20002"/>
                    </a:ext>
                  </a:extLst>
                </a:gridCol>
              </a:tblGrid>
              <a:tr h="0">
                <a:tc>
                  <a:txBody>
                    <a:bodyPr/>
                    <a:lstStyle/>
                    <a:p>
                      <a:r>
                        <a:rPr lang="en-US" sz="1200" dirty="0">
                          <a:solidFill>
                            <a:schemeClr val="bg1"/>
                          </a:solidFill>
                        </a:rPr>
                        <a:t>Severity Name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chemeClr val="bg1"/>
                          </a:solidFill>
                        </a:rPr>
                        <a:t>Severity Level</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chemeClr val="bg1"/>
                          </a:solidFill>
                        </a:rPr>
                        <a:t>Description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Emergency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System Unusable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Alert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1</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Immediate Action Needed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Critical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Critical Condition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Error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3</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Error Condition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Warning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Warning Condition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Notification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5</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Normal, but Significant Condition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dirty="0">
                          <a:solidFill>
                            <a:srgbClr val="58585B"/>
                          </a:solidFill>
                        </a:rPr>
                        <a:t>Informational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Informational Message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dirty="0">
                          <a:solidFill>
                            <a:srgbClr val="58585B"/>
                          </a:solidFill>
                        </a:rPr>
                        <a:t>Debugging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Level 7</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Debugging Message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79</a:t>
            </a:fld>
            <a:endParaRPr lang="en-US" dirty="0"/>
          </a:p>
        </p:txBody>
      </p:sp>
    </p:spTree>
    <p:extLst>
      <p:ext uri="{BB962C8B-B14F-4D97-AF65-F5344CB8AC3E}">
        <p14:creationId xmlns:p14="http://schemas.microsoft.com/office/powerpoint/2010/main" val="1924993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Syslog Facilities</a:t>
            </a:r>
          </a:p>
        </p:txBody>
      </p:sp>
      <p:sp>
        <p:nvSpPr>
          <p:cNvPr id="5" name="Object4"/>
          <p:cNvSpPr/>
          <p:nvPr/>
        </p:nvSpPr>
        <p:spPr>
          <a:xfrm>
            <a:off x="0" y="914400"/>
            <a:ext cx="8686800" cy="3714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Syslog facilities are service identifiers that identify and categorize system state data for error and event message reporting. The logging facility options that are available are specific to the networking device.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By default, the format of syslog messages on the Cisco IOS Software is as follows:</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For example, sample output on a Cisco switch for an EtherChannel link changing state to up is:</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Here the facility is </a:t>
            </a:r>
            <a:r>
              <a:rPr lang="en-US" sz="1600" b="1" dirty="0">
                <a:latin typeface="Arial" panose="020B0604020202020204" pitchFamily="34" charset="0"/>
                <a:cs typeface="Arial" panose="020B0604020202020204" pitchFamily="34" charset="0"/>
              </a:rPr>
              <a:t>LINK</a:t>
            </a:r>
            <a:r>
              <a:rPr lang="en-US" sz="1600" dirty="0">
                <a:latin typeface="Arial" panose="020B0604020202020204" pitchFamily="34" charset="0"/>
                <a:cs typeface="Arial" panose="020B0604020202020204" pitchFamily="34" charset="0"/>
              </a:rPr>
              <a:t> and the severity level is </a:t>
            </a:r>
            <a:r>
              <a:rPr lang="en-US" sz="1600" b="1" dirty="0">
                <a:latin typeface="Arial" panose="020B0604020202020204" pitchFamily="34" charset="0"/>
                <a:cs typeface="Arial" panose="020B0604020202020204" pitchFamily="34" charset="0"/>
              </a:rPr>
              <a:t>3</a:t>
            </a:r>
            <a:r>
              <a:rPr lang="en-US" sz="1600" dirty="0">
                <a:latin typeface="Arial" panose="020B0604020202020204" pitchFamily="34" charset="0"/>
                <a:cs typeface="Arial" panose="020B0604020202020204" pitchFamily="34" charset="0"/>
              </a:rPr>
              <a:t>, with a MNEMONIC of </a:t>
            </a:r>
            <a:r>
              <a:rPr lang="en-US" sz="1600" b="1" dirty="0">
                <a:latin typeface="Arial" panose="020B0604020202020204" pitchFamily="34" charset="0"/>
                <a:cs typeface="Arial" panose="020B0604020202020204" pitchFamily="34" charset="0"/>
              </a:rPr>
              <a:t>UPDOWN</a:t>
            </a:r>
          </a:p>
          <a:p>
            <a:pPr>
              <a:lnSpc>
                <a:spcPts val="2000"/>
              </a:lnSpc>
            </a:pPr>
            <a:endParaRPr lang="en-US" sz="1400" dirty="0"/>
          </a:p>
        </p:txBody>
      </p:sp>
      <p:pic>
        <p:nvPicPr>
          <p:cNvPr id="6" name="Picture 5">
            <a:extLst>
              <a:ext uri="{FF2B5EF4-FFF2-40B4-BE49-F238E27FC236}">
                <a16:creationId xmlns:a16="http://schemas.microsoft.com/office/drawing/2014/main" id="{C34A20CF-4EDD-4FF3-A39C-C602518357EA}"/>
              </a:ext>
            </a:extLst>
          </p:cNvPr>
          <p:cNvPicPr>
            <a:picLocks noChangeAspect="1"/>
          </p:cNvPicPr>
          <p:nvPr/>
        </p:nvPicPr>
        <p:blipFill>
          <a:blip r:embed="rId3"/>
          <a:stretch>
            <a:fillRect/>
          </a:stretch>
        </p:blipFill>
        <p:spPr>
          <a:xfrm>
            <a:off x="2254160" y="2384417"/>
            <a:ext cx="3473629" cy="298465"/>
          </a:xfrm>
          <a:prstGeom prst="rect">
            <a:avLst/>
          </a:prstGeom>
        </p:spPr>
      </p:pic>
      <p:pic>
        <p:nvPicPr>
          <p:cNvPr id="8" name="Picture 7">
            <a:extLst>
              <a:ext uri="{FF2B5EF4-FFF2-40B4-BE49-F238E27FC236}">
                <a16:creationId xmlns:a16="http://schemas.microsoft.com/office/drawing/2014/main" id="{506639B1-7EF4-4943-B03D-9BAF9E4462BF}"/>
              </a:ext>
            </a:extLst>
          </p:cNvPr>
          <p:cNvPicPr>
            <a:picLocks noChangeAspect="1"/>
          </p:cNvPicPr>
          <p:nvPr/>
        </p:nvPicPr>
        <p:blipFill>
          <a:blip r:embed="rId4"/>
          <a:stretch>
            <a:fillRect/>
          </a:stretch>
        </p:blipFill>
        <p:spPr>
          <a:xfrm>
            <a:off x="1485770" y="3189605"/>
            <a:ext cx="5010407" cy="2667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80</a:t>
            </a:fld>
            <a:endParaRPr lang="en-US" dirty="0"/>
          </a:p>
        </p:txBody>
      </p:sp>
    </p:spTree>
    <p:extLst>
      <p:ext uri="{BB962C8B-B14F-4D97-AF65-F5344CB8AC3E}">
        <p14:creationId xmlns:p14="http://schemas.microsoft.com/office/powerpoint/2010/main" val="18684473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Syslog Timestamps</a:t>
            </a:r>
          </a:p>
        </p:txBody>
      </p:sp>
      <p:sp>
        <p:nvSpPr>
          <p:cNvPr id="5" name="Object4"/>
          <p:cNvSpPr/>
          <p:nvPr/>
        </p:nvSpPr>
        <p:spPr>
          <a:xfrm>
            <a:off x="0" y="652007"/>
            <a:ext cx="9144000" cy="2834143"/>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By default, log messages are not timestamped. Log messages should be timestamped so that when they are sent to another destination, such as a Syslog server, there is record of when the message was generated.</a:t>
            </a:r>
          </a:p>
          <a:p>
            <a:pPr>
              <a:lnSpc>
                <a:spcPts val="2000"/>
              </a:lnSpc>
            </a:pP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Use the command </a:t>
            </a:r>
            <a:r>
              <a:rPr lang="en-US" sz="1500" b="1" dirty="0">
                <a:latin typeface="Arial" panose="020B0604020202020204" pitchFamily="34" charset="0"/>
                <a:cs typeface="Arial" panose="020B0604020202020204" pitchFamily="34" charset="0"/>
              </a:rPr>
              <a:t>service timestamps log datetime</a:t>
            </a:r>
            <a:r>
              <a:rPr lang="en-US" sz="1500" dirty="0">
                <a:latin typeface="Arial" panose="020B0604020202020204" pitchFamily="34" charset="0"/>
                <a:cs typeface="Arial" panose="020B0604020202020204" pitchFamily="34" charset="0"/>
              </a:rPr>
              <a:t> to force logged events to display the date and time. As shown in the command output, when the R1 GigabitEthernet 0/0/0 interface is reactivated, the log messages now contain the date and time.</a:t>
            </a:r>
          </a:p>
          <a:p>
            <a:pPr>
              <a:lnSpc>
                <a:spcPts val="2000"/>
              </a:lnSpc>
            </a:pPr>
            <a:endParaRPr lang="en-US" sz="1400" dirty="0"/>
          </a:p>
        </p:txBody>
      </p:sp>
      <p:pic>
        <p:nvPicPr>
          <p:cNvPr id="4" name="Picture 3">
            <a:extLst>
              <a:ext uri="{FF2B5EF4-FFF2-40B4-BE49-F238E27FC236}">
                <a16:creationId xmlns:a16="http://schemas.microsoft.com/office/drawing/2014/main" id="{819683D1-05D2-4EC4-9D36-00C2E94E754C}"/>
              </a:ext>
            </a:extLst>
          </p:cNvPr>
          <p:cNvPicPr>
            <a:picLocks noChangeAspect="1"/>
          </p:cNvPicPr>
          <p:nvPr/>
        </p:nvPicPr>
        <p:blipFill>
          <a:blip r:embed="rId3"/>
          <a:stretch>
            <a:fillRect/>
          </a:stretch>
        </p:blipFill>
        <p:spPr>
          <a:xfrm>
            <a:off x="1280159" y="2571750"/>
            <a:ext cx="5581817" cy="209154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81</a:t>
            </a:fld>
            <a:endParaRPr lang="en-US" dirty="0"/>
          </a:p>
        </p:txBody>
      </p:sp>
    </p:spTree>
    <p:extLst>
      <p:ext uri="{BB962C8B-B14F-4D97-AF65-F5344CB8AC3E}">
        <p14:creationId xmlns:p14="http://schemas.microsoft.com/office/powerpoint/2010/main" val="1671823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Syslog Systems</a:t>
            </a:r>
          </a:p>
        </p:txBody>
      </p:sp>
      <p:sp>
        <p:nvSpPr>
          <p:cNvPr id="5" name="Object4"/>
          <p:cNvSpPr/>
          <p:nvPr/>
        </p:nvSpPr>
        <p:spPr>
          <a:xfrm>
            <a:off x="-1" y="652007"/>
            <a:ext cx="4200525" cy="1424443"/>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Syslog implementations always contain two types of systems:</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Syslog servers</a:t>
            </a:r>
            <a:r>
              <a:rPr lang="en-US" sz="1600" dirty="0">
                <a:latin typeface="Arial" panose="020B0604020202020204" pitchFamily="34" charset="0"/>
                <a:cs typeface="Arial" panose="020B0604020202020204" pitchFamily="34" charset="0"/>
              </a:rPr>
              <a:t> - Also known as log hosts, these systems accept and process log messages from syslog clients.</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Syslog clients</a:t>
            </a:r>
            <a:r>
              <a:rPr lang="en-US" sz="1600" dirty="0">
                <a:latin typeface="Arial" panose="020B0604020202020204" pitchFamily="34" charset="0"/>
                <a:cs typeface="Arial" panose="020B0604020202020204" pitchFamily="34" charset="0"/>
              </a:rPr>
              <a:t> - Routers or other types of equipment that generate and forward log messages to syslog servers.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topology in the figure identifies the syslog server at IP address 10.2.2.6. The rest of the servers and devices in the topology can be configured as syslog clients, which send syslog messages to the syslog server.</a:t>
            </a:r>
          </a:p>
        </p:txBody>
      </p:sp>
      <p:pic>
        <p:nvPicPr>
          <p:cNvPr id="4" name="Picture 3">
            <a:extLst>
              <a:ext uri="{FF2B5EF4-FFF2-40B4-BE49-F238E27FC236}">
                <a16:creationId xmlns:a16="http://schemas.microsoft.com/office/drawing/2014/main" id="{88EA2DAC-AB1D-41D1-8520-5CC11959CA27}"/>
              </a:ext>
            </a:extLst>
          </p:cNvPr>
          <p:cNvPicPr>
            <a:picLocks noChangeAspect="1"/>
          </p:cNvPicPr>
          <p:nvPr/>
        </p:nvPicPr>
        <p:blipFill>
          <a:blip r:embed="rId3"/>
          <a:stretch>
            <a:fillRect/>
          </a:stretch>
        </p:blipFill>
        <p:spPr>
          <a:xfrm>
            <a:off x="4164175" y="731520"/>
            <a:ext cx="4860670" cy="341185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82</a:t>
            </a:fld>
            <a:endParaRPr lang="en-US" dirty="0"/>
          </a:p>
        </p:txBody>
      </p:sp>
      <p:sp>
        <p:nvSpPr>
          <p:cNvPr id="6" name="BlokTextu 5">
            <a:extLst>
              <a:ext uri="{FF2B5EF4-FFF2-40B4-BE49-F238E27FC236}">
                <a16:creationId xmlns:a16="http://schemas.microsoft.com/office/drawing/2014/main" id="{8929E303-5F6E-7FFA-1145-733D74AEAD03}"/>
              </a:ext>
            </a:extLst>
          </p:cNvPr>
          <p:cNvSpPr txBox="1"/>
          <p:nvPr/>
        </p:nvSpPr>
        <p:spPr>
          <a:xfrm>
            <a:off x="4758744" y="274320"/>
            <a:ext cx="4063284" cy="646331"/>
          </a:xfrm>
          <a:prstGeom prst="rect">
            <a:avLst/>
          </a:prstGeom>
          <a:noFill/>
        </p:spPr>
        <p:txBody>
          <a:bodyPr wrap="square" rtlCol="0">
            <a:spAutoFit/>
          </a:bodyPr>
          <a:lstStyle/>
          <a:p>
            <a:r>
              <a:rPr lang="sk-SK" dirty="0"/>
              <a:t>Cisco smerovače umožňujú konfiguráciu až osem </a:t>
            </a:r>
            <a:r>
              <a:rPr lang="sk-SK" dirty="0" err="1"/>
              <a:t>syslog</a:t>
            </a:r>
            <a:r>
              <a:rPr lang="sk-SK" dirty="0"/>
              <a:t> serverov.</a:t>
            </a:r>
          </a:p>
        </p:txBody>
      </p:sp>
    </p:spTree>
    <p:extLst>
      <p:ext uri="{BB962C8B-B14F-4D97-AF65-F5344CB8AC3E}">
        <p14:creationId xmlns:p14="http://schemas.microsoft.com/office/powerpoint/2010/main" val="15745641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Syslog Configuration</a:t>
            </a:r>
          </a:p>
        </p:txBody>
      </p:sp>
      <p:sp>
        <p:nvSpPr>
          <p:cNvPr id="5" name="Object4"/>
          <p:cNvSpPr/>
          <p:nvPr/>
        </p:nvSpPr>
        <p:spPr>
          <a:xfrm>
            <a:off x="-1" y="914400"/>
            <a:ext cx="4818491" cy="3188473"/>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Configure system logging with the following steps:</a:t>
            </a:r>
          </a:p>
          <a:p>
            <a:endParaRPr lang="en-US" sz="1600" dirty="0">
              <a:effectLst/>
              <a:latin typeface="Arial" panose="020B0604020202020204" pitchFamily="34" charset="0"/>
              <a:cs typeface="Arial" panose="020B0604020202020204" pitchFamily="34" charset="0"/>
            </a:endParaRPr>
          </a:p>
          <a:p>
            <a:r>
              <a:rPr lang="en-US" sz="1600" b="1" dirty="0">
                <a:effectLst/>
                <a:latin typeface="Arial" panose="020B0604020202020204" pitchFamily="34" charset="0"/>
                <a:cs typeface="Arial" panose="020B0604020202020204" pitchFamily="34" charset="0"/>
              </a:rPr>
              <a:t>Step 1</a:t>
            </a:r>
            <a:r>
              <a:rPr lang="en-US" sz="1600" dirty="0">
                <a:effectLst/>
                <a:latin typeface="Arial" panose="020B0604020202020204" pitchFamily="34" charset="0"/>
                <a:cs typeface="Arial" panose="020B0604020202020204" pitchFamily="34" charset="0"/>
              </a:rPr>
              <a:t>. Set the destination logging host using the </a:t>
            </a:r>
            <a:r>
              <a:rPr lang="en-US" sz="1600" b="1" dirty="0">
                <a:effectLst/>
                <a:latin typeface="Arial" panose="020B0604020202020204" pitchFamily="34" charset="0"/>
                <a:cs typeface="Arial" panose="020B0604020202020204" pitchFamily="34" charset="0"/>
              </a:rPr>
              <a:t>logging [host]</a:t>
            </a:r>
            <a:r>
              <a:rPr lang="en-US" sz="1600" dirty="0">
                <a:effectLst/>
                <a:latin typeface="Arial" panose="020B0604020202020204" pitchFamily="34" charset="0"/>
                <a:cs typeface="Arial" panose="020B0604020202020204" pitchFamily="34" charset="0"/>
              </a:rPr>
              <a:t> command.</a:t>
            </a:r>
          </a:p>
          <a:p>
            <a:br>
              <a:rPr lang="en-US" sz="1600" dirty="0">
                <a:effectLst/>
                <a:latin typeface="Arial" panose="020B0604020202020204" pitchFamily="34" charset="0"/>
                <a:cs typeface="Arial" panose="020B0604020202020204" pitchFamily="34" charset="0"/>
              </a:rPr>
            </a:br>
            <a:r>
              <a:rPr lang="en-US" sz="1600" b="1" dirty="0">
                <a:effectLst/>
                <a:latin typeface="Arial" panose="020B0604020202020204" pitchFamily="34" charset="0"/>
                <a:cs typeface="Arial" panose="020B0604020202020204" pitchFamily="34" charset="0"/>
              </a:rPr>
              <a:t>Step 2</a:t>
            </a:r>
            <a:r>
              <a:rPr lang="en-US" sz="1600" dirty="0">
                <a:effectLst/>
                <a:latin typeface="Arial" panose="020B0604020202020204" pitchFamily="34" charset="0"/>
                <a:cs typeface="Arial" panose="020B0604020202020204" pitchFamily="34" charset="0"/>
              </a:rPr>
              <a:t>. (Optional) Set the log severity (trap) level using the </a:t>
            </a:r>
            <a:r>
              <a:rPr lang="en-US" sz="1600" b="1" dirty="0">
                <a:effectLst/>
                <a:latin typeface="Arial" panose="020B0604020202020204" pitchFamily="34" charset="0"/>
                <a:cs typeface="Arial" panose="020B0604020202020204" pitchFamily="34" charset="0"/>
              </a:rPr>
              <a:t>logging trap</a:t>
            </a:r>
            <a:r>
              <a:rPr lang="en-US" sz="1600" dirty="0">
                <a:effectLst/>
                <a:latin typeface="Arial" panose="020B0604020202020204" pitchFamily="34" charset="0"/>
                <a:cs typeface="Arial" panose="020B0604020202020204" pitchFamily="34" charset="0"/>
              </a:rPr>
              <a:t> command.</a:t>
            </a:r>
          </a:p>
          <a:p>
            <a:br>
              <a:rPr lang="en-US" sz="1600" dirty="0">
                <a:effectLst/>
                <a:latin typeface="Arial" panose="020B0604020202020204" pitchFamily="34" charset="0"/>
                <a:cs typeface="Arial" panose="020B0604020202020204" pitchFamily="34" charset="0"/>
              </a:rPr>
            </a:br>
            <a:r>
              <a:rPr lang="en-US" sz="1600" b="1" dirty="0">
                <a:effectLst/>
                <a:latin typeface="Arial" panose="020B0604020202020204" pitchFamily="34" charset="0"/>
                <a:cs typeface="Arial" panose="020B0604020202020204" pitchFamily="34" charset="0"/>
              </a:rPr>
              <a:t>Step 3</a:t>
            </a:r>
            <a:r>
              <a:rPr lang="en-US" sz="1600" dirty="0">
                <a:effectLst/>
                <a:latin typeface="Arial" panose="020B0604020202020204" pitchFamily="34" charset="0"/>
                <a:cs typeface="Arial" panose="020B0604020202020204" pitchFamily="34" charset="0"/>
              </a:rPr>
              <a:t>. (Optional) Set the source interface using the </a:t>
            </a:r>
            <a:r>
              <a:rPr lang="en-US" sz="1600" b="1" dirty="0">
                <a:effectLst/>
                <a:latin typeface="Arial" panose="020B0604020202020204" pitchFamily="34" charset="0"/>
                <a:cs typeface="Arial" panose="020B0604020202020204" pitchFamily="34" charset="0"/>
              </a:rPr>
              <a:t>logging source-interface</a:t>
            </a:r>
            <a:r>
              <a:rPr lang="en-US" sz="1600" dirty="0">
                <a:effectLst/>
                <a:latin typeface="Arial" panose="020B0604020202020204" pitchFamily="34" charset="0"/>
                <a:cs typeface="Arial" panose="020B0604020202020204" pitchFamily="34" charset="0"/>
              </a:rPr>
              <a:t> command.</a:t>
            </a:r>
          </a:p>
          <a:p>
            <a:br>
              <a:rPr lang="en-US" sz="1600" dirty="0">
                <a:effectLst/>
                <a:latin typeface="Arial" panose="020B0604020202020204" pitchFamily="34" charset="0"/>
                <a:cs typeface="Arial" panose="020B0604020202020204" pitchFamily="34" charset="0"/>
              </a:rPr>
            </a:br>
            <a:r>
              <a:rPr lang="en-US" sz="1600" b="1" dirty="0">
                <a:effectLst/>
                <a:latin typeface="Arial" panose="020B0604020202020204" pitchFamily="34" charset="0"/>
                <a:cs typeface="Arial" panose="020B0604020202020204" pitchFamily="34" charset="0"/>
              </a:rPr>
              <a:t>Step 4</a:t>
            </a:r>
            <a:r>
              <a:rPr lang="en-US" sz="1600" dirty="0">
                <a:effectLst/>
                <a:latin typeface="Arial" panose="020B0604020202020204" pitchFamily="34" charset="0"/>
                <a:cs typeface="Arial" panose="020B0604020202020204" pitchFamily="34" charset="0"/>
              </a:rPr>
              <a:t>. (Optional) Enable logging to all enabled destinations with the </a:t>
            </a:r>
            <a:r>
              <a:rPr lang="en-US" sz="1600" b="1" dirty="0">
                <a:effectLst/>
                <a:latin typeface="Arial" panose="020B0604020202020204" pitchFamily="34" charset="0"/>
                <a:cs typeface="Arial" panose="020B0604020202020204" pitchFamily="34" charset="0"/>
              </a:rPr>
              <a:t>logging on</a:t>
            </a:r>
            <a:r>
              <a:rPr lang="en-US" sz="1600" dirty="0">
                <a:effectLst/>
                <a:latin typeface="Arial" panose="020B0604020202020204" pitchFamily="34" charset="0"/>
                <a:cs typeface="Arial" panose="020B0604020202020204" pitchFamily="34" charset="0"/>
              </a:rPr>
              <a:t> command.</a:t>
            </a:r>
          </a:p>
        </p:txBody>
      </p:sp>
      <p:sp>
        <p:nvSpPr>
          <p:cNvPr id="8" name="TextBox 7">
            <a:extLst>
              <a:ext uri="{FF2B5EF4-FFF2-40B4-BE49-F238E27FC236}">
                <a16:creationId xmlns:a16="http://schemas.microsoft.com/office/drawing/2014/main" id="{49BB126E-87EF-46F3-BD0B-1FFE8ADC97B4}"/>
              </a:ext>
            </a:extLst>
          </p:cNvPr>
          <p:cNvSpPr txBox="1"/>
          <p:nvPr/>
        </p:nvSpPr>
        <p:spPr>
          <a:xfrm>
            <a:off x="4532244" y="4044434"/>
            <a:ext cx="4611756" cy="369332"/>
          </a:xfrm>
          <a:prstGeom prst="rect">
            <a:avLst/>
          </a:prstGeom>
          <a:noFill/>
        </p:spPr>
        <p:txBody>
          <a:bodyPr wrap="square">
            <a:spAutoFit/>
          </a:bodyPr>
          <a:lstStyle/>
          <a:p>
            <a:r>
              <a:rPr lang="en-US" dirty="0"/>
              <a:t>The figure shows the syslog reference topology.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83</a:t>
            </a:fld>
            <a:endParaRPr lang="en-US" dirty="0"/>
          </a:p>
        </p:txBody>
      </p:sp>
      <p:pic>
        <p:nvPicPr>
          <p:cNvPr id="4" name="Picture 3">
            <a:extLst>
              <a:ext uri="{FF2B5EF4-FFF2-40B4-BE49-F238E27FC236}">
                <a16:creationId xmlns:a16="http://schemas.microsoft.com/office/drawing/2014/main" id="{DE7CE278-0E59-4281-A45D-2F9497D3254D}"/>
              </a:ext>
            </a:extLst>
          </p:cNvPr>
          <p:cNvPicPr>
            <a:picLocks noChangeAspect="1"/>
          </p:cNvPicPr>
          <p:nvPr/>
        </p:nvPicPr>
        <p:blipFill>
          <a:blip r:embed="rId3"/>
          <a:stretch>
            <a:fillRect/>
          </a:stretch>
        </p:blipFill>
        <p:spPr>
          <a:xfrm>
            <a:off x="4648703" y="729734"/>
            <a:ext cx="4522907" cy="3099316"/>
          </a:xfrm>
          <a:prstGeom prst="rect">
            <a:avLst/>
          </a:prstGeom>
        </p:spPr>
      </p:pic>
    </p:spTree>
    <p:extLst>
      <p:ext uri="{BB962C8B-B14F-4D97-AF65-F5344CB8AC3E}">
        <p14:creationId xmlns:p14="http://schemas.microsoft.com/office/powerpoint/2010/main" val="13833907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Using Syslog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Syslog Configuration (Cont.)</a:t>
            </a:r>
          </a:p>
        </p:txBody>
      </p:sp>
      <p:pic>
        <p:nvPicPr>
          <p:cNvPr id="7" name="Picture 6">
            <a:extLst>
              <a:ext uri="{FF2B5EF4-FFF2-40B4-BE49-F238E27FC236}">
                <a16:creationId xmlns:a16="http://schemas.microsoft.com/office/drawing/2014/main" id="{5CAE8930-DC0F-430A-8552-65A7F4003CFC}"/>
              </a:ext>
            </a:extLst>
          </p:cNvPr>
          <p:cNvPicPr>
            <a:picLocks noChangeAspect="1"/>
          </p:cNvPicPr>
          <p:nvPr/>
        </p:nvPicPr>
        <p:blipFill>
          <a:blip r:embed="rId3"/>
          <a:stretch>
            <a:fillRect/>
          </a:stretch>
        </p:blipFill>
        <p:spPr>
          <a:xfrm>
            <a:off x="1552575" y="857481"/>
            <a:ext cx="5362575" cy="392330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84</a:t>
            </a:fld>
            <a:endParaRPr lang="en-US" dirty="0"/>
          </a:p>
        </p:txBody>
      </p:sp>
      <p:sp>
        <p:nvSpPr>
          <p:cNvPr id="4" name="BlokTextu 3">
            <a:extLst>
              <a:ext uri="{FF2B5EF4-FFF2-40B4-BE49-F238E27FC236}">
                <a16:creationId xmlns:a16="http://schemas.microsoft.com/office/drawing/2014/main" id="{37094A7C-1632-F405-E9B4-57F605181B55}"/>
              </a:ext>
            </a:extLst>
          </p:cNvPr>
          <p:cNvSpPr txBox="1"/>
          <p:nvPr/>
        </p:nvSpPr>
        <p:spPr>
          <a:xfrm>
            <a:off x="7212168" y="592428"/>
            <a:ext cx="1931831" cy="1292662"/>
          </a:xfrm>
          <a:prstGeom prst="rect">
            <a:avLst/>
          </a:prstGeom>
          <a:noFill/>
        </p:spPr>
        <p:txBody>
          <a:bodyPr wrap="square" rtlCol="0">
            <a:spAutoFit/>
          </a:bodyPr>
          <a:lstStyle/>
          <a:p>
            <a:r>
              <a:rPr lang="sk-SK" sz="1200" dirty="0" err="1"/>
              <a:t>configure</a:t>
            </a:r>
            <a:r>
              <a:rPr lang="sk-SK" sz="1200" dirty="0"/>
              <a:t> </a:t>
            </a:r>
            <a:r>
              <a:rPr lang="sk-SK" sz="1200" dirty="0" err="1"/>
              <a:t>terminal</a:t>
            </a:r>
            <a:endParaRPr lang="sk-SK" sz="1200" dirty="0"/>
          </a:p>
          <a:p>
            <a:r>
              <a:rPr lang="sk-SK" sz="1200" dirty="0" err="1"/>
              <a:t>logging</a:t>
            </a:r>
            <a:r>
              <a:rPr lang="sk-SK" sz="1200" dirty="0"/>
              <a:t> </a:t>
            </a:r>
            <a:r>
              <a:rPr lang="sk-SK" sz="1200" dirty="0" err="1"/>
              <a:t>host</a:t>
            </a:r>
            <a:r>
              <a:rPr lang="sk-SK" sz="1200" dirty="0"/>
              <a:t> 192.168.1.1</a:t>
            </a:r>
          </a:p>
          <a:p>
            <a:r>
              <a:rPr lang="sk-SK" sz="1200" dirty="0" err="1"/>
              <a:t>logging</a:t>
            </a:r>
            <a:r>
              <a:rPr lang="sk-SK" sz="1200" dirty="0"/>
              <a:t> </a:t>
            </a:r>
            <a:r>
              <a:rPr lang="sk-SK" sz="1200" dirty="0" err="1"/>
              <a:t>host</a:t>
            </a:r>
            <a:r>
              <a:rPr lang="sk-SK" sz="1200" dirty="0"/>
              <a:t> 192.168.1.2</a:t>
            </a:r>
          </a:p>
          <a:p>
            <a:r>
              <a:rPr lang="sk-SK" sz="1200" dirty="0" err="1"/>
              <a:t>logging</a:t>
            </a:r>
            <a:r>
              <a:rPr lang="sk-SK" sz="1200" dirty="0"/>
              <a:t> </a:t>
            </a:r>
            <a:r>
              <a:rPr lang="sk-SK" sz="1200" dirty="0" err="1"/>
              <a:t>host</a:t>
            </a:r>
            <a:r>
              <a:rPr lang="sk-SK" sz="1200" dirty="0"/>
              <a:t> 192.168.1.3</a:t>
            </a:r>
          </a:p>
          <a:p>
            <a:r>
              <a:rPr lang="sk-SK" sz="1200" dirty="0"/>
              <a:t>end</a:t>
            </a:r>
          </a:p>
          <a:p>
            <a:endParaRPr lang="sk-SK" dirty="0"/>
          </a:p>
        </p:txBody>
      </p:sp>
    </p:spTree>
    <p:extLst>
      <p:ext uri="{BB962C8B-B14F-4D97-AF65-F5344CB8AC3E}">
        <p14:creationId xmlns:p14="http://schemas.microsoft.com/office/powerpoint/2010/main" val="33780684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6.6 NTP Configuration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85</a:t>
            </a:fld>
            <a:endParaRPr lang="en-US" dirty="0"/>
          </a:p>
        </p:txBody>
      </p:sp>
    </p:spTree>
    <p:extLst>
      <p:ext uri="{BB962C8B-B14F-4D97-AF65-F5344CB8AC3E}">
        <p14:creationId xmlns:p14="http://schemas.microsoft.com/office/powerpoint/2010/main" val="817044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NTP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Time and Calendar Services</a:t>
            </a:r>
          </a:p>
        </p:txBody>
      </p:sp>
      <p:sp>
        <p:nvSpPr>
          <p:cNvPr id="5" name="Object4"/>
          <p:cNvSpPr/>
          <p:nvPr/>
        </p:nvSpPr>
        <p:spPr>
          <a:xfrm>
            <a:off x="0" y="914400"/>
            <a:ext cx="8686800" cy="1367624"/>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The software clock on a router or switch starts when the system boots. It is the primary source of time for the system. It is important to synchronize the time across all devices on the network because all aspects of managing, securing, troubleshooting, and planning networks require accurate timestamping.</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date and time settings on a router or switch can be manually configured, using the </a:t>
            </a:r>
            <a:r>
              <a:rPr lang="en-US" b="1" dirty="0">
                <a:latin typeface="Arial" panose="020B0604020202020204" pitchFamily="34" charset="0"/>
                <a:cs typeface="Arial" panose="020B0604020202020204" pitchFamily="34" charset="0"/>
              </a:rPr>
              <a:t>clock set </a:t>
            </a:r>
            <a:r>
              <a:rPr lang="en-US" dirty="0">
                <a:latin typeface="Arial" panose="020B0604020202020204" pitchFamily="34" charset="0"/>
                <a:cs typeface="Arial" panose="020B0604020202020204" pitchFamily="34" charset="0"/>
              </a:rPr>
              <a:t>command, as shown in the example.</a:t>
            </a:r>
          </a:p>
        </p:txBody>
      </p:sp>
      <p:pic>
        <p:nvPicPr>
          <p:cNvPr id="4" name="Picture 3">
            <a:extLst>
              <a:ext uri="{FF2B5EF4-FFF2-40B4-BE49-F238E27FC236}">
                <a16:creationId xmlns:a16="http://schemas.microsoft.com/office/drawing/2014/main" id="{15A29398-5FDC-4052-A517-89CBB0A1DA42}"/>
              </a:ext>
            </a:extLst>
          </p:cNvPr>
          <p:cNvPicPr>
            <a:picLocks noChangeAspect="1"/>
          </p:cNvPicPr>
          <p:nvPr/>
        </p:nvPicPr>
        <p:blipFill>
          <a:blip r:embed="rId3"/>
          <a:stretch>
            <a:fillRect/>
          </a:stretch>
        </p:blipFill>
        <p:spPr>
          <a:xfrm>
            <a:off x="0" y="2823943"/>
            <a:ext cx="8686800" cy="135645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86</a:t>
            </a:fld>
            <a:endParaRPr lang="en-US" dirty="0"/>
          </a:p>
        </p:txBody>
      </p:sp>
      <p:sp>
        <p:nvSpPr>
          <p:cNvPr id="7" name="BlokTextu 6">
            <a:extLst>
              <a:ext uri="{FF2B5EF4-FFF2-40B4-BE49-F238E27FC236}">
                <a16:creationId xmlns:a16="http://schemas.microsoft.com/office/drawing/2014/main" id="{4694F791-7581-CE06-1E6A-31DC1BE670D8}"/>
              </a:ext>
            </a:extLst>
          </p:cNvPr>
          <p:cNvSpPr txBox="1"/>
          <p:nvPr/>
        </p:nvSpPr>
        <p:spPr>
          <a:xfrm>
            <a:off x="1042235" y="4143285"/>
            <a:ext cx="6928686" cy="923330"/>
          </a:xfrm>
          <a:prstGeom prst="rect">
            <a:avLst/>
          </a:prstGeom>
          <a:noFill/>
        </p:spPr>
        <p:txBody>
          <a:bodyPr wrap="square">
            <a:spAutoFit/>
          </a:bodyPr>
          <a:lstStyle/>
          <a:p>
            <a:pPr algn="l"/>
            <a:r>
              <a:rPr lang="en-US" dirty="0">
                <a:solidFill>
                  <a:schemeClr val="tx1"/>
                </a:solidFill>
              </a:rPr>
              <a:t>clock </a:t>
            </a:r>
            <a:r>
              <a:rPr lang="en-US" dirty="0" err="1">
                <a:solidFill>
                  <a:schemeClr val="tx1"/>
                </a:solidFill>
              </a:rPr>
              <a:t>timezone</a:t>
            </a:r>
            <a:r>
              <a:rPr lang="en-US" dirty="0">
                <a:solidFill>
                  <a:schemeClr val="tx1"/>
                </a:solidFill>
              </a:rPr>
              <a:t> </a:t>
            </a:r>
            <a:r>
              <a:rPr lang="sk-SK" dirty="0">
                <a:solidFill>
                  <a:schemeClr val="tx1"/>
                </a:solidFill>
              </a:rPr>
              <a:t>CET</a:t>
            </a:r>
            <a:r>
              <a:rPr lang="en-US" dirty="0">
                <a:solidFill>
                  <a:schemeClr val="tx1"/>
                </a:solidFill>
              </a:rPr>
              <a:t> </a:t>
            </a:r>
          </a:p>
          <a:p>
            <a:pPr algn="l"/>
            <a:r>
              <a:rPr lang="en-US" dirty="0">
                <a:solidFill>
                  <a:schemeClr val="tx1"/>
                </a:solidFill>
              </a:rPr>
              <a:t>clock summer-time </a:t>
            </a:r>
            <a:r>
              <a:rPr lang="sk-SK" dirty="0">
                <a:solidFill>
                  <a:schemeClr val="tx1"/>
                </a:solidFill>
              </a:rPr>
              <a:t>CEST</a:t>
            </a:r>
            <a:r>
              <a:rPr lang="en-US" dirty="0">
                <a:solidFill>
                  <a:schemeClr val="tx1"/>
                </a:solidFill>
              </a:rPr>
              <a:t> recurring </a:t>
            </a:r>
            <a:r>
              <a:rPr lang="en-US" dirty="0"/>
              <a:t>30</a:t>
            </a:r>
            <a:r>
              <a:rPr lang="en-US" dirty="0">
                <a:solidFill>
                  <a:schemeClr val="tx1"/>
                </a:solidFill>
              </a:rPr>
              <a:t> Sun Mar 2:00 26 Sun Oct 2:00 (</a:t>
            </a:r>
            <a:r>
              <a:rPr lang="en-US" dirty="0" err="1">
                <a:solidFill>
                  <a:schemeClr val="tx1"/>
                </a:solidFill>
              </a:rPr>
              <a:t>pozor</a:t>
            </a:r>
            <a:r>
              <a:rPr lang="en-US" dirty="0">
                <a:solidFill>
                  <a:schemeClr val="tx1"/>
                </a:solidFill>
              </a:rPr>
              <a:t> </a:t>
            </a:r>
            <a:r>
              <a:rPr lang="en-US" dirty="0" err="1">
                <a:solidFill>
                  <a:schemeClr val="tx1"/>
                </a:solidFill>
              </a:rPr>
              <a:t>táto</a:t>
            </a:r>
            <a:r>
              <a:rPr lang="en-US" dirty="0">
                <a:solidFill>
                  <a:schemeClr val="tx1"/>
                </a:solidFill>
              </a:rPr>
              <a:t> </a:t>
            </a:r>
            <a:r>
              <a:rPr lang="en-US" dirty="0" err="1">
                <a:solidFill>
                  <a:schemeClr val="tx1"/>
                </a:solidFill>
              </a:rPr>
              <a:t>hodnota</a:t>
            </a:r>
            <a:r>
              <a:rPr lang="en-US" dirty="0">
                <a:solidFill>
                  <a:schemeClr val="tx1"/>
                </a:solidFill>
              </a:rPr>
              <a:t> </a:t>
            </a:r>
            <a:r>
              <a:rPr lang="en-US" dirty="0" err="1">
                <a:solidFill>
                  <a:schemeClr val="tx1"/>
                </a:solidFill>
              </a:rPr>
              <a:t>platí</a:t>
            </a:r>
            <a:r>
              <a:rPr lang="en-US" dirty="0">
                <a:solidFill>
                  <a:schemeClr val="tx1"/>
                </a:solidFill>
              </a:rPr>
              <a:t> </a:t>
            </a:r>
            <a:r>
              <a:rPr lang="en-US" dirty="0" err="1">
                <a:solidFill>
                  <a:schemeClr val="tx1"/>
                </a:solidFill>
              </a:rPr>
              <a:t>len</a:t>
            </a:r>
            <a:r>
              <a:rPr lang="en-US" dirty="0">
                <a:solidFill>
                  <a:schemeClr val="tx1"/>
                </a:solidFill>
              </a:rPr>
              <a:t> pre </a:t>
            </a:r>
            <a:r>
              <a:rPr lang="en-US" dirty="0" err="1">
                <a:solidFill>
                  <a:schemeClr val="tx1"/>
                </a:solidFill>
              </a:rPr>
              <a:t>rok</a:t>
            </a:r>
            <a:r>
              <a:rPr lang="en-US" dirty="0">
                <a:solidFill>
                  <a:schemeClr val="tx1"/>
                </a:solidFill>
              </a:rPr>
              <a:t> 2025 – </a:t>
            </a:r>
            <a:r>
              <a:rPr lang="en-US" dirty="0" err="1">
                <a:solidFill>
                  <a:schemeClr val="tx1"/>
                </a:solidFill>
              </a:rPr>
              <a:t>stále</a:t>
            </a:r>
            <a:r>
              <a:rPr lang="en-US" dirty="0">
                <a:solidFill>
                  <a:schemeClr val="tx1"/>
                </a:solidFill>
              </a:rPr>
              <a:t> </a:t>
            </a:r>
            <a:r>
              <a:rPr lang="en-US" dirty="0" err="1">
                <a:solidFill>
                  <a:schemeClr val="tx1"/>
                </a:solidFill>
              </a:rPr>
              <a:t>sa</a:t>
            </a:r>
            <a:r>
              <a:rPr lang="en-US" dirty="0">
                <a:solidFill>
                  <a:schemeClr val="tx1"/>
                </a:solidFill>
              </a:rPr>
              <a:t> to </a:t>
            </a:r>
            <a:r>
              <a:rPr lang="en-US" dirty="0" err="1">
                <a:solidFill>
                  <a:schemeClr val="tx1"/>
                </a:solidFill>
              </a:rPr>
              <a:t>mení</a:t>
            </a:r>
            <a:r>
              <a:rPr lang="en-US" dirty="0">
                <a:solidFill>
                  <a:schemeClr val="tx1"/>
                </a:solidFill>
              </a:rPr>
              <a:t> …)</a:t>
            </a:r>
          </a:p>
        </p:txBody>
      </p:sp>
      <p:sp>
        <p:nvSpPr>
          <p:cNvPr id="8" name="Pravouholník 7">
            <a:extLst>
              <a:ext uri="{FF2B5EF4-FFF2-40B4-BE49-F238E27FC236}">
                <a16:creationId xmlns:a16="http://schemas.microsoft.com/office/drawing/2014/main" id="{3A457829-B267-ECE5-E79F-B78B3289D4D0}"/>
              </a:ext>
            </a:extLst>
          </p:cNvPr>
          <p:cNvSpPr/>
          <p:nvPr/>
        </p:nvSpPr>
        <p:spPr>
          <a:xfrm>
            <a:off x="3086100" y="4180400"/>
            <a:ext cx="6343650" cy="300082"/>
          </a:xfrm>
          <a:prstGeom prst="rect">
            <a:avLst/>
          </a:prstGeom>
        </p:spPr>
        <p:txBody>
          <a:bodyPr wrap="square">
            <a:spAutoFit/>
          </a:bodyPr>
          <a:lstStyle/>
          <a:p>
            <a:r>
              <a:rPr lang="sk-SK" sz="1350" dirty="0">
                <a:hlinkClick r:id="rId4"/>
              </a:rPr>
              <a:t>Time Zone &amp; Clock Changes in Bratislava, Slovakia (timeanddate.com)</a:t>
            </a:r>
            <a:endParaRPr lang="sk-SK" sz="1350" dirty="0"/>
          </a:p>
        </p:txBody>
      </p:sp>
    </p:spTree>
    <p:extLst>
      <p:ext uri="{BB962C8B-B14F-4D97-AF65-F5344CB8AC3E}">
        <p14:creationId xmlns:p14="http://schemas.microsoft.com/office/powerpoint/2010/main" val="33194048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NTP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NTP Operation</a:t>
            </a:r>
          </a:p>
        </p:txBody>
      </p:sp>
      <p:sp>
        <p:nvSpPr>
          <p:cNvPr id="6" name="TextBox 5">
            <a:extLst>
              <a:ext uri="{FF2B5EF4-FFF2-40B4-BE49-F238E27FC236}">
                <a16:creationId xmlns:a16="http://schemas.microsoft.com/office/drawing/2014/main" id="{E0DB0CC2-F55A-45DF-8936-7B14968AAFEC}"/>
              </a:ext>
            </a:extLst>
          </p:cNvPr>
          <p:cNvSpPr txBox="1"/>
          <p:nvPr/>
        </p:nvSpPr>
        <p:spPr>
          <a:xfrm>
            <a:off x="135171" y="954964"/>
            <a:ext cx="8857753"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NTP networks use a hierarchical system of time sources. Each level in this hierarchical system is called a stratum. The stratum level is defined as the number of hop counts from the authoritative source.</a:t>
            </a:r>
          </a:p>
        </p:txBody>
      </p:sp>
      <p:pic>
        <p:nvPicPr>
          <p:cNvPr id="4" name="Picture 3">
            <a:extLst>
              <a:ext uri="{FF2B5EF4-FFF2-40B4-BE49-F238E27FC236}">
                <a16:creationId xmlns:a16="http://schemas.microsoft.com/office/drawing/2014/main" id="{F39CADF6-5EA6-42C5-9B51-DF678787BF12}"/>
              </a:ext>
            </a:extLst>
          </p:cNvPr>
          <p:cNvPicPr>
            <a:picLocks noChangeAspect="1"/>
          </p:cNvPicPr>
          <p:nvPr/>
        </p:nvPicPr>
        <p:blipFill>
          <a:blip r:embed="rId3"/>
          <a:stretch>
            <a:fillRect/>
          </a:stretch>
        </p:blipFill>
        <p:spPr>
          <a:xfrm>
            <a:off x="4674723" y="1878294"/>
            <a:ext cx="4240677" cy="2888961"/>
          </a:xfrm>
          <a:prstGeom prst="rect">
            <a:avLst/>
          </a:prstGeom>
        </p:spPr>
      </p:pic>
      <p:sp>
        <p:nvSpPr>
          <p:cNvPr id="9" name="TextBox 8">
            <a:extLst>
              <a:ext uri="{FF2B5EF4-FFF2-40B4-BE49-F238E27FC236}">
                <a16:creationId xmlns:a16="http://schemas.microsoft.com/office/drawing/2014/main" id="{26196C5B-97A9-44A6-AA6B-825D79A3BE6C}"/>
              </a:ext>
            </a:extLst>
          </p:cNvPr>
          <p:cNvSpPr txBox="1"/>
          <p:nvPr/>
        </p:nvSpPr>
        <p:spPr>
          <a:xfrm>
            <a:off x="135171" y="2111044"/>
            <a:ext cx="4713054" cy="212365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sample network consists of four stratum levels who acquire their times as follows: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Stratum 1 server gets its time from the stratum 0 time source.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Stratum 2 server gets its time from the stratum 1 server.</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Stratum 3 server gets its time from the stratum 2 server.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87</a:t>
            </a:fld>
            <a:endParaRPr lang="en-US" dirty="0"/>
          </a:p>
        </p:txBody>
      </p:sp>
    </p:spTree>
    <p:extLst>
      <p:ext uri="{BB962C8B-B14F-4D97-AF65-F5344CB8AC3E}">
        <p14:creationId xmlns:p14="http://schemas.microsoft.com/office/powerpoint/2010/main" val="14405060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NTP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and Verify NTP</a:t>
            </a:r>
          </a:p>
        </p:txBody>
      </p:sp>
      <p:sp>
        <p:nvSpPr>
          <p:cNvPr id="5" name="Object4"/>
          <p:cNvSpPr/>
          <p:nvPr/>
        </p:nvSpPr>
        <p:spPr>
          <a:xfrm>
            <a:off x="0" y="914400"/>
            <a:ext cx="8229600" cy="388307"/>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The figure shows the topology used to demonstrate NTP configuration and verification</a:t>
            </a:r>
          </a:p>
        </p:txBody>
      </p:sp>
      <p:pic>
        <p:nvPicPr>
          <p:cNvPr id="4" name="Picture 3">
            <a:extLst>
              <a:ext uri="{FF2B5EF4-FFF2-40B4-BE49-F238E27FC236}">
                <a16:creationId xmlns:a16="http://schemas.microsoft.com/office/drawing/2014/main" id="{4687C670-D837-49DA-90AA-EE3DA4EEFC3C}"/>
              </a:ext>
            </a:extLst>
          </p:cNvPr>
          <p:cNvPicPr>
            <a:picLocks noChangeAspect="1"/>
          </p:cNvPicPr>
          <p:nvPr/>
        </p:nvPicPr>
        <p:blipFill>
          <a:blip r:embed="rId3"/>
          <a:stretch>
            <a:fillRect/>
          </a:stretch>
        </p:blipFill>
        <p:spPr>
          <a:xfrm>
            <a:off x="0" y="1465376"/>
            <a:ext cx="9144000" cy="221274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88</a:t>
            </a:fld>
            <a:endParaRPr lang="en-US" dirty="0"/>
          </a:p>
        </p:txBody>
      </p:sp>
    </p:spTree>
    <p:extLst>
      <p:ext uri="{BB962C8B-B14F-4D97-AF65-F5344CB8AC3E}">
        <p14:creationId xmlns:p14="http://schemas.microsoft.com/office/powerpoint/2010/main" val="39807813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NTP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and Verify NTP (Cont.)</a:t>
            </a:r>
          </a:p>
        </p:txBody>
      </p:sp>
      <p:sp>
        <p:nvSpPr>
          <p:cNvPr id="7" name="Object4">
            <a:extLst>
              <a:ext uri="{FF2B5EF4-FFF2-40B4-BE49-F238E27FC236}">
                <a16:creationId xmlns:a16="http://schemas.microsoft.com/office/drawing/2014/main" id="{2D80AECC-52EC-4CDD-9C77-DAE163A51E6D}"/>
              </a:ext>
            </a:extLst>
          </p:cNvPr>
          <p:cNvSpPr/>
          <p:nvPr/>
        </p:nvSpPr>
        <p:spPr>
          <a:xfrm>
            <a:off x="0" y="914400"/>
            <a:ext cx="8229600" cy="714375"/>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Before NTP is configured on the network, the </a:t>
            </a:r>
            <a:r>
              <a:rPr lang="en-US" sz="1400" b="1" dirty="0">
                <a:latin typeface="Arial" panose="020B0604020202020204" pitchFamily="34" charset="0"/>
                <a:cs typeface="Arial" panose="020B0604020202020204" pitchFamily="34" charset="0"/>
              </a:rPr>
              <a:t>show clock detail </a:t>
            </a:r>
            <a:r>
              <a:rPr lang="en-US" sz="1400" dirty="0">
                <a:latin typeface="Arial" panose="020B0604020202020204" pitchFamily="34" charset="0"/>
                <a:cs typeface="Arial" panose="020B0604020202020204" pitchFamily="34" charset="0"/>
              </a:rPr>
              <a:t>command displays the time source is user configuration.</a:t>
            </a:r>
          </a:p>
        </p:txBody>
      </p:sp>
      <p:pic>
        <p:nvPicPr>
          <p:cNvPr id="8" name="Picture 7">
            <a:extLst>
              <a:ext uri="{FF2B5EF4-FFF2-40B4-BE49-F238E27FC236}">
                <a16:creationId xmlns:a16="http://schemas.microsoft.com/office/drawing/2014/main" id="{1262A4F4-283E-456F-A137-5A0106740E6C}"/>
              </a:ext>
            </a:extLst>
          </p:cNvPr>
          <p:cNvPicPr>
            <a:picLocks noChangeAspect="1"/>
          </p:cNvPicPr>
          <p:nvPr/>
        </p:nvPicPr>
        <p:blipFill>
          <a:blip r:embed="rId3"/>
          <a:stretch>
            <a:fillRect/>
          </a:stretch>
        </p:blipFill>
        <p:spPr>
          <a:xfrm>
            <a:off x="241221" y="1563969"/>
            <a:ext cx="3060857" cy="704886"/>
          </a:xfrm>
          <a:prstGeom prst="rect">
            <a:avLst/>
          </a:prstGeom>
        </p:spPr>
      </p:pic>
      <p:sp>
        <p:nvSpPr>
          <p:cNvPr id="10" name="Object4">
            <a:extLst>
              <a:ext uri="{FF2B5EF4-FFF2-40B4-BE49-F238E27FC236}">
                <a16:creationId xmlns:a16="http://schemas.microsoft.com/office/drawing/2014/main" id="{26741807-61E7-404E-B775-3B2DD741D9FB}"/>
              </a:ext>
            </a:extLst>
          </p:cNvPr>
          <p:cNvSpPr/>
          <p:nvPr/>
        </p:nvSpPr>
        <p:spPr>
          <a:xfrm>
            <a:off x="0" y="2438400"/>
            <a:ext cx="8229600" cy="714375"/>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Use the </a:t>
            </a:r>
            <a:r>
              <a:rPr lang="en-US" sz="1400" b="1" dirty="0">
                <a:latin typeface="Arial" panose="020B0604020202020204" pitchFamily="34" charset="0"/>
                <a:cs typeface="Arial" panose="020B0604020202020204" pitchFamily="34" charset="0"/>
              </a:rPr>
              <a:t>ntp server </a:t>
            </a:r>
            <a:r>
              <a:rPr lang="en-US" sz="1400" i="1" dirty="0">
                <a:latin typeface="Arial" panose="020B0604020202020204" pitchFamily="34" charset="0"/>
                <a:cs typeface="Arial" panose="020B0604020202020204" pitchFamily="34" charset="0"/>
              </a:rPr>
              <a:t>ip-address</a:t>
            </a:r>
            <a:r>
              <a:rPr lang="en-US" sz="1400" dirty="0">
                <a:latin typeface="Arial" panose="020B0604020202020204" pitchFamily="34" charset="0"/>
                <a:cs typeface="Arial" panose="020B0604020202020204" pitchFamily="34" charset="0"/>
              </a:rPr>
              <a:t> command to configure a NTP server the device should use as a source. If the source is another Cisco device, it must be configured with the </a:t>
            </a:r>
            <a:r>
              <a:rPr lang="en-US" sz="1400" b="1" dirty="0">
                <a:latin typeface="Arial" panose="020B0604020202020204" pitchFamily="34" charset="0"/>
                <a:cs typeface="Arial" panose="020B0604020202020204" pitchFamily="34" charset="0"/>
              </a:rPr>
              <a:t>ntp master </a:t>
            </a:r>
            <a:r>
              <a:rPr lang="en-US" sz="1400" dirty="0">
                <a:latin typeface="Arial" panose="020B0604020202020204" pitchFamily="34" charset="0"/>
                <a:cs typeface="Arial" panose="020B0604020202020204" pitchFamily="34" charset="0"/>
              </a:rPr>
              <a:t>[</a:t>
            </a:r>
            <a:r>
              <a:rPr lang="en-US" sz="1400" i="1" dirty="0">
                <a:latin typeface="Arial" panose="020B0604020202020204" pitchFamily="34" charset="0"/>
                <a:cs typeface="Arial" panose="020B0604020202020204" pitchFamily="34" charset="0"/>
              </a:rPr>
              <a:t>stratum</a:t>
            </a:r>
            <a:r>
              <a:rPr lang="en-US" sz="1400" dirty="0">
                <a:latin typeface="Arial" panose="020B0604020202020204" pitchFamily="34" charset="0"/>
                <a:cs typeface="Arial" panose="020B0604020202020204" pitchFamily="34" charset="0"/>
              </a:rPr>
              <a:t>] command.</a:t>
            </a:r>
          </a:p>
        </p:txBody>
      </p:sp>
      <p:pic>
        <p:nvPicPr>
          <p:cNvPr id="11" name="Picture 10">
            <a:extLst>
              <a:ext uri="{FF2B5EF4-FFF2-40B4-BE49-F238E27FC236}">
                <a16:creationId xmlns:a16="http://schemas.microsoft.com/office/drawing/2014/main" id="{A69DB9B9-54C1-4B52-AEE8-5EEC813C3FDD}"/>
              </a:ext>
            </a:extLst>
          </p:cNvPr>
          <p:cNvPicPr>
            <a:picLocks noChangeAspect="1"/>
          </p:cNvPicPr>
          <p:nvPr/>
        </p:nvPicPr>
        <p:blipFill>
          <a:blip r:embed="rId4"/>
          <a:stretch>
            <a:fillRect/>
          </a:stretch>
        </p:blipFill>
        <p:spPr>
          <a:xfrm>
            <a:off x="241221" y="3322320"/>
            <a:ext cx="4089610" cy="99700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89</a:t>
            </a:fld>
            <a:endParaRPr lang="en-US" dirty="0"/>
          </a:p>
        </p:txBody>
      </p:sp>
    </p:spTree>
    <p:extLst>
      <p:ext uri="{BB962C8B-B14F-4D97-AF65-F5344CB8AC3E}">
        <p14:creationId xmlns:p14="http://schemas.microsoft.com/office/powerpoint/2010/main" val="37070402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NTP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and Verify NTP (Cont.)</a:t>
            </a:r>
          </a:p>
        </p:txBody>
      </p:sp>
      <p:sp>
        <p:nvSpPr>
          <p:cNvPr id="7" name="Object4">
            <a:extLst>
              <a:ext uri="{FF2B5EF4-FFF2-40B4-BE49-F238E27FC236}">
                <a16:creationId xmlns:a16="http://schemas.microsoft.com/office/drawing/2014/main" id="{2D80AECC-52EC-4CDD-9C77-DAE163A51E6D}"/>
              </a:ext>
            </a:extLst>
          </p:cNvPr>
          <p:cNvSpPr/>
          <p:nvPr/>
        </p:nvSpPr>
        <p:spPr>
          <a:xfrm>
            <a:off x="0" y="914400"/>
            <a:ext cx="8229600" cy="714375"/>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Use the </a:t>
            </a:r>
            <a:r>
              <a:rPr lang="en-US" sz="1400" b="1" dirty="0">
                <a:latin typeface="Arial" panose="020B0604020202020204" pitchFamily="34" charset="0"/>
                <a:cs typeface="Arial" panose="020B0604020202020204" pitchFamily="34" charset="0"/>
              </a:rPr>
              <a:t>show ntp associations </a:t>
            </a:r>
            <a:r>
              <a:rPr lang="en-US" sz="1400" dirty="0">
                <a:latin typeface="Arial" panose="020B0604020202020204" pitchFamily="34" charset="0"/>
                <a:cs typeface="Arial" panose="020B0604020202020204" pitchFamily="34" charset="0"/>
              </a:rPr>
              <a:t>and </a:t>
            </a:r>
            <a:r>
              <a:rPr lang="en-US" sz="1400" b="1" dirty="0">
                <a:latin typeface="Arial" panose="020B0604020202020204" pitchFamily="34" charset="0"/>
                <a:cs typeface="Arial" panose="020B0604020202020204" pitchFamily="34" charset="0"/>
              </a:rPr>
              <a:t>show ntp status </a:t>
            </a:r>
            <a:r>
              <a:rPr lang="en-US" sz="1400" dirty="0">
                <a:latin typeface="Arial" panose="020B0604020202020204" pitchFamily="34" charset="0"/>
                <a:cs typeface="Arial" panose="020B0604020202020204" pitchFamily="34" charset="0"/>
              </a:rPr>
              <a:t>commands to verify the device is synchronized with the NTP server.</a:t>
            </a:r>
          </a:p>
        </p:txBody>
      </p:sp>
      <p:pic>
        <p:nvPicPr>
          <p:cNvPr id="5" name="Picture 4">
            <a:extLst>
              <a:ext uri="{FF2B5EF4-FFF2-40B4-BE49-F238E27FC236}">
                <a16:creationId xmlns:a16="http://schemas.microsoft.com/office/drawing/2014/main" id="{1C05EA2E-BA18-499D-AA18-661017DFD441}"/>
              </a:ext>
            </a:extLst>
          </p:cNvPr>
          <p:cNvPicPr>
            <a:picLocks noChangeAspect="1"/>
          </p:cNvPicPr>
          <p:nvPr/>
        </p:nvPicPr>
        <p:blipFill>
          <a:blip r:embed="rId3"/>
          <a:stretch>
            <a:fillRect/>
          </a:stretch>
        </p:blipFill>
        <p:spPr>
          <a:xfrm>
            <a:off x="914400" y="1628775"/>
            <a:ext cx="7207620" cy="272429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90</a:t>
            </a:fld>
            <a:endParaRPr lang="en-US" dirty="0"/>
          </a:p>
        </p:txBody>
      </p:sp>
    </p:spTree>
    <p:extLst>
      <p:ext uri="{BB962C8B-B14F-4D97-AF65-F5344CB8AC3E}">
        <p14:creationId xmlns:p14="http://schemas.microsoft.com/office/powerpoint/2010/main" val="7680331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68EEA019-6375-BBAC-3337-D462D1178D2C}"/>
              </a:ext>
            </a:extLst>
          </p:cNvPr>
          <p:cNvSpPr>
            <a:spLocks noGrp="1"/>
          </p:cNvSpPr>
          <p:nvPr>
            <p:ph idx="1"/>
          </p:nvPr>
        </p:nvSpPr>
        <p:spPr/>
        <p:txBody>
          <a:bodyPr/>
          <a:lstStyle/>
          <a:p>
            <a:endParaRPr lang="sk-SK"/>
          </a:p>
        </p:txBody>
      </p:sp>
      <p:sp>
        <p:nvSpPr>
          <p:cNvPr id="12" name="Title 11"/>
          <p:cNvSpPr>
            <a:spLocks noGrp="1"/>
          </p:cNvSpPr>
          <p:nvPr>
            <p:ph type="title"/>
          </p:nvPr>
        </p:nvSpPr>
        <p:spPr/>
        <p:txBody>
          <a:bodyPr/>
          <a:lstStyle/>
          <a:p>
            <a:pPr>
              <a:lnSpc>
                <a:spcPct val="100000"/>
              </a:lnSpc>
            </a:pPr>
            <a:r>
              <a:rPr lang="en-US" sz="2400" dirty="0"/>
              <a:t>NTP Authentication</a:t>
            </a:r>
          </a:p>
        </p:txBody>
      </p:sp>
      <p:pic>
        <p:nvPicPr>
          <p:cNvPr id="430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98" y="1595067"/>
            <a:ext cx="6497493" cy="2275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5277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6.7 SNMP Configuration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92</a:t>
            </a:fld>
            <a:endParaRPr lang="en-US" dirty="0"/>
          </a:p>
        </p:txBody>
      </p:sp>
    </p:spTree>
    <p:extLst>
      <p:ext uri="{BB962C8B-B14F-4D97-AF65-F5344CB8AC3E}">
        <p14:creationId xmlns:p14="http://schemas.microsoft.com/office/powerpoint/2010/main" val="42300640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42515"/>
            <a:ext cx="9144000" cy="914400"/>
          </a:xfrm>
          <a:prstGeom prst="rect">
            <a:avLst/>
          </a:prstGeom>
          <a:noFill/>
          <a:ln/>
        </p:spPr>
        <p:txBody>
          <a:bodyPr wrap="square" rtlCol="0"/>
          <a:lstStyle/>
          <a:p>
            <a:pPr marL="0" indent="0">
              <a:buNone/>
            </a:pPr>
            <a:r>
              <a:rPr lang="en-US" dirty="0"/>
              <a:t>Introduction to SNMP</a:t>
            </a:r>
          </a:p>
        </p:txBody>
      </p:sp>
      <p:sp>
        <p:nvSpPr>
          <p:cNvPr id="5" name="Object4"/>
          <p:cNvSpPr/>
          <p:nvPr/>
        </p:nvSpPr>
        <p:spPr>
          <a:xfrm>
            <a:off x="1" y="699715"/>
            <a:ext cx="4436828" cy="2786435"/>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SNMP is an application layer protocol that provides a message format for communication between managers and agents.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SNMP system consists of three elements: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SNMP manager</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SNMP agents (managed node)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Management Information Base (MIB)</a:t>
            </a:r>
          </a:p>
          <a:p>
            <a:r>
              <a:rPr lang="en-US" sz="1600" dirty="0">
                <a:latin typeface="Arial" panose="020B0604020202020204" pitchFamily="34" charset="0"/>
                <a:cs typeface="Arial" panose="020B0604020202020204" pitchFamily="34" charset="0"/>
              </a:rPr>
              <a:t>To configure SNMP on a networking device, it is first necessary to define the relationship between the manager and the agent.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SNMP manager is part of a network management system (NMS). The SNMP manager runs SNMP management software.</a:t>
            </a:r>
          </a:p>
        </p:txBody>
      </p:sp>
      <p:sp>
        <p:nvSpPr>
          <p:cNvPr id="8" name="TextBox 7">
            <a:extLst>
              <a:ext uri="{FF2B5EF4-FFF2-40B4-BE49-F238E27FC236}">
                <a16:creationId xmlns:a16="http://schemas.microsoft.com/office/drawing/2014/main" id="{E4BF6EEA-D96F-42C7-8C96-7599C17CF833}"/>
              </a:ext>
            </a:extLst>
          </p:cNvPr>
          <p:cNvSpPr txBox="1"/>
          <p:nvPr/>
        </p:nvSpPr>
        <p:spPr>
          <a:xfrm>
            <a:off x="4253946" y="2989124"/>
            <a:ext cx="4985469"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As shown in the figure, the SNMP manager can collect information from an SNMP agent by using the “get” action. It can change configurations on an agent by using the “set” action. In addition, SNMP agents can forward information directly to a network manager by using “traps”.</a:t>
            </a:r>
          </a:p>
        </p:txBody>
      </p:sp>
      <p:pic>
        <p:nvPicPr>
          <p:cNvPr id="4" name="Picture 3">
            <a:extLst>
              <a:ext uri="{FF2B5EF4-FFF2-40B4-BE49-F238E27FC236}">
                <a16:creationId xmlns:a16="http://schemas.microsoft.com/office/drawing/2014/main" id="{1F7B6369-D8D9-4081-A4AD-DF34655C7E88}"/>
              </a:ext>
            </a:extLst>
          </p:cNvPr>
          <p:cNvPicPr>
            <a:picLocks noChangeAspect="1"/>
          </p:cNvPicPr>
          <p:nvPr/>
        </p:nvPicPr>
        <p:blipFill>
          <a:blip r:embed="rId3"/>
          <a:stretch>
            <a:fillRect/>
          </a:stretch>
        </p:blipFill>
        <p:spPr>
          <a:xfrm>
            <a:off x="4572000" y="274320"/>
            <a:ext cx="3636808" cy="278485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93</a:t>
            </a:fld>
            <a:endParaRPr lang="en-US" dirty="0"/>
          </a:p>
        </p:txBody>
      </p:sp>
    </p:spTree>
    <p:extLst>
      <p:ext uri="{BB962C8B-B14F-4D97-AF65-F5344CB8AC3E}">
        <p14:creationId xmlns:p14="http://schemas.microsoft.com/office/powerpoint/2010/main" val="34592548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 Operation</a:t>
            </a:r>
          </a:p>
        </p:txBody>
      </p:sp>
      <p:sp>
        <p:nvSpPr>
          <p:cNvPr id="7" name="TextBox 6">
            <a:extLst>
              <a:ext uri="{FF2B5EF4-FFF2-40B4-BE49-F238E27FC236}">
                <a16:creationId xmlns:a16="http://schemas.microsoft.com/office/drawing/2014/main" id="{249700E8-4405-49E8-AD09-DFCB3856811D}"/>
              </a:ext>
            </a:extLst>
          </p:cNvPr>
          <p:cNvSpPr txBox="1"/>
          <p:nvPr/>
        </p:nvSpPr>
        <p:spPr>
          <a:xfrm>
            <a:off x="0" y="679761"/>
            <a:ext cx="9080390" cy="1815882"/>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There are two primary SNMP manager requests:</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get request</a:t>
            </a:r>
            <a:r>
              <a:rPr lang="en-US" sz="1400" dirty="0">
                <a:latin typeface="Arial" panose="020B0604020202020204" pitchFamily="34" charset="0"/>
                <a:cs typeface="Arial" panose="020B0604020202020204" pitchFamily="34" charset="0"/>
              </a:rPr>
              <a:t> - Used by the NMS to query the device for data.</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set request</a:t>
            </a:r>
            <a:r>
              <a:rPr lang="en-US" sz="1400" dirty="0">
                <a:latin typeface="Arial" panose="020B0604020202020204" pitchFamily="34" charset="0"/>
                <a:cs typeface="Arial" panose="020B0604020202020204" pitchFamily="34" charset="0"/>
              </a:rPr>
              <a:t> - Used by the NMS to change configuration variables in the agent device. A set request can also initiate actions within a device. For example, a set request can cause a router to reboot, send a configuration file, or receive a configuration file.</a:t>
            </a:r>
          </a:p>
          <a:p>
            <a:pPr>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SNMP manager uses the get and set actions to perform the operations described in the table.</a:t>
            </a:r>
          </a:p>
        </p:txBody>
      </p:sp>
      <p:graphicFrame>
        <p:nvGraphicFramePr>
          <p:cNvPr id="48" name="Table 47"/>
          <p:cNvGraphicFramePr>
            <a:graphicFrameLocks noGrp="1"/>
          </p:cNvGraphicFramePr>
          <p:nvPr>
            <p:extLst>
              <p:ext uri="{D42A27DB-BD31-4B8C-83A1-F6EECF244321}">
                <p14:modId xmlns:p14="http://schemas.microsoft.com/office/powerpoint/2010/main" val="144951485"/>
              </p:ext>
            </p:extLst>
          </p:nvPr>
        </p:nvGraphicFramePr>
        <p:xfrm>
          <a:off x="182879" y="2478461"/>
          <a:ext cx="8428384" cy="2167872"/>
        </p:xfrm>
        <a:graphic>
          <a:graphicData uri="http://schemas.openxmlformats.org/drawingml/2006/table">
            <a:tbl>
              <a:tblPr/>
              <a:tblGrid>
                <a:gridCol w="1288113">
                  <a:extLst>
                    <a:ext uri="{9D8B030D-6E8A-4147-A177-3AD203B41FA5}">
                      <a16:colId xmlns:a16="http://schemas.microsoft.com/office/drawing/2014/main" val="20000"/>
                    </a:ext>
                  </a:extLst>
                </a:gridCol>
                <a:gridCol w="7140271">
                  <a:extLst>
                    <a:ext uri="{9D8B030D-6E8A-4147-A177-3AD203B41FA5}">
                      <a16:colId xmlns:a16="http://schemas.microsoft.com/office/drawing/2014/main" val="20001"/>
                    </a:ext>
                  </a:extLst>
                </a:gridCol>
              </a:tblGrid>
              <a:tr h="21298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212980">
                <a:tc>
                  <a:txBody>
                    <a:bodyPr/>
                    <a:lstStyle/>
                    <a:p>
                      <a:r>
                        <a:rPr lang="en-US" sz="1200" dirty="0">
                          <a:solidFill>
                            <a:srgbClr val="58585B"/>
                          </a:solidFill>
                        </a:rPr>
                        <a:t>get-request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Retrieves a value from a specific variable.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513657">
                <a:tc>
                  <a:txBody>
                    <a:bodyPr/>
                    <a:lstStyle/>
                    <a:p>
                      <a:r>
                        <a:rPr lang="en-US" sz="1200" dirty="0">
                          <a:solidFill>
                            <a:srgbClr val="58585B"/>
                          </a:solidFill>
                        </a:rPr>
                        <a:t>get-next-request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Retrieves a value from a variable within a table; the SNMP manager does not need to know the exact variable name. A sequential search is performed to find the needed variable from within a table.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513657">
                <a:tc>
                  <a:txBody>
                    <a:bodyPr/>
                    <a:lstStyle/>
                    <a:p>
                      <a:r>
                        <a:rPr lang="en-US" sz="1200" dirty="0">
                          <a:solidFill>
                            <a:srgbClr val="58585B"/>
                          </a:solidFill>
                        </a:rPr>
                        <a:t>get-bulk-request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Retrieves large blocks of data, such as multiple rows in a table, that would otherwise require the transmission of many small blocks of data. (Only works with SNMPv2 or later.)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363318">
                <a:tc>
                  <a:txBody>
                    <a:bodyPr/>
                    <a:lstStyle/>
                    <a:p>
                      <a:r>
                        <a:rPr lang="en-US" sz="1200" dirty="0">
                          <a:solidFill>
                            <a:srgbClr val="58585B"/>
                          </a:solidFill>
                        </a:rPr>
                        <a:t>get-response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Replies to a get-request, get-next-request, and set-request sent by an NMS.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212980">
                <a:tc>
                  <a:txBody>
                    <a:bodyPr/>
                    <a:lstStyle/>
                    <a:p>
                      <a:r>
                        <a:rPr lang="en-US" sz="1200" dirty="0">
                          <a:solidFill>
                            <a:srgbClr val="58585B"/>
                          </a:solidFill>
                        </a:rPr>
                        <a:t>set-request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Stores a value in a specific variable.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94</a:t>
            </a:fld>
            <a:endParaRPr lang="en-US" dirty="0"/>
          </a:p>
        </p:txBody>
      </p:sp>
    </p:spTree>
    <p:extLst>
      <p:ext uri="{BB962C8B-B14F-4D97-AF65-F5344CB8AC3E}">
        <p14:creationId xmlns:p14="http://schemas.microsoft.com/office/powerpoint/2010/main" val="12061328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Management Information Base (MIB)</a:t>
            </a:r>
          </a:p>
        </p:txBody>
      </p:sp>
      <p:sp>
        <p:nvSpPr>
          <p:cNvPr id="5" name="Object4"/>
          <p:cNvSpPr/>
          <p:nvPr/>
        </p:nvSpPr>
        <p:spPr>
          <a:xfrm>
            <a:off x="0" y="708660"/>
            <a:ext cx="5812403"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MIB organizes variables hierarchically. MIB variables enable the management software to monitor and control the network device.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Formally, the MIB defines each variable as an object ID (OID). OIDs uniquely identify managed objects in the MIB hierarchy. The MIB organizes the OIDs based on RFC standards into a hierarchy of OIDs, usually shown as a tree.</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figure shows portions of the MIB structure defined by Cisco. Note how the OID can be described in words or numbers to help locate a particular variable in the tree. OIDs belonging to Cisco, are numbered as follows: .iso (1).org (3).dod (6).internet (1).private (4).enterprises (1).cisco (9). Therefore, the OID is 1.3.6.1.4.1.9.</a:t>
            </a:r>
          </a:p>
        </p:txBody>
      </p:sp>
      <p:pic>
        <p:nvPicPr>
          <p:cNvPr id="4" name="Picture 3">
            <a:extLst>
              <a:ext uri="{FF2B5EF4-FFF2-40B4-BE49-F238E27FC236}">
                <a16:creationId xmlns:a16="http://schemas.microsoft.com/office/drawing/2014/main" id="{02207E70-4880-4030-84A1-A38DDF3AD27D}"/>
              </a:ext>
            </a:extLst>
          </p:cNvPr>
          <p:cNvPicPr>
            <a:picLocks noChangeAspect="1"/>
          </p:cNvPicPr>
          <p:nvPr/>
        </p:nvPicPr>
        <p:blipFill>
          <a:blip r:embed="rId3"/>
          <a:stretch>
            <a:fillRect/>
          </a:stretch>
        </p:blipFill>
        <p:spPr>
          <a:xfrm>
            <a:off x="5812403" y="548640"/>
            <a:ext cx="3188409" cy="38340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95</a:t>
            </a:fld>
            <a:endParaRPr lang="en-US" dirty="0"/>
          </a:p>
        </p:txBody>
      </p:sp>
    </p:spTree>
    <p:extLst>
      <p:ext uri="{BB962C8B-B14F-4D97-AF65-F5344CB8AC3E}">
        <p14:creationId xmlns:p14="http://schemas.microsoft.com/office/powerpoint/2010/main" val="15340698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 Versions</a:t>
            </a:r>
          </a:p>
        </p:txBody>
      </p:sp>
      <p:sp>
        <p:nvSpPr>
          <p:cNvPr id="5" name="Object4"/>
          <p:cNvSpPr/>
          <p:nvPr/>
        </p:nvSpPr>
        <p:spPr>
          <a:xfrm>
            <a:off x="-1" y="628153"/>
            <a:ext cx="9080391"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Here are several versions of SNMP:</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SNMPv1</a:t>
            </a:r>
            <a:r>
              <a:rPr lang="en-US" sz="1600" dirty="0">
                <a:latin typeface="Arial" panose="020B0604020202020204" pitchFamily="34" charset="0"/>
                <a:cs typeface="Arial" panose="020B0604020202020204" pitchFamily="34" charset="0"/>
              </a:rPr>
              <a:t> - This is the Simple Network Management Protocol, a Full Internet Standard, that is defined in RFC 1157.</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SNMPv2c</a:t>
            </a:r>
            <a:r>
              <a:rPr lang="en-US" sz="1600" dirty="0">
                <a:latin typeface="Arial" panose="020B0604020202020204" pitchFamily="34" charset="0"/>
                <a:cs typeface="Arial" panose="020B0604020202020204" pitchFamily="34" charset="0"/>
              </a:rPr>
              <a:t> - This is defined in RFCs 1901 to 1908. It uses a community-string-based Administrative Framework.</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SNMPv3</a:t>
            </a:r>
            <a:r>
              <a:rPr lang="en-US" sz="1600" dirty="0">
                <a:latin typeface="Arial" panose="020B0604020202020204" pitchFamily="34" charset="0"/>
                <a:cs typeface="Arial" panose="020B0604020202020204" pitchFamily="34" charset="0"/>
              </a:rPr>
              <a:t> - This is an interoperable standards-based protocol originally defined in RFCs 2273 to 2275. It provides secure access to devices by authenticating and encrypting packets over the network. It includes these security features: message integrity to ensure that a packet was not tampered with in transit, authentication to determine that the message is from a valid source, and encryption to prevent the contents of a message from being read by an unauthorized source.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All versions use SNMP managers, agents, and MIBs. Cisco IOS software supports the above three versions. Both SNMPv1 and SNMPv2c use a community-based form of security. The community of managers that is able to access the MIB of the agent is defined by a community string. SNMPv3 provides for both security models and security levels.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96</a:t>
            </a:fld>
            <a:endParaRPr lang="en-US" dirty="0"/>
          </a:p>
        </p:txBody>
      </p:sp>
    </p:spTree>
    <p:extLst>
      <p:ext uri="{BB962C8B-B14F-4D97-AF65-F5344CB8AC3E}">
        <p14:creationId xmlns:p14="http://schemas.microsoft.com/office/powerpoint/2010/main" val="19632006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 Vulnerabilities</a:t>
            </a:r>
          </a:p>
        </p:txBody>
      </p:sp>
      <p:sp>
        <p:nvSpPr>
          <p:cNvPr id="5" name="Object4"/>
          <p:cNvSpPr/>
          <p:nvPr/>
        </p:nvSpPr>
        <p:spPr>
          <a:xfrm>
            <a:off x="1" y="914400"/>
            <a:ext cx="3943846"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In any network topology, at least one manager node should run SNMP management software. Network devices that can be managed, such as switches, routers, servers, and workstations, are equipped with the SNMP agent software module.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SNMP is vulnerable to attack precisely because SNMP agents can be polled with get requests and accept configuration changes with set requests, as shown in the figure.</a:t>
            </a:r>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0E638619-D779-4A92-9F75-BB40D1845A7B}"/>
              </a:ext>
            </a:extLst>
          </p:cNvPr>
          <p:cNvPicPr>
            <a:picLocks noChangeAspect="1"/>
          </p:cNvPicPr>
          <p:nvPr/>
        </p:nvPicPr>
        <p:blipFill>
          <a:blip r:embed="rId3"/>
          <a:stretch>
            <a:fillRect/>
          </a:stretch>
        </p:blipFill>
        <p:spPr>
          <a:xfrm>
            <a:off x="3660410" y="680085"/>
            <a:ext cx="5026390" cy="33147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97</a:t>
            </a:fld>
            <a:endParaRPr lang="en-US" dirty="0"/>
          </a:p>
        </p:txBody>
      </p:sp>
    </p:spTree>
    <p:extLst>
      <p:ext uri="{BB962C8B-B14F-4D97-AF65-F5344CB8AC3E}">
        <p14:creationId xmlns:p14="http://schemas.microsoft.com/office/powerpoint/2010/main" val="1167287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a:t>
            </a:r>
          </a:p>
        </p:txBody>
      </p:sp>
      <p:sp>
        <p:nvSpPr>
          <p:cNvPr id="5" name="Object4"/>
          <p:cNvSpPr/>
          <p:nvPr/>
        </p:nvSpPr>
        <p:spPr>
          <a:xfrm>
            <a:off x="0" y="914400"/>
            <a:ext cx="8229600"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SNMPv3 provides three security features: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Message integrity and authentication</a:t>
            </a:r>
            <a:r>
              <a:rPr lang="en-US" dirty="0">
                <a:latin typeface="Arial" panose="020B0604020202020204" pitchFamily="34" charset="0"/>
                <a:cs typeface="Arial" panose="020B0604020202020204" pitchFamily="34" charset="0"/>
              </a:rPr>
              <a:t> - Ensures that a packet has not been tampered with in transit and is from a valid source.</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Encryption</a:t>
            </a:r>
            <a:r>
              <a:rPr lang="en-US" dirty="0">
                <a:latin typeface="Arial" panose="020B0604020202020204" pitchFamily="34" charset="0"/>
                <a:cs typeface="Arial" panose="020B0604020202020204" pitchFamily="34" charset="0"/>
              </a:rPr>
              <a:t> - Scrambles the contents of a packet to prevent it from being seen by an unauthorized source.</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Access control</a:t>
            </a:r>
            <a:r>
              <a:rPr lang="en-US" dirty="0">
                <a:latin typeface="Arial" panose="020B0604020202020204" pitchFamily="34" charset="0"/>
                <a:cs typeface="Arial" panose="020B0604020202020204" pitchFamily="34" charset="0"/>
              </a:rPr>
              <a:t> - Restricts each principal to certain actions on specific portions of data.</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98</a:t>
            </a:fld>
            <a:endParaRPr lang="en-US" dirty="0"/>
          </a:p>
        </p:txBody>
      </p:sp>
    </p:spTree>
    <p:extLst>
      <p:ext uri="{BB962C8B-B14F-4D97-AF65-F5344CB8AC3E}">
        <p14:creationId xmlns:p14="http://schemas.microsoft.com/office/powerpoint/2010/main" val="23202922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Security Configuration</a:t>
            </a:r>
          </a:p>
        </p:txBody>
      </p:sp>
      <p:sp>
        <p:nvSpPr>
          <p:cNvPr id="5" name="Object4"/>
          <p:cNvSpPr/>
          <p:nvPr/>
        </p:nvSpPr>
        <p:spPr>
          <a:xfrm>
            <a:off x="0" y="70866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SNMPv3 can be secured with only a few commands:</a:t>
            </a:r>
          </a:p>
          <a:p>
            <a:r>
              <a:rPr lang="en-US" sz="1600" b="1" dirty="0">
                <a:latin typeface="Arial" panose="020B0604020202020204" pitchFamily="34" charset="0"/>
                <a:cs typeface="Arial" panose="020B0604020202020204" pitchFamily="34" charset="0"/>
              </a:rPr>
              <a:t>Step 1</a:t>
            </a:r>
            <a:r>
              <a:rPr lang="en-US" sz="1600" dirty="0">
                <a:latin typeface="Arial" panose="020B0604020202020204" pitchFamily="34" charset="0"/>
                <a:cs typeface="Arial" panose="020B0604020202020204" pitchFamily="34" charset="0"/>
              </a:rPr>
              <a:t>. Configure an ACL that will permit access to authorized SNMP managers.</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Step 2</a:t>
            </a:r>
            <a:r>
              <a:rPr lang="en-US" sz="1600" dirty="0">
                <a:latin typeface="Arial" panose="020B0604020202020204" pitchFamily="34" charset="0"/>
                <a:cs typeface="Arial" panose="020B0604020202020204" pitchFamily="34" charset="0"/>
              </a:rPr>
              <a:t>. Configure an SNMP view with the </a:t>
            </a:r>
            <a:r>
              <a:rPr lang="en-US" sz="1600" b="1" dirty="0">
                <a:latin typeface="Arial" panose="020B0604020202020204" pitchFamily="34" charset="0"/>
                <a:cs typeface="Arial" panose="020B0604020202020204" pitchFamily="34" charset="0"/>
              </a:rPr>
              <a:t>snmp-server view</a:t>
            </a:r>
            <a:r>
              <a:rPr lang="en-US" sz="1600" dirty="0">
                <a:latin typeface="Arial" panose="020B0604020202020204" pitchFamily="34" charset="0"/>
                <a:cs typeface="Arial" panose="020B0604020202020204" pitchFamily="34" charset="0"/>
              </a:rPr>
              <a:t> command to identify the MIB OIDs that the SNMP manager will be able to read. Configuring a view is required to limit SNMP messages to read-only access.</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Step 3</a:t>
            </a:r>
            <a:r>
              <a:rPr lang="en-US" sz="1600" dirty="0">
                <a:latin typeface="Arial" panose="020B0604020202020204" pitchFamily="34" charset="0"/>
                <a:cs typeface="Arial" panose="020B0604020202020204" pitchFamily="34" charset="0"/>
              </a:rPr>
              <a:t>. Configure SNMP group features with the </a:t>
            </a:r>
            <a:r>
              <a:rPr lang="en-US" sz="1600" b="1" dirty="0">
                <a:latin typeface="Arial" panose="020B0604020202020204" pitchFamily="34" charset="0"/>
                <a:cs typeface="Arial" panose="020B0604020202020204" pitchFamily="34" charset="0"/>
              </a:rPr>
              <a:t>snmp-server group</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Configure a name for the group.</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Set the SNMP version to 3 with the </a:t>
            </a:r>
            <a:r>
              <a:rPr lang="en-US" sz="1600" b="1" dirty="0">
                <a:latin typeface="Arial" panose="020B0604020202020204" pitchFamily="34" charset="0"/>
                <a:cs typeface="Arial" panose="020B0604020202020204" pitchFamily="34" charset="0"/>
              </a:rPr>
              <a:t>v3</a:t>
            </a:r>
            <a:r>
              <a:rPr lang="en-US" sz="1600" dirty="0">
                <a:latin typeface="Arial" panose="020B0604020202020204" pitchFamily="34" charset="0"/>
                <a:cs typeface="Arial" panose="020B0604020202020204" pitchFamily="34" charset="0"/>
              </a:rPr>
              <a:t> keyword.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Require authentication and encryption with the </a:t>
            </a:r>
            <a:r>
              <a:rPr lang="en-US" sz="1600" b="1" dirty="0">
                <a:latin typeface="Arial" panose="020B0604020202020204" pitchFamily="34" charset="0"/>
                <a:cs typeface="Arial" panose="020B0604020202020204" pitchFamily="34" charset="0"/>
              </a:rPr>
              <a:t>priv</a:t>
            </a:r>
            <a:r>
              <a:rPr lang="en-US" sz="1600" dirty="0">
                <a:latin typeface="Arial" panose="020B0604020202020204" pitchFamily="34" charset="0"/>
                <a:cs typeface="Arial" panose="020B0604020202020204" pitchFamily="34" charset="0"/>
              </a:rPr>
              <a:t> keyword.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Associate a view to the group and give it read only access with the </a:t>
            </a:r>
            <a:r>
              <a:rPr lang="en-US" sz="1600" b="1" dirty="0">
                <a:latin typeface="Arial" panose="020B0604020202020204" pitchFamily="34" charset="0"/>
                <a:cs typeface="Arial" panose="020B0604020202020204" pitchFamily="34" charset="0"/>
              </a:rPr>
              <a:t>read</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Specify the ACL configured in Step 1.</a:t>
            </a:r>
          </a:p>
          <a:p>
            <a:pPr>
              <a:lnSpc>
                <a:spcPts val="2000"/>
              </a:lnSpc>
            </a:pPr>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46512E1-79F1-4B72-A958-52DC765D3F85}"/>
              </a:ext>
            </a:extLst>
          </p:cNvPr>
          <p:cNvPicPr>
            <a:picLocks noChangeAspect="1"/>
          </p:cNvPicPr>
          <p:nvPr/>
        </p:nvPicPr>
        <p:blipFill>
          <a:blip r:embed="rId3"/>
          <a:stretch>
            <a:fillRect/>
          </a:stretch>
        </p:blipFill>
        <p:spPr>
          <a:xfrm>
            <a:off x="0" y="1247775"/>
            <a:ext cx="8045863" cy="476274"/>
          </a:xfrm>
          <a:prstGeom prst="rect">
            <a:avLst/>
          </a:prstGeom>
        </p:spPr>
      </p:pic>
      <p:pic>
        <p:nvPicPr>
          <p:cNvPr id="8" name="Picture 7">
            <a:extLst>
              <a:ext uri="{FF2B5EF4-FFF2-40B4-BE49-F238E27FC236}">
                <a16:creationId xmlns:a16="http://schemas.microsoft.com/office/drawing/2014/main" id="{071E096F-A24A-4E2E-87B3-334C668271DD}"/>
              </a:ext>
            </a:extLst>
          </p:cNvPr>
          <p:cNvPicPr>
            <a:picLocks noChangeAspect="1"/>
          </p:cNvPicPr>
          <p:nvPr/>
        </p:nvPicPr>
        <p:blipFill>
          <a:blip r:embed="rId4"/>
          <a:stretch>
            <a:fillRect/>
          </a:stretch>
        </p:blipFill>
        <p:spPr>
          <a:xfrm>
            <a:off x="0" y="2515242"/>
            <a:ext cx="8064914" cy="298465"/>
          </a:xfrm>
          <a:prstGeom prst="rect">
            <a:avLst/>
          </a:prstGeom>
        </p:spPr>
      </p:pic>
      <p:pic>
        <p:nvPicPr>
          <p:cNvPr id="10" name="Picture 9">
            <a:extLst>
              <a:ext uri="{FF2B5EF4-FFF2-40B4-BE49-F238E27FC236}">
                <a16:creationId xmlns:a16="http://schemas.microsoft.com/office/drawing/2014/main" id="{8D82FA80-B515-41C9-BB3C-D50FC2BCFB4E}"/>
              </a:ext>
            </a:extLst>
          </p:cNvPr>
          <p:cNvPicPr>
            <a:picLocks noChangeAspect="1"/>
          </p:cNvPicPr>
          <p:nvPr/>
        </p:nvPicPr>
        <p:blipFill>
          <a:blip r:embed="rId5"/>
          <a:stretch>
            <a:fillRect/>
          </a:stretch>
        </p:blipFill>
        <p:spPr>
          <a:xfrm>
            <a:off x="0" y="4514838"/>
            <a:ext cx="8141118" cy="4572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99</a:t>
            </a:fld>
            <a:endParaRPr lang="en-US" dirty="0"/>
          </a:p>
        </p:txBody>
      </p:sp>
    </p:spTree>
    <p:extLst>
      <p:ext uri="{BB962C8B-B14F-4D97-AF65-F5344CB8AC3E}">
        <p14:creationId xmlns:p14="http://schemas.microsoft.com/office/powerpoint/2010/main" val="188491865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Security Configuration (Cont.)</a:t>
            </a:r>
          </a:p>
        </p:txBody>
      </p:sp>
      <p:sp>
        <p:nvSpPr>
          <p:cNvPr id="5" name="Object4"/>
          <p:cNvSpPr/>
          <p:nvPr/>
        </p:nvSpPr>
        <p:spPr>
          <a:xfrm>
            <a:off x="0" y="70866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SNMPv3 can be secured with only a few commands:</a:t>
            </a:r>
          </a:p>
          <a:p>
            <a:r>
              <a:rPr lang="en-US" sz="1600" b="1" dirty="0">
                <a:latin typeface="Arial" panose="020B0604020202020204" pitchFamily="34" charset="0"/>
                <a:cs typeface="Arial" panose="020B0604020202020204" pitchFamily="34" charset="0"/>
              </a:rPr>
              <a:t>Step 4</a:t>
            </a:r>
            <a:r>
              <a:rPr lang="en-US" sz="1600" dirty="0">
                <a:latin typeface="Arial" panose="020B0604020202020204" pitchFamily="34" charset="0"/>
                <a:cs typeface="Arial" panose="020B0604020202020204" pitchFamily="34" charset="0"/>
              </a:rPr>
              <a:t>. Configure SNMP group user features with the </a:t>
            </a:r>
            <a:r>
              <a:rPr lang="en-US" sz="1600" b="1" dirty="0">
                <a:latin typeface="Arial" panose="020B0604020202020204" pitchFamily="34" charset="0"/>
                <a:cs typeface="Arial" panose="020B0604020202020204" pitchFamily="34" charset="0"/>
              </a:rPr>
              <a:t>snmp-server user</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Configure a username and associate the user with the group name configured in Step 3.</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Set the SNMP version to 3 with the </a:t>
            </a:r>
            <a:r>
              <a:rPr lang="en-US" sz="1600" b="1" dirty="0">
                <a:latin typeface="Arial" panose="020B0604020202020204" pitchFamily="34" charset="0"/>
                <a:cs typeface="Arial" panose="020B0604020202020204" pitchFamily="34" charset="0"/>
              </a:rPr>
              <a:t>v3</a:t>
            </a:r>
            <a:r>
              <a:rPr lang="en-US" sz="1600" dirty="0">
                <a:latin typeface="Arial" panose="020B0604020202020204" pitchFamily="34" charset="0"/>
                <a:cs typeface="Arial" panose="020B0604020202020204" pitchFamily="34" charset="0"/>
              </a:rPr>
              <a:t> keyword.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Set the authentication type to either </a:t>
            </a:r>
            <a:r>
              <a:rPr lang="en-US" sz="1600" b="1" dirty="0">
                <a:latin typeface="Arial" panose="020B0604020202020204" pitchFamily="34" charset="0"/>
                <a:cs typeface="Arial" panose="020B0604020202020204" pitchFamily="34" charset="0"/>
              </a:rPr>
              <a:t>md5</a:t>
            </a:r>
            <a:r>
              <a:rPr lang="en-US" sz="1600" dirty="0">
                <a:latin typeface="Arial" panose="020B0604020202020204" pitchFamily="34" charset="0"/>
                <a:cs typeface="Arial" panose="020B0604020202020204" pitchFamily="34" charset="0"/>
              </a:rPr>
              <a:t> or </a:t>
            </a:r>
            <a:r>
              <a:rPr lang="en-US" sz="1600" b="1" dirty="0">
                <a:latin typeface="Arial" panose="020B0604020202020204" pitchFamily="34" charset="0"/>
                <a:cs typeface="Arial" panose="020B0604020202020204" pitchFamily="34" charset="0"/>
              </a:rPr>
              <a:t>sha</a:t>
            </a:r>
            <a:r>
              <a:rPr lang="en-US" sz="1600" dirty="0">
                <a:latin typeface="Arial" panose="020B0604020202020204" pitchFamily="34" charset="0"/>
                <a:cs typeface="Arial" panose="020B0604020202020204" pitchFamily="34" charset="0"/>
              </a:rPr>
              <a:t> and configure an authentication password. SHA is preferred and should be supported by the SNMP management software.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Require encryption with the </a:t>
            </a:r>
            <a:r>
              <a:rPr lang="en-US" sz="1600" b="1" dirty="0">
                <a:latin typeface="Arial" panose="020B0604020202020204" pitchFamily="34" charset="0"/>
                <a:cs typeface="Arial" panose="020B0604020202020204" pitchFamily="34" charset="0"/>
              </a:rPr>
              <a:t>priv</a:t>
            </a:r>
            <a:r>
              <a:rPr lang="en-US" sz="1600" dirty="0">
                <a:latin typeface="Arial" panose="020B0604020202020204" pitchFamily="34" charset="0"/>
                <a:cs typeface="Arial" panose="020B0604020202020204" pitchFamily="34" charset="0"/>
              </a:rPr>
              <a:t> keyword and configure an encryption password.</a:t>
            </a:r>
          </a:p>
          <a:p>
            <a:pPr>
              <a:lnSpc>
                <a:spcPts val="2000"/>
              </a:lnSpc>
            </a:pPr>
            <a:endParaRPr lang="en-US"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B60C468-E658-49C1-9FBB-D90632A82221}"/>
              </a:ext>
            </a:extLst>
          </p:cNvPr>
          <p:cNvPicPr>
            <a:picLocks noChangeAspect="1"/>
          </p:cNvPicPr>
          <p:nvPr/>
        </p:nvPicPr>
        <p:blipFill>
          <a:blip r:embed="rId3"/>
          <a:stretch>
            <a:fillRect/>
          </a:stretch>
        </p:blipFill>
        <p:spPr>
          <a:xfrm>
            <a:off x="183737" y="3039097"/>
            <a:ext cx="8045863" cy="4826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100</a:t>
            </a:fld>
            <a:endParaRPr lang="en-US" dirty="0"/>
          </a:p>
        </p:txBody>
      </p:sp>
    </p:spTree>
    <p:extLst>
      <p:ext uri="{BB962C8B-B14F-4D97-AF65-F5344CB8AC3E}">
        <p14:creationId xmlns:p14="http://schemas.microsoft.com/office/powerpoint/2010/main" val="4044096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92CC4A-F2C2-4A3D-B0FC-63C08467666C}"/>
              </a:ext>
            </a:extLst>
          </p:cNvPr>
          <p:cNvPicPr>
            <a:picLocks noChangeAspect="1"/>
          </p:cNvPicPr>
          <p:nvPr/>
        </p:nvPicPr>
        <p:blipFill>
          <a:blip r:embed="rId3"/>
          <a:stretch>
            <a:fillRect/>
          </a:stretch>
        </p:blipFill>
        <p:spPr>
          <a:xfrm>
            <a:off x="2362201" y="474415"/>
            <a:ext cx="4171950" cy="1316283"/>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Security Configuration Example</a:t>
            </a:r>
          </a:p>
        </p:txBody>
      </p:sp>
      <p:sp>
        <p:nvSpPr>
          <p:cNvPr id="5" name="Object4"/>
          <p:cNvSpPr/>
          <p:nvPr/>
        </p:nvSpPr>
        <p:spPr>
          <a:xfrm>
            <a:off x="-1" y="1811653"/>
            <a:ext cx="8258175" cy="2686051"/>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The figure shows an example configuration for securing SNMPv3.</a:t>
            </a:r>
          </a:p>
          <a:p>
            <a:endParaRPr lang="en-US" sz="1400" dirty="0">
              <a:effectLst/>
              <a:latin typeface="Arial" panose="020B0604020202020204" pitchFamily="34" charset="0"/>
              <a:cs typeface="Arial" panose="020B0604020202020204" pitchFamily="34" charset="0"/>
            </a:endParaRPr>
          </a:p>
          <a:p>
            <a:r>
              <a:rPr lang="en-US" sz="1400" b="1" dirty="0">
                <a:effectLst/>
                <a:latin typeface="Arial" panose="020B0604020202020204" pitchFamily="34" charset="0"/>
                <a:cs typeface="Arial" panose="020B0604020202020204" pitchFamily="34" charset="0"/>
              </a:rPr>
              <a:t>Step 1</a:t>
            </a:r>
            <a:r>
              <a:rPr lang="en-US" sz="1400" dirty="0">
                <a:effectLst/>
                <a:latin typeface="Arial" panose="020B0604020202020204" pitchFamily="34" charset="0"/>
                <a:cs typeface="Arial" panose="020B0604020202020204" pitchFamily="34" charset="0"/>
              </a:rPr>
              <a:t>. A standard ACL is named </a:t>
            </a:r>
            <a:r>
              <a:rPr lang="en-US" sz="1400" b="1" dirty="0">
                <a:effectLst/>
                <a:latin typeface="Arial" panose="020B0604020202020204" pitchFamily="34" charset="0"/>
                <a:cs typeface="Arial" panose="020B0604020202020204" pitchFamily="34" charset="0"/>
              </a:rPr>
              <a:t>PERMIT-ADMIN</a:t>
            </a:r>
            <a:r>
              <a:rPr lang="en-US" sz="1400" dirty="0">
                <a:effectLst/>
                <a:latin typeface="Arial" panose="020B0604020202020204" pitchFamily="34" charset="0"/>
                <a:cs typeface="Arial" panose="020B0604020202020204" pitchFamily="34" charset="0"/>
              </a:rPr>
              <a:t> and is configured to permit only the 192.168.1.0/24 network. </a:t>
            </a:r>
          </a:p>
          <a:p>
            <a:endParaRPr lang="en-US" sz="1400" dirty="0">
              <a:effectLst/>
              <a:latin typeface="Arial" panose="020B0604020202020204" pitchFamily="34" charset="0"/>
              <a:cs typeface="Arial" panose="020B0604020202020204" pitchFamily="34" charset="0"/>
            </a:endParaRPr>
          </a:p>
          <a:p>
            <a:r>
              <a:rPr lang="en-US" sz="1400" b="1" dirty="0">
                <a:effectLst/>
                <a:latin typeface="Arial" panose="020B0604020202020204" pitchFamily="34" charset="0"/>
                <a:cs typeface="Arial" panose="020B0604020202020204" pitchFamily="34" charset="0"/>
              </a:rPr>
              <a:t>Step 2</a:t>
            </a:r>
            <a:r>
              <a:rPr lang="en-US" sz="1400" dirty="0">
                <a:effectLst/>
                <a:latin typeface="Arial" panose="020B0604020202020204" pitchFamily="34" charset="0"/>
                <a:cs typeface="Arial" panose="020B0604020202020204" pitchFamily="34" charset="0"/>
              </a:rPr>
              <a:t>. An SNMP view is named </a:t>
            </a:r>
            <a:r>
              <a:rPr lang="en-US" sz="1400" b="1" dirty="0">
                <a:effectLst/>
                <a:latin typeface="Arial" panose="020B0604020202020204" pitchFamily="34" charset="0"/>
                <a:cs typeface="Arial" panose="020B0604020202020204" pitchFamily="34" charset="0"/>
              </a:rPr>
              <a:t>SNMP-RO </a:t>
            </a:r>
            <a:r>
              <a:rPr lang="en-US" sz="1400" dirty="0">
                <a:effectLst/>
                <a:latin typeface="Arial" panose="020B0604020202020204" pitchFamily="34" charset="0"/>
                <a:cs typeface="Arial" panose="020B0604020202020204" pitchFamily="34" charset="0"/>
              </a:rPr>
              <a:t>and is configured to include the entire </a:t>
            </a:r>
            <a:r>
              <a:rPr lang="en-US" sz="1400" b="1" dirty="0">
                <a:effectLst/>
                <a:latin typeface="Arial" panose="020B0604020202020204" pitchFamily="34" charset="0"/>
                <a:cs typeface="Arial" panose="020B0604020202020204" pitchFamily="34" charset="0"/>
              </a:rPr>
              <a:t>iso</a:t>
            </a:r>
            <a:r>
              <a:rPr lang="en-US" sz="1400" dirty="0">
                <a:effectLst/>
                <a:latin typeface="Arial" panose="020B0604020202020204" pitchFamily="34" charset="0"/>
                <a:cs typeface="Arial" panose="020B0604020202020204" pitchFamily="34" charset="0"/>
              </a:rPr>
              <a:t> tree from the MIB. </a:t>
            </a:r>
          </a:p>
          <a:p>
            <a:endParaRPr lang="en-US" sz="1400" dirty="0">
              <a:latin typeface="Arial" panose="020B0604020202020204" pitchFamily="34" charset="0"/>
              <a:cs typeface="Arial" panose="020B0604020202020204" pitchFamily="34" charset="0"/>
            </a:endParaRPr>
          </a:p>
          <a:p>
            <a:r>
              <a:rPr lang="en-US" sz="1400" b="1" dirty="0">
                <a:effectLst/>
                <a:latin typeface="Arial" panose="020B0604020202020204" pitchFamily="34" charset="0"/>
                <a:cs typeface="Arial" panose="020B0604020202020204" pitchFamily="34" charset="0"/>
              </a:rPr>
              <a:t>Step 3</a:t>
            </a:r>
            <a:r>
              <a:rPr lang="en-US" sz="1400" dirty="0">
                <a:effectLst/>
                <a:latin typeface="Arial" panose="020B0604020202020204" pitchFamily="34" charset="0"/>
                <a:cs typeface="Arial" panose="020B0604020202020204" pitchFamily="34" charset="0"/>
              </a:rPr>
              <a:t>. An SNMP group is configured with the name </a:t>
            </a:r>
            <a:r>
              <a:rPr lang="en-US" sz="1400" b="1" dirty="0">
                <a:effectLst/>
                <a:latin typeface="Arial" panose="020B0604020202020204" pitchFamily="34" charset="0"/>
                <a:cs typeface="Arial" panose="020B0604020202020204" pitchFamily="34" charset="0"/>
              </a:rPr>
              <a:t>ADMIN</a:t>
            </a:r>
            <a:r>
              <a:rPr lang="en-US" sz="1400" dirty="0">
                <a:effectLst/>
                <a:latin typeface="Arial" panose="020B0604020202020204" pitchFamily="34" charset="0"/>
                <a:cs typeface="Arial" panose="020B0604020202020204" pitchFamily="34" charset="0"/>
              </a:rPr>
              <a:t>, SNMPv3, and access for those allowed with the </a:t>
            </a:r>
            <a:r>
              <a:rPr lang="en-US" sz="1400" b="1" dirty="0">
                <a:effectLst/>
                <a:latin typeface="Arial" panose="020B0604020202020204" pitchFamily="34" charset="0"/>
                <a:cs typeface="Arial" panose="020B0604020202020204" pitchFamily="34" charset="0"/>
              </a:rPr>
              <a:t>PERMIT-ADMIN</a:t>
            </a:r>
            <a:r>
              <a:rPr lang="en-US" sz="1400" dirty="0">
                <a:effectLst/>
                <a:latin typeface="Arial" panose="020B0604020202020204" pitchFamily="34" charset="0"/>
                <a:cs typeface="Arial" panose="020B0604020202020204" pitchFamily="34" charset="0"/>
              </a:rPr>
              <a:t> ACL.</a:t>
            </a:r>
          </a:p>
          <a:p>
            <a:endParaRPr lang="en-US" sz="1400" dirty="0">
              <a:effectLst/>
              <a:latin typeface="Arial" panose="020B0604020202020204" pitchFamily="34" charset="0"/>
              <a:cs typeface="Arial" panose="020B0604020202020204" pitchFamily="34" charset="0"/>
            </a:endParaRPr>
          </a:p>
          <a:p>
            <a:r>
              <a:rPr lang="en-US" sz="1400" b="1" dirty="0">
                <a:effectLst/>
                <a:latin typeface="Arial" panose="020B0604020202020204" pitchFamily="34" charset="0"/>
                <a:cs typeface="Arial" panose="020B0604020202020204" pitchFamily="34" charset="0"/>
              </a:rPr>
              <a:t>Step 4</a:t>
            </a:r>
            <a:r>
              <a:rPr lang="en-US" sz="1400" dirty="0">
                <a:effectLst/>
                <a:latin typeface="Arial" panose="020B0604020202020204" pitchFamily="34" charset="0"/>
                <a:cs typeface="Arial" panose="020B0604020202020204" pitchFamily="34" charset="0"/>
              </a:rPr>
              <a:t>. An SNMP user, </a:t>
            </a:r>
            <a:r>
              <a:rPr lang="en-US" sz="1400" b="1" dirty="0">
                <a:effectLst/>
                <a:latin typeface="Arial" panose="020B0604020202020204" pitchFamily="34" charset="0"/>
                <a:cs typeface="Arial" panose="020B0604020202020204" pitchFamily="34" charset="0"/>
              </a:rPr>
              <a:t>BOB</a:t>
            </a:r>
            <a:r>
              <a:rPr lang="en-US" sz="1400" dirty="0">
                <a:effectLst/>
                <a:latin typeface="Arial" panose="020B0604020202020204" pitchFamily="34" charset="0"/>
                <a:cs typeface="Arial" panose="020B0604020202020204" pitchFamily="34" charset="0"/>
              </a:rPr>
              <a:t>, is configured as a member of the group </a:t>
            </a:r>
            <a:r>
              <a:rPr lang="en-US" sz="1400" b="1" dirty="0">
                <a:effectLst/>
                <a:latin typeface="Arial" panose="020B0604020202020204" pitchFamily="34" charset="0"/>
                <a:cs typeface="Arial" panose="020B0604020202020204" pitchFamily="34" charset="0"/>
              </a:rPr>
              <a:t>ADMIN</a:t>
            </a:r>
            <a:r>
              <a:rPr lang="en-US" sz="1400" dirty="0">
                <a:latin typeface="Arial" panose="020B0604020202020204" pitchFamily="34" charset="0"/>
                <a:cs typeface="Arial" panose="020B0604020202020204" pitchFamily="34" charset="0"/>
              </a:rPr>
              <a:t> using </a:t>
            </a:r>
            <a:r>
              <a:rPr lang="en-US" sz="1400" dirty="0">
                <a:effectLst/>
                <a:latin typeface="Arial" panose="020B0604020202020204" pitchFamily="34" charset="0"/>
                <a:cs typeface="Arial" panose="020B0604020202020204" pitchFamily="34" charset="0"/>
              </a:rPr>
              <a:t>SNMPv3, with SHA authentication, AES 256 encryption, and the encryption password.</a:t>
            </a:r>
          </a:p>
          <a:p>
            <a:endParaRPr lang="en-US" sz="14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101</a:t>
            </a:fld>
            <a:endParaRPr lang="en-US" dirty="0"/>
          </a:p>
        </p:txBody>
      </p:sp>
    </p:spTree>
    <p:extLst>
      <p:ext uri="{BB962C8B-B14F-4D97-AF65-F5344CB8AC3E}">
        <p14:creationId xmlns:p14="http://schemas.microsoft.com/office/powerpoint/2010/main" val="13649757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1B048C-0BB8-4701-ABFC-D13483EEC7CF}"/>
              </a:ext>
            </a:extLst>
          </p:cNvPr>
          <p:cNvPicPr>
            <a:picLocks noChangeAspect="1"/>
          </p:cNvPicPr>
          <p:nvPr/>
        </p:nvPicPr>
        <p:blipFill>
          <a:blip r:embed="rId3"/>
          <a:stretch>
            <a:fillRect/>
          </a:stretch>
        </p:blipFill>
        <p:spPr>
          <a:xfrm>
            <a:off x="2362201" y="474415"/>
            <a:ext cx="4171950" cy="1316283"/>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Verification</a:t>
            </a:r>
          </a:p>
        </p:txBody>
      </p:sp>
      <p:pic>
        <p:nvPicPr>
          <p:cNvPr id="8" name="Picture 7">
            <a:extLst>
              <a:ext uri="{FF2B5EF4-FFF2-40B4-BE49-F238E27FC236}">
                <a16:creationId xmlns:a16="http://schemas.microsoft.com/office/drawing/2014/main" id="{A462F1A3-18CD-4460-AEC5-E5F330D687C4}"/>
              </a:ext>
            </a:extLst>
          </p:cNvPr>
          <p:cNvPicPr>
            <a:picLocks noChangeAspect="1"/>
          </p:cNvPicPr>
          <p:nvPr/>
        </p:nvPicPr>
        <p:blipFill>
          <a:blip r:embed="rId4"/>
          <a:stretch>
            <a:fillRect/>
          </a:stretch>
        </p:blipFill>
        <p:spPr>
          <a:xfrm>
            <a:off x="1114247" y="1793835"/>
            <a:ext cx="6915505" cy="15558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102</a:t>
            </a:fld>
            <a:endParaRPr lang="en-US" dirty="0"/>
          </a:p>
        </p:txBody>
      </p:sp>
    </p:spTree>
    <p:extLst>
      <p:ext uri="{BB962C8B-B14F-4D97-AF65-F5344CB8AC3E}">
        <p14:creationId xmlns:p14="http://schemas.microsoft.com/office/powerpoint/2010/main" val="32892162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Verification (Cont.)</a:t>
            </a:r>
          </a:p>
        </p:txBody>
      </p:sp>
      <p:sp>
        <p:nvSpPr>
          <p:cNvPr id="5" name="Object4"/>
          <p:cNvSpPr/>
          <p:nvPr/>
        </p:nvSpPr>
        <p:spPr>
          <a:xfrm>
            <a:off x="0" y="914400"/>
            <a:ext cx="86868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Verify most of the SNMPv3 security configuration by viewing the running configuration, as shown in in the figure. Notice that the snmp-server user configuration is hidden. Use the </a:t>
            </a:r>
            <a:r>
              <a:rPr lang="en-US" sz="1600" b="1" dirty="0">
                <a:latin typeface="Arial" panose="020B0604020202020204" pitchFamily="34" charset="0"/>
                <a:cs typeface="Arial" panose="020B0604020202020204" pitchFamily="34" charset="0"/>
              </a:rPr>
              <a:t>show snmp user</a:t>
            </a:r>
            <a:r>
              <a:rPr lang="en-US" sz="1600" dirty="0">
                <a:latin typeface="Arial" panose="020B0604020202020204" pitchFamily="34" charset="0"/>
                <a:cs typeface="Arial" panose="020B0604020202020204" pitchFamily="34" charset="0"/>
              </a:rPr>
              <a:t> command to view the user information.</a:t>
            </a:r>
          </a:p>
        </p:txBody>
      </p:sp>
      <p:pic>
        <p:nvPicPr>
          <p:cNvPr id="7" name="Picture 6">
            <a:extLst>
              <a:ext uri="{FF2B5EF4-FFF2-40B4-BE49-F238E27FC236}">
                <a16:creationId xmlns:a16="http://schemas.microsoft.com/office/drawing/2014/main" id="{F946E7C9-CB34-4793-BF44-1EDC39575628}"/>
              </a:ext>
            </a:extLst>
          </p:cNvPr>
          <p:cNvPicPr>
            <a:picLocks noChangeAspect="1"/>
          </p:cNvPicPr>
          <p:nvPr/>
        </p:nvPicPr>
        <p:blipFill>
          <a:blip r:embed="rId3"/>
          <a:stretch>
            <a:fillRect/>
          </a:stretch>
        </p:blipFill>
        <p:spPr>
          <a:xfrm>
            <a:off x="1882637" y="1977960"/>
            <a:ext cx="5378726" cy="25210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103</a:t>
            </a:fld>
            <a:endParaRPr lang="en-US" dirty="0"/>
          </a:p>
        </p:txBody>
      </p:sp>
    </p:spTree>
    <p:extLst>
      <p:ext uri="{BB962C8B-B14F-4D97-AF65-F5344CB8AC3E}">
        <p14:creationId xmlns:p14="http://schemas.microsoft.com/office/powerpoint/2010/main" val="19154427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Verification (Cont.)</a:t>
            </a:r>
          </a:p>
        </p:txBody>
      </p:sp>
      <p:sp>
        <p:nvSpPr>
          <p:cNvPr id="5" name="Object4"/>
          <p:cNvSpPr/>
          <p:nvPr/>
        </p:nvSpPr>
        <p:spPr>
          <a:xfrm>
            <a:off x="0" y="914399"/>
            <a:ext cx="3324339" cy="368045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Verify that the SNMP manager can send get requests to R1 by using an SNMP management tool, such as the ManageEngine’s free SNMP MIB Browser. Configure the tool with the user details. When a user is configured, use the SNMP management tool’s features to test that the configured user can access the SNMP agent.</a:t>
            </a:r>
          </a:p>
        </p:txBody>
      </p:sp>
      <p:pic>
        <p:nvPicPr>
          <p:cNvPr id="6" name="Picture 5">
            <a:extLst>
              <a:ext uri="{FF2B5EF4-FFF2-40B4-BE49-F238E27FC236}">
                <a16:creationId xmlns:a16="http://schemas.microsoft.com/office/drawing/2014/main" id="{907DEB27-B972-4316-8C29-93F38CA33998}"/>
              </a:ext>
            </a:extLst>
          </p:cNvPr>
          <p:cNvPicPr>
            <a:picLocks noChangeAspect="1"/>
          </p:cNvPicPr>
          <p:nvPr/>
        </p:nvPicPr>
        <p:blipFill>
          <a:blip r:embed="rId3"/>
          <a:stretch>
            <a:fillRect/>
          </a:stretch>
        </p:blipFill>
        <p:spPr>
          <a:xfrm>
            <a:off x="3552939" y="914400"/>
            <a:ext cx="5362461" cy="36804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104</a:t>
            </a:fld>
            <a:endParaRPr lang="en-US" dirty="0"/>
          </a:p>
        </p:txBody>
      </p:sp>
    </p:spTree>
    <p:extLst>
      <p:ext uri="{BB962C8B-B14F-4D97-AF65-F5344CB8AC3E}">
        <p14:creationId xmlns:p14="http://schemas.microsoft.com/office/powerpoint/2010/main" val="33764878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SNMP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SNMPv3 Verification (Cont.)</a:t>
            </a:r>
          </a:p>
        </p:txBody>
      </p:sp>
      <p:sp>
        <p:nvSpPr>
          <p:cNvPr id="5" name="Object4"/>
          <p:cNvSpPr/>
          <p:nvPr/>
        </p:nvSpPr>
        <p:spPr>
          <a:xfrm>
            <a:off x="0" y="914399"/>
            <a:ext cx="3086100" cy="3362325"/>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the figure below, the network administrator entered the OID for the IP addressing table. The get request returned all the addressing information for R1. The network administrator authenticated with the appropriate credentials.</a:t>
            </a:r>
          </a:p>
        </p:txBody>
      </p:sp>
      <p:pic>
        <p:nvPicPr>
          <p:cNvPr id="7" name="Picture 6">
            <a:extLst>
              <a:ext uri="{FF2B5EF4-FFF2-40B4-BE49-F238E27FC236}">
                <a16:creationId xmlns:a16="http://schemas.microsoft.com/office/drawing/2014/main" id="{E985293F-A17A-4972-B33A-C3357F0D40CF}"/>
              </a:ext>
            </a:extLst>
          </p:cNvPr>
          <p:cNvPicPr>
            <a:picLocks noChangeAspect="1"/>
          </p:cNvPicPr>
          <p:nvPr/>
        </p:nvPicPr>
        <p:blipFill>
          <a:blip r:embed="rId3"/>
          <a:stretch>
            <a:fillRect/>
          </a:stretch>
        </p:blipFill>
        <p:spPr>
          <a:xfrm>
            <a:off x="3557016" y="914398"/>
            <a:ext cx="5358384" cy="364734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105</a:t>
            </a:fld>
            <a:endParaRPr lang="en-US" dirty="0"/>
          </a:p>
        </p:txBody>
      </p:sp>
    </p:spTree>
    <p:extLst>
      <p:ext uri="{BB962C8B-B14F-4D97-AF65-F5344CB8AC3E}">
        <p14:creationId xmlns:p14="http://schemas.microsoft.com/office/powerpoint/2010/main" val="29741518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485127596"/>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1158</TotalTime>
  <Words>10915</Words>
  <Application>Microsoft Macintosh PowerPoint</Application>
  <PresentationFormat>Prezentácia na obrazovke (16:9)</PresentationFormat>
  <Paragraphs>1141</Paragraphs>
  <Slides>106</Slides>
  <Notes>105</Notes>
  <HiddenSlides>0</HiddenSlides>
  <MMClips>0</MMClips>
  <ScaleCrop>false</ScaleCrop>
  <HeadingPairs>
    <vt:vector size="6" baseType="variant">
      <vt:variant>
        <vt:lpstr>Použité písma</vt:lpstr>
      </vt:variant>
      <vt:variant>
        <vt:i4>6</vt:i4>
      </vt:variant>
      <vt:variant>
        <vt:lpstr>Motív</vt:lpstr>
      </vt:variant>
      <vt:variant>
        <vt:i4>3</vt:i4>
      </vt:variant>
      <vt:variant>
        <vt:lpstr>Nadpisy snímok</vt:lpstr>
      </vt:variant>
      <vt:variant>
        <vt:i4>106</vt:i4>
      </vt:variant>
    </vt:vector>
  </HeadingPairs>
  <TitlesOfParts>
    <vt:vector size="115" baseType="lpstr">
      <vt:lpstr>Arial</vt:lpstr>
      <vt:lpstr>Calibri</vt:lpstr>
      <vt:lpstr>CiscoSans ExtraLight</vt:lpstr>
      <vt:lpstr>Courier New</vt:lpstr>
      <vt:lpstr>inherit</vt:lpstr>
      <vt:lpstr>Wingdings</vt:lpstr>
      <vt:lpstr>Office Theme</vt:lpstr>
      <vt:lpstr>Default Theme</vt:lpstr>
      <vt:lpstr>1_Default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Configuring and Assigning Privilege Levels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Role-Based CLI Views</vt:lpstr>
      <vt:lpstr>Prezentácia programu PowerPoint</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NTP Authentication</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Július Baráth</cp:lastModifiedBy>
  <cp:revision>60</cp:revision>
  <dcterms:created xsi:type="dcterms:W3CDTF">2020-12-08T18:27:11Z</dcterms:created>
  <dcterms:modified xsi:type="dcterms:W3CDTF">2025-02-03T13:41:07Z</dcterms:modified>
</cp:coreProperties>
</file>
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4.xml" ContentType="application/vnd.openxmlformats-officedocument.presentationml.tags+xml"/>
  <Override PartName="/ppt/notesSlides/notesSlide7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78"/>
  </p:notesMasterIdLst>
  <p:sldIdLst>
    <p:sldId id="256" r:id="rId3"/>
    <p:sldId id="925" r:id="rId4"/>
    <p:sldId id="263" r:id="rId5"/>
    <p:sldId id="264" r:id="rId6"/>
    <p:sldId id="265" r:id="rId7"/>
    <p:sldId id="266" r:id="rId8"/>
    <p:sldId id="267" r:id="rId9"/>
    <p:sldId id="269" r:id="rId10"/>
    <p:sldId id="270" r:id="rId11"/>
    <p:sldId id="271" r:id="rId12"/>
    <p:sldId id="272" r:id="rId13"/>
    <p:sldId id="273" r:id="rId14"/>
    <p:sldId id="274" r:id="rId15"/>
    <p:sldId id="275" r:id="rId16"/>
    <p:sldId id="276" r:id="rId17"/>
    <p:sldId id="277" r:id="rId18"/>
    <p:sldId id="278" r:id="rId19"/>
    <p:sldId id="280" r:id="rId20"/>
    <p:sldId id="281" r:id="rId21"/>
    <p:sldId id="282" r:id="rId22"/>
    <p:sldId id="283" r:id="rId23"/>
    <p:sldId id="1083" r:id="rId24"/>
    <p:sldId id="1093" r:id="rId25"/>
    <p:sldId id="1094" r:id="rId26"/>
    <p:sldId id="1095" r:id="rId27"/>
    <p:sldId id="1096" r:id="rId28"/>
    <p:sldId id="1097" r:id="rId29"/>
    <p:sldId id="1098" r:id="rId30"/>
    <p:sldId id="268" r:id="rId31"/>
    <p:sldId id="1099" r:id="rId32"/>
    <p:sldId id="1075" r:id="rId33"/>
    <p:sldId id="1076" r:id="rId34"/>
    <p:sldId id="1101" r:id="rId35"/>
    <p:sldId id="1102" r:id="rId36"/>
    <p:sldId id="1103" r:id="rId37"/>
    <p:sldId id="1104" r:id="rId38"/>
    <p:sldId id="1105" r:id="rId39"/>
    <p:sldId id="1106" r:id="rId40"/>
    <p:sldId id="1107" r:id="rId41"/>
    <p:sldId id="1108" r:id="rId42"/>
    <p:sldId id="279" r:id="rId43"/>
    <p:sldId id="1109" r:id="rId44"/>
    <p:sldId id="1077" r:id="rId45"/>
    <p:sldId id="1110" r:id="rId46"/>
    <p:sldId id="1111" r:id="rId47"/>
    <p:sldId id="1112" r:id="rId48"/>
    <p:sldId id="1113" r:id="rId49"/>
    <p:sldId id="1114" r:id="rId50"/>
    <p:sldId id="1115" r:id="rId51"/>
    <p:sldId id="284" r:id="rId52"/>
    <p:sldId id="1116" r:id="rId53"/>
    <p:sldId id="1123" r:id="rId54"/>
    <p:sldId id="1132" r:id="rId55"/>
    <p:sldId id="1133" r:id="rId56"/>
    <p:sldId id="1134" r:id="rId57"/>
    <p:sldId id="1135" r:id="rId58"/>
    <p:sldId id="1136" r:id="rId59"/>
    <p:sldId id="1137" r:id="rId60"/>
    <p:sldId id="1138" r:id="rId61"/>
    <p:sldId id="1139" r:id="rId62"/>
    <p:sldId id="1140" r:id="rId63"/>
    <p:sldId id="1141" r:id="rId64"/>
    <p:sldId id="1142" r:id="rId65"/>
    <p:sldId id="1143" r:id="rId66"/>
    <p:sldId id="1144" r:id="rId67"/>
    <p:sldId id="1145" r:id="rId68"/>
    <p:sldId id="1146" r:id="rId69"/>
    <p:sldId id="1147" r:id="rId70"/>
    <p:sldId id="1148" r:id="rId71"/>
    <p:sldId id="1149" r:id="rId72"/>
    <p:sldId id="1151" r:id="rId73"/>
    <p:sldId id="1152" r:id="rId74"/>
    <p:sldId id="1153" r:id="rId75"/>
    <p:sldId id="1154" r:id="rId76"/>
    <p:sldId id="1159" r:id="rId7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445"/>
    <p:restoredTop sz="96308" autoAdjust="0"/>
  </p:normalViewPr>
  <p:slideViewPr>
    <p:cSldViewPr snapToGrid="0" snapToObjects="1">
      <p:cViewPr varScale="1">
        <p:scale>
          <a:sx n="215" d="100"/>
          <a:sy n="215" d="100"/>
        </p:scale>
        <p:origin x="248" y="184"/>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undo custSel modSld">
      <pc:chgData name="Baráth, Július" userId="aebde9b9-dccc-4475-a9ac-c05e78323d7a" providerId="ADAL" clId="{4A0811C8-ED2F-505E-B787-C8270CED5046}" dt="2026-03-17T12:10:27.130" v="21" actId="207"/>
      <pc:docMkLst>
        <pc:docMk/>
      </pc:docMkLst>
      <pc:sldChg chg="modSp mod">
        <pc:chgData name="Baráth, Július" userId="aebde9b9-dccc-4475-a9ac-c05e78323d7a" providerId="ADAL" clId="{4A0811C8-ED2F-505E-B787-C8270CED5046}" dt="2026-03-17T12:10:27.130" v="21" actId="207"/>
        <pc:sldMkLst>
          <pc:docMk/>
          <pc:sldMk cId="132984920" sldId="1077"/>
        </pc:sldMkLst>
        <pc:graphicFrameChg chg="modGraphic">
          <ac:chgData name="Baráth, Július" userId="aebde9b9-dccc-4475-a9ac-c05e78323d7a" providerId="ADAL" clId="{4A0811C8-ED2F-505E-B787-C8270CED5046}" dt="2026-03-17T12:10:27.130" v="21" actId="207"/>
          <ac:graphicFrameMkLst>
            <pc:docMk/>
            <pc:sldMk cId="132984920" sldId="1077"/>
            <ac:graphicFrameMk id="25"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281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15: Cryptographic Services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15 – Cryptographic Services</a:t>
            </a:r>
          </a:p>
          <a:p>
            <a:r>
              <a:rPr lang="en-GB" dirty="0"/>
              <a:t>15.0.2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15.1.1: Authentication, Integrity, and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15.1.2: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15.1.3: Data Integrity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15.1.4: Data Confidentiality</a:t>
            </a:r>
          </a:p>
          <a:p>
            <a:r>
              <a:rPr lang="en-US" dirty="0"/>
              <a:t>15.1.5: Check Your Understanding - Identify the Secure Communication Objective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15.2.1: Creating Cipher Text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15.2.2: Transposition Ciphers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15.2.3: Substitution Ciphers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15.2.4: A More Complex Substitution Cipher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15.2.5: One-Time Pad Ciphers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15.3.1: Cracking Code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15.3.2: Methods of Cracking Code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15.3.3: Cracking Code Example</a:t>
            </a:r>
          </a:p>
          <a:p>
            <a:r>
              <a:rPr lang="en-US" dirty="0"/>
              <a:t>15.3.4: Check your Understanding- Crack the Code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15.4.1: Making and Breaking Secret Codes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15.4.2: Cryptanalysts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15.4.3: The Secret is in the Keys</a:t>
            </a:r>
          </a:p>
          <a:p>
            <a:r>
              <a:rPr lang="en-US" dirty="0"/>
              <a:t>15.4.4: Check Your Understanding - Cryptology Terminology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16: Basic Integrity and Authenticity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3231294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23</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Networking Security (NETSEC)
Module 16: Basic Integrity and Authenticity</a:t>
            </a:r>
            <a:endParaRPr lang="en-GB" dirty="0"/>
          </a:p>
        </p:txBody>
      </p:sp>
    </p:spTree>
    <p:extLst>
      <p:ext uri="{BB962C8B-B14F-4D97-AF65-F5344CB8AC3E}">
        <p14:creationId xmlns:p14="http://schemas.microsoft.com/office/powerpoint/2010/main" val="26883853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6885096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16.1.1</a:t>
            </a:r>
            <a:r>
              <a:rPr lang="en-US"/>
              <a:t>: Secure Communications</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456559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16.1.2: Cryptographic Hash Functions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54899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16.1.3: Cryptographic Hash Operation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3567629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16.1.4: MD5 and SHA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31666808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829279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15137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2805804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16.1: Integrity and Authenticity
16.1.5: Origin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2768483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21780454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16.2.1: Characteristics of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37849516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16.2.2: Key Length and Keyspace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124292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16.2.3: The Keyspace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21868415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16.2.4: Types of Cryptographic Keys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3484261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16.2: Key Management
16.2.5: Choice of Cryptographic Keys</a:t>
            </a:r>
          </a:p>
          <a:p>
            <a:r>
              <a:rPr lang="en-US" dirty="0"/>
              <a:t>16.2.6: Check Your Understanding - Characteristics of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2387789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13851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16.3.1: Data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62292142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32099511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719007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16.3.2: 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35333739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16.3.3: Asymmetric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26378853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16.3.3: Asymmetric Encryption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21210412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16.3.4: Asymmetric Encryption -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22743545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16.3.5: Asymmetric Encryption -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199585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16.3.6: Asymmetric Encryption - Integrity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33646022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16.3.6: Asymmetric Encryption - Integrity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42334164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16.3.7: Diffie-Hellman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dirty="0"/>
          </a:p>
        </p:txBody>
      </p:sp>
    </p:spTree>
    <p:extLst>
      <p:ext uri="{BB962C8B-B14F-4D97-AF65-F5344CB8AC3E}">
        <p14:creationId xmlns:p14="http://schemas.microsoft.com/office/powerpoint/2010/main" val="32451305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Basic Integrity and Authenticity
16.3: Confidentiality
16.3.7: Diffie-Hellman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dirty="0"/>
          </a:p>
        </p:txBody>
      </p:sp>
    </p:spTree>
    <p:extLst>
      <p:ext uri="{BB962C8B-B14F-4D97-AF65-F5344CB8AC3E}">
        <p14:creationId xmlns:p14="http://schemas.microsoft.com/office/powerpoint/2010/main" val="9533377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17</a:t>
            </a:r>
            <a:r>
              <a:rPr lang="en-US"/>
              <a:t>: Public Key Cryptography</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dirty="0"/>
          </a:p>
        </p:txBody>
      </p:sp>
    </p:spTree>
    <p:extLst>
      <p:ext uri="{BB962C8B-B14F-4D97-AF65-F5344CB8AC3E}">
        <p14:creationId xmlns:p14="http://schemas.microsoft.com/office/powerpoint/2010/main" val="36075549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53</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17 – Public Key Cryptography</a:t>
            </a:r>
          </a:p>
          <a:p>
            <a:r>
              <a:rPr lang="en-GB" dirty="0"/>
              <a:t>17.0.2 – What will I learn to do in this module?</a:t>
            </a:r>
          </a:p>
        </p:txBody>
      </p:sp>
    </p:spTree>
    <p:extLst>
      <p:ext uri="{BB962C8B-B14F-4D97-AF65-F5344CB8AC3E}">
        <p14:creationId xmlns:p14="http://schemas.microsoft.com/office/powerpoint/2010/main" val="145483812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17.1: Public Key Cryptography with Digital Signatures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dirty="0"/>
          </a:p>
        </p:txBody>
      </p:sp>
    </p:spTree>
    <p:extLst>
      <p:ext uri="{BB962C8B-B14F-4D97-AF65-F5344CB8AC3E}">
        <p14:creationId xmlns:p14="http://schemas.microsoft.com/office/powerpoint/2010/main" val="4253364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17.1.1</a:t>
            </a:r>
            <a:r>
              <a:rPr lang="en-US"/>
              <a:t>: Digital Signature Overview</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dirty="0"/>
          </a:p>
        </p:txBody>
      </p:sp>
    </p:spTree>
    <p:extLst>
      <p:ext uri="{BB962C8B-B14F-4D97-AF65-F5344CB8AC3E}">
        <p14:creationId xmlns:p14="http://schemas.microsoft.com/office/powerpoint/2010/main" val="31746751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17.1.1</a:t>
            </a:r>
            <a:r>
              <a:rPr lang="en-US"/>
              <a:t>: Digital Signature Overview</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dirty="0"/>
          </a:p>
        </p:txBody>
      </p:sp>
    </p:spTree>
    <p:extLst>
      <p:ext uri="{BB962C8B-B14F-4D97-AF65-F5344CB8AC3E}">
        <p14:creationId xmlns:p14="http://schemas.microsoft.com/office/powerpoint/2010/main" val="31837996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dirty="0"/>
          </a:p>
        </p:txBody>
      </p:sp>
    </p:spTree>
    <p:extLst>
      <p:ext uri="{BB962C8B-B14F-4D97-AF65-F5344CB8AC3E}">
        <p14:creationId xmlns:p14="http://schemas.microsoft.com/office/powerpoint/2010/main" val="27469245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dirty="0"/>
          </a:p>
        </p:txBody>
      </p:sp>
    </p:spTree>
    <p:extLst>
      <p:ext uri="{BB962C8B-B14F-4D97-AF65-F5344CB8AC3E}">
        <p14:creationId xmlns:p14="http://schemas.microsoft.com/office/powerpoint/2010/main" val="38352685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dirty="0"/>
          </a:p>
        </p:txBody>
      </p:sp>
    </p:spTree>
    <p:extLst>
      <p:ext uri="{BB962C8B-B14F-4D97-AF65-F5344CB8AC3E}">
        <p14:creationId xmlns:p14="http://schemas.microsoft.com/office/powerpoint/2010/main" val="13253360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17.1.3: Digital Signatures for Digital Certificates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dirty="0"/>
          </a:p>
        </p:txBody>
      </p:sp>
    </p:spTree>
    <p:extLst>
      <p:ext uri="{BB962C8B-B14F-4D97-AF65-F5344CB8AC3E}">
        <p14:creationId xmlns:p14="http://schemas.microsoft.com/office/powerpoint/2010/main" val="26033604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17.1.3: Digital Signatures for Digital Certificates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dirty="0"/>
          </a:p>
        </p:txBody>
      </p:sp>
    </p:spTree>
    <p:extLst>
      <p:ext uri="{BB962C8B-B14F-4D97-AF65-F5344CB8AC3E}">
        <p14:creationId xmlns:p14="http://schemas.microsoft.com/office/powerpoint/2010/main" val="38396198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dirty="0"/>
          </a:p>
        </p:txBody>
      </p:sp>
    </p:spTree>
    <p:extLst>
      <p:ext uri="{BB962C8B-B14F-4D97-AF65-F5344CB8AC3E}">
        <p14:creationId xmlns:p14="http://schemas.microsoft.com/office/powerpoint/2010/main" val="23027689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17.2.1: Public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dirty="0"/>
          </a:p>
        </p:txBody>
      </p:sp>
    </p:spTree>
    <p:extLst>
      <p:ext uri="{BB962C8B-B14F-4D97-AF65-F5344CB8AC3E}">
        <p14:creationId xmlns:p14="http://schemas.microsoft.com/office/powerpoint/2010/main" val="197313027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17.2.2: Public Key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dirty="0"/>
          </a:p>
        </p:txBody>
      </p:sp>
    </p:spTree>
    <p:extLst>
      <p:ext uri="{BB962C8B-B14F-4D97-AF65-F5344CB8AC3E}">
        <p14:creationId xmlns:p14="http://schemas.microsoft.com/office/powerpoint/2010/main" val="15022846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17.2.2: Public Key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dirty="0"/>
          </a:p>
        </p:txBody>
      </p:sp>
    </p:spTree>
    <p:extLst>
      <p:ext uri="{BB962C8B-B14F-4D97-AF65-F5344CB8AC3E}">
        <p14:creationId xmlns:p14="http://schemas.microsoft.com/office/powerpoint/2010/main" val="5891414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17.2.2: The PKI Authorities System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dirty="0"/>
          </a:p>
        </p:txBody>
      </p:sp>
    </p:spTree>
    <p:extLst>
      <p:ext uri="{BB962C8B-B14F-4D97-AF65-F5344CB8AC3E}">
        <p14:creationId xmlns:p14="http://schemas.microsoft.com/office/powerpoint/2010/main" val="14554602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17.2.4: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dirty="0"/>
          </a:p>
        </p:txBody>
      </p:sp>
    </p:spTree>
    <p:extLst>
      <p:ext uri="{BB962C8B-B14F-4D97-AF65-F5344CB8AC3E}">
        <p14:creationId xmlns:p14="http://schemas.microsoft.com/office/powerpoint/2010/main" val="10563212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17.2.4: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dirty="0"/>
          </a:p>
        </p:txBody>
      </p:sp>
    </p:spTree>
    <p:extLst>
      <p:ext uri="{BB962C8B-B14F-4D97-AF65-F5344CB8AC3E}">
        <p14:creationId xmlns:p14="http://schemas.microsoft.com/office/powerpoint/2010/main" val="28081785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17.2.5: Interoperability of Different PKI Vendors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dirty="0"/>
          </a:p>
        </p:txBody>
      </p:sp>
    </p:spTree>
    <p:extLst>
      <p:ext uri="{BB962C8B-B14F-4D97-AF65-F5344CB8AC3E}">
        <p14:creationId xmlns:p14="http://schemas.microsoft.com/office/powerpoint/2010/main" val="24024152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17.2.6: Certificate Enrollment, Authentication, and Revocation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dirty="0"/>
          </a:p>
        </p:txBody>
      </p:sp>
    </p:spTree>
    <p:extLst>
      <p:ext uri="{BB962C8B-B14F-4D97-AF65-F5344CB8AC3E}">
        <p14:creationId xmlns:p14="http://schemas.microsoft.com/office/powerpoint/2010/main" val="7333227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dirty="0"/>
          </a:p>
        </p:txBody>
      </p:sp>
    </p:spTree>
    <p:extLst>
      <p:ext uri="{BB962C8B-B14F-4D97-AF65-F5344CB8AC3E}">
        <p14:creationId xmlns:p14="http://schemas.microsoft.com/office/powerpoint/2010/main" val="27445096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17.3.1: PKI Applications
</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dirty="0"/>
          </a:p>
        </p:txBody>
      </p:sp>
    </p:spTree>
    <p:extLst>
      <p:ext uri="{BB962C8B-B14F-4D97-AF65-F5344CB8AC3E}">
        <p14:creationId xmlns:p14="http://schemas.microsoft.com/office/powerpoint/2010/main" val="37845610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17.3.2: Encrypted Network Transactions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dirty="0"/>
          </a:p>
        </p:txBody>
      </p:sp>
    </p:spTree>
    <p:extLst>
      <p:ext uri="{BB962C8B-B14F-4D97-AF65-F5344CB8AC3E}">
        <p14:creationId xmlns:p14="http://schemas.microsoft.com/office/powerpoint/2010/main" val="424899465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17.3.3: Encryption and Security Monitoring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dirty="0"/>
          </a:p>
        </p:txBody>
      </p:sp>
    </p:spTree>
    <p:extLst>
      <p:ext uri="{BB962C8B-B14F-4D97-AF65-F5344CB8AC3E}">
        <p14:creationId xmlns:p14="http://schemas.microsoft.com/office/powerpoint/2010/main" val="151153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5181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0021098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1774195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2376338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70467355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36577063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53565976"/>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0986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17769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86835305"/>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81871514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67431278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76954566"/>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49978941"/>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21614875"/>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0021223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2217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71"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493564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30.png"/><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hyperlink" Target="https://youtu.be/KXq065YrpiU?si=MND0B2hakoT-fqAN"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8.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9.xml"/><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hyperlink" Target="https://youtu.be/j9QmMEWmcfo?si=l5j4fgUlFP_-6CXN" TargetMode="External"/><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15: Cryptographic Services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Cryptographic Services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Explain how the types of encryption, hashes, and digital signatures work together to provide confidentiality, integrity, and authentication.</a:t>
            </a:r>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13437634"/>
              </p:ext>
            </p:extLst>
          </p:nvPr>
        </p:nvGraphicFramePr>
        <p:xfrm>
          <a:off x="206364" y="1943683"/>
          <a:ext cx="8731272" cy="1369600"/>
        </p:xfrm>
        <a:graphic>
          <a:graphicData uri="http://schemas.openxmlformats.org/drawingml/2006/table">
            <a:tbl>
              <a:tblPr firstRow="1" firstCol="1" bandRow="1">
                <a:tableStyleId>{5C22544A-7EE6-4342-B048-85BDC9FD1C3A}</a:tableStyleId>
              </a:tblPr>
              <a:tblGrid>
                <a:gridCol w="3082714">
                  <a:extLst>
                    <a:ext uri="{9D8B030D-6E8A-4147-A177-3AD203B41FA5}">
                      <a16:colId xmlns:a16="http://schemas.microsoft.com/office/drawing/2014/main" val="399010295"/>
                    </a:ext>
                  </a:extLst>
                </a:gridCol>
                <a:gridCol w="5648558">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Secure Communications</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Explain the requirements of secure communications including integrity, authentication, and confidentiality.</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Cryptography</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cryptography.</a:t>
                      </a: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Cryptanalysis</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cryptanalysis.</a:t>
                      </a: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Cryptology</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cryptology.</a:t>
                      </a: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15.1 Secure Communications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r>
              <a:rPr lang="en-US" dirty="0"/>
              <a:t>Confidentiality, Integrity, and Authentication.</a:t>
            </a:r>
          </a:p>
        </p:txBody>
      </p:sp>
      <p:sp>
        <p:nvSpPr>
          <p:cNvPr id="5" name="Object4"/>
          <p:cNvSpPr/>
          <p:nvPr/>
        </p:nvSpPr>
        <p:spPr>
          <a:xfrm>
            <a:off x="-1" y="914400"/>
            <a:ext cx="488083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ensure secure communications across both the public and private infrastructure, the network administrator’s first goal is to secure the network infrastructure, including routers, switches, servers, and hosts.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figure shows an example of a secure network topology.</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three primary objectives of securing communications: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Confidentiality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Integrity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Authentication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dirty="0"/>
          </a:p>
        </p:txBody>
      </p:sp>
      <p:pic>
        <p:nvPicPr>
          <p:cNvPr id="6" name="Picture 5">
            <a:extLst>
              <a:ext uri="{FF2B5EF4-FFF2-40B4-BE49-F238E27FC236}">
                <a16:creationId xmlns:a16="http://schemas.microsoft.com/office/drawing/2014/main" id="{88A5E62E-3DD9-4184-81DD-CA05C4B8A88E}"/>
              </a:ext>
            </a:extLst>
          </p:cNvPr>
          <p:cNvPicPr>
            <a:picLocks noChangeAspect="1"/>
          </p:cNvPicPr>
          <p:nvPr/>
        </p:nvPicPr>
        <p:blipFill>
          <a:blip r:embed="rId3"/>
          <a:stretch>
            <a:fillRect/>
          </a:stretch>
        </p:blipFill>
        <p:spPr>
          <a:xfrm>
            <a:off x="4753669" y="1077373"/>
            <a:ext cx="4008904" cy="2571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a:t>
            </a:r>
          </a:p>
        </p:txBody>
      </p:sp>
      <p:sp>
        <p:nvSpPr>
          <p:cNvPr id="5" name="Object4"/>
          <p:cNvSpPr/>
          <p:nvPr/>
        </p:nvSpPr>
        <p:spPr>
          <a:xfrm>
            <a:off x="216130" y="914400"/>
            <a:ext cx="885305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There are two primary methods for validating a source in network communications: </a:t>
            </a:r>
            <a:r>
              <a:rPr lang="en-US" sz="1600" b="1" dirty="0">
                <a:latin typeface="Arial" panose="020B0604020202020204" pitchFamily="34" charset="0"/>
                <a:cs typeface="Arial" panose="020B0604020202020204" pitchFamily="34" charset="0"/>
              </a:rPr>
              <a:t>authentication services </a:t>
            </a:r>
            <a:r>
              <a:rPr lang="en-US" sz="1600" dirty="0">
                <a:latin typeface="Arial" panose="020B0604020202020204" pitchFamily="34" charset="0"/>
                <a:cs typeface="Arial" panose="020B0604020202020204" pitchFamily="34" charset="0"/>
              </a:rPr>
              <a:t>and </a:t>
            </a:r>
            <a:r>
              <a:rPr lang="en-US" sz="1600" b="1" dirty="0">
                <a:latin typeface="Arial" panose="020B0604020202020204" pitchFamily="34" charset="0"/>
                <a:cs typeface="Arial" panose="020B0604020202020204" pitchFamily="34" charset="0"/>
              </a:rPr>
              <a:t>data nonrepudiation services</a:t>
            </a:r>
            <a:r>
              <a:rPr lang="en-US" sz="1600" dirty="0">
                <a:latin typeface="Arial" panose="020B0604020202020204" pitchFamily="34" charset="0"/>
                <a:cs typeface="Arial" panose="020B0604020202020204" pitchFamily="34" charset="0"/>
              </a:rPr>
              <a:t>.</a:t>
            </a:r>
          </a:p>
          <a:p>
            <a:pPr>
              <a:lnSpc>
                <a:spcPts val="2000"/>
              </a:lnSpc>
            </a:pPr>
            <a:r>
              <a:rPr lang="en-US" sz="1600" dirty="0">
                <a:latin typeface="Arial" panose="020B0604020202020204" pitchFamily="34" charset="0"/>
                <a:cs typeface="Arial" panose="020B0604020202020204" pitchFamily="34" charset="0"/>
              </a:rPr>
              <a:t>In network communications, </a:t>
            </a:r>
            <a:r>
              <a:rPr lang="en-US" sz="1600" b="1" dirty="0">
                <a:latin typeface="Arial" panose="020B0604020202020204" pitchFamily="34" charset="0"/>
                <a:cs typeface="Arial" panose="020B0604020202020204" pitchFamily="34" charset="0"/>
              </a:rPr>
              <a:t>authentication services </a:t>
            </a:r>
            <a:r>
              <a:rPr lang="en-US" sz="1600" dirty="0">
                <a:latin typeface="Arial" panose="020B0604020202020204" pitchFamily="34" charset="0"/>
                <a:cs typeface="Arial" panose="020B0604020202020204" pitchFamily="34" charset="0"/>
              </a:rPr>
              <a:t>can be accomplished using cryptographic methods.</a:t>
            </a:r>
          </a:p>
          <a:p>
            <a:pPr algn="l"/>
            <a:r>
              <a:rPr lang="sk-SK" sz="1600" b="0" i="0" dirty="0" err="1">
                <a:solidFill>
                  <a:srgbClr val="111111"/>
                </a:solidFill>
                <a:effectLst/>
                <a:highlight>
                  <a:srgbClr val="F7F7F7"/>
                </a:highlight>
                <a:latin typeface="-apple-system"/>
              </a:rPr>
              <a:t>These</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services</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can</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use</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various</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methods</a:t>
            </a:r>
            <a:r>
              <a:rPr lang="sk-SK" sz="1600" b="0" i="0" dirty="0">
                <a:solidFill>
                  <a:srgbClr val="111111"/>
                </a:solidFill>
                <a:effectLst/>
                <a:highlight>
                  <a:srgbClr val="F7F7F7"/>
                </a:highlight>
                <a:latin typeface="-apple-system"/>
              </a:rPr>
              <a:t> </a:t>
            </a:r>
            <a:r>
              <a:rPr lang="sk-SK" sz="1600" b="0" i="0" dirty="0" err="1">
                <a:solidFill>
                  <a:srgbClr val="111111"/>
                </a:solidFill>
                <a:effectLst/>
                <a:highlight>
                  <a:srgbClr val="F7F7F7"/>
                </a:highlight>
                <a:latin typeface="-apple-system"/>
              </a:rPr>
              <a:t>such</a:t>
            </a:r>
            <a:r>
              <a:rPr lang="sk-SK" sz="1600" b="0" i="0" dirty="0">
                <a:solidFill>
                  <a:srgbClr val="111111"/>
                </a:solidFill>
                <a:effectLst/>
                <a:highlight>
                  <a:srgbClr val="F7F7F7"/>
                </a:highlight>
                <a:latin typeface="-apple-system"/>
              </a:rPr>
              <a:t> as:</a:t>
            </a:r>
          </a:p>
          <a:p>
            <a:pPr marL="285750" indent="-285750" algn="l">
              <a:buFont typeface="Arial" panose="020B0604020202020204" pitchFamily="34" charset="0"/>
              <a:buChar char="•"/>
            </a:pPr>
            <a:r>
              <a:rPr lang="sk-SK" sz="1200" b="1" i="0" dirty="0" err="1">
                <a:solidFill>
                  <a:srgbClr val="111111"/>
                </a:solidFill>
                <a:effectLst/>
                <a:highlight>
                  <a:srgbClr val="F7F7F7"/>
                </a:highlight>
                <a:latin typeface="-apple-system"/>
              </a:rPr>
              <a:t>Passwords</a:t>
            </a:r>
            <a:r>
              <a:rPr lang="sk-SK" sz="1200" b="0" i="0" dirty="0">
                <a:solidFill>
                  <a:srgbClr val="111111"/>
                </a:solidFill>
                <a:effectLst/>
                <a:highlight>
                  <a:srgbClr val="F7F7F7"/>
                </a:highlight>
                <a:latin typeface="-apple-system"/>
              </a:rPr>
              <a:t>: A </a:t>
            </a:r>
            <a:r>
              <a:rPr lang="sk-SK" sz="1200" b="0" i="0" dirty="0" err="1">
                <a:solidFill>
                  <a:srgbClr val="111111"/>
                </a:solidFill>
                <a:effectLst/>
                <a:highlight>
                  <a:srgbClr val="F7F7F7"/>
                </a:highlight>
                <a:latin typeface="-apple-system"/>
              </a:rPr>
              <a:t>secret</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string</a:t>
            </a:r>
            <a:r>
              <a:rPr lang="sk-SK" sz="1200" b="0" i="0" dirty="0">
                <a:solidFill>
                  <a:srgbClr val="111111"/>
                </a:solidFill>
                <a:effectLst/>
                <a:highlight>
                  <a:srgbClr val="F7F7F7"/>
                </a:highlight>
                <a:latin typeface="-apple-system"/>
              </a:rPr>
              <a:t> of </a:t>
            </a:r>
            <a:r>
              <a:rPr lang="sk-SK" sz="1200" b="0" i="0" dirty="0" err="1">
                <a:solidFill>
                  <a:srgbClr val="111111"/>
                </a:solidFill>
                <a:effectLst/>
                <a:highlight>
                  <a:srgbClr val="F7F7F7"/>
                </a:highlight>
                <a:latin typeface="-apple-system"/>
              </a:rPr>
              <a:t>characters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that</a:t>
            </a:r>
            <a:r>
              <a:rPr lang="sk-SK" sz="1200" b="0" i="0" dirty="0">
                <a:solidFill>
                  <a:srgbClr val="111111"/>
                </a:solidFill>
                <a:effectLst/>
                <a:highlight>
                  <a:srgbClr val="F7F7F7"/>
                </a:highlight>
                <a:latin typeface="-apple-system"/>
              </a:rPr>
              <a:t> a user </a:t>
            </a:r>
            <a:r>
              <a:rPr lang="sk-SK" sz="1200" b="0" i="0" dirty="0" err="1">
                <a:solidFill>
                  <a:srgbClr val="111111"/>
                </a:solidFill>
                <a:effectLst/>
                <a:highlight>
                  <a:srgbClr val="F7F7F7"/>
                </a:highlight>
                <a:latin typeface="-apple-system"/>
              </a:rPr>
              <a:t>provides</a:t>
            </a:r>
            <a:r>
              <a:rPr lang="sk-SK" sz="1200" b="0" i="0" dirty="0">
                <a:solidFill>
                  <a:srgbClr val="111111"/>
                </a:solidFill>
                <a:effectLst/>
                <a:highlight>
                  <a:srgbClr val="F7F7F7"/>
                </a:highlight>
                <a:latin typeface="-apple-system"/>
              </a:rPr>
              <a:t> to prove </a:t>
            </a:r>
            <a:r>
              <a:rPr lang="sk-SK" sz="1200" b="0" i="0" dirty="0" err="1">
                <a:solidFill>
                  <a:srgbClr val="111111"/>
                </a:solidFill>
                <a:effectLst/>
                <a:highlight>
                  <a:srgbClr val="F7F7F7"/>
                </a:highlight>
                <a:latin typeface="-apple-system"/>
              </a:rPr>
              <a:t>their</a:t>
            </a:r>
            <a:r>
              <a:rPr lang="sk-SK" sz="1200" b="0" i="0" dirty="0">
                <a:solidFill>
                  <a:srgbClr val="111111"/>
                </a:solidFill>
                <a:effectLst/>
                <a:highlight>
                  <a:srgbClr val="F7F7F7"/>
                </a:highlight>
                <a:latin typeface="-apple-system"/>
              </a:rPr>
              <a:t> identity.</a:t>
            </a:r>
          </a:p>
          <a:p>
            <a:pPr marL="285750" indent="-285750" algn="l">
              <a:buFont typeface="Arial" panose="020B0604020202020204" pitchFamily="34" charset="0"/>
              <a:buChar char="•"/>
            </a:pPr>
            <a:r>
              <a:rPr lang="sk-SK" sz="1200" b="1" i="0" dirty="0" err="1">
                <a:solidFill>
                  <a:srgbClr val="111111"/>
                </a:solidFill>
                <a:effectLst/>
                <a:highlight>
                  <a:srgbClr val="F7F7F7"/>
                </a:highlight>
                <a:latin typeface="-apple-system"/>
              </a:rPr>
              <a:t>Two-Factor</a:t>
            </a:r>
            <a:r>
              <a:rPr lang="sk-SK" sz="1200" b="1" i="0" dirty="0">
                <a:solidFill>
                  <a:srgbClr val="111111"/>
                </a:solidFill>
                <a:effectLst/>
                <a:highlight>
                  <a:srgbClr val="F7F7F7"/>
                </a:highlight>
                <a:latin typeface="-apple-system"/>
              </a:rPr>
              <a:t> </a:t>
            </a:r>
            <a:r>
              <a:rPr lang="sk-SK" sz="1200" b="1" i="0" dirty="0" err="1">
                <a:solidFill>
                  <a:srgbClr val="111111"/>
                </a:solidFill>
                <a:effectLst/>
                <a:highlight>
                  <a:srgbClr val="F7F7F7"/>
                </a:highlight>
                <a:latin typeface="-apple-system"/>
              </a:rPr>
              <a:t>Authentication</a:t>
            </a:r>
            <a:r>
              <a:rPr lang="sk-SK" sz="1200" b="1" i="0" dirty="0">
                <a:solidFill>
                  <a:srgbClr val="111111"/>
                </a:solidFill>
                <a:effectLst/>
                <a:highlight>
                  <a:srgbClr val="F7F7F7"/>
                </a:highlight>
                <a:latin typeface="-apple-system"/>
              </a:rPr>
              <a:t> (2FA)</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An</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additional</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layer</a:t>
            </a:r>
            <a:r>
              <a:rPr lang="sk-SK" sz="1200" b="0" i="0" dirty="0">
                <a:solidFill>
                  <a:srgbClr val="111111"/>
                </a:solidFill>
                <a:effectLst/>
                <a:highlight>
                  <a:srgbClr val="F7F7F7"/>
                </a:highlight>
                <a:latin typeface="-apple-system"/>
              </a:rPr>
              <a:t> of </a:t>
            </a:r>
            <a:r>
              <a:rPr lang="sk-SK" sz="1200" b="0" i="0" dirty="0" err="1">
                <a:solidFill>
                  <a:srgbClr val="111111"/>
                </a:solidFill>
                <a:effectLst/>
                <a:highlight>
                  <a:srgbClr val="F7F7F7"/>
                </a:highlight>
                <a:latin typeface="-apple-system"/>
              </a:rPr>
              <a:t>security</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where</a:t>
            </a:r>
            <a:r>
              <a:rPr lang="sk-SK" sz="1200" b="0" i="0" dirty="0">
                <a:solidFill>
                  <a:srgbClr val="111111"/>
                </a:solidFill>
                <a:effectLst/>
                <a:highlight>
                  <a:srgbClr val="F7F7F7"/>
                </a:highlight>
                <a:latin typeface="-apple-system"/>
              </a:rPr>
              <a:t> a user </a:t>
            </a:r>
            <a:r>
              <a:rPr lang="sk-SK" sz="1200" b="0" i="0" dirty="0" err="1">
                <a:solidFill>
                  <a:srgbClr val="111111"/>
                </a:solidFill>
                <a:effectLst/>
                <a:highlight>
                  <a:srgbClr val="F7F7F7"/>
                </a:highlight>
                <a:latin typeface="-apple-system"/>
              </a:rPr>
              <a:t>is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required</a:t>
            </a:r>
            <a:r>
              <a:rPr lang="sk-SK" sz="1200" b="0" i="0" dirty="0">
                <a:solidFill>
                  <a:srgbClr val="111111"/>
                </a:solidFill>
                <a:effectLst/>
                <a:highlight>
                  <a:srgbClr val="F7F7F7"/>
                </a:highlight>
                <a:latin typeface="-apple-system"/>
              </a:rPr>
              <a:t> to </a:t>
            </a:r>
            <a:r>
              <a:rPr lang="sk-SK" sz="1200" b="0" i="0" dirty="0" err="1">
                <a:solidFill>
                  <a:srgbClr val="111111"/>
                </a:solidFill>
                <a:effectLst/>
                <a:highlight>
                  <a:srgbClr val="F7F7F7"/>
                </a:highlight>
                <a:latin typeface="-apple-system"/>
              </a:rPr>
              <a:t>provide</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two</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different</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authentication</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factors</a:t>
            </a:r>
            <a:r>
              <a:rPr lang="sk-SK" sz="1200" b="0" i="0" dirty="0">
                <a:solidFill>
                  <a:srgbClr val="111111"/>
                </a:solidFill>
                <a:effectLst/>
                <a:highlight>
                  <a:srgbClr val="F7F7F7"/>
                </a:highlight>
                <a:latin typeface="-apple-system"/>
              </a:rPr>
              <a:t> to </a:t>
            </a:r>
            <a:r>
              <a:rPr lang="sk-SK" sz="1200" b="0" i="0" dirty="0" err="1">
                <a:solidFill>
                  <a:srgbClr val="111111"/>
                </a:solidFill>
                <a:effectLst/>
                <a:highlight>
                  <a:srgbClr val="F7F7F7"/>
                </a:highlight>
                <a:latin typeface="-apple-system"/>
              </a:rPr>
              <a:t>verify</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themselves</a:t>
            </a:r>
            <a:r>
              <a:rPr lang="sk-SK" sz="1200" b="0" i="0" dirty="0">
                <a:solidFill>
                  <a:srgbClr val="111111"/>
                </a:solidFill>
                <a:effectLst/>
                <a:highlight>
                  <a:srgbClr val="F7F7F7"/>
                </a:highlight>
                <a:latin typeface="-apple-system"/>
              </a:rPr>
              <a:t>.</a:t>
            </a:r>
          </a:p>
          <a:p>
            <a:pPr marL="285750" indent="-285750" algn="l">
              <a:buFont typeface="Arial" panose="020B0604020202020204" pitchFamily="34" charset="0"/>
              <a:buChar char="•"/>
            </a:pPr>
            <a:r>
              <a:rPr lang="sk-SK" sz="1200" b="1" i="0" dirty="0" err="1">
                <a:solidFill>
                  <a:srgbClr val="111111"/>
                </a:solidFill>
                <a:effectLst/>
                <a:highlight>
                  <a:srgbClr val="F7F7F7"/>
                </a:highlight>
                <a:latin typeface="-apple-system"/>
              </a:rPr>
              <a:t>Biometrics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This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involves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verifying</a:t>
            </a:r>
            <a:r>
              <a:rPr lang="sk-SK" sz="1200" b="0" i="0" dirty="0">
                <a:solidFill>
                  <a:srgbClr val="111111"/>
                </a:solidFill>
                <a:effectLst/>
                <a:highlight>
                  <a:srgbClr val="F7F7F7"/>
                </a:highlight>
                <a:latin typeface="-apple-system"/>
              </a:rPr>
              <a:t> a </a:t>
            </a:r>
            <a:r>
              <a:rPr lang="sk-SK" sz="1200" b="0" i="0" dirty="0" err="1">
                <a:solidFill>
                  <a:srgbClr val="111111"/>
                </a:solidFill>
                <a:effectLst/>
                <a:highlight>
                  <a:srgbClr val="F7F7F7"/>
                </a:highlight>
                <a:latin typeface="-apple-system"/>
              </a:rPr>
              <a:t>user’s</a:t>
            </a:r>
            <a:r>
              <a:rPr lang="sk-SK" sz="1200" b="0" i="0" dirty="0">
                <a:solidFill>
                  <a:srgbClr val="111111"/>
                </a:solidFill>
                <a:effectLst/>
                <a:highlight>
                  <a:srgbClr val="F7F7F7"/>
                </a:highlight>
                <a:latin typeface="-apple-system"/>
              </a:rPr>
              <a:t> identity </a:t>
            </a:r>
            <a:r>
              <a:rPr lang="sk-SK" sz="1200" b="0" i="0" dirty="0" err="1">
                <a:solidFill>
                  <a:srgbClr val="111111"/>
                </a:solidFill>
                <a:effectLst/>
                <a:highlight>
                  <a:srgbClr val="F7F7F7"/>
                </a:highlight>
                <a:latin typeface="-apple-system"/>
              </a:rPr>
              <a:t>based</a:t>
            </a:r>
            <a:r>
              <a:rPr lang="sk-SK" sz="1200" b="0" i="0" dirty="0">
                <a:solidFill>
                  <a:srgbClr val="111111"/>
                </a:solidFill>
                <a:effectLst/>
                <a:highlight>
                  <a:srgbClr val="F7F7F7"/>
                </a:highlight>
                <a:latin typeface="-apple-system"/>
              </a:rPr>
              <a:t> on </a:t>
            </a:r>
            <a:r>
              <a:rPr lang="sk-SK" sz="1200" b="0" i="0" dirty="0" err="1">
                <a:solidFill>
                  <a:srgbClr val="111111"/>
                </a:solidFill>
                <a:effectLst/>
                <a:highlight>
                  <a:srgbClr val="F7F7F7"/>
                </a:highlight>
                <a:latin typeface="-apple-system"/>
              </a:rPr>
              <a:t>their</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physical</a:t>
            </a:r>
            <a:r>
              <a:rPr lang="sk-SK" sz="1200" b="0" i="0" dirty="0">
                <a:solidFill>
                  <a:srgbClr val="111111"/>
                </a:solidFill>
                <a:effectLst/>
                <a:highlight>
                  <a:srgbClr val="F7F7F7"/>
                </a:highlight>
                <a:latin typeface="-apple-system"/>
              </a:rPr>
              <a:t> or </a:t>
            </a:r>
            <a:r>
              <a:rPr lang="sk-SK" sz="1200" b="0" i="0" dirty="0" err="1">
                <a:solidFill>
                  <a:srgbClr val="111111"/>
                </a:solidFill>
                <a:effectLst/>
                <a:highlight>
                  <a:srgbClr val="F7F7F7"/>
                </a:highlight>
                <a:latin typeface="-apple-system"/>
              </a:rPr>
              <a:t>behavioral</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characteristics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such</a:t>
            </a:r>
            <a:r>
              <a:rPr lang="sk-SK" sz="1200" b="0" i="0" dirty="0">
                <a:solidFill>
                  <a:srgbClr val="111111"/>
                </a:solidFill>
                <a:effectLst/>
                <a:highlight>
                  <a:srgbClr val="F7F7F7"/>
                </a:highlight>
                <a:latin typeface="-apple-system"/>
              </a:rPr>
              <a:t> as </a:t>
            </a:r>
            <a:r>
              <a:rPr lang="sk-SK" sz="1200" b="0" i="0" dirty="0" err="1">
                <a:solidFill>
                  <a:srgbClr val="111111"/>
                </a:solidFill>
                <a:effectLst/>
                <a:highlight>
                  <a:srgbClr val="F7F7F7"/>
                </a:highlight>
                <a:latin typeface="-apple-system"/>
              </a:rPr>
              <a:t>fingerprints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facial</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recognition</a:t>
            </a:r>
            <a:r>
              <a:rPr lang="sk-SK" sz="1200" b="0" i="0" dirty="0">
                <a:solidFill>
                  <a:srgbClr val="111111"/>
                </a:solidFill>
                <a:effectLst/>
                <a:highlight>
                  <a:srgbClr val="F7F7F7"/>
                </a:highlight>
                <a:latin typeface="-apple-system"/>
              </a:rPr>
              <a:t>, or </a:t>
            </a:r>
            <a:r>
              <a:rPr lang="sk-SK" sz="1200" b="0" i="0" dirty="0" err="1">
                <a:solidFill>
                  <a:srgbClr val="111111"/>
                </a:solidFill>
                <a:effectLst/>
                <a:highlight>
                  <a:srgbClr val="F7F7F7"/>
                </a:highlight>
                <a:latin typeface="-apple-system"/>
              </a:rPr>
              <a:t>voice</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patterns</a:t>
            </a:r>
            <a:r>
              <a:rPr lang="sk-SK" sz="1200" b="0" i="0" dirty="0">
                <a:solidFill>
                  <a:srgbClr val="111111"/>
                </a:solidFill>
                <a:effectLst/>
                <a:highlight>
                  <a:srgbClr val="F7F7F7"/>
                </a:highlight>
                <a:latin typeface="-apple-system"/>
              </a:rPr>
              <a:t>.</a:t>
            </a:r>
          </a:p>
          <a:p>
            <a:pPr marL="285750" indent="-285750" algn="l">
              <a:buFont typeface="Arial" panose="020B0604020202020204" pitchFamily="34" charset="0"/>
              <a:buChar char="•"/>
            </a:pPr>
            <a:r>
              <a:rPr lang="sk-SK" sz="1200" b="1" i="0" dirty="0" err="1">
                <a:solidFill>
                  <a:srgbClr val="111111"/>
                </a:solidFill>
                <a:effectLst/>
                <a:highlight>
                  <a:srgbClr val="F7F7F7"/>
                </a:highlight>
                <a:latin typeface="-apple-system"/>
              </a:rPr>
              <a:t>Certificates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Digital</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certificates</a:t>
            </a:r>
            <a:r>
              <a:rPr lang="sk-SK" sz="1200" b="0" i="0" dirty="0">
                <a:solidFill>
                  <a:srgbClr val="111111"/>
                </a:solidFill>
                <a:effectLst/>
                <a:highlight>
                  <a:srgbClr val="F7F7F7"/>
                </a:highlight>
                <a:latin typeface="-apple-system"/>
              </a:rPr>
              <a:t> are </a:t>
            </a:r>
            <a:r>
              <a:rPr lang="sk-SK" sz="1200" b="0" i="0" dirty="0" err="1">
                <a:solidFill>
                  <a:srgbClr val="111111"/>
                </a:solidFill>
                <a:effectLst/>
                <a:highlight>
                  <a:srgbClr val="F7F7F7"/>
                </a:highlight>
                <a:latin typeface="-apple-system"/>
              </a:rPr>
              <a:t>used</a:t>
            </a:r>
            <a:r>
              <a:rPr lang="sk-SK" sz="1200" b="0" i="0" dirty="0">
                <a:solidFill>
                  <a:srgbClr val="111111"/>
                </a:solidFill>
                <a:effectLst/>
                <a:highlight>
                  <a:srgbClr val="F7F7F7"/>
                </a:highlight>
                <a:latin typeface="-apple-system"/>
              </a:rPr>
              <a:t> in </a:t>
            </a:r>
            <a:r>
              <a:rPr lang="sk-SK" sz="1200" b="0" i="0" dirty="0" err="1">
                <a:solidFill>
                  <a:srgbClr val="111111"/>
                </a:solidFill>
                <a:effectLst/>
                <a:highlight>
                  <a:srgbClr val="F7F7F7"/>
                </a:highlight>
                <a:latin typeface="-apple-system"/>
              </a:rPr>
              <a:t>public</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key</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infrastructure</a:t>
            </a:r>
            <a:r>
              <a:rPr lang="sk-SK" sz="1200" b="0" i="0" dirty="0">
                <a:solidFill>
                  <a:srgbClr val="111111"/>
                </a:solidFill>
                <a:effectLst/>
                <a:highlight>
                  <a:srgbClr val="F7F7F7"/>
                </a:highlight>
                <a:latin typeface="-apple-system"/>
              </a:rPr>
              <a:t> (PKI) </a:t>
            </a:r>
            <a:r>
              <a:rPr lang="sk-SK" sz="1200" b="0" i="0" dirty="0" err="1">
                <a:solidFill>
                  <a:srgbClr val="111111"/>
                </a:solidFill>
                <a:effectLst/>
                <a:highlight>
                  <a:srgbClr val="F7F7F7"/>
                </a:highlight>
                <a:latin typeface="-apple-system"/>
              </a:rPr>
              <a:t>systems</a:t>
            </a:r>
            <a:r>
              <a:rPr lang="sk-SK" sz="1200" b="0" i="0" dirty="0">
                <a:solidFill>
                  <a:srgbClr val="111111"/>
                </a:solidFill>
                <a:effectLst/>
                <a:highlight>
                  <a:srgbClr val="F7F7F7"/>
                </a:highlight>
                <a:latin typeface="-apple-system"/>
              </a:rPr>
              <a:t> to </a:t>
            </a:r>
            <a:r>
              <a:rPr lang="sk-SK" sz="1200" b="0" i="0" dirty="0" err="1">
                <a:solidFill>
                  <a:srgbClr val="111111"/>
                </a:solidFill>
                <a:effectLst/>
                <a:highlight>
                  <a:srgbClr val="F7F7F7"/>
                </a:highlight>
                <a:latin typeface="-apple-system"/>
              </a:rPr>
              <a:t>establish</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the</a:t>
            </a:r>
            <a:r>
              <a:rPr lang="sk-SK" sz="1200" b="0" i="0" dirty="0">
                <a:solidFill>
                  <a:srgbClr val="111111"/>
                </a:solidFill>
                <a:effectLst/>
                <a:highlight>
                  <a:srgbClr val="F7F7F7"/>
                </a:highlight>
                <a:latin typeface="-apple-system"/>
              </a:rPr>
              <a:t> identity of </a:t>
            </a:r>
            <a:r>
              <a:rPr lang="sk-SK" sz="1200" b="0" i="0" dirty="0" err="1">
                <a:solidFill>
                  <a:srgbClr val="111111"/>
                </a:solidFill>
                <a:effectLst/>
                <a:highlight>
                  <a:srgbClr val="F7F7F7"/>
                </a:highlight>
                <a:latin typeface="-apple-system"/>
              </a:rPr>
              <a:t>people</a:t>
            </a:r>
            <a:r>
              <a:rPr lang="sk-SK" sz="1200" b="0" i="0" dirty="0">
                <a:solidFill>
                  <a:srgbClr val="111111"/>
                </a:solidFill>
                <a:effectLst/>
                <a:highlight>
                  <a:srgbClr val="F7F7F7"/>
                </a:highlight>
                <a:latin typeface="-apple-system"/>
              </a:rPr>
              <a:t> and </a:t>
            </a:r>
            <a:r>
              <a:rPr lang="sk-SK" sz="1200" b="0" i="0" dirty="0" err="1">
                <a:solidFill>
                  <a:srgbClr val="111111"/>
                </a:solidFill>
                <a:effectLst/>
                <a:highlight>
                  <a:srgbClr val="F7F7F7"/>
                </a:highlight>
                <a:latin typeface="-apple-system"/>
              </a:rPr>
              <a:t>devices</a:t>
            </a:r>
            <a:r>
              <a:rPr lang="sk-SK" sz="1200" b="0" i="0" dirty="0">
                <a:solidFill>
                  <a:srgbClr val="111111"/>
                </a:solidFill>
                <a:effectLst/>
                <a:highlight>
                  <a:srgbClr val="F7F7F7"/>
                </a:highlight>
                <a:latin typeface="-apple-system"/>
              </a:rPr>
              <a:t> over </a:t>
            </a:r>
            <a:r>
              <a:rPr lang="sk-SK" sz="1200" b="0" i="0" dirty="0" err="1">
                <a:solidFill>
                  <a:srgbClr val="111111"/>
                </a:solidFill>
                <a:effectLst/>
                <a:highlight>
                  <a:srgbClr val="F7F7F7"/>
                </a:highlight>
                <a:latin typeface="-apple-system"/>
              </a:rPr>
              <a:t>networks</a:t>
            </a:r>
            <a:r>
              <a:rPr lang="sk-SK" sz="1200" b="0" i="0" dirty="0">
                <a:solidFill>
                  <a:srgbClr val="111111"/>
                </a:solidFill>
                <a:effectLst/>
                <a:highlight>
                  <a:srgbClr val="F7F7F7"/>
                </a:highlight>
                <a:latin typeface="-apple-system"/>
              </a:rPr>
              <a:t>.</a:t>
            </a:r>
          </a:p>
          <a:p>
            <a:pPr marL="285750" indent="-285750" algn="l">
              <a:buFont typeface="Arial" panose="020B0604020202020204" pitchFamily="34" charset="0"/>
              <a:buChar char="•"/>
            </a:pPr>
            <a:r>
              <a:rPr lang="sk-SK" sz="1200" b="1" i="0" dirty="0" err="1">
                <a:solidFill>
                  <a:srgbClr val="111111"/>
                </a:solidFill>
                <a:effectLst/>
                <a:highlight>
                  <a:srgbClr val="F7F7F7"/>
                </a:highlight>
                <a:latin typeface="-apple-system"/>
              </a:rPr>
              <a:t>Multifactor</a:t>
            </a:r>
            <a:r>
              <a:rPr lang="sk-SK" sz="1200" b="1" i="0" dirty="0">
                <a:solidFill>
                  <a:srgbClr val="111111"/>
                </a:solidFill>
                <a:effectLst/>
                <a:highlight>
                  <a:srgbClr val="F7F7F7"/>
                </a:highlight>
                <a:latin typeface="-apple-system"/>
              </a:rPr>
              <a:t> </a:t>
            </a:r>
            <a:r>
              <a:rPr lang="sk-SK" sz="1200" b="1" i="0" dirty="0" err="1">
                <a:solidFill>
                  <a:srgbClr val="111111"/>
                </a:solidFill>
                <a:effectLst/>
                <a:highlight>
                  <a:srgbClr val="F7F7F7"/>
                </a:highlight>
                <a:latin typeface="-apple-system"/>
              </a:rPr>
              <a:t>Authentication</a:t>
            </a:r>
            <a:r>
              <a:rPr lang="sk-SK" sz="1200" b="1" i="0" dirty="0">
                <a:solidFill>
                  <a:srgbClr val="111111"/>
                </a:solidFill>
                <a:effectLst/>
                <a:highlight>
                  <a:srgbClr val="F7F7F7"/>
                </a:highlight>
                <a:latin typeface="-apple-system"/>
              </a:rPr>
              <a:t> (MFA)</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This</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is</a:t>
            </a:r>
            <a:r>
              <a:rPr lang="sk-SK" sz="1200" b="0" i="0" dirty="0">
                <a:solidFill>
                  <a:srgbClr val="111111"/>
                </a:solidFill>
                <a:effectLst/>
                <a:highlight>
                  <a:srgbClr val="F7F7F7"/>
                </a:highlight>
                <a:latin typeface="-apple-system"/>
              </a:rPr>
              <a:t> a </a:t>
            </a:r>
            <a:r>
              <a:rPr lang="sk-SK" sz="1200" b="0" i="0" dirty="0" err="1">
                <a:solidFill>
                  <a:srgbClr val="111111"/>
                </a:solidFill>
                <a:effectLst/>
                <a:highlight>
                  <a:srgbClr val="F7F7F7"/>
                </a:highlight>
                <a:latin typeface="-apple-system"/>
              </a:rPr>
              <a:t>security</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system</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that</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requires</a:t>
            </a:r>
            <a:r>
              <a:rPr lang="sk-SK" sz="1200" b="0" i="0" dirty="0">
                <a:solidFill>
                  <a:srgbClr val="111111"/>
                </a:solidFill>
                <a:effectLst/>
                <a:highlight>
                  <a:srgbClr val="F7F7F7"/>
                </a:highlight>
                <a:latin typeface="-apple-system"/>
              </a:rPr>
              <a:t> more </a:t>
            </a:r>
            <a:r>
              <a:rPr lang="sk-SK" sz="1200" b="0" i="0" dirty="0" err="1">
                <a:solidFill>
                  <a:srgbClr val="111111"/>
                </a:solidFill>
                <a:effectLst/>
                <a:highlight>
                  <a:srgbClr val="F7F7F7"/>
                </a:highlight>
                <a:latin typeface="-apple-system"/>
              </a:rPr>
              <a:t>than</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one</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method</a:t>
            </a:r>
            <a:r>
              <a:rPr lang="sk-SK" sz="1200" b="0" i="0" dirty="0">
                <a:solidFill>
                  <a:srgbClr val="111111"/>
                </a:solidFill>
                <a:effectLst/>
                <a:highlight>
                  <a:srgbClr val="F7F7F7"/>
                </a:highlight>
                <a:latin typeface="-apple-system"/>
              </a:rPr>
              <a:t> of </a:t>
            </a:r>
            <a:r>
              <a:rPr lang="sk-SK" sz="1200" b="0" i="0" dirty="0" err="1">
                <a:solidFill>
                  <a:srgbClr val="111111"/>
                </a:solidFill>
                <a:effectLst/>
                <a:highlight>
                  <a:srgbClr val="F7F7F7"/>
                </a:highlight>
                <a:latin typeface="-apple-system"/>
              </a:rPr>
              <a:t>authentication</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from</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independent</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categories</a:t>
            </a:r>
            <a:r>
              <a:rPr lang="sk-SK" sz="1200" b="0" i="0" dirty="0">
                <a:solidFill>
                  <a:srgbClr val="111111"/>
                </a:solidFill>
                <a:effectLst/>
                <a:highlight>
                  <a:srgbClr val="F7F7F7"/>
                </a:highlight>
                <a:latin typeface="-apple-system"/>
              </a:rPr>
              <a:t> of </a:t>
            </a:r>
            <a:r>
              <a:rPr lang="sk-SK" sz="1200" b="0" i="0" dirty="0" err="1">
                <a:solidFill>
                  <a:srgbClr val="111111"/>
                </a:solidFill>
                <a:effectLst/>
                <a:highlight>
                  <a:srgbClr val="F7F7F7"/>
                </a:highlight>
                <a:latin typeface="-apple-system"/>
              </a:rPr>
              <a:t>credentials</a:t>
            </a:r>
            <a:r>
              <a:rPr lang="sk-SK" sz="1200" b="0" i="0" dirty="0">
                <a:solidFill>
                  <a:srgbClr val="111111"/>
                </a:solidFill>
                <a:effectLst/>
                <a:highlight>
                  <a:srgbClr val="F7F7F7"/>
                </a:highlight>
                <a:latin typeface="-apple-system"/>
              </a:rPr>
              <a:t> to </a:t>
            </a:r>
            <a:r>
              <a:rPr lang="sk-SK" sz="1200" b="0" i="0" dirty="0" err="1">
                <a:solidFill>
                  <a:srgbClr val="111111"/>
                </a:solidFill>
                <a:effectLst/>
                <a:highlight>
                  <a:srgbClr val="F7F7F7"/>
                </a:highlight>
                <a:latin typeface="-apple-system"/>
              </a:rPr>
              <a:t>verify</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the</a:t>
            </a:r>
            <a:r>
              <a:rPr lang="sk-SK" sz="1200" b="0" i="0" dirty="0">
                <a:solidFill>
                  <a:srgbClr val="111111"/>
                </a:solidFill>
                <a:effectLst/>
                <a:highlight>
                  <a:srgbClr val="F7F7F7"/>
                </a:highlight>
                <a:latin typeface="-apple-system"/>
              </a:rPr>
              <a:t> </a:t>
            </a:r>
            <a:r>
              <a:rPr lang="sk-SK" sz="1200" b="0" i="0" dirty="0" err="1">
                <a:solidFill>
                  <a:srgbClr val="111111"/>
                </a:solidFill>
                <a:effectLst/>
                <a:highlight>
                  <a:srgbClr val="F7F7F7"/>
                </a:highlight>
                <a:latin typeface="-apple-system"/>
              </a:rPr>
              <a:t>user’s</a:t>
            </a:r>
            <a:r>
              <a:rPr lang="sk-SK" sz="1200" b="0" i="0" dirty="0">
                <a:solidFill>
                  <a:srgbClr val="111111"/>
                </a:solidFill>
                <a:effectLst/>
                <a:highlight>
                  <a:srgbClr val="F7F7F7"/>
                </a:highlight>
                <a:latin typeface="-apple-system"/>
              </a:rPr>
              <a:t> identity.</a:t>
            </a:r>
          </a:p>
          <a:p>
            <a:pPr>
              <a:lnSpc>
                <a:spcPts val="2000"/>
              </a:lnSpc>
            </a:pPr>
            <a:r>
              <a:rPr lang="en-US" sz="1600" dirty="0">
                <a:latin typeface="Arial" panose="020B0604020202020204" pitchFamily="34" charset="0"/>
                <a:cs typeface="Arial" panose="020B0604020202020204" pitchFamily="34" charset="0"/>
              </a:rPr>
              <a:t> </a:t>
            </a:r>
          </a:p>
          <a:p>
            <a:pPr>
              <a:lnSpc>
                <a:spcPts val="2000"/>
              </a:lnSpc>
            </a:pPr>
            <a:r>
              <a:rPr lang="en-US" sz="1600" b="1" dirty="0">
                <a:latin typeface="Arial" panose="020B0604020202020204" pitchFamily="34" charset="0"/>
                <a:cs typeface="Arial" panose="020B0604020202020204" pitchFamily="34" charset="0"/>
              </a:rPr>
              <a:t>Data nonrepudiation </a:t>
            </a:r>
            <a:r>
              <a:rPr lang="en-US" sz="1600" dirty="0">
                <a:latin typeface="Arial" panose="020B0604020202020204" pitchFamily="34" charset="0"/>
                <a:cs typeface="Arial" panose="020B0604020202020204" pitchFamily="34" charset="0"/>
              </a:rPr>
              <a:t>is a similar service that allows the sender of a message to be uniquely identified. With nonrepudiation services in place, a sender cannot deny having been the source of that message.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Integrity</a:t>
            </a:r>
          </a:p>
        </p:txBody>
      </p:sp>
      <p:sp>
        <p:nvSpPr>
          <p:cNvPr id="5" name="Object4"/>
          <p:cNvSpPr/>
          <p:nvPr/>
        </p:nvSpPr>
        <p:spPr>
          <a:xfrm>
            <a:off x="0" y="914400"/>
            <a:ext cx="86868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Data integrity ensures that messages are not altered in transit. With data integrity, the receiver can verify that the received message is identical to the sent message and that no manipulation occurred.</a:t>
            </a:r>
          </a:p>
          <a:p>
            <a:pPr>
              <a:lnSpc>
                <a:spcPts val="2000"/>
              </a:lnSpc>
            </a:pPr>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Confidentiality</a:t>
            </a:r>
          </a:p>
        </p:txBody>
      </p:sp>
      <p:sp>
        <p:nvSpPr>
          <p:cNvPr id="5" name="Object4"/>
          <p:cNvSpPr/>
          <p:nvPr/>
        </p:nvSpPr>
        <p:spPr>
          <a:xfrm>
            <a:off x="0" y="914400"/>
            <a:ext cx="86868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Data confidentiality ensures privacy so that only the receiver can read the message. This can be achieved through encryption. Encryption is the process of scrambling data so that it cannot be easily read by unauthorized parties.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When enabling encryption, readable data is called plaintext, or cleartext, while the encrypted version is called encrypted text or ciphertext. The plaintext readable message is converted to ciphertext, which is the unreadable, disguised message. Decryption reverses the process. A key is required to encrypt and decrypt a message. The key is the link between the plaintext and ciphertext.</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Using a hash function is another way to ensure data confidentiality. A hash function transforms a string of characters into a usually shorter, fixed-length value or key that represents the original string. The difference between hashing and encryption is in how the data is stored.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15.2 Cryptography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Creating Cipher Text</a:t>
            </a:r>
          </a:p>
        </p:txBody>
      </p:sp>
      <p:sp>
        <p:nvSpPr>
          <p:cNvPr id="5" name="Object4"/>
          <p:cNvSpPr/>
          <p:nvPr/>
        </p:nvSpPr>
        <p:spPr>
          <a:xfrm>
            <a:off x="-1" y="748145"/>
            <a:ext cx="5378336"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history of cryptography starts in diplomatic circles thousands of years ago. Messengers from a king’s court took encrypted messages to other courts. Occasionally, other courts not involved in the communication, attempted to steal messages sent to a kingdom they considered an adversary. Not long after, military commanders started using encryption to secure messages.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Enigma machine was an electromechanical encryption device that was developed and used by Nazi Germany during World War II. The device depended on the distribution of pre-shared keys that were used to encrypt and decrypt messages. The figure is an example of an Enigma machine.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dirty="0"/>
          </a:p>
        </p:txBody>
      </p:sp>
      <p:pic>
        <p:nvPicPr>
          <p:cNvPr id="6" name="Picture 5">
            <a:extLst>
              <a:ext uri="{FF2B5EF4-FFF2-40B4-BE49-F238E27FC236}">
                <a16:creationId xmlns:a16="http://schemas.microsoft.com/office/drawing/2014/main" id="{A32BF47A-30F2-46F7-B818-4756C996A432}"/>
              </a:ext>
            </a:extLst>
          </p:cNvPr>
          <p:cNvPicPr>
            <a:picLocks noChangeAspect="1"/>
          </p:cNvPicPr>
          <p:nvPr/>
        </p:nvPicPr>
        <p:blipFill>
          <a:blip r:embed="rId3"/>
          <a:stretch>
            <a:fillRect/>
          </a:stretch>
        </p:blipFill>
        <p:spPr>
          <a:xfrm>
            <a:off x="5458693" y="429145"/>
            <a:ext cx="2948035" cy="42000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Transposition Ciphers</a:t>
            </a:r>
          </a:p>
        </p:txBody>
      </p:sp>
      <p:sp>
        <p:nvSpPr>
          <p:cNvPr id="5" name="Object4"/>
          <p:cNvSpPr/>
          <p:nvPr/>
        </p:nvSpPr>
        <p:spPr>
          <a:xfrm>
            <a:off x="0" y="914400"/>
            <a:ext cx="891124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transposition ciphers, no letters are replaced; they are simply rearranged. An example of this type of cipher is taking the FLANK EAST ATTACK AT DAWN message and transposing it to read NWAD TA KCATTA TSAE KNALF. In this example, the key is to reverse the letters.</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Another example of a transposition cipher is known as the rail fence cipher. In this transposition, the words are spelled out as if they were a rail fence. They are staggered, some in front, some in the middle and some in back, across several parallel lines. An example is shown in the figure.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Modern encryption block cipher algorithms, such as AES and the legacy 3DES, still use transposition as part of the algorithm.</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dirty="0"/>
          </a:p>
        </p:txBody>
      </p:sp>
      <p:pic>
        <p:nvPicPr>
          <p:cNvPr id="6" name="Picture 5">
            <a:extLst>
              <a:ext uri="{FF2B5EF4-FFF2-40B4-BE49-F238E27FC236}">
                <a16:creationId xmlns:a16="http://schemas.microsoft.com/office/drawing/2014/main" id="{0301A5AA-B67E-4B97-A775-DFCF877BF76B}"/>
              </a:ext>
            </a:extLst>
          </p:cNvPr>
          <p:cNvPicPr>
            <a:picLocks noChangeAspect="1"/>
          </p:cNvPicPr>
          <p:nvPr/>
        </p:nvPicPr>
        <p:blipFill>
          <a:blip r:embed="rId3"/>
          <a:stretch>
            <a:fillRect/>
          </a:stretch>
        </p:blipFill>
        <p:spPr>
          <a:xfrm>
            <a:off x="3542815" y="3336520"/>
            <a:ext cx="2657243" cy="17851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Substitution Ciphers</a:t>
            </a:r>
          </a:p>
        </p:txBody>
      </p:sp>
      <p:sp>
        <p:nvSpPr>
          <p:cNvPr id="5" name="Object4"/>
          <p:cNvSpPr/>
          <p:nvPr/>
        </p:nvSpPr>
        <p:spPr>
          <a:xfrm>
            <a:off x="0" y="914400"/>
            <a:ext cx="86868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Substitution ciphers substitute one letter for another. In their simplest form, substitution ciphers retain the letter frequency of the original message.</a:t>
            </a:r>
          </a:p>
          <a:p>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dirty="0"/>
          </a:p>
        </p:txBody>
      </p:sp>
      <p:pic>
        <p:nvPicPr>
          <p:cNvPr id="6" name="Picture 5">
            <a:extLst>
              <a:ext uri="{FF2B5EF4-FFF2-40B4-BE49-F238E27FC236}">
                <a16:creationId xmlns:a16="http://schemas.microsoft.com/office/drawing/2014/main" id="{EBC9AE01-8A24-4555-935A-36F60EC175A9}"/>
              </a:ext>
            </a:extLst>
          </p:cNvPr>
          <p:cNvPicPr>
            <a:picLocks noChangeAspect="1"/>
          </p:cNvPicPr>
          <p:nvPr/>
        </p:nvPicPr>
        <p:blipFill>
          <a:blip r:embed="rId3"/>
          <a:stretch>
            <a:fillRect/>
          </a:stretch>
        </p:blipFill>
        <p:spPr>
          <a:xfrm>
            <a:off x="1838669" y="1763904"/>
            <a:ext cx="5466661" cy="26970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 More Complex Substitution Cipher</a:t>
            </a:r>
          </a:p>
        </p:txBody>
      </p:sp>
      <p:sp>
        <p:nvSpPr>
          <p:cNvPr id="5" name="Object4"/>
          <p:cNvSpPr/>
          <p:nvPr/>
        </p:nvSpPr>
        <p:spPr>
          <a:xfrm>
            <a:off x="-1" y="914400"/>
            <a:ext cx="3044141" cy="105571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Vigenère cipher is based on the Caesar cipher, except that it encrypts text by using a different polyalphabetic key shift for every plaintext letter. The different key shift is identified using a shared key between sender and receiver. The plaintext message can be encrypted and decrypted using the Vigenère Cipher Table that is shown in the figure.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pic>
        <p:nvPicPr>
          <p:cNvPr id="6" name="Picture 5">
            <a:extLst>
              <a:ext uri="{FF2B5EF4-FFF2-40B4-BE49-F238E27FC236}">
                <a16:creationId xmlns:a16="http://schemas.microsoft.com/office/drawing/2014/main" id="{F7669AF1-C5E7-4F7D-83BF-FDB57B1A1708}"/>
              </a:ext>
            </a:extLst>
          </p:cNvPr>
          <p:cNvPicPr>
            <a:picLocks noChangeAspect="1"/>
          </p:cNvPicPr>
          <p:nvPr/>
        </p:nvPicPr>
        <p:blipFill>
          <a:blip r:embed="rId3"/>
          <a:stretch>
            <a:fillRect/>
          </a:stretch>
        </p:blipFill>
        <p:spPr>
          <a:xfrm>
            <a:off x="3044141" y="855172"/>
            <a:ext cx="5500751" cy="37739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One-Time Pad Ciphers</a:t>
            </a:r>
          </a:p>
        </p:txBody>
      </p:sp>
      <p:sp>
        <p:nvSpPr>
          <p:cNvPr id="5" name="Object4"/>
          <p:cNvSpPr/>
          <p:nvPr/>
        </p:nvSpPr>
        <p:spPr>
          <a:xfrm>
            <a:off x="0" y="914400"/>
            <a:ext cx="5334034" cy="2571750"/>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Gilbert Vernam was an AT&amp;T Bell Labs engineer who, in 1917, invented, and later patented, the stream cipher. He also co-invented the one-time pad cipher. Vernam proposed a teletype cipher in which a prepared key consisting of an arbitrarily long, non-repeating sequence of numbers was kept on paper tape, shown in the figure. It was then combined character by character with the plaintext message to produce the ciphertext.</a:t>
            </a:r>
          </a:p>
          <a:p>
            <a:pPr>
              <a:lnSpc>
                <a:spcPts val="2000"/>
              </a:lnSpc>
            </a:pPr>
            <a:endParaRPr lang="en-US" sz="1500" dirty="0">
              <a:latin typeface="Arial" panose="020B0604020202020204" pitchFamily="34" charset="0"/>
              <a:cs typeface="Arial" panose="020B0604020202020204" pitchFamily="34" charset="0"/>
            </a:endParaRPr>
          </a:p>
          <a:p>
            <a:pPr>
              <a:lnSpc>
                <a:spcPts val="2000"/>
              </a:lnSpc>
            </a:pPr>
            <a:r>
              <a:rPr lang="en-US" sz="1500" dirty="0">
                <a:latin typeface="Arial" panose="020B0604020202020204" pitchFamily="34" charset="0"/>
                <a:cs typeface="Arial" panose="020B0604020202020204" pitchFamily="34" charset="0"/>
              </a:rPr>
              <a:t>To decipher the ciphertext, the same paper tape key was again combined character by character, producing the plaintext. Each tape was used only once; hence, the name one-time pad. Several difficulties are inherent in using one-time pads in the real world.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pic>
        <p:nvPicPr>
          <p:cNvPr id="6" name="Picture 5">
            <a:extLst>
              <a:ext uri="{FF2B5EF4-FFF2-40B4-BE49-F238E27FC236}">
                <a16:creationId xmlns:a16="http://schemas.microsoft.com/office/drawing/2014/main" id="{0161F807-8AC0-4AE3-9A13-9A7DA6A6AD3A}"/>
              </a:ext>
            </a:extLst>
          </p:cNvPr>
          <p:cNvPicPr>
            <a:picLocks noChangeAspect="1"/>
          </p:cNvPicPr>
          <p:nvPr/>
        </p:nvPicPr>
        <p:blipFill>
          <a:blip r:embed="rId3"/>
          <a:stretch>
            <a:fillRect/>
          </a:stretch>
        </p:blipFill>
        <p:spPr>
          <a:xfrm>
            <a:off x="5334034" y="1088966"/>
            <a:ext cx="3275600" cy="28408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15.3 Cryptanalysis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Cracking Code</a:t>
            </a:r>
          </a:p>
        </p:txBody>
      </p:sp>
      <p:sp>
        <p:nvSpPr>
          <p:cNvPr id="5" name="Object4"/>
          <p:cNvSpPr/>
          <p:nvPr/>
        </p:nvSpPr>
        <p:spPr>
          <a:xfrm>
            <a:off x="-1" y="914400"/>
            <a:ext cx="860367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Cryptanalysis is the practice and study of determining the meaning of encrypted information (cracking the code), without access to the shared secret key. This is also known as codebreaking.</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Throughout history, there have been many instances of cryptanalysis:</a:t>
            </a:r>
          </a:p>
          <a:p>
            <a:pPr lvl="1"/>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Vigenère cipher had been absolutely secure until it was broken in the 19th century by English cryptographer Charles Babbage.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Mary, Queen of Scots, was plotting to overthrow Queen Elizabeth I from the throne and sent encrypted messages to her co-conspirators. The cracking of the code used in this plot led to the beheading of Mary in 1587.</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Enigma-encrypted communications were used by the Germans to navigate and direct their U-boats in the Atlantic. Polish and British cryptanalysts broke the German Enigma code. Winston Churchill was of the opinion that it was a turning point in WWII.</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Methods of Cracking Code</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Several methods are used in cryptanalysis: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Brute-force method</a:t>
            </a:r>
            <a:r>
              <a:rPr lang="en-US" sz="1600" dirty="0">
                <a:latin typeface="Arial" panose="020B0604020202020204" pitchFamily="34" charset="0"/>
                <a:cs typeface="Arial" panose="020B0604020202020204" pitchFamily="34" charset="0"/>
              </a:rPr>
              <a:t> - The attacker tries every possible key knowing that eventually one of them will work.</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Ciphertext method</a:t>
            </a:r>
            <a:r>
              <a:rPr lang="en-US" sz="1600" dirty="0">
                <a:latin typeface="Arial" panose="020B0604020202020204" pitchFamily="34" charset="0"/>
                <a:cs typeface="Arial" panose="020B0604020202020204" pitchFamily="34" charset="0"/>
              </a:rPr>
              <a:t> - The attacker has the ciphertext of several encrypted messages but no knowledge of the underlying plaintext.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Known-Plaintext method</a:t>
            </a:r>
            <a:r>
              <a:rPr lang="en-US" sz="1600" dirty="0">
                <a:latin typeface="Arial" panose="020B0604020202020204" pitchFamily="34" charset="0"/>
                <a:cs typeface="Arial" panose="020B0604020202020204" pitchFamily="34" charset="0"/>
              </a:rPr>
              <a:t> - The attacker has access to the ciphertext of several messages and knows something about the plaintext underlying that ciphertext.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Chosen-Plaintext method</a:t>
            </a:r>
            <a:r>
              <a:rPr lang="en-US" sz="1600" dirty="0">
                <a:latin typeface="Arial" panose="020B0604020202020204" pitchFamily="34" charset="0"/>
                <a:cs typeface="Arial" panose="020B0604020202020204" pitchFamily="34" charset="0"/>
              </a:rPr>
              <a:t> - The attacker chooses which data the encryption device encrypts and observes the ciphertext output.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Chosen-Ciphertext method</a:t>
            </a:r>
            <a:r>
              <a:rPr lang="en-US" sz="1600" dirty="0">
                <a:latin typeface="Arial" panose="020B0604020202020204" pitchFamily="34" charset="0"/>
                <a:cs typeface="Arial" panose="020B0604020202020204" pitchFamily="34" charset="0"/>
              </a:rPr>
              <a:t> - The attacker can choose different ciphertext to be decrypted and has access to the decrypted plaintext.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Meet-in-the-Middle method</a:t>
            </a:r>
            <a:r>
              <a:rPr lang="en-US" sz="1600" dirty="0">
                <a:latin typeface="Arial" panose="020B0604020202020204" pitchFamily="34" charset="0"/>
                <a:cs typeface="Arial" panose="020B0604020202020204" pitchFamily="34" charset="0"/>
              </a:rPr>
              <a:t> - The attacker knows a portion of the plaintext and the corresponding ciphertext.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Cracking Code Example</a:t>
            </a:r>
          </a:p>
        </p:txBody>
      </p:sp>
      <p:sp>
        <p:nvSpPr>
          <p:cNvPr id="5" name="Object4"/>
          <p:cNvSpPr/>
          <p:nvPr/>
        </p:nvSpPr>
        <p:spPr>
          <a:xfrm>
            <a:off x="0" y="914400"/>
            <a:ext cx="3840480" cy="1512916"/>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When choosing a cryptanalysis method, consider the Caesar cipher encrypted code. The best way to crack the code is to use brute force. Because there are only 25 possible rotations, the effort is relatively small to try all possible rotations and see which one returns something that makes sense.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 more scientific approach is to use the fact that some characters in the English alphabet are used more often than others. This method is called frequency analysis. </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pic>
        <p:nvPicPr>
          <p:cNvPr id="6" name="Picture 5">
            <a:extLst>
              <a:ext uri="{FF2B5EF4-FFF2-40B4-BE49-F238E27FC236}">
                <a16:creationId xmlns:a16="http://schemas.microsoft.com/office/drawing/2014/main" id="{7F75D755-2F7F-43CB-993F-E39DC9D0A936}"/>
              </a:ext>
            </a:extLst>
          </p:cNvPr>
          <p:cNvPicPr>
            <a:picLocks noChangeAspect="1"/>
          </p:cNvPicPr>
          <p:nvPr/>
        </p:nvPicPr>
        <p:blipFill>
          <a:blip r:embed="rId3"/>
          <a:stretch>
            <a:fillRect/>
          </a:stretch>
        </p:blipFill>
        <p:spPr>
          <a:xfrm>
            <a:off x="3959636" y="881149"/>
            <a:ext cx="4855174" cy="338120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15.4 Cryptology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Making and Breaking Secret Codes</a:t>
            </a:r>
          </a:p>
        </p:txBody>
      </p:sp>
      <p:sp>
        <p:nvSpPr>
          <p:cNvPr id="5" name="Object4"/>
          <p:cNvSpPr/>
          <p:nvPr/>
        </p:nvSpPr>
        <p:spPr>
          <a:xfrm>
            <a:off x="0" y="914400"/>
            <a:ext cx="4688378"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Cryptology is the science of making and breaking secret codes. As shown in the figure, cryptology combines two separate disciplines:</a:t>
            </a:r>
          </a:p>
          <a:p>
            <a:pPr lvl="1">
              <a:buFont typeface="Arial" panose="020B0604020202020204" pitchFamily="34" charset="0"/>
              <a:buChar char="•"/>
            </a:pPr>
            <a:r>
              <a:rPr lang="en-US" sz="1600" b="1" dirty="0">
                <a:latin typeface="Arial" panose="020B0604020202020204" pitchFamily="34" charset="0"/>
                <a:cs typeface="Arial" panose="020B0604020202020204" pitchFamily="34" charset="0"/>
              </a:rPr>
              <a:t>Cryptography</a:t>
            </a:r>
            <a:r>
              <a:rPr lang="en-US" sz="1600" dirty="0">
                <a:latin typeface="Arial" panose="020B0604020202020204" pitchFamily="34" charset="0"/>
                <a:cs typeface="Arial" panose="020B0604020202020204" pitchFamily="34" charset="0"/>
              </a:rPr>
              <a:t> - the development and use of codes</a:t>
            </a:r>
          </a:p>
          <a:p>
            <a:pPr lvl="1">
              <a:buFont typeface="Arial" panose="020B0604020202020204" pitchFamily="34" charset="0"/>
              <a:buChar char="•"/>
            </a:pPr>
            <a:r>
              <a:rPr lang="en-US" sz="1600" b="1" dirty="0">
                <a:latin typeface="Arial" panose="020B0604020202020204" pitchFamily="34" charset="0"/>
                <a:cs typeface="Arial" panose="020B0604020202020204" pitchFamily="34" charset="0"/>
              </a:rPr>
              <a:t>Cryptanalysis</a:t>
            </a:r>
            <a:r>
              <a:rPr lang="en-US" sz="1600" dirty="0">
                <a:latin typeface="Arial" panose="020B0604020202020204" pitchFamily="34" charset="0"/>
                <a:cs typeface="Arial" panose="020B0604020202020204" pitchFamily="34" charset="0"/>
              </a:rPr>
              <a:t> - the breaking of those codes</a:t>
            </a:r>
          </a:p>
          <a:p>
            <a:pPr lvl="1"/>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is a symbiotic relationship between the two disciplines because each makes the other one stronger. National security organizations employ practitioners of both disciplines and put them to work against each other</a:t>
            </a:r>
            <a:r>
              <a:rPr lang="en-US" sz="1400" dirty="0">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pic>
        <p:nvPicPr>
          <p:cNvPr id="6" name="Picture 5">
            <a:extLst>
              <a:ext uri="{FF2B5EF4-FFF2-40B4-BE49-F238E27FC236}">
                <a16:creationId xmlns:a16="http://schemas.microsoft.com/office/drawing/2014/main" id="{BAD507C4-9386-4E9C-96CD-EDB32F265043}"/>
              </a:ext>
            </a:extLst>
          </p:cNvPr>
          <p:cNvPicPr>
            <a:picLocks noChangeAspect="1"/>
          </p:cNvPicPr>
          <p:nvPr/>
        </p:nvPicPr>
        <p:blipFill>
          <a:blip r:embed="rId3"/>
          <a:stretch>
            <a:fillRect/>
          </a:stretch>
        </p:blipFill>
        <p:spPr>
          <a:xfrm>
            <a:off x="4777861" y="695152"/>
            <a:ext cx="3908939" cy="279099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Cryptanalysts</a:t>
            </a:r>
          </a:p>
        </p:txBody>
      </p:sp>
      <p:sp>
        <p:nvSpPr>
          <p:cNvPr id="5" name="Object4"/>
          <p:cNvSpPr/>
          <p:nvPr/>
        </p:nvSpPr>
        <p:spPr>
          <a:xfrm>
            <a:off x="-1" y="914400"/>
            <a:ext cx="906918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Cryptanalysis is often used by governments in military and diplomatic surveillance, by enterprises in testing the strength of security procedures, and by malicious hackers in exploiting weaknesses in websites.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Cryptanalysts are individuals who perform cryptanalysis to crack secret codes. A sample job description is displayed in the figure.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While cryptanalysis is often linked to mischievous purposes, it is actually a necessity. </a:t>
            </a:r>
            <a:r>
              <a:rPr lang="en-US" sz="1600" u="sng" dirty="0">
                <a:latin typeface="Arial" panose="020B0604020202020204" pitchFamily="34" charset="0"/>
                <a:cs typeface="Arial" panose="020B0604020202020204" pitchFamily="34" charset="0"/>
              </a:rPr>
              <a:t>It is an ironic fact of cryptography that it is impossible to prove that any algorithm is secure.</a:t>
            </a:r>
            <a:r>
              <a:rPr lang="en-US" sz="1600" dirty="0">
                <a:latin typeface="Arial" panose="020B0604020202020204" pitchFamily="34" charset="0"/>
                <a:cs typeface="Arial" panose="020B0604020202020204" pitchFamily="34" charset="0"/>
              </a:rPr>
              <a:t> It can only be proven that it is not vulnerable to known cryptanalytic attacks. Therefore, there is a need for mathematicians, scholars, and security forensic experts to keep trying to break the encryption methods.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Secret is in the Keys</a:t>
            </a:r>
          </a:p>
        </p:txBody>
      </p:sp>
      <p:graphicFrame>
        <p:nvGraphicFramePr>
          <p:cNvPr id="29" name="Table 28"/>
          <p:cNvGraphicFramePr>
            <a:graphicFrameLocks noGrp="1"/>
          </p:cNvGraphicFramePr>
          <p:nvPr>
            <p:extLst>
              <p:ext uri="{D42A27DB-BD31-4B8C-83A1-F6EECF244321}">
                <p14:modId xmlns:p14="http://schemas.microsoft.com/office/powerpoint/2010/main" val="1265142487"/>
              </p:ext>
            </p:extLst>
          </p:nvPr>
        </p:nvGraphicFramePr>
        <p:xfrm>
          <a:off x="2467718" y="2766464"/>
          <a:ext cx="4033993" cy="1036320"/>
        </p:xfrm>
        <a:graphic>
          <a:graphicData uri="http://schemas.openxmlformats.org/drawingml/2006/table">
            <a:tbl>
              <a:tblPr/>
              <a:tblGrid>
                <a:gridCol w="1205732">
                  <a:extLst>
                    <a:ext uri="{9D8B030D-6E8A-4147-A177-3AD203B41FA5}">
                      <a16:colId xmlns:a16="http://schemas.microsoft.com/office/drawing/2014/main" val="20000"/>
                    </a:ext>
                  </a:extLst>
                </a:gridCol>
                <a:gridCol w="1541721">
                  <a:extLst>
                    <a:ext uri="{9D8B030D-6E8A-4147-A177-3AD203B41FA5}">
                      <a16:colId xmlns:a16="http://schemas.microsoft.com/office/drawing/2014/main" val="20001"/>
                    </a:ext>
                  </a:extLst>
                </a:gridCol>
                <a:gridCol w="1286540">
                  <a:extLst>
                    <a:ext uri="{9D8B030D-6E8A-4147-A177-3AD203B41FA5}">
                      <a16:colId xmlns:a16="http://schemas.microsoft.com/office/drawing/2014/main" val="20002"/>
                    </a:ext>
                  </a:extLst>
                </a:gridCol>
              </a:tblGrid>
              <a:tr h="0">
                <a:tc>
                  <a:txBody>
                    <a:bodyPr/>
                    <a:lstStyle/>
                    <a:p>
                      <a:r>
                        <a:rPr lang="en-US" sz="1200" dirty="0">
                          <a:solidFill>
                            <a:srgbClr val="FFFFFF"/>
                          </a:solidFill>
                        </a:rPr>
                        <a:t>Integrity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Authenticity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MD5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HMAC-MD5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3DES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SHA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HMAC-SHA-256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RSA and DSA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sp>
        <p:nvSpPr>
          <p:cNvPr id="7" name="TextBox 6">
            <a:extLst>
              <a:ext uri="{FF2B5EF4-FFF2-40B4-BE49-F238E27FC236}">
                <a16:creationId xmlns:a16="http://schemas.microsoft.com/office/drawing/2014/main" id="{81AF9CFF-22FC-4F6F-A7C5-AE1C6093B23E}"/>
              </a:ext>
            </a:extLst>
          </p:cNvPr>
          <p:cNvSpPr txBox="1"/>
          <p:nvPr/>
        </p:nvSpPr>
        <p:spPr>
          <a:xfrm>
            <a:off x="91439" y="781617"/>
            <a:ext cx="8786553" cy="160043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world of communications and networking, authentication, integrity, and data confidentiality are implemented in many ways using various protocols and algorithms. The choice of protocol and algorithm varies based on the level of security required to meet the goals of the network security policy.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table lists some common cryptographic hashes, protocols, and algorithms</a:t>
            </a:r>
            <a:r>
              <a:rPr lang="en-US"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16: Basic Integrity and Authenticity</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extLst>
      <p:ext uri="{BB962C8B-B14F-4D97-AF65-F5344CB8AC3E}">
        <p14:creationId xmlns:p14="http://schemas.microsoft.com/office/powerpoint/2010/main" val="1981002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sz="1600" dirty="0"/>
              <a:t>Basic Integrity and Authenticity</a:t>
            </a:r>
            <a:endParaRPr lang="en-US" altLang="en-US" sz="1400" b="1" dirty="0">
              <a:solidFill>
                <a:schemeClr val="tx1"/>
              </a:solidFill>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altLang="en-US" sz="1400" dirty="0">
                <a:ea typeface="Calibri" panose="020F0502020204030204" pitchFamily="34" charset="0"/>
                <a:cs typeface="Calibri" panose="020F0502020204030204" pitchFamily="34" charset="0"/>
              </a:rPr>
              <a:t>Explain how cryptography is used to ensure data integrity and authenticity.</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5" name="Table 4">
            <a:extLst>
              <a:ext uri="{FF2B5EF4-FFF2-40B4-BE49-F238E27FC236}">
                <a16:creationId xmlns:a16="http://schemas.microsoft.com/office/drawing/2014/main" id="{AD6E2707-FAF7-4AA9-9D06-C1BC327A50B6}"/>
              </a:ext>
            </a:extLst>
          </p:cNvPr>
          <p:cNvGraphicFramePr>
            <a:graphicFrameLocks noGrp="1"/>
          </p:cNvGraphicFramePr>
          <p:nvPr>
            <p:extLst>
              <p:ext uri="{D42A27DB-BD31-4B8C-83A1-F6EECF244321}">
                <p14:modId xmlns:p14="http://schemas.microsoft.com/office/powerpoint/2010/main" val="2929994107"/>
              </p:ext>
            </p:extLst>
          </p:nvPr>
        </p:nvGraphicFramePr>
        <p:xfrm>
          <a:off x="151832" y="1689501"/>
          <a:ext cx="8678901" cy="1047076"/>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761353">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latin typeface="+mn-lt"/>
                        </a:rPr>
                        <a:t>Topic Title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latin typeface="+mn-lt"/>
                        </a:rPr>
                        <a:t>Topic Objective</a:t>
                      </a:r>
                      <a:endParaRPr lang="en-US" sz="1200" dirty="0">
                        <a:effectLst/>
                        <a:latin typeface="+mn-lt"/>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r>
                        <a:rPr lang="en-US" sz="1200" b="1" dirty="0">
                          <a:latin typeface="+mn-lt"/>
                        </a:rPr>
                        <a:t>Integrity and Authenticity</a:t>
                      </a:r>
                      <a:endParaRPr lang="en-US" sz="1200" dirty="0">
                        <a:latin typeface="+mn-lt"/>
                      </a:endParaRPr>
                    </a:p>
                  </a:txBody>
                  <a:tcPr anchor="ctr"/>
                </a:tc>
                <a:tc>
                  <a:txBody>
                    <a:bodyPr/>
                    <a:lstStyle/>
                    <a:p>
                      <a:r>
                        <a:rPr lang="en-US" sz="1200" dirty="0">
                          <a:latin typeface="+mn-lt"/>
                        </a:rPr>
                        <a:t>Explain the role of cryptography in ensuring the integrity and authenticity of data.</a:t>
                      </a:r>
                    </a:p>
                  </a:txBody>
                  <a:tcPr anchor="ctr"/>
                </a:tc>
                <a:extLst>
                  <a:ext uri="{0D108BD9-81ED-4DB2-BD59-A6C34878D82A}">
                    <a16:rowId xmlns:a16="http://schemas.microsoft.com/office/drawing/2014/main" val="3530891527"/>
                  </a:ext>
                </a:extLst>
              </a:tr>
              <a:tr h="263724">
                <a:tc>
                  <a:txBody>
                    <a:bodyPr/>
                    <a:lstStyle/>
                    <a:p>
                      <a:r>
                        <a:rPr lang="en-US" sz="1200" b="1" dirty="0">
                          <a:latin typeface="+mn-lt"/>
                        </a:rPr>
                        <a:t>Key Management</a:t>
                      </a:r>
                      <a:endParaRPr lang="en-US" sz="1200" dirty="0">
                        <a:latin typeface="+mn-lt"/>
                      </a:endParaRPr>
                    </a:p>
                  </a:txBody>
                  <a:tcPr anchor="ctr"/>
                </a:tc>
                <a:tc>
                  <a:txBody>
                    <a:bodyPr/>
                    <a:lstStyle/>
                    <a:p>
                      <a:r>
                        <a:rPr lang="en-US" sz="1200" dirty="0">
                          <a:latin typeface="+mn-lt"/>
                        </a:rPr>
                        <a:t>Describe the components of key management.</a:t>
                      </a:r>
                    </a:p>
                  </a:txBody>
                  <a:tcPr anchor="ctr"/>
                </a:tc>
                <a:extLst>
                  <a:ext uri="{0D108BD9-81ED-4DB2-BD59-A6C34878D82A}">
                    <a16:rowId xmlns:a16="http://schemas.microsoft.com/office/drawing/2014/main" val="662892947"/>
                  </a:ext>
                </a:extLst>
              </a:tr>
              <a:tr h="254659">
                <a:tc>
                  <a:txBody>
                    <a:bodyPr/>
                    <a:lstStyle/>
                    <a:p>
                      <a:r>
                        <a:rPr lang="en-US" sz="1200" b="1" dirty="0">
                          <a:latin typeface="+mn-lt"/>
                        </a:rPr>
                        <a:t>Confidentiality</a:t>
                      </a:r>
                      <a:endParaRPr lang="en-US" sz="1200" dirty="0">
                        <a:latin typeface="+mn-lt"/>
                      </a:endParaRPr>
                    </a:p>
                  </a:txBody>
                  <a:tcPr anchor="ctr"/>
                </a:tc>
                <a:tc>
                  <a:txBody>
                    <a:bodyPr/>
                    <a:lstStyle/>
                    <a:p>
                      <a:r>
                        <a:rPr lang="en-US" sz="1200" dirty="0">
                          <a:latin typeface="+mn-lt"/>
                        </a:rPr>
                        <a:t>Explain how cryptographic approaches enhance data confidentiality.</a:t>
                      </a:r>
                    </a:p>
                  </a:txBody>
                  <a:tcPr anchor="ctr"/>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2926792186"/>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16.1 Integrity and Authenticity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extLst>
      <p:ext uri="{BB962C8B-B14F-4D97-AF65-F5344CB8AC3E}">
        <p14:creationId xmlns:p14="http://schemas.microsoft.com/office/powerpoint/2010/main" val="8755452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Secure Communications</a:t>
            </a:r>
          </a:p>
        </p:txBody>
      </p:sp>
      <p:sp>
        <p:nvSpPr>
          <p:cNvPr id="5" name="Object4"/>
          <p:cNvSpPr/>
          <p:nvPr/>
        </p:nvSpPr>
        <p:spPr>
          <a:xfrm>
            <a:off x="0" y="712922"/>
            <a:ext cx="9143998" cy="3916228"/>
          </a:xfrm>
          <a:prstGeom prst="rect">
            <a:avLst/>
          </a:prstGeom>
          <a:noFill/>
          <a:ln/>
        </p:spPr>
        <p:txBody>
          <a:bodyPr wrap="square" rtlCol="0" anchor="t"/>
          <a:lstStyle/>
          <a:p>
            <a:r>
              <a:rPr lang="en-US" sz="1500" dirty="0">
                <a:latin typeface="Arial" panose="020B0604020202020204" pitchFamily="34" charset="0"/>
                <a:cs typeface="Arial" panose="020B0604020202020204" pitchFamily="34" charset="0"/>
              </a:rPr>
              <a:t>These are the four elements of secure communications:</a:t>
            </a:r>
          </a:p>
          <a:p>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Integrity</a:t>
            </a:r>
            <a:r>
              <a:rPr lang="en-US" sz="1400" dirty="0">
                <a:latin typeface="Arial" panose="020B0604020202020204" pitchFamily="34" charset="0"/>
                <a:cs typeface="Arial" panose="020B0604020202020204" pitchFamily="34" charset="0"/>
              </a:rPr>
              <a:t> - Guarantees that the message was not altered. Any changes to data in transit will be detected. Integrity is ensured by implementing either of the Secure Hash Algorithms (SHA-2 or SHA-3). The MD5 message digest algorithm is still widely in use. However, it is inherently insecure and creates vulnerabilities in a network. Note that MD5 should be avoided.</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Origin Authentication</a:t>
            </a:r>
            <a:r>
              <a:rPr lang="en-US" sz="1400" dirty="0">
                <a:latin typeface="Arial" panose="020B0604020202020204" pitchFamily="34" charset="0"/>
                <a:cs typeface="Arial" panose="020B0604020202020204" pitchFamily="34" charset="0"/>
              </a:rPr>
              <a:t> - Guarantees that the message is not a forgery and does actually come from whom it states. Many modern networks ensure authentication with algorithms such as hash-based message authentication code (HMAC).</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Confidentiality</a:t>
            </a:r>
            <a:r>
              <a:rPr lang="en-US" sz="1400" dirty="0">
                <a:latin typeface="Arial" panose="020B0604020202020204" pitchFamily="34" charset="0"/>
                <a:cs typeface="Arial" panose="020B0604020202020204" pitchFamily="34" charset="0"/>
              </a:rPr>
              <a:t> - Guarantees that only authorized users can read the message. If the message is intercepted, it cannot be deciphered within a reasonable amount of time. Data confidentiality is implemented using symmetric and asymmetric encryption algorithms.</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Non-Repudiation</a:t>
            </a:r>
            <a:r>
              <a:rPr lang="en-US" sz="1400" dirty="0">
                <a:latin typeface="Arial" panose="020B0604020202020204" pitchFamily="34" charset="0"/>
                <a:cs typeface="Arial" panose="020B0604020202020204" pitchFamily="34" charset="0"/>
              </a:rPr>
              <a:t> - Guarantees that the sender cannot repudiate, or refute, the validity of a message sent. Nonrepudiation relies on the fact that only the sender has the unique characteristics or signature for how that message is treated.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extLst>
      <p:ext uri="{BB962C8B-B14F-4D97-AF65-F5344CB8AC3E}">
        <p14:creationId xmlns:p14="http://schemas.microsoft.com/office/powerpoint/2010/main" val="3862999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Cryptographic Hash Functions</a:t>
            </a:r>
          </a:p>
        </p:txBody>
      </p:sp>
      <p:sp>
        <p:nvSpPr>
          <p:cNvPr id="5" name="Object4"/>
          <p:cNvSpPr/>
          <p:nvPr/>
        </p:nvSpPr>
        <p:spPr>
          <a:xfrm>
            <a:off x="61994" y="902775"/>
            <a:ext cx="6009124" cy="3507493"/>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Hashes are used to verify and ensure data integrity. Hashing is based on a one-way mathematical function that is relatively easy to compute, but significantly harder to reverse.</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As shown in the figure, a hash function takes a variable block of binary data, called the message, and produces a fixed-length, condensed representation, called the hash. The resulting hash is also sometimes called the message digest, digest, or digital fingerprint.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With hash functions, it is computationally infeasible for two different sets of data to come up with the same hash output. </a:t>
            </a:r>
            <a:r>
              <a:rPr lang="en-US" sz="1600" b="1" dirty="0">
                <a:latin typeface="Arial" panose="020B0604020202020204" pitchFamily="34" charset="0"/>
                <a:cs typeface="Arial" panose="020B0604020202020204" pitchFamily="34" charset="0"/>
              </a:rPr>
              <a:t>Cryptographic hash </a:t>
            </a:r>
            <a:r>
              <a:rPr lang="en-US" sz="1600" dirty="0">
                <a:latin typeface="Arial" panose="020B0604020202020204" pitchFamily="34" charset="0"/>
                <a:cs typeface="Arial" panose="020B0604020202020204" pitchFamily="34" charset="0"/>
              </a:rPr>
              <a:t>values are often called “</a:t>
            </a:r>
            <a:r>
              <a:rPr lang="en-US" sz="1600" b="1" dirty="0">
                <a:latin typeface="Arial" panose="020B0604020202020204" pitchFamily="34" charset="0"/>
                <a:cs typeface="Arial" panose="020B0604020202020204" pitchFamily="34" charset="0"/>
              </a:rPr>
              <a:t>digital fingerprints</a:t>
            </a:r>
            <a:r>
              <a:rPr lang="en-US" sz="1600" dirty="0">
                <a:latin typeface="Arial" panose="020B0604020202020204" pitchFamily="34" charset="0"/>
                <a:cs typeface="Arial" panose="020B0604020202020204" pitchFamily="34" charset="0"/>
              </a:rPr>
              <a:t>”. </a:t>
            </a:r>
          </a:p>
          <a:p>
            <a:pPr>
              <a:lnSpc>
                <a:spcPts val="2000"/>
              </a:lnSpc>
            </a:pPr>
            <a:endParaRPr lang="en-US" sz="1400" dirty="0"/>
          </a:p>
        </p:txBody>
      </p:sp>
      <p:pic>
        <p:nvPicPr>
          <p:cNvPr id="4" name="Picture 3">
            <a:extLst>
              <a:ext uri="{FF2B5EF4-FFF2-40B4-BE49-F238E27FC236}">
                <a16:creationId xmlns:a16="http://schemas.microsoft.com/office/drawing/2014/main" id="{6A0EDC2A-4C6D-4C05-B521-72CF0C7C2334}"/>
              </a:ext>
            </a:extLst>
          </p:cNvPr>
          <p:cNvPicPr>
            <a:picLocks noChangeAspect="1"/>
          </p:cNvPicPr>
          <p:nvPr/>
        </p:nvPicPr>
        <p:blipFill>
          <a:blip r:embed="rId3"/>
          <a:stretch>
            <a:fillRect/>
          </a:stretch>
        </p:blipFill>
        <p:spPr>
          <a:xfrm>
            <a:off x="5844220" y="1309607"/>
            <a:ext cx="3299779" cy="240514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extLst>
      <p:ext uri="{BB962C8B-B14F-4D97-AF65-F5344CB8AC3E}">
        <p14:creationId xmlns:p14="http://schemas.microsoft.com/office/powerpoint/2010/main" val="2844438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Cryptographic Hash Operation</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Mathematically, the equation </a:t>
            </a:r>
            <a:r>
              <a:rPr lang="en-US" sz="1600" b="1" i="1" dirty="0">
                <a:latin typeface="Arial" panose="020B0604020202020204" pitchFamily="34" charset="0"/>
                <a:cs typeface="Arial" panose="020B0604020202020204" pitchFamily="34" charset="0"/>
              </a:rPr>
              <a:t>h= H(x)</a:t>
            </a:r>
            <a:r>
              <a:rPr lang="en-US" sz="1600" dirty="0">
                <a:latin typeface="Arial" panose="020B0604020202020204" pitchFamily="34" charset="0"/>
                <a:cs typeface="Arial" panose="020B0604020202020204" pitchFamily="34" charset="0"/>
              </a:rPr>
              <a:t> is used to explain how a hash algorithm operates. As shown in the figure, a hash function H takes an input x and returns a fixed-size string hash value h.</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example in the figure summarizes the mathematical process. A cryptographic hash function should have the following properties:</a:t>
            </a:r>
          </a:p>
          <a:p>
            <a:pPr>
              <a:lnSpc>
                <a:spcPts val="2000"/>
              </a:lnSpc>
            </a:pPr>
            <a:endParaRPr lang="en-US" sz="1400" dirty="0"/>
          </a:p>
        </p:txBody>
      </p:sp>
      <p:sp>
        <p:nvSpPr>
          <p:cNvPr id="8" name="TextBox 7">
            <a:extLst>
              <a:ext uri="{FF2B5EF4-FFF2-40B4-BE49-F238E27FC236}">
                <a16:creationId xmlns:a16="http://schemas.microsoft.com/office/drawing/2014/main" id="{D71A3852-449E-4FA2-B26D-86C2D027D75F}"/>
              </a:ext>
            </a:extLst>
          </p:cNvPr>
          <p:cNvSpPr txBox="1"/>
          <p:nvPr/>
        </p:nvSpPr>
        <p:spPr>
          <a:xfrm>
            <a:off x="77492" y="2578209"/>
            <a:ext cx="4804473" cy="18158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input can be any length.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output is always a fixed length.</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relatively easy to compute for any given x.</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one way and not reversible.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H(x) is collision free, meaning that two different input values will result in different hash values.</a:t>
            </a:r>
          </a:p>
        </p:txBody>
      </p:sp>
      <p:pic>
        <p:nvPicPr>
          <p:cNvPr id="4" name="Picture 3">
            <a:extLst>
              <a:ext uri="{FF2B5EF4-FFF2-40B4-BE49-F238E27FC236}">
                <a16:creationId xmlns:a16="http://schemas.microsoft.com/office/drawing/2014/main" id="{50CFC935-D907-479D-B378-19C6E83BD368}"/>
              </a:ext>
            </a:extLst>
          </p:cNvPr>
          <p:cNvPicPr>
            <a:picLocks noChangeAspect="1"/>
          </p:cNvPicPr>
          <p:nvPr/>
        </p:nvPicPr>
        <p:blipFill>
          <a:blip r:embed="rId3"/>
          <a:stretch>
            <a:fillRect/>
          </a:stretch>
        </p:blipFill>
        <p:spPr>
          <a:xfrm>
            <a:off x="5029200" y="2328606"/>
            <a:ext cx="3882324" cy="197218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extLst>
      <p:ext uri="{BB962C8B-B14F-4D97-AF65-F5344CB8AC3E}">
        <p14:creationId xmlns:p14="http://schemas.microsoft.com/office/powerpoint/2010/main" val="591329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MD5 and SHA</a:t>
            </a:r>
          </a:p>
        </p:txBody>
      </p:sp>
      <p:sp>
        <p:nvSpPr>
          <p:cNvPr id="5" name="Object4"/>
          <p:cNvSpPr/>
          <p:nvPr/>
        </p:nvSpPr>
        <p:spPr>
          <a:xfrm>
            <a:off x="0" y="914400"/>
            <a:ext cx="8229600" cy="344610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Hash functions are used to ensure the integrity of a message. They help ensure data has not accidentally changed and that what was sent is indeed what was received.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four well-known hash functions: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MD5 with 128-bit digest</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SHA-1</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with 160-bit digest</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SHA-2</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with 224-256-bit digest</a:t>
            </a:r>
            <a:r>
              <a:rPr lang="en-US" sz="1600" dirty="0">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SHA-3 with 224-512-bit digest</a:t>
            </a:r>
            <a:r>
              <a:rPr lang="en-US" sz="1600" dirty="0">
                <a:latin typeface="Arial" panose="020B0604020202020204" pitchFamily="34" charset="0"/>
                <a:cs typeface="Arial" panose="020B0604020202020204" pitchFamily="34" charset="0"/>
              </a:rPr>
              <a:t> </a:t>
            </a:r>
            <a:endParaRPr lang="en-US" sz="1600" b="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CEC12A5-E5DC-4B3F-9191-A7F8E0E30E84}"/>
              </a:ext>
            </a:extLst>
          </p:cNvPr>
          <p:cNvSpPr txBox="1"/>
          <p:nvPr/>
        </p:nvSpPr>
        <p:spPr>
          <a:xfrm>
            <a:off x="0" y="3150734"/>
            <a:ext cx="8996767" cy="107721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While hashing can be </a:t>
            </a:r>
            <a:r>
              <a:rPr lang="en-US" sz="1600" u="sng" dirty="0">
                <a:latin typeface="Arial" panose="020B0604020202020204" pitchFamily="34" charset="0"/>
                <a:cs typeface="Arial" panose="020B0604020202020204" pitchFamily="34" charset="0"/>
              </a:rPr>
              <a:t>used to detect accidental changes</a:t>
            </a:r>
            <a:r>
              <a:rPr lang="en-US" sz="1600" dirty="0">
                <a:latin typeface="Arial" panose="020B0604020202020204" pitchFamily="34" charset="0"/>
                <a:cs typeface="Arial" panose="020B0604020202020204" pitchFamily="34" charset="0"/>
              </a:rPr>
              <a:t>, it cannot be used to guard against deliberate changes that are made by a threat actor. Therefore, hashing is vulnerable to man-in-the-middle attacks and does not provide security to transmitted data. To provide integrity </a:t>
            </a:r>
            <a:r>
              <a:rPr lang="en-US" sz="1600" u="sng" dirty="0">
                <a:latin typeface="Arial" panose="020B0604020202020204" pitchFamily="34" charset="0"/>
                <a:cs typeface="Arial" panose="020B0604020202020204" pitchFamily="34" charset="0"/>
              </a:rPr>
              <a:t>against man-in-the-middle attacks, origin authentication</a:t>
            </a:r>
            <a:r>
              <a:rPr lang="en-US" sz="1600" dirty="0">
                <a:latin typeface="Arial" panose="020B0604020202020204" pitchFamily="34" charset="0"/>
                <a:cs typeface="Arial" panose="020B0604020202020204" pitchFamily="34" charset="0"/>
              </a:rPr>
              <a:t> is also required.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extLst>
      <p:ext uri="{BB962C8B-B14F-4D97-AF65-F5344CB8AC3E}">
        <p14:creationId xmlns:p14="http://schemas.microsoft.com/office/powerpoint/2010/main" val="1882802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a:t>
            </a:r>
          </a:p>
        </p:txBody>
      </p:sp>
      <p:sp>
        <p:nvSpPr>
          <p:cNvPr id="5" name="Object4"/>
          <p:cNvSpPr/>
          <p:nvPr/>
        </p:nvSpPr>
        <p:spPr>
          <a:xfrm>
            <a:off x="1" y="731520"/>
            <a:ext cx="4390844"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To add origin authentication and integrity assurance, use a keyed-hash message authentication code (HMAC). HMAC uses an additional secret key as input to the hash function.</a:t>
            </a:r>
          </a:p>
          <a:p>
            <a:pPr>
              <a:lnSpc>
                <a:spcPts val="2000"/>
              </a:lnSpc>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As shown in the figure, an HMAC is calculated using any cryptographic algorithm that combines a cryptographic hash function with a secret key. Hash functions are the basis of the protection mechanism of HMACs.</a:t>
            </a:r>
          </a:p>
          <a:p>
            <a:r>
              <a:rPr lang="en-US" sz="1400" dirty="0">
                <a:latin typeface="Arial" panose="020B0604020202020204" pitchFamily="34" charset="0"/>
                <a:cs typeface="Arial" panose="020B0604020202020204" pitchFamily="34" charset="0"/>
              </a:rPr>
              <a:t>Only the sender and the receiver know the secret key, and the output of the hash function now depends on the input data and the secret key. Only parties who have access to that secret key can compute the digest of an HMAC function. This defeats man-in-the-middle attacks and provides authentication of the data origin.</a:t>
            </a:r>
          </a:p>
          <a:p>
            <a:pPr>
              <a:lnSpc>
                <a:spcPts val="2000"/>
              </a:lnSpc>
            </a:pPr>
            <a:endParaRPr lang="en-US" sz="1400" dirty="0"/>
          </a:p>
        </p:txBody>
      </p:sp>
      <p:pic>
        <p:nvPicPr>
          <p:cNvPr id="4" name="Picture 3">
            <a:extLst>
              <a:ext uri="{FF2B5EF4-FFF2-40B4-BE49-F238E27FC236}">
                <a16:creationId xmlns:a16="http://schemas.microsoft.com/office/drawing/2014/main" id="{AB82C4A4-2B03-4D9F-98AC-CA6397042A06}"/>
              </a:ext>
            </a:extLst>
          </p:cNvPr>
          <p:cNvPicPr>
            <a:picLocks noChangeAspect="1"/>
          </p:cNvPicPr>
          <p:nvPr/>
        </p:nvPicPr>
        <p:blipFill>
          <a:blip r:embed="rId3"/>
          <a:stretch>
            <a:fillRect/>
          </a:stretch>
        </p:blipFill>
        <p:spPr>
          <a:xfrm>
            <a:off x="4871054" y="939793"/>
            <a:ext cx="3541809" cy="276123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extLst>
      <p:ext uri="{BB962C8B-B14F-4D97-AF65-F5344CB8AC3E}">
        <p14:creationId xmlns:p14="http://schemas.microsoft.com/office/powerpoint/2010/main" val="3965508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5" name="Object4"/>
          <p:cNvSpPr/>
          <p:nvPr/>
        </p:nvSpPr>
        <p:spPr>
          <a:xfrm>
            <a:off x="1" y="914400"/>
            <a:ext cx="377837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As shown in the figure, the sending device inputs data (such as Terry Smith’s pay of $100 and the secret key) into the hashing algorithm and calculates the fixed-length HMAC digest. This authenticated digest is then attached to the message and sent to the receiver.</a:t>
            </a:r>
          </a:p>
        </p:txBody>
      </p:sp>
      <p:pic>
        <p:nvPicPr>
          <p:cNvPr id="6" name="Picture 5">
            <a:extLst>
              <a:ext uri="{FF2B5EF4-FFF2-40B4-BE49-F238E27FC236}">
                <a16:creationId xmlns:a16="http://schemas.microsoft.com/office/drawing/2014/main" id="{E9A6627A-68C8-4BC7-8653-D9EC6D848D83}"/>
              </a:ext>
            </a:extLst>
          </p:cNvPr>
          <p:cNvPicPr>
            <a:picLocks noChangeAspect="1"/>
          </p:cNvPicPr>
          <p:nvPr/>
        </p:nvPicPr>
        <p:blipFill>
          <a:blip r:embed="rId3"/>
          <a:stretch>
            <a:fillRect/>
          </a:stretch>
        </p:blipFill>
        <p:spPr>
          <a:xfrm>
            <a:off x="4488864" y="731520"/>
            <a:ext cx="3562214" cy="323207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extLst>
      <p:ext uri="{BB962C8B-B14F-4D97-AF65-F5344CB8AC3E}">
        <p14:creationId xmlns:p14="http://schemas.microsoft.com/office/powerpoint/2010/main" val="4113095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9" name="TextBox 8">
            <a:extLst>
              <a:ext uri="{FF2B5EF4-FFF2-40B4-BE49-F238E27FC236}">
                <a16:creationId xmlns:a16="http://schemas.microsoft.com/office/drawing/2014/main" id="{CF507F20-B2A6-46CA-8617-9A75F0C67423}"/>
              </a:ext>
            </a:extLst>
          </p:cNvPr>
          <p:cNvSpPr txBox="1"/>
          <p:nvPr/>
        </p:nvSpPr>
        <p:spPr>
          <a:xfrm>
            <a:off x="69742" y="932945"/>
            <a:ext cx="3812583" cy="329320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figure, the receiving device removes the digest from the message and uses the plaintext message with its secret key as input into the same hashing function. If the digest that is calculated by the receiving device is equal to the digest that was sent, the message has not been altered. Additionally, the origin of the message is authenticated because only the sender possesses a copy of the shared secret key. The HMAC function has ensured the authenticity of the message.</a:t>
            </a:r>
          </a:p>
        </p:txBody>
      </p:sp>
      <p:pic>
        <p:nvPicPr>
          <p:cNvPr id="8" name="Picture 7">
            <a:extLst>
              <a:ext uri="{FF2B5EF4-FFF2-40B4-BE49-F238E27FC236}">
                <a16:creationId xmlns:a16="http://schemas.microsoft.com/office/drawing/2014/main" id="{DF4A676A-BDF0-4D94-8865-6195F0AF9393}"/>
              </a:ext>
            </a:extLst>
          </p:cNvPr>
          <p:cNvPicPr>
            <a:picLocks noChangeAspect="1"/>
          </p:cNvPicPr>
          <p:nvPr/>
        </p:nvPicPr>
        <p:blipFill>
          <a:blip r:embed="rId3"/>
          <a:stretch>
            <a:fillRect/>
          </a:stretch>
        </p:blipFill>
        <p:spPr>
          <a:xfrm>
            <a:off x="4201271" y="867905"/>
            <a:ext cx="4059326" cy="351279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extLst>
      <p:ext uri="{BB962C8B-B14F-4D97-AF65-F5344CB8AC3E}">
        <p14:creationId xmlns:p14="http://schemas.microsoft.com/office/powerpoint/2010/main" val="981979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Integrity and Authenticity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Origin Authentication (Cont.)</a:t>
            </a:r>
          </a:p>
        </p:txBody>
      </p:sp>
      <p:sp>
        <p:nvSpPr>
          <p:cNvPr id="10" name="TextBox 9">
            <a:extLst>
              <a:ext uri="{FF2B5EF4-FFF2-40B4-BE49-F238E27FC236}">
                <a16:creationId xmlns:a16="http://schemas.microsoft.com/office/drawing/2014/main" id="{C4C79D9D-6158-446C-930F-0D70D6480DAE}"/>
              </a:ext>
            </a:extLst>
          </p:cNvPr>
          <p:cNvSpPr txBox="1"/>
          <p:nvPr/>
        </p:nvSpPr>
        <p:spPr>
          <a:xfrm>
            <a:off x="154983" y="877609"/>
            <a:ext cx="4520534" cy="378565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The figure shows how HMACs are used by Cisco routers that are configured to use Open Shortest Path First (OSPF) routing authentication.</a:t>
            </a:r>
          </a:p>
          <a:p>
            <a:r>
              <a:rPr lang="en-US" sz="1600" dirty="0">
                <a:effectLst/>
                <a:latin typeface="Arial" panose="020B0604020202020204" pitchFamily="34" charset="0"/>
                <a:cs typeface="Arial" panose="020B0604020202020204" pitchFamily="34" charset="0"/>
              </a:rPr>
              <a:t>R1 is sending a link state update (LSU) regarding a route to network 10.2.0.0/16:</a:t>
            </a:r>
          </a:p>
          <a:p>
            <a:endParaRPr lang="en-US" sz="1600" dirty="0">
              <a:effectLst/>
              <a:latin typeface="Arial" panose="020B0604020202020204" pitchFamily="34" charset="0"/>
              <a:cs typeface="Arial" panose="020B0604020202020204" pitchFamily="34" charset="0"/>
            </a:endParaRPr>
          </a:p>
          <a:p>
            <a:pPr marL="342900" indent="-342900">
              <a:buFont typeface="+mj-lt"/>
              <a:buAutoNum type="arabicPeriod"/>
            </a:pPr>
            <a:r>
              <a:rPr lang="en-US" sz="1600" dirty="0">
                <a:effectLst/>
                <a:latin typeface="Arial" panose="020B0604020202020204" pitchFamily="34" charset="0"/>
                <a:cs typeface="Arial" panose="020B0604020202020204" pitchFamily="34" charset="0"/>
              </a:rPr>
              <a:t>R1 calculates the hash value using the LSU message and the secret key.</a:t>
            </a:r>
          </a:p>
          <a:p>
            <a:pPr marL="342900" indent="-342900">
              <a:buFont typeface="+mj-lt"/>
              <a:buAutoNum type="arabicPeriod"/>
            </a:pPr>
            <a:r>
              <a:rPr lang="en-US" sz="1600" dirty="0">
                <a:effectLst/>
                <a:latin typeface="Arial" panose="020B0604020202020204" pitchFamily="34" charset="0"/>
                <a:cs typeface="Arial" panose="020B0604020202020204" pitchFamily="34" charset="0"/>
              </a:rPr>
              <a:t>The resulting hash value is sent with the LSU to R2.</a:t>
            </a:r>
          </a:p>
          <a:p>
            <a:pPr marL="342900" indent="-342900">
              <a:buFont typeface="+mj-lt"/>
              <a:buAutoNum type="arabicPeriod"/>
            </a:pPr>
            <a:r>
              <a:rPr lang="en-US" sz="1600" dirty="0">
                <a:effectLst/>
                <a:latin typeface="Arial" panose="020B0604020202020204" pitchFamily="34" charset="0"/>
                <a:cs typeface="Arial" panose="020B0604020202020204" pitchFamily="34" charset="0"/>
              </a:rPr>
              <a:t>R2 calculates the hash value using the LSU and its secret key. R2 accepts the update if the hash values match. If they do not match, R2 discards the update.</a:t>
            </a:r>
          </a:p>
        </p:txBody>
      </p:sp>
      <p:pic>
        <p:nvPicPr>
          <p:cNvPr id="5" name="Picture 4">
            <a:extLst>
              <a:ext uri="{FF2B5EF4-FFF2-40B4-BE49-F238E27FC236}">
                <a16:creationId xmlns:a16="http://schemas.microsoft.com/office/drawing/2014/main" id="{B49A574D-71E3-4A96-A368-1B046CDA39A8}"/>
              </a:ext>
            </a:extLst>
          </p:cNvPr>
          <p:cNvPicPr>
            <a:picLocks noChangeAspect="1"/>
          </p:cNvPicPr>
          <p:nvPr/>
        </p:nvPicPr>
        <p:blipFill>
          <a:blip r:embed="rId3"/>
          <a:stretch>
            <a:fillRect/>
          </a:stretch>
        </p:blipFill>
        <p:spPr>
          <a:xfrm>
            <a:off x="4899804" y="1170670"/>
            <a:ext cx="4110973" cy="28021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extLst>
      <p:ext uri="{BB962C8B-B14F-4D97-AF65-F5344CB8AC3E}">
        <p14:creationId xmlns:p14="http://schemas.microsoft.com/office/powerpoint/2010/main" val="3111847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16.2 Key Management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extLst>
      <p:ext uri="{BB962C8B-B14F-4D97-AF65-F5344CB8AC3E}">
        <p14:creationId xmlns:p14="http://schemas.microsoft.com/office/powerpoint/2010/main" val="3490714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Characteristics of Key Management</a:t>
            </a:r>
          </a:p>
        </p:txBody>
      </p:sp>
      <p:sp>
        <p:nvSpPr>
          <p:cNvPr id="7" name="TextBox 6">
            <a:extLst>
              <a:ext uri="{FF2B5EF4-FFF2-40B4-BE49-F238E27FC236}">
                <a16:creationId xmlns:a16="http://schemas.microsoft.com/office/drawing/2014/main" id="{633C9788-8103-4ECE-9F31-69F4659FA105}"/>
              </a:ext>
            </a:extLst>
          </p:cNvPr>
          <p:cNvSpPr txBox="1"/>
          <p:nvPr/>
        </p:nvSpPr>
        <p:spPr>
          <a:xfrm>
            <a:off x="0" y="731520"/>
            <a:ext cx="9052560" cy="553998"/>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Key management is often considered the most difficult part of designing a cryptosystem. As shown in the table, there are several essential characteristics of key management to consider</a:t>
            </a:r>
            <a:r>
              <a:rPr lang="en-US" sz="1600" dirty="0">
                <a:latin typeface="Arial" panose="020B0604020202020204" pitchFamily="34" charset="0"/>
                <a:cs typeface="Arial" panose="020B0604020202020204" pitchFamily="34" charset="0"/>
              </a:rPr>
              <a:t>.</a:t>
            </a:r>
          </a:p>
        </p:txBody>
      </p:sp>
      <p:graphicFrame>
        <p:nvGraphicFramePr>
          <p:cNvPr id="17" name="Table 16"/>
          <p:cNvGraphicFramePr>
            <a:graphicFrameLocks noGrp="1"/>
          </p:cNvGraphicFramePr>
          <p:nvPr>
            <p:extLst>
              <p:ext uri="{D42A27DB-BD31-4B8C-83A1-F6EECF244321}">
                <p14:modId xmlns:p14="http://schemas.microsoft.com/office/powerpoint/2010/main" val="3534247127"/>
              </p:ext>
            </p:extLst>
          </p:nvPr>
        </p:nvGraphicFramePr>
        <p:xfrm>
          <a:off x="91440" y="1285518"/>
          <a:ext cx="8961120" cy="3642360"/>
        </p:xfrm>
        <a:graphic>
          <a:graphicData uri="http://schemas.openxmlformats.org/drawingml/2006/table">
            <a:tbl>
              <a:tblPr/>
              <a:tblGrid>
                <a:gridCol w="1272411">
                  <a:extLst>
                    <a:ext uri="{9D8B030D-6E8A-4147-A177-3AD203B41FA5}">
                      <a16:colId xmlns:a16="http://schemas.microsoft.com/office/drawing/2014/main" val="20000"/>
                    </a:ext>
                  </a:extLst>
                </a:gridCol>
                <a:gridCol w="7688709">
                  <a:extLst>
                    <a:ext uri="{9D8B030D-6E8A-4147-A177-3AD203B41FA5}">
                      <a16:colId xmlns:a16="http://schemas.microsoft.com/office/drawing/2014/main" val="20001"/>
                    </a:ext>
                  </a:extLst>
                </a:gridCol>
              </a:tblGrid>
              <a:tr h="0">
                <a:tc>
                  <a:txBody>
                    <a:bodyPr/>
                    <a:lstStyle/>
                    <a:p>
                      <a:r>
                        <a:rPr lang="en-US" sz="1200" dirty="0">
                          <a:solidFill>
                            <a:srgbClr val="FFFFFF"/>
                          </a:solidFill>
                        </a:rPr>
                        <a:t>Characteristic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Key Generation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It was up to Caesar to choose the key of his cipher. The Vigenère cipher key is also chosen by the sender and receiver. In a modern cryptographic system, key generation is usually automated and not left to the end user. The use of good random number generators is needed to ensure that all keys are equally generated so that the attacker cannot predict which keys are more likely to be used.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0">
                <a:tc>
                  <a:txBody>
                    <a:bodyPr/>
                    <a:lstStyle/>
                    <a:p>
                      <a:r>
                        <a:rPr lang="en-US" sz="1200" dirty="0">
                          <a:solidFill>
                            <a:srgbClr val="58585B"/>
                          </a:solidFill>
                        </a:rPr>
                        <a:t>Key Verification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Some keys are better than others. Almost all cryptographic algorithms have some weak keys that should not be used. With the help of key verification procedures, weak keys can be identified and regenerated to provide a more secure encryption. With the Caesar cipher, using a key of 0 or 25 does not encrypt the message, so it should not be used.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Key Exchange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Key management procedures should provide a secure key exchange mechanism that allows secure agreement on the keying material with the other party, probably over an untrusted medium.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0">
                <a:tc>
                  <a:txBody>
                    <a:bodyPr/>
                    <a:lstStyle/>
                    <a:p>
                      <a:r>
                        <a:rPr lang="en-US" sz="1200" dirty="0">
                          <a:solidFill>
                            <a:srgbClr val="58585B"/>
                          </a:solidFill>
                        </a:rPr>
                        <a:t>Key Storage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On a modern multi-user operating system that uses cryptography, a key can be stored in memory. This presents a possible problem when that memory is swapped to the disk, because a Trojan horse program installed on the PC of a user could then have access to the private keys of that user.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dirty="0">
                          <a:solidFill>
                            <a:srgbClr val="58585B"/>
                          </a:solidFill>
                        </a:rPr>
                        <a:t>Key Lifetime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Using short key lifetimes improves the security of legacy ciphers that are used on high-speed connections. In IPsec a 24-hour lifetime is typical. However, changing the lifetime to 30 minutes improves the security of the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0">
                <a:tc>
                  <a:txBody>
                    <a:bodyPr/>
                    <a:lstStyle/>
                    <a:p>
                      <a:r>
                        <a:rPr lang="en-US" sz="1200" dirty="0">
                          <a:solidFill>
                            <a:srgbClr val="58585B"/>
                          </a:solidFill>
                        </a:rPr>
                        <a:t>Key Revocation and Destruction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Revocation notifies all interested parties that a certain key has been compromised and should no longer be used. Destruction erases old keys in a manner that prevents malicious attackers from recovering them.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extLst>
      <p:ext uri="{BB962C8B-B14F-4D97-AF65-F5344CB8AC3E}">
        <p14:creationId xmlns:p14="http://schemas.microsoft.com/office/powerpoint/2010/main" val="32005270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Key Length and Keyspace</a:t>
            </a:r>
          </a:p>
        </p:txBody>
      </p:sp>
      <p:sp>
        <p:nvSpPr>
          <p:cNvPr id="7" name="TextBox 6">
            <a:extLst>
              <a:ext uri="{FF2B5EF4-FFF2-40B4-BE49-F238E27FC236}">
                <a16:creationId xmlns:a16="http://schemas.microsoft.com/office/drawing/2014/main" id="{C3EC11F7-57E3-4636-947B-26FFC2E3EED6}"/>
              </a:ext>
            </a:extLst>
          </p:cNvPr>
          <p:cNvSpPr txBox="1"/>
          <p:nvPr/>
        </p:nvSpPr>
        <p:spPr>
          <a:xfrm>
            <a:off x="-1" y="835068"/>
            <a:ext cx="8989017" cy="181588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Two terms that are used to describe keys are:</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Key length</a:t>
            </a:r>
            <a:r>
              <a:rPr lang="en-US" sz="1600" dirty="0">
                <a:effectLst/>
                <a:latin typeface="Arial" panose="020B0604020202020204" pitchFamily="34" charset="0"/>
                <a:cs typeface="Arial" panose="020B0604020202020204" pitchFamily="34" charset="0"/>
              </a:rPr>
              <a:t> - Also called the key size, this is the measure in bits. In this course, we will use the term key length.</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Keyspace</a:t>
            </a:r>
            <a:r>
              <a:rPr lang="en-US" sz="1600" dirty="0">
                <a:effectLst/>
                <a:latin typeface="Arial" panose="020B0604020202020204" pitchFamily="34" charset="0"/>
                <a:cs typeface="Arial" panose="020B0604020202020204" pitchFamily="34" charset="0"/>
              </a:rPr>
              <a:t> - This is the number of possibilities that can be generated by a specific key length.</a:t>
            </a:r>
          </a:p>
          <a:p>
            <a:r>
              <a:rPr lang="en-US" sz="1600" dirty="0">
                <a:effectLst/>
                <a:latin typeface="Arial" panose="020B0604020202020204" pitchFamily="34" charset="0"/>
                <a:cs typeface="Arial" panose="020B0604020202020204" pitchFamily="34" charset="0"/>
              </a:rPr>
              <a:t>As key length increases, the keyspace increases exponentially. The table displays the characteristics of the AES encryption algorithm. </a:t>
            </a:r>
          </a:p>
        </p:txBody>
      </p:sp>
      <p:graphicFrame>
        <p:nvGraphicFramePr>
          <p:cNvPr id="18" name="Table 17"/>
          <p:cNvGraphicFramePr>
            <a:graphicFrameLocks noGrp="1"/>
          </p:cNvGraphicFramePr>
          <p:nvPr>
            <p:extLst>
              <p:ext uri="{D42A27DB-BD31-4B8C-83A1-F6EECF244321}">
                <p14:modId xmlns:p14="http://schemas.microsoft.com/office/powerpoint/2010/main" val="3251540573"/>
              </p:ext>
            </p:extLst>
          </p:nvPr>
        </p:nvGraphicFramePr>
        <p:xfrm>
          <a:off x="1589789" y="2650950"/>
          <a:ext cx="5036141" cy="1996440"/>
        </p:xfrm>
        <a:graphic>
          <a:graphicData uri="http://schemas.openxmlformats.org/drawingml/2006/table">
            <a:tbl>
              <a:tblPr/>
              <a:tblGrid>
                <a:gridCol w="2441456">
                  <a:extLst>
                    <a:ext uri="{9D8B030D-6E8A-4147-A177-3AD203B41FA5}">
                      <a16:colId xmlns:a16="http://schemas.microsoft.com/office/drawing/2014/main" val="20000"/>
                    </a:ext>
                  </a:extLst>
                </a:gridCol>
                <a:gridCol w="2594685">
                  <a:extLst>
                    <a:ext uri="{9D8B030D-6E8A-4147-A177-3AD203B41FA5}">
                      <a16:colId xmlns:a16="http://schemas.microsoft.com/office/drawing/2014/main" val="20001"/>
                    </a:ext>
                  </a:extLst>
                </a:gridCol>
              </a:tblGrid>
              <a:tr h="0">
                <a:tc>
                  <a:txBody>
                    <a:bodyPr/>
                    <a:lstStyle/>
                    <a:p>
                      <a:r>
                        <a:rPr lang="en-US" sz="1200" dirty="0">
                          <a:solidFill>
                            <a:srgbClr val="FFFFFF"/>
                          </a:solidFill>
                        </a:rPr>
                        <a:t>AES Characteristics 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chemeClr val="bg1"/>
                          </a:solidFill>
                        </a:rPr>
                        <a:t>Advanced Encryption Standard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Timeline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Official standard since 2001</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Type of Algorithm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Symmetric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Key Size (in bits)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128, 192, and 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Speed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High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Time to Crack(assuming a computer could try 255 keys per second)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149 trillion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Resource Consumption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Low</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6456425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Keyspace</a:t>
            </a:r>
          </a:p>
        </p:txBody>
      </p:sp>
      <p:sp>
        <p:nvSpPr>
          <p:cNvPr id="5" name="Object4"/>
          <p:cNvSpPr/>
          <p:nvPr/>
        </p:nvSpPr>
        <p:spPr>
          <a:xfrm>
            <a:off x="0" y="650929"/>
            <a:ext cx="9074258"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keyspace of an algorithm is the set of all possible key values. A key that has </a:t>
            </a:r>
            <a:r>
              <a:rPr lang="en-US" sz="1600" i="1"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bits produces a keyspace that has 2</a:t>
            </a:r>
            <a:r>
              <a:rPr lang="en-US" sz="1600" i="1" baseline="30000"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possible key values. By adding one bit to the key, the keyspace is effectively doubled.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Almost every algorithm has some weak keys in its keyspace that enable an attacker to break the encryption via a shortcut. Weak keys show the regularities in encryption. For instance, DES has four keys for which encryption is the same as decryption. This means that if one of these weak keys is used to encrypt plaintext, an attacker can use the weak key to decrypt the ciphertext and reveal the plaintext.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DES weak keys are those that produce 16 identical subkeys. This occurs when the key bits are: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Alternating ones and zeros (0101010101010101)</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Alternating F and E (FEFEFEFEFEFEFEFE)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E0E0E0E0F1F1F1F1</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1F1F1F1F0E0E0E0E</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extLst>
      <p:ext uri="{BB962C8B-B14F-4D97-AF65-F5344CB8AC3E}">
        <p14:creationId xmlns:p14="http://schemas.microsoft.com/office/powerpoint/2010/main" val="89342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Cryptographic Keys</a:t>
            </a:r>
          </a:p>
        </p:txBody>
      </p:sp>
      <p:sp>
        <p:nvSpPr>
          <p:cNvPr id="7" name="TextBox 6">
            <a:extLst>
              <a:ext uri="{FF2B5EF4-FFF2-40B4-BE49-F238E27FC236}">
                <a16:creationId xmlns:a16="http://schemas.microsoft.com/office/drawing/2014/main" id="{4B61FCA0-FDD8-4D90-9B2B-276D21F405B8}"/>
              </a:ext>
            </a:extLst>
          </p:cNvPr>
          <p:cNvSpPr txBox="1"/>
          <p:nvPr/>
        </p:nvSpPr>
        <p:spPr>
          <a:xfrm>
            <a:off x="18598" y="856809"/>
            <a:ext cx="9144000" cy="1569660"/>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Current key lengths can easily make any attack attempt insignificant because it takes millions or billions of years to complete the search when a sufficiently long key is used.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With modern algorithms that are trusted, the strength of protection depends solely on the size of the key. Choose the key length so that it protects data confidentiality or integrity for an adequate period of time. Data that is more sensitive and needs to be kept secret longer must use longer keys.</a:t>
            </a:r>
          </a:p>
        </p:txBody>
      </p:sp>
      <p:graphicFrame>
        <p:nvGraphicFramePr>
          <p:cNvPr id="20" name="Table 19"/>
          <p:cNvGraphicFramePr>
            <a:graphicFrameLocks noGrp="1"/>
          </p:cNvGraphicFramePr>
          <p:nvPr>
            <p:extLst>
              <p:ext uri="{D42A27DB-BD31-4B8C-83A1-F6EECF244321}">
                <p14:modId xmlns:p14="http://schemas.microsoft.com/office/powerpoint/2010/main" val="1810885223"/>
              </p:ext>
            </p:extLst>
          </p:nvPr>
        </p:nvGraphicFramePr>
        <p:xfrm>
          <a:off x="1699592" y="2659129"/>
          <a:ext cx="5426765" cy="1737360"/>
        </p:xfrm>
        <a:graphic>
          <a:graphicData uri="http://schemas.openxmlformats.org/drawingml/2006/table">
            <a:tbl>
              <a:tblPr/>
              <a:tblGrid>
                <a:gridCol w="1361661">
                  <a:extLst>
                    <a:ext uri="{9D8B030D-6E8A-4147-A177-3AD203B41FA5}">
                      <a16:colId xmlns:a16="http://schemas.microsoft.com/office/drawing/2014/main" val="20000"/>
                    </a:ext>
                  </a:extLst>
                </a:gridCol>
                <a:gridCol w="1053548">
                  <a:extLst>
                    <a:ext uri="{9D8B030D-6E8A-4147-A177-3AD203B41FA5}">
                      <a16:colId xmlns:a16="http://schemas.microsoft.com/office/drawing/2014/main" val="20001"/>
                    </a:ext>
                  </a:extLst>
                </a:gridCol>
                <a:gridCol w="1126303">
                  <a:extLst>
                    <a:ext uri="{9D8B030D-6E8A-4147-A177-3AD203B41FA5}">
                      <a16:colId xmlns:a16="http://schemas.microsoft.com/office/drawing/2014/main" val="20002"/>
                    </a:ext>
                  </a:extLst>
                </a:gridCol>
                <a:gridCol w="1253245">
                  <a:extLst>
                    <a:ext uri="{9D8B030D-6E8A-4147-A177-3AD203B41FA5}">
                      <a16:colId xmlns:a16="http://schemas.microsoft.com/office/drawing/2014/main" val="20003"/>
                    </a:ext>
                  </a:extLst>
                </a:gridCol>
                <a:gridCol w="632008">
                  <a:extLst>
                    <a:ext uri="{9D8B030D-6E8A-4147-A177-3AD203B41FA5}">
                      <a16:colId xmlns:a16="http://schemas.microsoft.com/office/drawing/2014/main" val="20004"/>
                    </a:ext>
                  </a:extLst>
                </a:gridCol>
              </a:tblGrid>
              <a:tr h="0">
                <a:tc>
                  <a:txBody>
                    <a:bodyPr/>
                    <a:lstStyle/>
                    <a:p>
                      <a:pPr marL="0" algn="l" defTabSz="914400" rtl="0" eaLnBrk="1" latinLnBrk="0" hangingPunct="1"/>
                      <a:r>
                        <a:rPr lang="en-US" sz="1200" kern="1200" dirty="0">
                          <a:solidFill>
                            <a:srgbClr val="FFFFFF"/>
                          </a:solidFill>
                          <a:latin typeface="+mn-lt"/>
                          <a:ea typeface="+mn-ea"/>
                          <a:cs typeface="+mn-cs"/>
                        </a:rPr>
                        <a:t>Length of Protection</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Symmetric Key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Asymmetric Key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Digital Signature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Hash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3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80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1248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160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160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10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96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1776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192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192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20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2432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30 years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128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3248</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Protection against quantum computers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15424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512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512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extLst>
      <p:ext uri="{BB962C8B-B14F-4D97-AF65-F5344CB8AC3E}">
        <p14:creationId xmlns:p14="http://schemas.microsoft.com/office/powerpoint/2010/main" val="2918818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Key Management</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Choice of Cryptographic Keys</a:t>
            </a:r>
          </a:p>
        </p:txBody>
      </p:sp>
      <p:sp>
        <p:nvSpPr>
          <p:cNvPr id="5" name="Object4"/>
          <p:cNvSpPr/>
          <p:nvPr/>
        </p:nvSpPr>
        <p:spPr>
          <a:xfrm>
            <a:off x="0" y="1119753"/>
            <a:ext cx="883403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Performance is another issue that can influence the choice of a key length. An administrator must find a good balance between the speed and protective strength of an algorithm, because some algorithms, such as the Rivest, Shamir, and Adleman (RSA) algorithm, run slowly due to large key lengths.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estimated funding of the attacker should also affect the choice of key length.</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b="1" dirty="0">
                <a:latin typeface="Arial" panose="020B0604020202020204" pitchFamily="34" charset="0"/>
                <a:cs typeface="Arial" panose="020B0604020202020204" pitchFamily="34" charset="0"/>
              </a:rPr>
              <a:t>The rule “the longer the key, the better” is valid, except for possible performance reasons.</a:t>
            </a:r>
            <a:r>
              <a:rPr lang="en-US" sz="1600" dirty="0">
                <a:latin typeface="Arial" panose="020B0604020202020204" pitchFamily="34" charset="0"/>
                <a:cs typeface="Arial" panose="020B0604020202020204" pitchFamily="34" charset="0"/>
              </a:rPr>
              <a:t> Shorter keys equal faster processing but are less secure. Longer keys equal slower processing but are more secure.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2849235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16.3 Confidentiality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40496960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365566"/>
          </a:xfrm>
          <a:prstGeom prst="rect">
            <a:avLst/>
          </a:prstGeom>
          <a:noFill/>
          <a:ln/>
        </p:spPr>
        <p:txBody>
          <a:bodyPr wrap="square" rtlCol="0"/>
          <a:lstStyle/>
          <a:p>
            <a:pPr marL="0" indent="0">
              <a:buNone/>
            </a:pPr>
            <a:r>
              <a:rPr lang="en-US" dirty="0"/>
              <a:t>Data Confidentiality</a:t>
            </a:r>
          </a:p>
        </p:txBody>
      </p:sp>
      <p:sp>
        <p:nvSpPr>
          <p:cNvPr id="5" name="Object4"/>
          <p:cNvSpPr/>
          <p:nvPr/>
        </p:nvSpPr>
        <p:spPr>
          <a:xfrm>
            <a:off x="0" y="639886"/>
            <a:ext cx="9144000" cy="137934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Symmetric encryption algorithms such as Data Encryption Standard (DES), 3DES, and Advanced Encryption Standard (AES) are based on the premise that each communicating party knows the pre-shared key.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Data confidentiality can also be ensured using asymmetric algorithms, including Rivest, Shamir, and Adleman (RSA) and the public key infrastructure (PKI).</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figure highlights some differences between symmetric and asymmetric encryption</a:t>
            </a:r>
          </a:p>
        </p:txBody>
      </p:sp>
      <p:pic>
        <p:nvPicPr>
          <p:cNvPr id="4" name="Picture 3">
            <a:extLst>
              <a:ext uri="{FF2B5EF4-FFF2-40B4-BE49-F238E27FC236}">
                <a16:creationId xmlns:a16="http://schemas.microsoft.com/office/drawing/2014/main" id="{8A496C5D-BFDD-4DD8-8BCA-C853CADE03D5}"/>
              </a:ext>
            </a:extLst>
          </p:cNvPr>
          <p:cNvPicPr>
            <a:picLocks noChangeAspect="1"/>
          </p:cNvPicPr>
          <p:nvPr/>
        </p:nvPicPr>
        <p:blipFill>
          <a:blip r:embed="rId3"/>
          <a:stretch>
            <a:fillRect/>
          </a:stretch>
        </p:blipFill>
        <p:spPr>
          <a:xfrm>
            <a:off x="1441342" y="2805396"/>
            <a:ext cx="6261315" cy="169821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extLst>
      <p:ext uri="{BB962C8B-B14F-4D97-AF65-F5344CB8AC3E}">
        <p14:creationId xmlns:p14="http://schemas.microsoft.com/office/powerpoint/2010/main" val="11225153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a:t>
            </a:r>
          </a:p>
        </p:txBody>
      </p:sp>
      <p:sp>
        <p:nvSpPr>
          <p:cNvPr id="7" name="TextBox 6">
            <a:extLst>
              <a:ext uri="{FF2B5EF4-FFF2-40B4-BE49-F238E27FC236}">
                <a16:creationId xmlns:a16="http://schemas.microsoft.com/office/drawing/2014/main" id="{81BC529D-DBC2-426F-90AC-A229F155CD48}"/>
              </a:ext>
            </a:extLst>
          </p:cNvPr>
          <p:cNvSpPr txBox="1"/>
          <p:nvPr/>
        </p:nvSpPr>
        <p:spPr>
          <a:xfrm>
            <a:off x="100738" y="807624"/>
            <a:ext cx="8849533" cy="203132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Symmetric algorithms use the same pre-shared key to encrypt and decrypt data. A pre-shared key, also called a secret key, is known by the sender and receiver before any encrypted communications can take place.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In the figure, Alice and Bob have identical keys to a single padlock. These keys were exchanged prior to sending any secret messages. Alice writes a secret message and puts it in a small box that she locks using the padlock with her key. She mails the box to Bob. The message is safely locked inside the box as the box makes its way through the post office system. When Bob receives the box, he uses his key to unlock the padlock and retrieve the message. Bob can use the same box and padlock to send a secret reply back to Alice.</a:t>
            </a:r>
          </a:p>
        </p:txBody>
      </p:sp>
      <p:pic>
        <p:nvPicPr>
          <p:cNvPr id="6" name="Picture 5">
            <a:extLst>
              <a:ext uri="{FF2B5EF4-FFF2-40B4-BE49-F238E27FC236}">
                <a16:creationId xmlns:a16="http://schemas.microsoft.com/office/drawing/2014/main" id="{A48AD006-6486-458F-9331-DD96C518CC11}"/>
              </a:ext>
            </a:extLst>
          </p:cNvPr>
          <p:cNvPicPr>
            <a:picLocks noChangeAspect="1"/>
          </p:cNvPicPr>
          <p:nvPr/>
        </p:nvPicPr>
        <p:blipFill>
          <a:blip r:embed="rId3"/>
          <a:stretch>
            <a:fillRect/>
          </a:stretch>
        </p:blipFill>
        <p:spPr>
          <a:xfrm>
            <a:off x="1921789" y="2656972"/>
            <a:ext cx="4982705" cy="1990117"/>
          </a:xfrm>
          <a:prstGeom prst="rect">
            <a:avLst/>
          </a:prstGeom>
        </p:spPr>
      </p:pic>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extLst>
      <p:ext uri="{BB962C8B-B14F-4D97-AF65-F5344CB8AC3E}">
        <p14:creationId xmlns:p14="http://schemas.microsoft.com/office/powerpoint/2010/main" val="11827045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 (Cont.)</a:t>
            </a:r>
          </a:p>
        </p:txBody>
      </p:sp>
      <p:sp>
        <p:nvSpPr>
          <p:cNvPr id="7" name="TextBox 6">
            <a:extLst>
              <a:ext uri="{FF2B5EF4-FFF2-40B4-BE49-F238E27FC236}">
                <a16:creationId xmlns:a16="http://schemas.microsoft.com/office/drawing/2014/main" id="{81BC529D-DBC2-426F-90AC-A229F155CD48}"/>
              </a:ext>
            </a:extLst>
          </p:cNvPr>
          <p:cNvSpPr txBox="1"/>
          <p:nvPr/>
        </p:nvSpPr>
        <p:spPr>
          <a:xfrm>
            <a:off x="100738" y="807624"/>
            <a:ext cx="9144000"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Symmetric encryption algorithms are sometimes classified as either a block cipher or a stream cipher.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Block ciphers</a:t>
            </a:r>
            <a:r>
              <a:rPr lang="en-US" sz="1400" dirty="0">
                <a:latin typeface="Arial" panose="020B0604020202020204" pitchFamily="34" charset="0"/>
                <a:cs typeface="Arial" panose="020B0604020202020204" pitchFamily="34" charset="0"/>
              </a:rPr>
              <a:t> transform a fixed-length block of plaintext into a common block of ciphertext of 64 or 128 bits. Common block ciphers include DES with a 64-bit block size and AES with a 128-bit block size.</a:t>
            </a:r>
          </a:p>
        </p:txBody>
      </p:sp>
      <p:pic>
        <p:nvPicPr>
          <p:cNvPr id="5" name="Picture 4">
            <a:extLst>
              <a:ext uri="{FF2B5EF4-FFF2-40B4-BE49-F238E27FC236}">
                <a16:creationId xmlns:a16="http://schemas.microsoft.com/office/drawing/2014/main" id="{C6DFD160-5252-4780-BCEF-B4D5522AB0CC}"/>
              </a:ext>
            </a:extLst>
          </p:cNvPr>
          <p:cNvPicPr>
            <a:picLocks noChangeAspect="1"/>
          </p:cNvPicPr>
          <p:nvPr/>
        </p:nvPicPr>
        <p:blipFill>
          <a:blip r:embed="rId3"/>
          <a:stretch>
            <a:fillRect/>
          </a:stretch>
        </p:blipFill>
        <p:spPr>
          <a:xfrm>
            <a:off x="1387098" y="1683175"/>
            <a:ext cx="4850970" cy="1103589"/>
          </a:xfrm>
          <a:prstGeom prst="rect">
            <a:avLst/>
          </a:prstGeom>
        </p:spPr>
      </p:pic>
      <p:sp>
        <p:nvSpPr>
          <p:cNvPr id="11" name="TextBox 10">
            <a:extLst>
              <a:ext uri="{FF2B5EF4-FFF2-40B4-BE49-F238E27FC236}">
                <a16:creationId xmlns:a16="http://schemas.microsoft.com/office/drawing/2014/main" id="{30C20186-DFB8-41EE-A205-FB25A73A9EA2}"/>
              </a:ext>
            </a:extLst>
          </p:cNvPr>
          <p:cNvSpPr txBox="1"/>
          <p:nvPr/>
        </p:nvSpPr>
        <p:spPr>
          <a:xfrm>
            <a:off x="100738" y="2855810"/>
            <a:ext cx="8849533" cy="738664"/>
          </a:xfrm>
          <a:prstGeom prst="rect">
            <a:avLst/>
          </a:prstGeom>
          <a:noFill/>
        </p:spPr>
        <p:txBody>
          <a:bodyPr wrap="square">
            <a:spAutoFit/>
          </a:bodyPr>
          <a:lstStyle/>
          <a:p>
            <a:r>
              <a:rPr lang="en-US" sz="1400" b="1" dirty="0">
                <a:latin typeface="Arial" panose="020B0604020202020204" pitchFamily="34" charset="0"/>
                <a:cs typeface="Arial" panose="020B0604020202020204" pitchFamily="34" charset="0"/>
              </a:rPr>
              <a:t>Stream ciphers</a:t>
            </a:r>
            <a:r>
              <a:rPr lang="en-US" sz="1400" dirty="0">
                <a:latin typeface="Arial" panose="020B0604020202020204" pitchFamily="34" charset="0"/>
                <a:cs typeface="Arial" panose="020B0604020202020204" pitchFamily="34" charset="0"/>
              </a:rPr>
              <a:t> encrypt plaintext one byte or one bit at a time. Stream ciphers are basically a block cipher with a block size of one byte or bit. Stream ciphers are typically faster than block ciphers because data is continuously encrypted. </a:t>
            </a:r>
          </a:p>
        </p:txBody>
      </p:sp>
      <p:pic>
        <p:nvPicPr>
          <p:cNvPr id="12" name="Picture 11">
            <a:extLst>
              <a:ext uri="{FF2B5EF4-FFF2-40B4-BE49-F238E27FC236}">
                <a16:creationId xmlns:a16="http://schemas.microsoft.com/office/drawing/2014/main" id="{E47AAF32-3AED-4840-856A-D63F7513E14C}"/>
              </a:ext>
            </a:extLst>
          </p:cNvPr>
          <p:cNvPicPr>
            <a:picLocks noChangeAspect="1"/>
          </p:cNvPicPr>
          <p:nvPr/>
        </p:nvPicPr>
        <p:blipFill>
          <a:blip r:embed="rId4"/>
          <a:stretch>
            <a:fillRect/>
          </a:stretch>
        </p:blipFill>
        <p:spPr>
          <a:xfrm>
            <a:off x="1573078" y="3663520"/>
            <a:ext cx="4479011" cy="981017"/>
          </a:xfrm>
          <a:prstGeom prst="rect">
            <a:avLst/>
          </a:prstGeom>
        </p:spPr>
      </p:pic>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spTree>
    <p:extLst>
      <p:ext uri="{BB962C8B-B14F-4D97-AF65-F5344CB8AC3E}">
        <p14:creationId xmlns:p14="http://schemas.microsoft.com/office/powerpoint/2010/main" val="4062341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Symmetric Encryption (Cont.)</a:t>
            </a:r>
          </a:p>
        </p:txBody>
      </p:sp>
      <p:sp>
        <p:nvSpPr>
          <p:cNvPr id="7" name="TextBox 6">
            <a:extLst>
              <a:ext uri="{FF2B5EF4-FFF2-40B4-BE49-F238E27FC236}">
                <a16:creationId xmlns:a16="http://schemas.microsoft.com/office/drawing/2014/main" id="{54AFED1D-6330-402E-BB0E-FE4612999B88}"/>
              </a:ext>
            </a:extLst>
          </p:cNvPr>
          <p:cNvSpPr txBox="1"/>
          <p:nvPr/>
        </p:nvSpPr>
        <p:spPr>
          <a:xfrm>
            <a:off x="0" y="726819"/>
            <a:ext cx="8688350"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Well-known symmetric encryption algorithms are described in the table.</a:t>
            </a:r>
          </a:p>
        </p:txBody>
      </p:sp>
      <p:graphicFrame>
        <p:nvGraphicFramePr>
          <p:cNvPr id="25" name="Table 24"/>
          <p:cNvGraphicFramePr>
            <a:graphicFrameLocks noGrp="1"/>
          </p:cNvGraphicFramePr>
          <p:nvPr>
            <p:extLst>
              <p:ext uri="{D42A27DB-BD31-4B8C-83A1-F6EECF244321}">
                <p14:modId xmlns:p14="http://schemas.microsoft.com/office/powerpoint/2010/main" val="45036920"/>
              </p:ext>
            </p:extLst>
          </p:nvPr>
        </p:nvGraphicFramePr>
        <p:xfrm>
          <a:off x="218661" y="1188720"/>
          <a:ext cx="8833899" cy="3383280"/>
        </p:xfrm>
        <a:graphic>
          <a:graphicData uri="http://schemas.openxmlformats.org/drawingml/2006/table">
            <a:tbl>
              <a:tblPr/>
              <a:tblGrid>
                <a:gridCol w="3198715">
                  <a:extLst>
                    <a:ext uri="{9D8B030D-6E8A-4147-A177-3AD203B41FA5}">
                      <a16:colId xmlns:a16="http://schemas.microsoft.com/office/drawing/2014/main" val="20000"/>
                    </a:ext>
                  </a:extLst>
                </a:gridCol>
                <a:gridCol w="5635184">
                  <a:extLst>
                    <a:ext uri="{9D8B030D-6E8A-4147-A177-3AD203B41FA5}">
                      <a16:colId xmlns:a16="http://schemas.microsoft.com/office/drawing/2014/main" val="20001"/>
                    </a:ext>
                  </a:extLst>
                </a:gridCol>
              </a:tblGrid>
              <a:tr h="0">
                <a:tc>
                  <a:txBody>
                    <a:bodyPr/>
                    <a:lstStyle/>
                    <a:p>
                      <a:r>
                        <a:rPr lang="en-US" sz="1200" dirty="0">
                          <a:solidFill>
                            <a:srgbClr val="FFFFFF"/>
                          </a:solidFill>
                        </a:rPr>
                        <a:t>Symmetric Encryption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Data Encryption Standard (DES)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a legacy symmetric encryption algorithm. It uses a short key length that makes it </a:t>
                      </a:r>
                      <a:r>
                        <a:rPr lang="en-US" sz="1200" b="1" dirty="0">
                          <a:solidFill>
                            <a:srgbClr val="58585B"/>
                          </a:solidFill>
                        </a:rPr>
                        <a:t>insecure for most current uses.</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3DES (Triple DES)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The is the replacement for DES and repeats the DES algorithm process three times. It should be avoided if possible as it is scheduled to be retired in 2023. </a:t>
                      </a:r>
                      <a:r>
                        <a:rPr lang="en-US" sz="1200" b="1" dirty="0">
                          <a:solidFill>
                            <a:srgbClr val="58585B"/>
                          </a:solidFill>
                        </a:rPr>
                        <a:t>If implemented, use very short key lifetimes.</a:t>
                      </a:r>
                      <a:endParaRPr lang="en-US" sz="1200" b="1"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Advanced Encryption Standard (AES)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AES is a popular and recommended symmetric encryption algorithm. It offers combinations of 128-, 192-, or 256-bit keys to encrypt 128, 192, or 256 bit-long data blocks.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Software-Optimized Encryption Algorithm (SEAL)</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SEAL is a faster alternative symmetric encryption algorithm to AES. SEAL is a stream cypher that uses a 160-bit encryption key and has a lower impact on the CPU compared to other software-based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Rivest ciphers (RC) series algorithms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algorithm was developed by Ron Rivest. Several variations have been developed, but RC4 was the most prevalent in use. RC4 is a stream cipher that was used to secure web traffic. It has been found to have multiple vulnerabilities which have made it insecure. </a:t>
                      </a:r>
                      <a:r>
                        <a:rPr lang="en-US" sz="1200" b="1" dirty="0">
                          <a:solidFill>
                            <a:srgbClr val="58585B"/>
                          </a:solidFill>
                        </a:rPr>
                        <a:t>RC4 should not be used</a:t>
                      </a:r>
                      <a:r>
                        <a:rPr lang="en-US" sz="1200" dirty="0">
                          <a:solidFill>
                            <a:srgbClr val="58585B"/>
                          </a:solidFill>
                        </a:rPr>
                        <a:t>. </a:t>
                      </a:r>
                      <a:r>
                        <a:rPr lang="en-US" sz="1200" dirty="0">
                          <a:solidFill>
                            <a:srgbClr val="FF0000"/>
                          </a:solidFill>
                        </a:rPr>
                        <a:t>Use RC6 instead.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Tree>
    <p:extLst>
      <p:ext uri="{BB962C8B-B14F-4D97-AF65-F5344CB8AC3E}">
        <p14:creationId xmlns:p14="http://schemas.microsoft.com/office/powerpoint/2010/main" val="132984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a:t>
            </a:r>
          </a:p>
        </p:txBody>
      </p:sp>
      <p:sp>
        <p:nvSpPr>
          <p:cNvPr id="7" name="TextBox 6">
            <a:extLst>
              <a:ext uri="{FF2B5EF4-FFF2-40B4-BE49-F238E27FC236}">
                <a16:creationId xmlns:a16="http://schemas.microsoft.com/office/drawing/2014/main" id="{FE7B08AB-55FB-4C12-AD97-C452D4C9128F}"/>
              </a:ext>
            </a:extLst>
          </p:cNvPr>
          <p:cNvSpPr txBox="1"/>
          <p:nvPr/>
        </p:nvSpPr>
        <p:spPr>
          <a:xfrm>
            <a:off x="0" y="780938"/>
            <a:ext cx="9144000" cy="295465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Asymmetric algorithms, also called public-key algorithms, are designed so that the key that is used for encryption is different from the key that is used for decryption, as shown in the figure. The decryption key cannot, in any reasonable amount of time, be calculated from the encryption key and vice versa.</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Examples of protocols that use asymmetric key algorithms include:</a:t>
            </a:r>
          </a:p>
          <a:p>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Internet Key Exchange (IKE) -</a:t>
            </a:r>
            <a:r>
              <a:rPr lang="en-US" sz="1400" dirty="0">
                <a:latin typeface="Arial" panose="020B0604020202020204" pitchFamily="34" charset="0"/>
                <a:cs typeface="Arial" panose="020B0604020202020204" pitchFamily="34" charset="0"/>
              </a:rPr>
              <a:t> This is a fundamental component of IPsec VPNs.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Secure Socket Layer (SSL) -</a:t>
            </a:r>
            <a:r>
              <a:rPr lang="en-US" sz="1400" dirty="0">
                <a:latin typeface="Arial" panose="020B0604020202020204" pitchFamily="34" charset="0"/>
                <a:cs typeface="Arial" panose="020B0604020202020204" pitchFamily="34" charset="0"/>
              </a:rPr>
              <a:t> This is now implemented as IETF standard Transport Layer Security (TLS).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Secure Shell (SSH) -</a:t>
            </a:r>
            <a:r>
              <a:rPr lang="en-US" sz="1400" dirty="0">
                <a:latin typeface="Arial" panose="020B0604020202020204" pitchFamily="34" charset="0"/>
                <a:cs typeface="Arial" panose="020B0604020202020204" pitchFamily="34" charset="0"/>
              </a:rPr>
              <a:t> This protocol provides a secure remote access connection to network devices.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Pretty Good Privacy (PGP) -</a:t>
            </a:r>
            <a:r>
              <a:rPr lang="en-US" sz="1400" dirty="0">
                <a:latin typeface="Arial" panose="020B0604020202020204" pitchFamily="34" charset="0"/>
                <a:cs typeface="Arial" panose="020B0604020202020204" pitchFamily="34" charset="0"/>
              </a:rPr>
              <a:t> This computer program provides cryptographic privacy and authentication. It is often used to increase the security of email communications.</a:t>
            </a:r>
          </a:p>
          <a:p>
            <a:endParaRPr lang="en-US" dirty="0"/>
          </a:p>
        </p:txBody>
      </p:sp>
      <p:pic>
        <p:nvPicPr>
          <p:cNvPr id="5" name="Picture 4">
            <a:extLst>
              <a:ext uri="{FF2B5EF4-FFF2-40B4-BE49-F238E27FC236}">
                <a16:creationId xmlns:a16="http://schemas.microsoft.com/office/drawing/2014/main" id="{DB06C572-529D-4207-AD2F-30AAD8CBA4B0}"/>
              </a:ext>
            </a:extLst>
          </p:cNvPr>
          <p:cNvPicPr>
            <a:picLocks noChangeAspect="1"/>
          </p:cNvPicPr>
          <p:nvPr/>
        </p:nvPicPr>
        <p:blipFill>
          <a:blip r:embed="rId3"/>
          <a:stretch>
            <a:fillRect/>
          </a:stretch>
        </p:blipFill>
        <p:spPr>
          <a:xfrm>
            <a:off x="1619187" y="3406721"/>
            <a:ext cx="4781612" cy="122242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44</a:t>
            </a:fld>
            <a:endParaRPr lang="en-US" dirty="0"/>
          </a:p>
        </p:txBody>
      </p:sp>
    </p:spTree>
    <p:extLst>
      <p:ext uri="{BB962C8B-B14F-4D97-AF65-F5344CB8AC3E}">
        <p14:creationId xmlns:p14="http://schemas.microsoft.com/office/powerpoint/2010/main" val="18683544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461849"/>
          </a:xfrm>
          <a:prstGeom prst="rect">
            <a:avLst/>
          </a:prstGeom>
          <a:noFill/>
          <a:ln/>
        </p:spPr>
        <p:txBody>
          <a:bodyPr wrap="square" rtlCol="0"/>
          <a:lstStyle/>
          <a:p>
            <a:pPr marL="0" indent="0">
              <a:buNone/>
            </a:pPr>
            <a:r>
              <a:rPr lang="en-US" dirty="0"/>
              <a:t>Asymmetric Encryption (Cont.)</a:t>
            </a:r>
          </a:p>
        </p:txBody>
      </p:sp>
      <p:graphicFrame>
        <p:nvGraphicFramePr>
          <p:cNvPr id="26" name="Table 25"/>
          <p:cNvGraphicFramePr>
            <a:graphicFrameLocks noGrp="1"/>
          </p:cNvGraphicFramePr>
          <p:nvPr>
            <p:extLst>
              <p:ext uri="{D42A27DB-BD31-4B8C-83A1-F6EECF244321}">
                <p14:modId xmlns:p14="http://schemas.microsoft.com/office/powerpoint/2010/main" val="306964893"/>
              </p:ext>
            </p:extLst>
          </p:nvPr>
        </p:nvGraphicFramePr>
        <p:xfrm>
          <a:off x="91440" y="861479"/>
          <a:ext cx="8961120" cy="3642360"/>
        </p:xfrm>
        <a:graphic>
          <a:graphicData uri="http://schemas.openxmlformats.org/drawingml/2006/table">
            <a:tbl>
              <a:tblPr/>
              <a:tblGrid>
                <a:gridCol w="1946587">
                  <a:extLst>
                    <a:ext uri="{9D8B030D-6E8A-4147-A177-3AD203B41FA5}">
                      <a16:colId xmlns:a16="http://schemas.microsoft.com/office/drawing/2014/main" val="20000"/>
                    </a:ext>
                  </a:extLst>
                </a:gridCol>
                <a:gridCol w="860156">
                  <a:extLst>
                    <a:ext uri="{9D8B030D-6E8A-4147-A177-3AD203B41FA5}">
                      <a16:colId xmlns:a16="http://schemas.microsoft.com/office/drawing/2014/main" val="20001"/>
                    </a:ext>
                  </a:extLst>
                </a:gridCol>
                <a:gridCol w="6154377">
                  <a:extLst>
                    <a:ext uri="{9D8B030D-6E8A-4147-A177-3AD203B41FA5}">
                      <a16:colId xmlns:a16="http://schemas.microsoft.com/office/drawing/2014/main" val="20002"/>
                    </a:ext>
                  </a:extLst>
                </a:gridCol>
              </a:tblGrid>
              <a:tr h="0">
                <a:tc>
                  <a:txBody>
                    <a:bodyPr/>
                    <a:lstStyle/>
                    <a:p>
                      <a:r>
                        <a:rPr lang="en-US" sz="1100" dirty="0">
                          <a:solidFill>
                            <a:srgbClr val="FFFFFF"/>
                          </a:solidFill>
                        </a:rPr>
                        <a:t>Asymmetric Encryption Algorithm</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dirty="0">
                          <a:solidFill>
                            <a:srgbClr val="FFFFFF"/>
                          </a:solidFill>
                        </a:rPr>
                        <a:t>Key Length</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100" dirty="0">
                          <a:solidFill>
                            <a:srgbClr val="FFFFFF"/>
                          </a:solidFill>
                        </a:rPr>
                        <a:t>Description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dirty="0">
                          <a:solidFill>
                            <a:srgbClr val="58585B"/>
                          </a:solidFill>
                        </a:rPr>
                        <a:t>Diffie-Hellman (DH)</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512, 1024, 2048, 3072, 4096</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The Diffie-Hellman algorithm allows two parties to agree on a key that they can use to encrypt messages they want to send to each other. The security of this algorithm depends on the assumption that it is easy to raise a number to a certain power, but difficult to compute which power was used given the number and the outcome.</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dirty="0">
                          <a:solidFill>
                            <a:srgbClr val="58585B"/>
                          </a:solidFill>
                        </a:rPr>
                        <a:t>Digital Signature Standard (DSS) and Digital Signature Algorithm (DSA)</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512 - 1024</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DSS specifies DSA as the algorithm for digital signatures. DSA is a public key algorithm based on the ElGamal signature scheme. Signature creation speed is similar to RSA, but is 10 to 40 times slower for verification.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00" dirty="0">
                          <a:solidFill>
                            <a:srgbClr val="58585B"/>
                          </a:solidFill>
                        </a:rPr>
                        <a:t>Rivest, Shamir, and Adleman encryption algorithms (RSA)</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512 to 2048</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RSA is for public-key cryptography that is based on the current difficulty of factoring very large numbers. It is the first algorithm known to be suitable for signing, as well as encryption. It is widely used in electronic commerce protocols and is believed to be secure given sufficiently long keys and the use of up-to-date implementations.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dirty="0">
                          <a:solidFill>
                            <a:srgbClr val="58585B"/>
                          </a:solidFill>
                        </a:rPr>
                        <a:t>EIGamal</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512 - 1024</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100" dirty="0">
                          <a:solidFill>
                            <a:srgbClr val="58585B"/>
                          </a:solidFill>
                        </a:rPr>
                        <a:t>An asymmetric key encryption algorithm for public-key cryptography which is based on the Diffie-Hellman key agreement. A disadvantage of the ElGamal system is that the encrypted message becomes very big, about twice the size of the original message and for this reason it is only used for small messages such as secret keys.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100" dirty="0">
                          <a:solidFill>
                            <a:srgbClr val="58585B"/>
                          </a:solidFill>
                        </a:rPr>
                        <a:t>Elliptic curve techniques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224 or higher</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100" dirty="0">
                          <a:solidFill>
                            <a:srgbClr val="58585B"/>
                          </a:solidFill>
                        </a:rPr>
                        <a:t>Elliptic curve cryptography can be used to adapt many cryptographic algorithms, such as Diffie-Hellman or ElGamal. The main advantage of elliptic curve cryptography is that the keys can be much smaller.</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dirty="0"/>
          </a:p>
        </p:txBody>
      </p:sp>
    </p:spTree>
    <p:extLst>
      <p:ext uri="{BB962C8B-B14F-4D97-AF65-F5344CB8AC3E}">
        <p14:creationId xmlns:p14="http://schemas.microsoft.com/office/powerpoint/2010/main" val="3989125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Confidentiality</a:t>
            </a:r>
          </a:p>
        </p:txBody>
      </p:sp>
      <p:sp>
        <p:nvSpPr>
          <p:cNvPr id="5" name="Object4"/>
          <p:cNvSpPr/>
          <p:nvPr/>
        </p:nvSpPr>
        <p:spPr>
          <a:xfrm>
            <a:off x="0" y="710990"/>
            <a:ext cx="9035512" cy="139484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process can be summarized using the formula:</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Public Key (Encrypt) + Private Key (Decrypt) = Confidentiality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the public key is used to encrypt the data, the private key must be used to decrypt the data. Only one host has the private key; therefore, confidentiality is achieved.</a:t>
            </a:r>
          </a:p>
        </p:txBody>
      </p:sp>
      <p:sp>
        <p:nvSpPr>
          <p:cNvPr id="7" name="TextBox 6">
            <a:extLst>
              <a:ext uri="{FF2B5EF4-FFF2-40B4-BE49-F238E27FC236}">
                <a16:creationId xmlns:a16="http://schemas.microsoft.com/office/drawing/2014/main" id="{9E1FFF9D-88BF-48EC-A976-8E751D40CC3A}"/>
              </a:ext>
            </a:extLst>
          </p:cNvPr>
          <p:cNvSpPr txBox="1"/>
          <p:nvPr/>
        </p:nvSpPr>
        <p:spPr>
          <a:xfrm>
            <a:off x="0" y="2370419"/>
            <a:ext cx="3308888" cy="261610"/>
          </a:xfrm>
          <a:prstGeom prst="rect">
            <a:avLst/>
          </a:prstGeom>
          <a:noFill/>
        </p:spPr>
        <p:txBody>
          <a:bodyPr wrap="square">
            <a:spAutoFit/>
          </a:bodyPr>
          <a:lstStyle/>
          <a:p>
            <a:r>
              <a:rPr lang="en-US" sz="1100" dirty="0">
                <a:latin typeface="Arial" panose="020B0604020202020204" pitchFamily="34" charset="0"/>
                <a:cs typeface="Arial" panose="020B0604020202020204" pitchFamily="34" charset="0"/>
              </a:rPr>
              <a:t>Alice requests and obtains Bob’s public key.</a:t>
            </a:r>
          </a:p>
        </p:txBody>
      </p:sp>
      <p:pic>
        <p:nvPicPr>
          <p:cNvPr id="6" name="Picture 5">
            <a:extLst>
              <a:ext uri="{FF2B5EF4-FFF2-40B4-BE49-F238E27FC236}">
                <a16:creationId xmlns:a16="http://schemas.microsoft.com/office/drawing/2014/main" id="{1990E923-6BC1-4B88-AA24-AB7A98960667}"/>
              </a:ext>
            </a:extLst>
          </p:cNvPr>
          <p:cNvPicPr>
            <a:picLocks noChangeAspect="1"/>
          </p:cNvPicPr>
          <p:nvPr/>
        </p:nvPicPr>
        <p:blipFill>
          <a:blip r:embed="rId3"/>
          <a:stretch>
            <a:fillRect/>
          </a:stretch>
        </p:blipFill>
        <p:spPr>
          <a:xfrm>
            <a:off x="286718" y="3208472"/>
            <a:ext cx="2688958" cy="1082449"/>
          </a:xfrm>
          <a:prstGeom prst="rect">
            <a:avLst/>
          </a:prstGeom>
        </p:spPr>
      </p:pic>
      <p:sp>
        <p:nvSpPr>
          <p:cNvPr id="10" name="TextBox 9">
            <a:extLst>
              <a:ext uri="{FF2B5EF4-FFF2-40B4-BE49-F238E27FC236}">
                <a16:creationId xmlns:a16="http://schemas.microsoft.com/office/drawing/2014/main" id="{B9F36B28-E7F1-43D8-B18A-26500A19FA11}"/>
              </a:ext>
            </a:extLst>
          </p:cNvPr>
          <p:cNvSpPr txBox="1"/>
          <p:nvPr/>
        </p:nvSpPr>
        <p:spPr>
          <a:xfrm>
            <a:off x="3072538" y="2374394"/>
            <a:ext cx="3212024" cy="553998"/>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Alice uses Bob’s public key to encrypt a message using an agreed-upon algorithm. Alice sends the encrypted message to Bob.</a:t>
            </a:r>
          </a:p>
        </p:txBody>
      </p:sp>
      <p:pic>
        <p:nvPicPr>
          <p:cNvPr id="9" name="Picture 8">
            <a:extLst>
              <a:ext uri="{FF2B5EF4-FFF2-40B4-BE49-F238E27FC236}">
                <a16:creationId xmlns:a16="http://schemas.microsoft.com/office/drawing/2014/main" id="{E64177D3-FB1D-47AB-B008-73263BD1832F}"/>
              </a:ext>
            </a:extLst>
          </p:cNvPr>
          <p:cNvPicPr>
            <a:picLocks noChangeAspect="1"/>
          </p:cNvPicPr>
          <p:nvPr/>
        </p:nvPicPr>
        <p:blipFill>
          <a:blip r:embed="rId4"/>
          <a:stretch>
            <a:fillRect/>
          </a:stretch>
        </p:blipFill>
        <p:spPr>
          <a:xfrm>
            <a:off x="3405750" y="3111253"/>
            <a:ext cx="1735235" cy="1694137"/>
          </a:xfrm>
          <a:prstGeom prst="rect">
            <a:avLst/>
          </a:prstGeom>
        </p:spPr>
      </p:pic>
      <p:sp>
        <p:nvSpPr>
          <p:cNvPr id="13" name="TextBox 12">
            <a:extLst>
              <a:ext uri="{FF2B5EF4-FFF2-40B4-BE49-F238E27FC236}">
                <a16:creationId xmlns:a16="http://schemas.microsoft.com/office/drawing/2014/main" id="{871479CB-4EF0-4D49-B89E-912787D94E50}"/>
              </a:ext>
            </a:extLst>
          </p:cNvPr>
          <p:cNvSpPr txBox="1"/>
          <p:nvPr/>
        </p:nvSpPr>
        <p:spPr>
          <a:xfrm>
            <a:off x="6121831" y="2346698"/>
            <a:ext cx="2913681" cy="861774"/>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Bob then uses his private key to decrypt the message. Since Bob is the only one with the private key, Alice's message can only be decrypted by Bob and thus confidentiality is achieved. </a:t>
            </a:r>
          </a:p>
        </p:txBody>
      </p:sp>
      <p:pic>
        <p:nvPicPr>
          <p:cNvPr id="12" name="Picture 11">
            <a:extLst>
              <a:ext uri="{FF2B5EF4-FFF2-40B4-BE49-F238E27FC236}">
                <a16:creationId xmlns:a16="http://schemas.microsoft.com/office/drawing/2014/main" id="{60E43549-BBA2-406B-9054-6552BCC363BB}"/>
              </a:ext>
            </a:extLst>
          </p:cNvPr>
          <p:cNvPicPr>
            <a:picLocks noChangeAspect="1"/>
          </p:cNvPicPr>
          <p:nvPr/>
        </p:nvPicPr>
        <p:blipFill>
          <a:blip r:embed="rId5"/>
          <a:stretch>
            <a:fillRect/>
          </a:stretch>
        </p:blipFill>
        <p:spPr>
          <a:xfrm>
            <a:off x="7006332" y="3111253"/>
            <a:ext cx="1598522" cy="156240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46</a:t>
            </a:fld>
            <a:endParaRPr lang="en-US" dirty="0"/>
          </a:p>
        </p:txBody>
      </p:sp>
    </p:spTree>
    <p:extLst>
      <p:ext uri="{BB962C8B-B14F-4D97-AF65-F5344CB8AC3E}">
        <p14:creationId xmlns:p14="http://schemas.microsoft.com/office/powerpoint/2010/main" val="3360896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Authentication</a:t>
            </a:r>
          </a:p>
        </p:txBody>
      </p:sp>
      <p:sp>
        <p:nvSpPr>
          <p:cNvPr id="5" name="Object4"/>
          <p:cNvSpPr/>
          <p:nvPr/>
        </p:nvSpPr>
        <p:spPr>
          <a:xfrm>
            <a:off x="0" y="914400"/>
            <a:ext cx="8229600" cy="1270861"/>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authentication objective of asymmetric algorithms is initiated when the encryption process is started with the private key.</a:t>
            </a:r>
          </a:p>
          <a:p>
            <a:endParaRPr lang="en-US" sz="1400" dirty="0"/>
          </a:p>
          <a:p>
            <a:r>
              <a:rPr lang="en-US" sz="1400" dirty="0">
                <a:latin typeface="Arial" panose="020B0604020202020204" pitchFamily="34" charset="0"/>
                <a:cs typeface="Arial" panose="020B0604020202020204" pitchFamily="34" charset="0"/>
              </a:rPr>
              <a:t>The process can be summarized using the formula:</a:t>
            </a:r>
          </a:p>
          <a:p>
            <a:r>
              <a:rPr lang="en-US" sz="1400" b="1" dirty="0"/>
              <a:t>Private Key (Encrypt) + Public Key (Decrypt) = Authentication</a:t>
            </a:r>
            <a:endParaRPr lang="en-US" sz="1400" dirty="0"/>
          </a:p>
        </p:txBody>
      </p:sp>
      <p:sp>
        <p:nvSpPr>
          <p:cNvPr id="7" name="TextBox 6">
            <a:extLst>
              <a:ext uri="{FF2B5EF4-FFF2-40B4-BE49-F238E27FC236}">
                <a16:creationId xmlns:a16="http://schemas.microsoft.com/office/drawing/2014/main" id="{61794AB4-77D2-4CD2-8BEA-9F548B543BDA}"/>
              </a:ext>
            </a:extLst>
          </p:cNvPr>
          <p:cNvSpPr txBox="1"/>
          <p:nvPr/>
        </p:nvSpPr>
        <p:spPr>
          <a:xfrm>
            <a:off x="0" y="2308770"/>
            <a:ext cx="3541363" cy="553998"/>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Alice encrypts a message using her private key. Alice sends the encrypted message to Bob. Bob needs to authenticate that the message did indeed come from Alice.</a:t>
            </a:r>
          </a:p>
        </p:txBody>
      </p:sp>
      <p:pic>
        <p:nvPicPr>
          <p:cNvPr id="6" name="Picture 5">
            <a:extLst>
              <a:ext uri="{FF2B5EF4-FFF2-40B4-BE49-F238E27FC236}">
                <a16:creationId xmlns:a16="http://schemas.microsoft.com/office/drawing/2014/main" id="{B2B4C55F-E007-4A72-BBF0-061152755B70}"/>
              </a:ext>
            </a:extLst>
          </p:cNvPr>
          <p:cNvPicPr>
            <a:picLocks noChangeAspect="1"/>
          </p:cNvPicPr>
          <p:nvPr/>
        </p:nvPicPr>
        <p:blipFill>
          <a:blip r:embed="rId3"/>
          <a:stretch>
            <a:fillRect/>
          </a:stretch>
        </p:blipFill>
        <p:spPr>
          <a:xfrm>
            <a:off x="599016" y="2927798"/>
            <a:ext cx="1826469" cy="1625492"/>
          </a:xfrm>
          <a:prstGeom prst="rect">
            <a:avLst/>
          </a:prstGeom>
        </p:spPr>
      </p:pic>
      <p:sp>
        <p:nvSpPr>
          <p:cNvPr id="10" name="TextBox 9">
            <a:extLst>
              <a:ext uri="{FF2B5EF4-FFF2-40B4-BE49-F238E27FC236}">
                <a16:creationId xmlns:a16="http://schemas.microsoft.com/office/drawing/2014/main" id="{7951F5FC-12A6-46E3-8007-0613F211C415}"/>
              </a:ext>
            </a:extLst>
          </p:cNvPr>
          <p:cNvSpPr txBox="1"/>
          <p:nvPr/>
        </p:nvSpPr>
        <p:spPr>
          <a:xfrm>
            <a:off x="3616419" y="2339887"/>
            <a:ext cx="2458916" cy="707886"/>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In order to authenticate the message, Bob requests Alice’s public key.</a:t>
            </a:r>
          </a:p>
          <a:p>
            <a:endParaRPr lang="en-US" sz="1000" dirty="0"/>
          </a:p>
          <a:p>
            <a:endParaRPr lang="en-US" sz="1000" dirty="0"/>
          </a:p>
        </p:txBody>
      </p:sp>
      <p:pic>
        <p:nvPicPr>
          <p:cNvPr id="9" name="Picture 8">
            <a:extLst>
              <a:ext uri="{FF2B5EF4-FFF2-40B4-BE49-F238E27FC236}">
                <a16:creationId xmlns:a16="http://schemas.microsoft.com/office/drawing/2014/main" id="{01170A93-95BD-48C2-8D8D-ED7925A6A75B}"/>
              </a:ext>
            </a:extLst>
          </p:cNvPr>
          <p:cNvPicPr>
            <a:picLocks noChangeAspect="1"/>
          </p:cNvPicPr>
          <p:nvPr/>
        </p:nvPicPr>
        <p:blipFill>
          <a:blip r:embed="rId4"/>
          <a:stretch>
            <a:fillRect/>
          </a:stretch>
        </p:blipFill>
        <p:spPr>
          <a:xfrm>
            <a:off x="3308888" y="3163118"/>
            <a:ext cx="3192651" cy="1313221"/>
          </a:xfrm>
          <a:prstGeom prst="rect">
            <a:avLst/>
          </a:prstGeom>
        </p:spPr>
      </p:pic>
      <p:sp>
        <p:nvSpPr>
          <p:cNvPr id="13" name="TextBox 12">
            <a:extLst>
              <a:ext uri="{FF2B5EF4-FFF2-40B4-BE49-F238E27FC236}">
                <a16:creationId xmlns:a16="http://schemas.microsoft.com/office/drawing/2014/main" id="{B08EF5C2-1CA3-4D46-9D68-B7A2AD100A6C}"/>
              </a:ext>
            </a:extLst>
          </p:cNvPr>
          <p:cNvSpPr txBox="1"/>
          <p:nvPr/>
        </p:nvSpPr>
        <p:spPr>
          <a:xfrm>
            <a:off x="6176074" y="2391558"/>
            <a:ext cx="4610746" cy="246221"/>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Bob uses Alice’s public key to decrypt the message.</a:t>
            </a:r>
          </a:p>
        </p:txBody>
      </p:sp>
      <p:pic>
        <p:nvPicPr>
          <p:cNvPr id="12" name="Picture 11">
            <a:extLst>
              <a:ext uri="{FF2B5EF4-FFF2-40B4-BE49-F238E27FC236}">
                <a16:creationId xmlns:a16="http://schemas.microsoft.com/office/drawing/2014/main" id="{78B37AFA-C21C-4125-AEED-43D590F96765}"/>
              </a:ext>
            </a:extLst>
          </p:cNvPr>
          <p:cNvPicPr>
            <a:picLocks noChangeAspect="1"/>
          </p:cNvPicPr>
          <p:nvPr/>
        </p:nvPicPr>
        <p:blipFill>
          <a:blip r:embed="rId5"/>
          <a:stretch>
            <a:fillRect/>
          </a:stretch>
        </p:blipFill>
        <p:spPr>
          <a:xfrm>
            <a:off x="6576595" y="2985970"/>
            <a:ext cx="2283121" cy="150914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47</a:t>
            </a:fld>
            <a:endParaRPr lang="en-US" dirty="0"/>
          </a:p>
        </p:txBody>
      </p:sp>
    </p:spTree>
    <p:extLst>
      <p:ext uri="{BB962C8B-B14F-4D97-AF65-F5344CB8AC3E}">
        <p14:creationId xmlns:p14="http://schemas.microsoft.com/office/powerpoint/2010/main" val="20185711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Integrity</a:t>
            </a:r>
          </a:p>
        </p:txBody>
      </p:sp>
      <p:sp>
        <p:nvSpPr>
          <p:cNvPr id="5" name="Object4"/>
          <p:cNvSpPr/>
          <p:nvPr/>
        </p:nvSpPr>
        <p:spPr>
          <a:xfrm>
            <a:off x="0" y="788369"/>
            <a:ext cx="8902460"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Combining the two asymmetric encryption processes provides message confidentiality, authentication, and integrity. The following example will be used to illustrate this process. In this example, a message will be ciphered using Bob’s public key and a ciphered hash will be encrypted using Alice’s private key to provide confidentiality, authenticity, and integrity.</a:t>
            </a:r>
          </a:p>
          <a:p>
            <a:endParaRPr lang="en-US" sz="1400" dirty="0">
              <a:effectLst/>
            </a:endParaRPr>
          </a:p>
        </p:txBody>
      </p:sp>
      <p:sp>
        <p:nvSpPr>
          <p:cNvPr id="7" name="TextBox 6">
            <a:extLst>
              <a:ext uri="{FF2B5EF4-FFF2-40B4-BE49-F238E27FC236}">
                <a16:creationId xmlns:a16="http://schemas.microsoft.com/office/drawing/2014/main" id="{2DAB2C45-5297-4928-8E65-AD15A4A44A91}"/>
              </a:ext>
            </a:extLst>
          </p:cNvPr>
          <p:cNvSpPr txBox="1"/>
          <p:nvPr/>
        </p:nvSpPr>
        <p:spPr>
          <a:xfrm>
            <a:off x="31104" y="2016640"/>
            <a:ext cx="4610746" cy="1015663"/>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Alice wants to send a message to Bob ensuring that only Bob can read the document. In other words, Alice wants to ensure </a:t>
            </a:r>
            <a:r>
              <a:rPr lang="en-US" sz="1200" b="1" dirty="0">
                <a:latin typeface="Arial" panose="020B0604020202020204" pitchFamily="34" charset="0"/>
                <a:cs typeface="Arial" panose="020B0604020202020204" pitchFamily="34" charset="0"/>
              </a:rPr>
              <a:t>message confidentiality</a:t>
            </a:r>
            <a:r>
              <a:rPr lang="en-US" sz="1200" dirty="0">
                <a:latin typeface="Arial" panose="020B0604020202020204" pitchFamily="34" charset="0"/>
                <a:cs typeface="Arial" panose="020B0604020202020204" pitchFamily="34" charset="0"/>
              </a:rPr>
              <a:t>. Alice uses the </a:t>
            </a:r>
            <a:r>
              <a:rPr lang="en-US" sz="1200" b="1" dirty="0">
                <a:latin typeface="Arial" panose="020B0604020202020204" pitchFamily="34" charset="0"/>
                <a:cs typeface="Arial" panose="020B0604020202020204" pitchFamily="34" charset="0"/>
              </a:rPr>
              <a:t>public key of Bob </a:t>
            </a:r>
            <a:r>
              <a:rPr lang="en-US" sz="1200" dirty="0">
                <a:latin typeface="Arial" panose="020B0604020202020204" pitchFamily="34" charset="0"/>
                <a:cs typeface="Arial" panose="020B0604020202020204" pitchFamily="34" charset="0"/>
              </a:rPr>
              <a:t>to </a:t>
            </a:r>
            <a:r>
              <a:rPr lang="en-US" sz="1200" u="sng" dirty="0">
                <a:latin typeface="Arial" panose="020B0604020202020204" pitchFamily="34" charset="0"/>
                <a:cs typeface="Arial" panose="020B0604020202020204" pitchFamily="34" charset="0"/>
              </a:rPr>
              <a:t>cipher the message</a:t>
            </a:r>
            <a:r>
              <a:rPr lang="en-US" sz="1200" dirty="0">
                <a:latin typeface="Arial" panose="020B0604020202020204" pitchFamily="34" charset="0"/>
                <a:cs typeface="Arial" panose="020B0604020202020204" pitchFamily="34" charset="0"/>
              </a:rPr>
              <a:t>. Only Bob will be able to decipher it using his private key</a:t>
            </a:r>
          </a:p>
        </p:txBody>
      </p:sp>
      <p:pic>
        <p:nvPicPr>
          <p:cNvPr id="6" name="Picture 5">
            <a:extLst>
              <a:ext uri="{FF2B5EF4-FFF2-40B4-BE49-F238E27FC236}">
                <a16:creationId xmlns:a16="http://schemas.microsoft.com/office/drawing/2014/main" id="{0A510835-B632-47AD-965C-39729A75D0DD}"/>
              </a:ext>
            </a:extLst>
          </p:cNvPr>
          <p:cNvPicPr>
            <a:picLocks noChangeAspect="1"/>
          </p:cNvPicPr>
          <p:nvPr/>
        </p:nvPicPr>
        <p:blipFill>
          <a:blip r:embed="rId3"/>
          <a:stretch>
            <a:fillRect/>
          </a:stretch>
        </p:blipFill>
        <p:spPr>
          <a:xfrm>
            <a:off x="1487837" y="2829129"/>
            <a:ext cx="2154265" cy="2028622"/>
          </a:xfrm>
          <a:prstGeom prst="rect">
            <a:avLst/>
          </a:prstGeom>
        </p:spPr>
      </p:pic>
      <p:sp>
        <p:nvSpPr>
          <p:cNvPr id="10" name="TextBox 9">
            <a:extLst>
              <a:ext uri="{FF2B5EF4-FFF2-40B4-BE49-F238E27FC236}">
                <a16:creationId xmlns:a16="http://schemas.microsoft.com/office/drawing/2014/main" id="{BC568B27-B329-4F69-970F-C7122CD7CC0E}"/>
              </a:ext>
            </a:extLst>
          </p:cNvPr>
          <p:cNvSpPr txBox="1"/>
          <p:nvPr/>
        </p:nvSpPr>
        <p:spPr>
          <a:xfrm>
            <a:off x="4610746" y="2016640"/>
            <a:ext cx="4610746" cy="1015663"/>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Alice also wants to ensure </a:t>
            </a:r>
            <a:r>
              <a:rPr lang="en-US" sz="1200" b="1" dirty="0">
                <a:latin typeface="Arial" panose="020B0604020202020204" pitchFamily="34" charset="0"/>
                <a:cs typeface="Arial" panose="020B0604020202020204" pitchFamily="34" charset="0"/>
              </a:rPr>
              <a:t>message authentication and integrity</a:t>
            </a:r>
            <a:r>
              <a:rPr lang="en-US" sz="1200" dirty="0">
                <a:latin typeface="Arial" panose="020B0604020202020204" pitchFamily="34" charset="0"/>
                <a:cs typeface="Arial" panose="020B0604020202020204" pitchFamily="34" charset="0"/>
              </a:rPr>
              <a:t>. Authentication ensures Bob that the document was sent by Alice, and integrity ensures that it was not modified Alice uses </a:t>
            </a:r>
            <a:r>
              <a:rPr lang="en-US" sz="1200" b="1" dirty="0">
                <a:latin typeface="Arial" panose="020B0604020202020204" pitchFamily="34" charset="0"/>
                <a:cs typeface="Arial" panose="020B0604020202020204" pitchFamily="34" charset="0"/>
              </a:rPr>
              <a:t>her private key </a:t>
            </a:r>
            <a:r>
              <a:rPr lang="en-US" sz="1200" dirty="0">
                <a:latin typeface="Arial" panose="020B0604020202020204" pitchFamily="34" charset="0"/>
                <a:cs typeface="Arial" panose="020B0604020202020204" pitchFamily="34" charset="0"/>
              </a:rPr>
              <a:t>to</a:t>
            </a:r>
            <a:r>
              <a:rPr lang="en-US" sz="1200" b="1" dirty="0">
                <a:latin typeface="Arial" panose="020B0604020202020204" pitchFamily="34" charset="0"/>
                <a:cs typeface="Arial" panose="020B0604020202020204" pitchFamily="34" charset="0"/>
              </a:rPr>
              <a:t> </a:t>
            </a:r>
            <a:r>
              <a:rPr lang="en-US" sz="1200" u="sng" dirty="0">
                <a:latin typeface="Arial" panose="020B0604020202020204" pitchFamily="34" charset="0"/>
                <a:cs typeface="Arial" panose="020B0604020202020204" pitchFamily="34" charset="0"/>
              </a:rPr>
              <a:t>cipher a hash of the message</a:t>
            </a:r>
            <a:r>
              <a:rPr lang="en-US" sz="1200" dirty="0">
                <a:latin typeface="Arial" panose="020B0604020202020204" pitchFamily="34" charset="0"/>
                <a:cs typeface="Arial" panose="020B0604020202020204" pitchFamily="34" charset="0"/>
              </a:rPr>
              <a:t>. Alice sends the encrypted message with its encrypted hash to Bob.</a:t>
            </a:r>
          </a:p>
        </p:txBody>
      </p:sp>
      <p:pic>
        <p:nvPicPr>
          <p:cNvPr id="9" name="Picture 8">
            <a:extLst>
              <a:ext uri="{FF2B5EF4-FFF2-40B4-BE49-F238E27FC236}">
                <a16:creationId xmlns:a16="http://schemas.microsoft.com/office/drawing/2014/main" id="{1B20D21C-19E5-49C5-B6C1-19986AFA6EED}"/>
              </a:ext>
            </a:extLst>
          </p:cNvPr>
          <p:cNvPicPr>
            <a:picLocks noChangeAspect="1"/>
          </p:cNvPicPr>
          <p:nvPr/>
        </p:nvPicPr>
        <p:blipFill>
          <a:blip r:embed="rId4"/>
          <a:stretch>
            <a:fillRect/>
          </a:stretch>
        </p:blipFill>
        <p:spPr>
          <a:xfrm>
            <a:off x="4920712" y="3009833"/>
            <a:ext cx="1562300" cy="18901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48</a:t>
            </a:fld>
            <a:endParaRPr lang="en-US" dirty="0"/>
          </a:p>
        </p:txBody>
      </p:sp>
    </p:spTree>
    <p:extLst>
      <p:ext uri="{BB962C8B-B14F-4D97-AF65-F5344CB8AC3E}">
        <p14:creationId xmlns:p14="http://schemas.microsoft.com/office/powerpoint/2010/main" val="1727459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Asymmetric Encryption – Integrity (Cont.)</a:t>
            </a:r>
          </a:p>
        </p:txBody>
      </p:sp>
      <p:sp>
        <p:nvSpPr>
          <p:cNvPr id="7" name="TextBox 6">
            <a:extLst>
              <a:ext uri="{FF2B5EF4-FFF2-40B4-BE49-F238E27FC236}">
                <a16:creationId xmlns:a16="http://schemas.microsoft.com/office/drawing/2014/main" id="{2DAB2C45-5297-4928-8E65-AD15A4A44A91}"/>
              </a:ext>
            </a:extLst>
          </p:cNvPr>
          <p:cNvSpPr txBox="1"/>
          <p:nvPr/>
        </p:nvSpPr>
        <p:spPr>
          <a:xfrm>
            <a:off x="0" y="955208"/>
            <a:ext cx="4610746"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Bob uses </a:t>
            </a:r>
            <a:r>
              <a:rPr lang="en-US" sz="1400" b="1" dirty="0">
                <a:latin typeface="Arial" panose="020B0604020202020204" pitchFamily="34" charset="0"/>
                <a:cs typeface="Arial" panose="020B0604020202020204" pitchFamily="34" charset="0"/>
              </a:rPr>
              <a:t>Alice’s public key </a:t>
            </a:r>
            <a:r>
              <a:rPr lang="en-US" sz="1400" dirty="0">
                <a:latin typeface="Arial" panose="020B0604020202020204" pitchFamily="34" charset="0"/>
                <a:cs typeface="Arial" panose="020B0604020202020204" pitchFamily="34" charset="0"/>
              </a:rPr>
              <a:t>to </a:t>
            </a:r>
            <a:r>
              <a:rPr lang="en-US" sz="1400" u="sng" dirty="0">
                <a:latin typeface="Arial" panose="020B0604020202020204" pitchFamily="34" charset="0"/>
                <a:cs typeface="Arial" panose="020B0604020202020204" pitchFamily="34" charset="0"/>
              </a:rPr>
              <a:t>verify that the message was not modified</a:t>
            </a:r>
            <a:r>
              <a:rPr lang="en-US" sz="1400" dirty="0">
                <a:latin typeface="Arial" panose="020B0604020202020204" pitchFamily="34" charset="0"/>
                <a:cs typeface="Arial" panose="020B0604020202020204" pitchFamily="34" charset="0"/>
              </a:rPr>
              <a:t>. The received hash is equal to the locally determined hash based on Alice’s public key. Additionally, this verifies that Alice is definitely the sender of the message because nobody else has Alice’s private key.</a:t>
            </a:r>
          </a:p>
        </p:txBody>
      </p:sp>
      <p:pic>
        <p:nvPicPr>
          <p:cNvPr id="4" name="Picture 3">
            <a:extLst>
              <a:ext uri="{FF2B5EF4-FFF2-40B4-BE49-F238E27FC236}">
                <a16:creationId xmlns:a16="http://schemas.microsoft.com/office/drawing/2014/main" id="{33CD2C12-65B4-4F87-9B8F-7EFF0C5A48A5}"/>
              </a:ext>
            </a:extLst>
          </p:cNvPr>
          <p:cNvPicPr>
            <a:picLocks noChangeAspect="1"/>
          </p:cNvPicPr>
          <p:nvPr/>
        </p:nvPicPr>
        <p:blipFill>
          <a:blip r:embed="rId3"/>
          <a:stretch>
            <a:fillRect/>
          </a:stretch>
        </p:blipFill>
        <p:spPr>
          <a:xfrm>
            <a:off x="1132944" y="2253245"/>
            <a:ext cx="2323178" cy="2608311"/>
          </a:xfrm>
          <a:prstGeom prst="rect">
            <a:avLst/>
          </a:prstGeom>
        </p:spPr>
      </p:pic>
      <p:sp>
        <p:nvSpPr>
          <p:cNvPr id="10" name="TextBox 9">
            <a:extLst>
              <a:ext uri="{FF2B5EF4-FFF2-40B4-BE49-F238E27FC236}">
                <a16:creationId xmlns:a16="http://schemas.microsoft.com/office/drawing/2014/main" id="{BC568B27-B329-4F69-970F-C7122CD7CC0E}"/>
              </a:ext>
            </a:extLst>
          </p:cNvPr>
          <p:cNvSpPr txBox="1"/>
          <p:nvPr/>
        </p:nvSpPr>
        <p:spPr>
          <a:xfrm>
            <a:off x="5401158" y="1034385"/>
            <a:ext cx="3820333"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Bob uses </a:t>
            </a:r>
            <a:r>
              <a:rPr lang="en-US" sz="1400" u="sng" dirty="0">
                <a:latin typeface="Arial" panose="020B0604020202020204" pitchFamily="34" charset="0"/>
                <a:cs typeface="Arial" panose="020B0604020202020204" pitchFamily="34" charset="0"/>
              </a:rPr>
              <a:t>his private key </a:t>
            </a:r>
            <a:r>
              <a:rPr lang="en-US" sz="1400" dirty="0">
                <a:latin typeface="Arial" panose="020B0604020202020204" pitchFamily="34" charset="0"/>
                <a:cs typeface="Arial" panose="020B0604020202020204" pitchFamily="34" charset="0"/>
              </a:rPr>
              <a:t>to </a:t>
            </a:r>
            <a:r>
              <a:rPr lang="en-US" sz="1400" b="1" dirty="0">
                <a:latin typeface="Arial" panose="020B0604020202020204" pitchFamily="34" charset="0"/>
                <a:cs typeface="Arial" panose="020B0604020202020204" pitchFamily="34" charset="0"/>
              </a:rPr>
              <a:t>decipher the message.</a:t>
            </a:r>
          </a:p>
        </p:txBody>
      </p:sp>
      <p:pic>
        <p:nvPicPr>
          <p:cNvPr id="13" name="Picture 12">
            <a:extLst>
              <a:ext uri="{FF2B5EF4-FFF2-40B4-BE49-F238E27FC236}">
                <a16:creationId xmlns:a16="http://schemas.microsoft.com/office/drawing/2014/main" id="{BF6CEF45-3695-49EC-9B6F-77A972E01828}"/>
              </a:ext>
            </a:extLst>
          </p:cNvPr>
          <p:cNvPicPr>
            <a:picLocks noChangeAspect="1"/>
          </p:cNvPicPr>
          <p:nvPr/>
        </p:nvPicPr>
        <p:blipFill>
          <a:blip r:embed="rId4"/>
          <a:stretch>
            <a:fillRect/>
          </a:stretch>
        </p:blipFill>
        <p:spPr>
          <a:xfrm>
            <a:off x="5483512" y="1683373"/>
            <a:ext cx="2412873" cy="294577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49</a:t>
            </a:fld>
            <a:endParaRPr lang="en-US" dirty="0"/>
          </a:p>
        </p:txBody>
      </p:sp>
    </p:spTree>
    <p:extLst>
      <p:ext uri="{BB962C8B-B14F-4D97-AF65-F5344CB8AC3E}">
        <p14:creationId xmlns:p14="http://schemas.microsoft.com/office/powerpoint/2010/main" val="5114510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Diffie-Hellman</a:t>
            </a:r>
          </a:p>
        </p:txBody>
      </p:sp>
      <p:sp>
        <p:nvSpPr>
          <p:cNvPr id="5" name="Object4"/>
          <p:cNvSpPr/>
          <p:nvPr/>
        </p:nvSpPr>
        <p:spPr>
          <a:xfrm>
            <a:off x="0" y="762517"/>
            <a:ext cx="4293030"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Diffie-Hellman (DH) is an asymmetric mathematical algorithm that allows two computers to generate an identical shared secret without having communicated before. The new shared key is never actually exchanged between the sender and receiver. However, because both parties know it, the key can be used by an encryption algorithm to encrypt traffic between the two systems.</a:t>
            </a:r>
          </a:p>
          <a:p>
            <a:r>
              <a:rPr lang="en-US" sz="1400" dirty="0">
                <a:effectLst/>
                <a:latin typeface="Arial" panose="020B0604020202020204" pitchFamily="34" charset="0"/>
                <a:cs typeface="Arial" panose="020B0604020202020204" pitchFamily="34" charset="0"/>
              </a:rPr>
              <a:t>Here are two examples of instances when DH is commonly used:</a:t>
            </a:r>
          </a:p>
          <a:p>
            <a:endParaRPr lang="en-US" sz="14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dirty="0">
                <a:effectLst/>
                <a:latin typeface="Arial" panose="020B0604020202020204" pitchFamily="34" charset="0"/>
                <a:cs typeface="Arial" panose="020B0604020202020204" pitchFamily="34" charset="0"/>
              </a:rPr>
              <a:t>Data is exchanged using an IPsec VPN</a:t>
            </a:r>
          </a:p>
          <a:p>
            <a:pPr marL="285750" indent="-285750">
              <a:buFont typeface="Arial" panose="020B0604020202020204" pitchFamily="34" charset="0"/>
              <a:buChar char="•"/>
            </a:pPr>
            <a:r>
              <a:rPr lang="en-US" sz="1400" dirty="0">
                <a:effectLst/>
                <a:latin typeface="Arial" panose="020B0604020202020204" pitchFamily="34" charset="0"/>
                <a:cs typeface="Arial" panose="020B0604020202020204" pitchFamily="34" charset="0"/>
              </a:rPr>
              <a:t>SSH data is exchanged</a:t>
            </a:r>
          </a:p>
          <a:p>
            <a:pPr>
              <a:buFont typeface="Arial" panose="020B0604020202020204" pitchFamily="34" charset="0"/>
              <a:buChar char="•"/>
            </a:pPr>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To help illustrate how DH operates, refer to the figure. </a:t>
            </a:r>
            <a:r>
              <a:rPr lang="en-US" sz="1400" dirty="0">
                <a:latin typeface="Arial" panose="020B0604020202020204" pitchFamily="34" charset="0"/>
                <a:cs typeface="Arial" panose="020B0604020202020204" pitchFamily="34" charset="0"/>
              </a:rPr>
              <a:t>The colors in the figure will be used instead of complex long numbers to simplify the DH key agreement process.</a:t>
            </a:r>
            <a:endParaRPr lang="en-US" sz="14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50</a:t>
            </a:fld>
            <a:endParaRPr lang="en-US" dirty="0"/>
          </a:p>
        </p:txBody>
      </p:sp>
      <p:grpSp>
        <p:nvGrpSpPr>
          <p:cNvPr id="7" name="Skupina 6">
            <a:extLst>
              <a:ext uri="{FF2B5EF4-FFF2-40B4-BE49-F238E27FC236}">
                <a16:creationId xmlns:a16="http://schemas.microsoft.com/office/drawing/2014/main" id="{41862558-B5A9-9EAB-3A29-8F64A72C6D3E}"/>
              </a:ext>
            </a:extLst>
          </p:cNvPr>
          <p:cNvGrpSpPr/>
          <p:nvPr/>
        </p:nvGrpSpPr>
        <p:grpSpPr>
          <a:xfrm>
            <a:off x="4293030" y="1082395"/>
            <a:ext cx="4552141" cy="2790243"/>
            <a:chOff x="4293030" y="1082395"/>
            <a:chExt cx="4552141" cy="2790243"/>
          </a:xfrm>
        </p:grpSpPr>
        <p:pic>
          <p:nvPicPr>
            <p:cNvPr id="4" name="Picture 3">
              <a:extLst>
                <a:ext uri="{FF2B5EF4-FFF2-40B4-BE49-F238E27FC236}">
                  <a16:creationId xmlns:a16="http://schemas.microsoft.com/office/drawing/2014/main" id="{BA31386A-AE7C-4F06-9905-5A57590EED48}"/>
                </a:ext>
              </a:extLst>
            </p:cNvPr>
            <p:cNvPicPr>
              <a:picLocks noChangeAspect="1"/>
            </p:cNvPicPr>
            <p:nvPr/>
          </p:nvPicPr>
          <p:blipFill>
            <a:blip r:embed="rId3"/>
            <a:stretch>
              <a:fillRect/>
            </a:stretch>
          </p:blipFill>
          <p:spPr>
            <a:xfrm>
              <a:off x="4293030" y="1082395"/>
              <a:ext cx="4552141" cy="2790243"/>
            </a:xfrm>
            <a:prstGeom prst="rect">
              <a:avLst/>
            </a:prstGeom>
          </p:spPr>
        </p:pic>
        <p:pic>
          <p:nvPicPr>
            <p:cNvPr id="6" name="Picture 3">
              <a:extLst>
                <a:ext uri="{FF2B5EF4-FFF2-40B4-BE49-F238E27FC236}">
                  <a16:creationId xmlns:a16="http://schemas.microsoft.com/office/drawing/2014/main" id="{87D9D92C-F668-EA32-98E0-EBC247AC2A3B}"/>
                </a:ext>
              </a:extLst>
            </p:cNvPr>
            <p:cNvPicPr>
              <a:picLocks noChangeAspect="1"/>
            </p:cNvPicPr>
            <p:nvPr/>
          </p:nvPicPr>
          <p:blipFill rotWithShape="1">
            <a:blip r:embed="rId3"/>
            <a:srcRect l="17812" t="61863" r="69617" b="8932"/>
            <a:stretch/>
          </p:blipFill>
          <p:spPr>
            <a:xfrm>
              <a:off x="7470711" y="2805404"/>
              <a:ext cx="572277" cy="814874"/>
            </a:xfrm>
            <a:prstGeom prst="rect">
              <a:avLst/>
            </a:prstGeom>
          </p:spPr>
        </p:pic>
      </p:grpSp>
      <p:sp>
        <p:nvSpPr>
          <p:cNvPr id="9" name="BlokTextu 8">
            <a:extLst>
              <a:ext uri="{FF2B5EF4-FFF2-40B4-BE49-F238E27FC236}">
                <a16:creationId xmlns:a16="http://schemas.microsoft.com/office/drawing/2014/main" id="{4FA52CFA-53CD-4BD6-433B-61776BC66C0D}"/>
              </a:ext>
            </a:extLst>
          </p:cNvPr>
          <p:cNvSpPr txBox="1"/>
          <p:nvPr/>
        </p:nvSpPr>
        <p:spPr>
          <a:xfrm>
            <a:off x="4293030" y="4034382"/>
            <a:ext cx="4612432" cy="923330"/>
          </a:xfrm>
          <a:prstGeom prst="rect">
            <a:avLst/>
          </a:prstGeom>
          <a:noFill/>
        </p:spPr>
        <p:txBody>
          <a:bodyPr wrap="square">
            <a:spAutoFit/>
          </a:bodyPr>
          <a:lstStyle/>
          <a:p>
            <a:r>
              <a:rPr lang="sk-SK" dirty="0" err="1"/>
              <a:t>Diffie-Hellman</a:t>
            </a:r>
            <a:r>
              <a:rPr lang="sk-SK" dirty="0"/>
              <a:t> na </a:t>
            </a:r>
            <a:r>
              <a:rPr lang="sk-SK" dirty="0" err="1"/>
              <a:t>youtube</a:t>
            </a:r>
            <a:endParaRPr lang="sk-SK" dirty="0"/>
          </a:p>
          <a:p>
            <a:r>
              <a:rPr lang="sk-SK" dirty="0">
                <a:hlinkClick r:id="rId4"/>
              </a:rPr>
              <a:t>https://youtu.be/KXq065YrpiU?si</a:t>
            </a:r>
            <a:r>
              <a:rPr lang="sk-SK">
                <a:hlinkClick r:id="rId4"/>
              </a:rPr>
              <a:t>=MND0B2hakoT-fqAN</a:t>
            </a:r>
            <a:r>
              <a:rPr lang="sk-SK"/>
              <a:t> </a:t>
            </a:r>
            <a:endParaRPr lang="sk-SK" dirty="0"/>
          </a:p>
        </p:txBody>
      </p:sp>
    </p:spTree>
    <p:extLst>
      <p:ext uri="{BB962C8B-B14F-4D97-AF65-F5344CB8AC3E}">
        <p14:creationId xmlns:p14="http://schemas.microsoft.com/office/powerpoint/2010/main" val="4565302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Confidentiality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Diffie-Hellman (Cont.)</a:t>
            </a:r>
          </a:p>
        </p:txBody>
      </p:sp>
      <p:sp>
        <p:nvSpPr>
          <p:cNvPr id="8" name="TextBox 7">
            <a:extLst>
              <a:ext uri="{FF2B5EF4-FFF2-40B4-BE49-F238E27FC236}">
                <a16:creationId xmlns:a16="http://schemas.microsoft.com/office/drawing/2014/main" id="{B918B82A-8B61-4FD5-9398-425BC8D2AA39}"/>
              </a:ext>
            </a:extLst>
          </p:cNvPr>
          <p:cNvSpPr txBox="1"/>
          <p:nvPr/>
        </p:nvSpPr>
        <p:spPr>
          <a:xfrm>
            <a:off x="0" y="845668"/>
            <a:ext cx="8849532" cy="329320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Diffie-Hellman uses different DH groups to determine the strength of the key that is used in the key agreement process. The higher group numbers are more secure but require additional time to compute the key.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following identifies the DH groups supported by Cisco IOS Software and their associated prime number value: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DH Group 1: 768 bits</a:t>
            </a:r>
          </a:p>
          <a:p>
            <a:r>
              <a:rPr lang="en-US" sz="1600" dirty="0">
                <a:latin typeface="Arial" panose="020B0604020202020204" pitchFamily="34" charset="0"/>
                <a:cs typeface="Arial" panose="020B0604020202020204" pitchFamily="34" charset="0"/>
              </a:rPr>
              <a:t>    DH Group 2: 1024 bits</a:t>
            </a:r>
          </a:p>
          <a:p>
            <a:r>
              <a:rPr lang="en-US" sz="1600" dirty="0">
                <a:latin typeface="Arial" panose="020B0604020202020204" pitchFamily="34" charset="0"/>
                <a:cs typeface="Arial" panose="020B0604020202020204" pitchFamily="34" charset="0"/>
              </a:rPr>
              <a:t>    DH Group 5: 1536 bits</a:t>
            </a:r>
          </a:p>
          <a:p>
            <a:r>
              <a:rPr lang="en-US" sz="1600" dirty="0">
                <a:latin typeface="Arial" panose="020B0604020202020204" pitchFamily="34" charset="0"/>
                <a:cs typeface="Arial" panose="020B0604020202020204" pitchFamily="34" charset="0"/>
              </a:rPr>
              <a:t>    DH Group 14: 2048 bits</a:t>
            </a:r>
          </a:p>
          <a:p>
            <a:r>
              <a:rPr lang="en-US" sz="1600" dirty="0">
                <a:latin typeface="Arial" panose="020B0604020202020204" pitchFamily="34" charset="0"/>
                <a:cs typeface="Arial" panose="020B0604020202020204" pitchFamily="34" charset="0"/>
              </a:rPr>
              <a:t>    DH Group 15: 3072 bits</a:t>
            </a:r>
          </a:p>
          <a:p>
            <a:r>
              <a:rPr lang="en-US" sz="1600" dirty="0">
                <a:latin typeface="Arial" panose="020B0604020202020204" pitchFamily="34" charset="0"/>
                <a:cs typeface="Arial" panose="020B0604020202020204" pitchFamily="34" charset="0"/>
              </a:rPr>
              <a:t>    DH Group 16: 4096 bits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51</a:t>
            </a:fld>
            <a:endParaRPr lang="en-US" dirty="0"/>
          </a:p>
        </p:txBody>
      </p:sp>
    </p:spTree>
    <p:extLst>
      <p:ext uri="{BB962C8B-B14F-4D97-AF65-F5344CB8AC3E}">
        <p14:creationId xmlns:p14="http://schemas.microsoft.com/office/powerpoint/2010/main" val="9379934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17: Public Key Cryptography</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a:t>
            </a:r>
          </a:p>
          <a:p>
            <a:pPr marL="0" indent="0">
              <a:buNone/>
            </a:pPr>
            <a:r>
              <a:rPr lang="en-US" dirty="0"/>
              <a:t>(NETSEC)</a:t>
            </a:r>
          </a:p>
        </p:txBody>
      </p:sp>
    </p:spTree>
    <p:extLst>
      <p:ext uri="{BB962C8B-B14F-4D97-AF65-F5344CB8AC3E}">
        <p14:creationId xmlns:p14="http://schemas.microsoft.com/office/powerpoint/2010/main" val="22041352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Public Key Cryptography</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a public key infrastructure is used to ensure data confidentiality and provide authentication.</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831809932"/>
              </p:ext>
            </p:extLst>
          </p:nvPr>
        </p:nvGraphicFramePr>
        <p:xfrm>
          <a:off x="333363" y="1816986"/>
          <a:ext cx="8263467" cy="1405899"/>
        </p:xfrm>
        <a:graphic>
          <a:graphicData uri="http://schemas.openxmlformats.org/drawingml/2006/table">
            <a:tbl>
              <a:tblPr firstRow="1" firstCol="1" bandRow="1">
                <a:tableStyleId>{5C22544A-7EE6-4342-B048-85BDC9FD1C3A}</a:tableStyleId>
              </a:tblPr>
              <a:tblGrid>
                <a:gridCol w="3274618">
                  <a:extLst>
                    <a:ext uri="{9D8B030D-6E8A-4147-A177-3AD203B41FA5}">
                      <a16:colId xmlns:a16="http://schemas.microsoft.com/office/drawing/2014/main" val="399010295"/>
                    </a:ext>
                  </a:extLst>
                </a:gridCol>
                <a:gridCol w="498884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600" dirty="0">
                          <a:effectLst/>
                        </a:rPr>
                        <a:t>Topic Title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600" dirty="0">
                          <a:effectLst/>
                        </a:rPr>
                        <a:t>Topic Objective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dirty="0">
                          <a:effectLst/>
                        </a:rPr>
                        <a:t>Public Key Cryptography with Digital Signatures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b="0" i="0" u="none" strike="noStrike" kern="1200" dirty="0">
                          <a:solidFill>
                            <a:schemeClr val="dk1"/>
                          </a:solidFill>
                          <a:effectLst/>
                          <a:latin typeface="+mn-lt"/>
                          <a:ea typeface="+mn-ea"/>
                          <a:cs typeface="+mn-cs"/>
                        </a:rPr>
                        <a:t>Explain public key cryptography.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dirty="0">
                          <a:effectLst/>
                        </a:rPr>
                        <a:t>Authorities and the PKI Trust System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b="0" i="0" u="none" strike="noStrike" kern="1200" dirty="0">
                          <a:solidFill>
                            <a:schemeClr val="dk1"/>
                          </a:solidFill>
                          <a:effectLst/>
                          <a:latin typeface="+mn-lt"/>
                          <a:ea typeface="+mn-ea"/>
                          <a:cs typeface="+mn-cs"/>
                        </a:rPr>
                        <a:t>Explain how the public key infrastructure functions.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400" dirty="0">
                          <a:effectLst/>
                        </a:rPr>
                        <a:t>Applications and Impacts of Cryptography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i="0" kern="1200" dirty="0">
                          <a:solidFill>
                            <a:schemeClr val="dk1"/>
                          </a:solidFill>
                          <a:effectLst/>
                          <a:latin typeface="+mn-lt"/>
                          <a:ea typeface="+mn-ea"/>
                          <a:cs typeface="+mn-cs"/>
                        </a:rPr>
                        <a:t>Explain how the use of cryptography affects cybersecurity operations.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1654132607"/>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17.1 Public Key Cryptography with Digital Signatures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54</a:t>
            </a:fld>
            <a:endParaRPr lang="en-US" dirty="0"/>
          </a:p>
        </p:txBody>
      </p:sp>
    </p:spTree>
    <p:extLst>
      <p:ext uri="{BB962C8B-B14F-4D97-AF65-F5344CB8AC3E}">
        <p14:creationId xmlns:p14="http://schemas.microsoft.com/office/powerpoint/2010/main" val="14349781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 Overview</a:t>
            </a:r>
          </a:p>
        </p:txBody>
      </p:sp>
      <p:sp>
        <p:nvSpPr>
          <p:cNvPr id="5" name="Object4"/>
          <p:cNvSpPr/>
          <p:nvPr/>
        </p:nvSpPr>
        <p:spPr>
          <a:xfrm>
            <a:off x="-1" y="731520"/>
            <a:ext cx="8762495"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Digital signatures are a mathematical technique used to provide authenticity, integrity, and nonrepudiation.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following are characteristics of digital signatures:</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Authentic</a:t>
            </a:r>
            <a:r>
              <a:rPr lang="en-US" dirty="0">
                <a:latin typeface="Arial" panose="020B0604020202020204" pitchFamily="34" charset="0"/>
                <a:cs typeface="Arial" panose="020B0604020202020204" pitchFamily="34" charset="0"/>
              </a:rPr>
              <a:t> - The signature cannot be forged and provides proof that the signer, and no one else, signed the document.</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Unalterable </a:t>
            </a:r>
            <a:r>
              <a:rPr lang="en-US" dirty="0">
                <a:latin typeface="Arial" panose="020B0604020202020204" pitchFamily="34" charset="0"/>
                <a:cs typeface="Arial" panose="020B0604020202020204" pitchFamily="34" charset="0"/>
              </a:rPr>
              <a:t>- After a document is signed, it cannot be altered.</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Not reusable- </a:t>
            </a:r>
            <a:r>
              <a:rPr lang="en-US" dirty="0">
                <a:latin typeface="Arial" panose="020B0604020202020204" pitchFamily="34" charset="0"/>
                <a:cs typeface="Arial" panose="020B0604020202020204" pitchFamily="34" charset="0"/>
              </a:rPr>
              <a:t>The document signature cannot be transferred to another document.</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Non-repudiated</a:t>
            </a:r>
            <a:r>
              <a:rPr lang="en-US" dirty="0">
                <a:latin typeface="Arial" panose="020B0604020202020204" pitchFamily="34" charset="0"/>
                <a:cs typeface="Arial" panose="020B0604020202020204" pitchFamily="34" charset="0"/>
              </a:rPr>
              <a:t> - The signed document is considered to be the same as a physical document.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dirty="0"/>
          </a:p>
        </p:txBody>
      </p:sp>
    </p:spTree>
    <p:extLst>
      <p:ext uri="{BB962C8B-B14F-4D97-AF65-F5344CB8AC3E}">
        <p14:creationId xmlns:p14="http://schemas.microsoft.com/office/powerpoint/2010/main" val="28507940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28600"/>
            <a:ext cx="9144000" cy="914400"/>
          </a:xfrm>
          <a:prstGeom prst="rect">
            <a:avLst/>
          </a:prstGeom>
          <a:noFill/>
          <a:ln/>
        </p:spPr>
        <p:txBody>
          <a:bodyPr wrap="square" rtlCol="0"/>
          <a:lstStyle/>
          <a:p>
            <a:pPr marL="0" indent="0">
              <a:buNone/>
            </a:pPr>
            <a:r>
              <a:rPr lang="en-US" dirty="0"/>
              <a:t>Digital Signature Overview (Cont.)</a:t>
            </a:r>
          </a:p>
        </p:txBody>
      </p:sp>
      <p:sp>
        <p:nvSpPr>
          <p:cNvPr id="5" name="Object4"/>
          <p:cNvSpPr/>
          <p:nvPr/>
        </p:nvSpPr>
        <p:spPr>
          <a:xfrm>
            <a:off x="48444" y="777240"/>
            <a:ext cx="904105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Digital signatures are commonly used in the following two situations: code signing and digital certificates.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There are three Digital Signature Standard (DSS) algorithms that are used for generating and verifying digital signatures:</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Digital Signature Algorithm (DSA)</a:t>
            </a:r>
            <a:r>
              <a:rPr lang="en-US" sz="1600" dirty="0">
                <a:latin typeface="Arial" panose="020B0604020202020204" pitchFamily="34" charset="0"/>
                <a:cs typeface="Arial" panose="020B0604020202020204" pitchFamily="34" charset="0"/>
              </a:rPr>
              <a:t> - DSA is the original standard for generating public and private key pairs, and for generating and verifying digital signatures.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Rivest-Shamir Adelman Algorithm (RSA)</a:t>
            </a:r>
            <a:r>
              <a:rPr lang="en-US" sz="1600" dirty="0">
                <a:latin typeface="Arial" panose="020B0604020202020204" pitchFamily="34" charset="0"/>
                <a:cs typeface="Arial" panose="020B0604020202020204" pitchFamily="34" charset="0"/>
              </a:rPr>
              <a:t> - RSA is an asymmetric algorithm that is commonly used for generating and verifying digital signatures.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Elliptic Curve Digital Signature Algorithm (ECDSA)</a:t>
            </a:r>
            <a:r>
              <a:rPr lang="en-US" sz="1600" dirty="0">
                <a:latin typeface="Arial" panose="020B0604020202020204" pitchFamily="34" charset="0"/>
                <a:cs typeface="Arial" panose="020B0604020202020204" pitchFamily="34" charset="0"/>
              </a:rPr>
              <a:t> - ECDSA is a newer variant of DSA and provides digital signature authentication and non-repudiation with the added benefits of computational efficiency, small signature sizes, and minimal bandwidth.</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56</a:t>
            </a:fld>
            <a:endParaRPr lang="en-US" dirty="0"/>
          </a:p>
        </p:txBody>
      </p:sp>
    </p:spTree>
    <p:extLst>
      <p:ext uri="{BB962C8B-B14F-4D97-AF65-F5344CB8AC3E}">
        <p14:creationId xmlns:p14="http://schemas.microsoft.com/office/powerpoint/2010/main" val="25997444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a:t>
            </a:r>
          </a:p>
        </p:txBody>
      </p:sp>
      <p:sp>
        <p:nvSpPr>
          <p:cNvPr id="5" name="Object4"/>
          <p:cNvSpPr/>
          <p:nvPr/>
        </p:nvSpPr>
        <p:spPr>
          <a:xfrm>
            <a:off x="136251" y="1074647"/>
            <a:ext cx="8871497"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Executable files are wrapped in a digitally signed envelope, which allows the end user to verify the signature before installing the software.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Digitally signing code provides several assurances about the code.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code is authentic and is actually sourced by the publisher.</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code has not been modified since it left the software publisher.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publisher undeniably published the code. This provides nonrepudiation of the act of publishing.</a:t>
            </a:r>
          </a:p>
          <a:p>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57</a:t>
            </a:fld>
            <a:endParaRPr lang="en-US" dirty="0"/>
          </a:p>
        </p:txBody>
      </p:sp>
    </p:spTree>
    <p:extLst>
      <p:ext uri="{BB962C8B-B14F-4D97-AF65-F5344CB8AC3E}">
        <p14:creationId xmlns:p14="http://schemas.microsoft.com/office/powerpoint/2010/main" val="42729457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 (Cont.)</a:t>
            </a:r>
          </a:p>
        </p:txBody>
      </p:sp>
      <p:sp>
        <p:nvSpPr>
          <p:cNvPr id="10" name="TextBox 9">
            <a:extLst>
              <a:ext uri="{FF2B5EF4-FFF2-40B4-BE49-F238E27FC236}">
                <a16:creationId xmlns:a16="http://schemas.microsoft.com/office/drawing/2014/main" id="{740252F2-90C8-4567-BE75-9F51CC91FFA4}"/>
              </a:ext>
            </a:extLst>
          </p:cNvPr>
          <p:cNvSpPr txBox="1"/>
          <p:nvPr/>
        </p:nvSpPr>
        <p:spPr>
          <a:xfrm>
            <a:off x="308916" y="808614"/>
            <a:ext cx="2581877"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This executable file was downloaded from the internet. The file contains a software tool from Cisco Systems.</a:t>
            </a:r>
          </a:p>
        </p:txBody>
      </p:sp>
      <p:pic>
        <p:nvPicPr>
          <p:cNvPr id="4" name="Picture 3">
            <a:extLst>
              <a:ext uri="{FF2B5EF4-FFF2-40B4-BE49-F238E27FC236}">
                <a16:creationId xmlns:a16="http://schemas.microsoft.com/office/drawing/2014/main" id="{A98230DF-5465-43B7-902C-81417FE67933}"/>
              </a:ext>
            </a:extLst>
          </p:cNvPr>
          <p:cNvPicPr>
            <a:picLocks noChangeAspect="1"/>
          </p:cNvPicPr>
          <p:nvPr/>
        </p:nvPicPr>
        <p:blipFill>
          <a:blip r:embed="rId3"/>
          <a:stretch>
            <a:fillRect/>
          </a:stretch>
        </p:blipFill>
        <p:spPr>
          <a:xfrm>
            <a:off x="308916" y="1812790"/>
            <a:ext cx="2390525" cy="2371477"/>
          </a:xfrm>
          <a:prstGeom prst="rect">
            <a:avLst/>
          </a:prstGeom>
        </p:spPr>
      </p:pic>
      <p:sp>
        <p:nvSpPr>
          <p:cNvPr id="12" name="TextBox 11">
            <a:extLst>
              <a:ext uri="{FF2B5EF4-FFF2-40B4-BE49-F238E27FC236}">
                <a16:creationId xmlns:a16="http://schemas.microsoft.com/office/drawing/2014/main" id="{582CA782-D1CC-4E5A-851C-C9442617A80A}"/>
              </a:ext>
            </a:extLst>
          </p:cNvPr>
          <p:cNvSpPr txBox="1"/>
          <p:nvPr/>
        </p:nvSpPr>
        <p:spPr>
          <a:xfrm>
            <a:off x="3005533" y="799352"/>
            <a:ext cx="2670867"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Clicking the </a:t>
            </a:r>
            <a:r>
              <a:rPr lang="en-US" sz="1400" b="1" dirty="0">
                <a:latin typeface="Arial" panose="020B0604020202020204" pitchFamily="34" charset="0"/>
                <a:cs typeface="Arial" panose="020B0604020202020204" pitchFamily="34" charset="0"/>
              </a:rPr>
              <a:t>Digital Signatures</a:t>
            </a:r>
            <a:r>
              <a:rPr lang="en-US" sz="1400" dirty="0">
                <a:latin typeface="Arial" panose="020B0604020202020204" pitchFamily="34" charset="0"/>
                <a:cs typeface="Arial" panose="020B0604020202020204" pitchFamily="34" charset="0"/>
              </a:rPr>
              <a:t> tab reveals that the file is from a trusted organization, Cisco Systems Inc. </a:t>
            </a:r>
          </a:p>
        </p:txBody>
      </p:sp>
      <p:pic>
        <p:nvPicPr>
          <p:cNvPr id="7" name="Picture 6">
            <a:extLst>
              <a:ext uri="{FF2B5EF4-FFF2-40B4-BE49-F238E27FC236}">
                <a16:creationId xmlns:a16="http://schemas.microsoft.com/office/drawing/2014/main" id="{2EB672F1-387B-4849-BCC1-A5A5AFC865A5}"/>
              </a:ext>
            </a:extLst>
          </p:cNvPr>
          <p:cNvPicPr>
            <a:picLocks noChangeAspect="1"/>
          </p:cNvPicPr>
          <p:nvPr/>
        </p:nvPicPr>
        <p:blipFill>
          <a:blip r:embed="rId4"/>
          <a:stretch>
            <a:fillRect/>
          </a:stretch>
        </p:blipFill>
        <p:spPr>
          <a:xfrm>
            <a:off x="3199709" y="1762721"/>
            <a:ext cx="1941323" cy="2471613"/>
          </a:xfrm>
          <a:prstGeom prst="rect">
            <a:avLst/>
          </a:prstGeom>
        </p:spPr>
      </p:pic>
      <p:sp>
        <p:nvSpPr>
          <p:cNvPr id="14" name="TextBox 13">
            <a:extLst>
              <a:ext uri="{FF2B5EF4-FFF2-40B4-BE49-F238E27FC236}">
                <a16:creationId xmlns:a16="http://schemas.microsoft.com/office/drawing/2014/main" id="{79D0BF19-263C-4920-AF19-F92B419E9B6B}"/>
              </a:ext>
            </a:extLst>
          </p:cNvPr>
          <p:cNvSpPr txBox="1"/>
          <p:nvPr/>
        </p:nvSpPr>
        <p:spPr>
          <a:xfrm>
            <a:off x="5985316" y="804428"/>
            <a:ext cx="2627005"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Digital Signature Details window reveals that the file was signed by Cisco Systems, Inc in October of 2019.</a:t>
            </a:r>
          </a:p>
        </p:txBody>
      </p:sp>
      <p:pic>
        <p:nvPicPr>
          <p:cNvPr id="6" name="Picture 5">
            <a:extLst>
              <a:ext uri="{FF2B5EF4-FFF2-40B4-BE49-F238E27FC236}">
                <a16:creationId xmlns:a16="http://schemas.microsoft.com/office/drawing/2014/main" id="{8CBF3213-59BD-45B1-8303-5E426611BC34}"/>
              </a:ext>
            </a:extLst>
          </p:cNvPr>
          <p:cNvPicPr>
            <a:picLocks noChangeAspect="1"/>
          </p:cNvPicPr>
          <p:nvPr/>
        </p:nvPicPr>
        <p:blipFill>
          <a:blip r:embed="rId5"/>
          <a:stretch>
            <a:fillRect/>
          </a:stretch>
        </p:blipFill>
        <p:spPr>
          <a:xfrm>
            <a:off x="6154262" y="1809998"/>
            <a:ext cx="2084919" cy="25290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58</a:t>
            </a:fld>
            <a:endParaRPr lang="en-US" dirty="0"/>
          </a:p>
        </p:txBody>
      </p:sp>
    </p:spTree>
    <p:extLst>
      <p:ext uri="{BB962C8B-B14F-4D97-AF65-F5344CB8AC3E}">
        <p14:creationId xmlns:p14="http://schemas.microsoft.com/office/powerpoint/2010/main" val="10277333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 (Cont.)</a:t>
            </a:r>
          </a:p>
        </p:txBody>
      </p:sp>
      <p:sp>
        <p:nvSpPr>
          <p:cNvPr id="12" name="TextBox 11">
            <a:extLst>
              <a:ext uri="{FF2B5EF4-FFF2-40B4-BE49-F238E27FC236}">
                <a16:creationId xmlns:a16="http://schemas.microsoft.com/office/drawing/2014/main" id="{96F1C222-3AB7-4AC4-8BDD-82DFE33631B9}"/>
              </a:ext>
            </a:extLst>
          </p:cNvPr>
          <p:cNvSpPr txBox="1"/>
          <p:nvPr/>
        </p:nvSpPr>
        <p:spPr>
          <a:xfrm>
            <a:off x="83266" y="790659"/>
            <a:ext cx="4038342"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Certificate Information </a:t>
            </a:r>
            <a:r>
              <a:rPr lang="en-US" sz="1400" dirty="0">
                <a:latin typeface="Arial" panose="020B0604020202020204" pitchFamily="34" charset="0"/>
                <a:cs typeface="Arial" panose="020B0604020202020204" pitchFamily="34" charset="0"/>
              </a:rPr>
              <a:t>tab provides the purposes of the certificate, who the certificate was issued to, and who issued the certificate. It also displays the period for which the certificate is valid. </a:t>
            </a:r>
          </a:p>
        </p:txBody>
      </p:sp>
      <p:pic>
        <p:nvPicPr>
          <p:cNvPr id="8" name="Picture 7">
            <a:extLst>
              <a:ext uri="{FF2B5EF4-FFF2-40B4-BE49-F238E27FC236}">
                <a16:creationId xmlns:a16="http://schemas.microsoft.com/office/drawing/2014/main" id="{5A865EA0-2296-4A3F-9AE8-A43E85CEABC2}"/>
              </a:ext>
            </a:extLst>
          </p:cNvPr>
          <p:cNvPicPr>
            <a:picLocks noChangeAspect="1"/>
          </p:cNvPicPr>
          <p:nvPr/>
        </p:nvPicPr>
        <p:blipFill>
          <a:blip r:embed="rId3"/>
          <a:stretch>
            <a:fillRect/>
          </a:stretch>
        </p:blipFill>
        <p:spPr>
          <a:xfrm>
            <a:off x="1173190" y="1705059"/>
            <a:ext cx="2242657" cy="3005901"/>
          </a:xfrm>
          <a:prstGeom prst="rect">
            <a:avLst/>
          </a:prstGeom>
        </p:spPr>
      </p:pic>
      <p:sp>
        <p:nvSpPr>
          <p:cNvPr id="14" name="TextBox 13">
            <a:extLst>
              <a:ext uri="{FF2B5EF4-FFF2-40B4-BE49-F238E27FC236}">
                <a16:creationId xmlns:a16="http://schemas.microsoft.com/office/drawing/2014/main" id="{B83A1E52-5E89-4572-8B95-E0963A38813D}"/>
              </a:ext>
            </a:extLst>
          </p:cNvPr>
          <p:cNvSpPr txBox="1"/>
          <p:nvPr/>
        </p:nvSpPr>
        <p:spPr>
          <a:xfrm>
            <a:off x="4449374" y="802660"/>
            <a:ext cx="4476623"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Certification Path</a:t>
            </a:r>
            <a:r>
              <a:rPr lang="en-US" sz="1400" dirty="0">
                <a:latin typeface="Arial" panose="020B0604020202020204" pitchFamily="34" charset="0"/>
                <a:cs typeface="Arial" panose="020B0604020202020204" pitchFamily="34" charset="0"/>
              </a:rPr>
              <a:t> tab to see the file was signed by Cisco Systems, as verified to DigiCert.</a:t>
            </a:r>
          </a:p>
        </p:txBody>
      </p:sp>
      <p:pic>
        <p:nvPicPr>
          <p:cNvPr id="9" name="Picture 8">
            <a:extLst>
              <a:ext uri="{FF2B5EF4-FFF2-40B4-BE49-F238E27FC236}">
                <a16:creationId xmlns:a16="http://schemas.microsoft.com/office/drawing/2014/main" id="{9C7A6F09-6DF9-4F85-81A6-292AE0DE280E}"/>
              </a:ext>
            </a:extLst>
          </p:cNvPr>
          <p:cNvPicPr>
            <a:picLocks noChangeAspect="1"/>
          </p:cNvPicPr>
          <p:nvPr/>
        </p:nvPicPr>
        <p:blipFill>
          <a:blip r:embed="rId4"/>
          <a:stretch>
            <a:fillRect/>
          </a:stretch>
        </p:blipFill>
        <p:spPr>
          <a:xfrm>
            <a:off x="5456122" y="1463040"/>
            <a:ext cx="2385156" cy="30923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59</a:t>
            </a:fld>
            <a:endParaRPr lang="en-US" dirty="0"/>
          </a:p>
        </p:txBody>
      </p:sp>
    </p:spTree>
    <p:extLst>
      <p:ext uri="{BB962C8B-B14F-4D97-AF65-F5344CB8AC3E}">
        <p14:creationId xmlns:p14="http://schemas.microsoft.com/office/powerpoint/2010/main" val="313006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Digital Certificates</a:t>
            </a:r>
          </a:p>
        </p:txBody>
      </p:sp>
      <p:sp>
        <p:nvSpPr>
          <p:cNvPr id="5" name="Object4"/>
          <p:cNvSpPr/>
          <p:nvPr/>
        </p:nvSpPr>
        <p:spPr>
          <a:xfrm>
            <a:off x="78722" y="781176"/>
            <a:ext cx="4569895"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A digital certificate is used to authenticate and verify that a user who is sending a message is who they claim to be. Digital certificates can also be used to provide confidentiality for the receiver with the means to encrypt a reply.</a:t>
            </a:r>
          </a:p>
          <a:p>
            <a:pPr>
              <a:lnSpc>
                <a:spcPts val="2000"/>
              </a:lnSpc>
            </a:pPr>
            <a:endParaRPr lang="en-US" sz="1400" dirty="0">
              <a:latin typeface="Arial" panose="020B0604020202020204" pitchFamily="34" charset="0"/>
              <a:cs typeface="Arial" panose="020B0604020202020204" pitchFamily="34" charset="0"/>
            </a:endParaRPr>
          </a:p>
          <a:p>
            <a:pPr>
              <a:lnSpc>
                <a:spcPts val="2000"/>
              </a:lnSpc>
            </a:pPr>
            <a:r>
              <a:rPr lang="en-US" sz="1400" dirty="0">
                <a:latin typeface="Arial" panose="020B0604020202020204" pitchFamily="34" charset="0"/>
                <a:cs typeface="Arial" panose="020B0604020202020204" pitchFamily="34" charset="0"/>
              </a:rPr>
              <a:t>This scenario will help you understand how a digital signature is used. Bob is confirming an order with Alice. Alice is ordering from Bob’s website. Alice has connected with Bob’s website, and after the certificate has been verified, the Bob’s certificate is stored on Alice’s website. The certificate contains Bob’s public key. The public key is used to verify the Bob’s digital signature.</a:t>
            </a:r>
          </a:p>
        </p:txBody>
      </p:sp>
      <p:pic>
        <p:nvPicPr>
          <p:cNvPr id="4" name="Picture 3">
            <a:extLst>
              <a:ext uri="{FF2B5EF4-FFF2-40B4-BE49-F238E27FC236}">
                <a16:creationId xmlns:a16="http://schemas.microsoft.com/office/drawing/2014/main" id="{B345816D-EDBB-4ACB-8F6A-BF566904A9B2}"/>
              </a:ext>
            </a:extLst>
          </p:cNvPr>
          <p:cNvPicPr>
            <a:picLocks noChangeAspect="1"/>
          </p:cNvPicPr>
          <p:nvPr/>
        </p:nvPicPr>
        <p:blipFill>
          <a:blip r:embed="rId3"/>
          <a:stretch>
            <a:fillRect/>
          </a:stretch>
        </p:blipFill>
        <p:spPr>
          <a:xfrm>
            <a:off x="4574107" y="1084456"/>
            <a:ext cx="4424558" cy="31664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60</a:t>
            </a:fld>
            <a:endParaRPr lang="en-US" dirty="0"/>
          </a:p>
        </p:txBody>
      </p:sp>
    </p:spTree>
    <p:extLst>
      <p:ext uri="{BB962C8B-B14F-4D97-AF65-F5344CB8AC3E}">
        <p14:creationId xmlns:p14="http://schemas.microsoft.com/office/powerpoint/2010/main" val="27416524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1143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Digital Certificates (Cont.)</a:t>
            </a:r>
          </a:p>
        </p:txBody>
      </p:sp>
      <p:sp>
        <p:nvSpPr>
          <p:cNvPr id="7" name="TextBox 6">
            <a:extLst>
              <a:ext uri="{FF2B5EF4-FFF2-40B4-BE49-F238E27FC236}">
                <a16:creationId xmlns:a16="http://schemas.microsoft.com/office/drawing/2014/main" id="{4399C18B-D914-4CBE-B478-CB69A6FE4AB2}"/>
              </a:ext>
            </a:extLst>
          </p:cNvPr>
          <p:cNvSpPr txBox="1"/>
          <p:nvPr/>
        </p:nvSpPr>
        <p:spPr>
          <a:xfrm>
            <a:off x="241004" y="866607"/>
            <a:ext cx="4635796" cy="353943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When Alice receives the digital signature, the following process occurs:</a:t>
            </a:r>
          </a:p>
          <a:p>
            <a:endParaRPr lang="en-US" sz="1600" dirty="0">
              <a:latin typeface="Arial" panose="020B0604020202020204" pitchFamily="34" charset="0"/>
              <a:cs typeface="Arial" panose="020B0604020202020204" pitchFamily="34" charset="0"/>
            </a:endParaRPr>
          </a:p>
          <a:p>
            <a:pPr marL="342900" indent="-342900">
              <a:buFont typeface="+mj-lt"/>
              <a:buAutoNum type="arabicPeriod"/>
            </a:pPr>
            <a:r>
              <a:rPr lang="en-US" sz="1600" dirty="0">
                <a:latin typeface="Arial" panose="020B0604020202020204" pitchFamily="34" charset="0"/>
                <a:cs typeface="Arial" panose="020B0604020202020204" pitchFamily="34" charset="0"/>
              </a:rPr>
              <a:t>Alice’s receiving device accepts the order confirmation with the digital signature and obtains Bob’s public key.</a:t>
            </a:r>
          </a:p>
          <a:p>
            <a:pPr marL="342900" indent="-342900">
              <a:buFont typeface="+mj-lt"/>
              <a:buAutoNum type="arabicPeriod"/>
            </a:pPr>
            <a:r>
              <a:rPr lang="en-US" sz="1600" dirty="0">
                <a:latin typeface="Arial" panose="020B0604020202020204" pitchFamily="34" charset="0"/>
                <a:cs typeface="Arial" panose="020B0604020202020204" pitchFamily="34" charset="0"/>
              </a:rPr>
              <a:t>Alice’s computer then decrypts the signature using Bob’s public key. This step reveals the assumed hash value of the sending device.</a:t>
            </a:r>
          </a:p>
          <a:p>
            <a:pPr marL="342900" indent="-342900">
              <a:buFont typeface="+mj-lt"/>
              <a:buAutoNum type="arabicPeriod"/>
            </a:pPr>
            <a:r>
              <a:rPr lang="en-US" sz="1600" dirty="0">
                <a:latin typeface="Arial" panose="020B0604020202020204" pitchFamily="34" charset="0"/>
                <a:cs typeface="Arial" panose="020B0604020202020204" pitchFamily="34" charset="0"/>
              </a:rPr>
              <a:t>Alice’s computer creates a hash of the received document, without its signature, and compares this hash to the decrypted signature hash. If the hashes match, the document is authentic.</a:t>
            </a:r>
          </a:p>
        </p:txBody>
      </p:sp>
      <p:pic>
        <p:nvPicPr>
          <p:cNvPr id="6" name="Picture 5">
            <a:extLst>
              <a:ext uri="{FF2B5EF4-FFF2-40B4-BE49-F238E27FC236}">
                <a16:creationId xmlns:a16="http://schemas.microsoft.com/office/drawing/2014/main" id="{27AE2277-5487-44A2-921B-EF79D4EFBA43}"/>
              </a:ext>
            </a:extLst>
          </p:cNvPr>
          <p:cNvPicPr>
            <a:picLocks noChangeAspect="1"/>
          </p:cNvPicPr>
          <p:nvPr/>
        </p:nvPicPr>
        <p:blipFill>
          <a:blip r:embed="rId3"/>
          <a:srcRect l="13133" r="10419"/>
          <a:stretch/>
        </p:blipFill>
        <p:spPr>
          <a:xfrm>
            <a:off x="5124823" y="1043493"/>
            <a:ext cx="3771153" cy="30565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61</a:t>
            </a:fld>
            <a:endParaRPr lang="en-US" dirty="0"/>
          </a:p>
        </p:txBody>
      </p:sp>
    </p:spTree>
    <p:extLst>
      <p:ext uri="{BB962C8B-B14F-4D97-AF65-F5344CB8AC3E}">
        <p14:creationId xmlns:p14="http://schemas.microsoft.com/office/powerpoint/2010/main" val="3679616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17.2 Authorities and the PKI Trust System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62</a:t>
            </a:fld>
            <a:endParaRPr lang="en-US" dirty="0"/>
          </a:p>
        </p:txBody>
      </p:sp>
    </p:spTree>
    <p:extLst>
      <p:ext uri="{BB962C8B-B14F-4D97-AF65-F5344CB8AC3E}">
        <p14:creationId xmlns:p14="http://schemas.microsoft.com/office/powerpoint/2010/main" val="352697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Management</a:t>
            </a:r>
          </a:p>
        </p:txBody>
      </p:sp>
      <p:sp>
        <p:nvSpPr>
          <p:cNvPr id="5" name="Object4"/>
          <p:cNvSpPr/>
          <p:nvPr/>
        </p:nvSpPr>
        <p:spPr>
          <a:xfrm>
            <a:off x="0" y="808074"/>
            <a:ext cx="903058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When establishing an asymmetric connection between two hosts, the hosts will exchange their public key information.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 SSL certificate is a digital certificate that confirms the identity of a website domain. To implement SSL on your website, you purchase an SSL certificate for your domain from an SSL Certificate provider.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trusted third party does an in-depth investigation prior to the issuance of credentials. After this in-depth investigation, the third-party issues credentials (i.e., digital certificate) that are difficult to forge. From that point forward, all individuals who trust the third party simply accept the credentials that the third-party issues.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Some examples of Certificate Authorities (CAs) are IdenTrust, DigiCert, Sectigo, GlobalSign, and GoDaddy. These CAs charge for their services. Let’s Encrypt is a non-profit CA that offers certificates free of charge.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63</a:t>
            </a:fld>
            <a:endParaRPr lang="en-US" dirty="0"/>
          </a:p>
        </p:txBody>
      </p:sp>
    </p:spTree>
    <p:extLst>
      <p:ext uri="{BB962C8B-B14F-4D97-AF65-F5344CB8AC3E}">
        <p14:creationId xmlns:p14="http://schemas.microsoft.com/office/powerpoint/2010/main" val="205783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Infrastructure</a:t>
            </a:r>
          </a:p>
        </p:txBody>
      </p:sp>
      <p:sp>
        <p:nvSpPr>
          <p:cNvPr id="5" name="Object4"/>
          <p:cNvSpPr/>
          <p:nvPr/>
        </p:nvSpPr>
        <p:spPr>
          <a:xfrm>
            <a:off x="0" y="914400"/>
            <a:ext cx="8800186" cy="629023"/>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PKI is needed to support large-scale distribution and identification of public encryption keys. The figure shows the main elements of the PKI.</a:t>
            </a:r>
          </a:p>
        </p:txBody>
      </p:sp>
      <p:pic>
        <p:nvPicPr>
          <p:cNvPr id="4" name="Picture 3">
            <a:extLst>
              <a:ext uri="{FF2B5EF4-FFF2-40B4-BE49-F238E27FC236}">
                <a16:creationId xmlns:a16="http://schemas.microsoft.com/office/drawing/2014/main" id="{4CAF3BD3-0668-4B54-B1DA-AE2FE5A412A7}"/>
              </a:ext>
            </a:extLst>
          </p:cNvPr>
          <p:cNvPicPr>
            <a:picLocks noChangeAspect="1"/>
          </p:cNvPicPr>
          <p:nvPr/>
        </p:nvPicPr>
        <p:blipFill>
          <a:blip r:embed="rId3"/>
          <a:stretch>
            <a:fillRect/>
          </a:stretch>
        </p:blipFill>
        <p:spPr>
          <a:xfrm>
            <a:off x="1429127" y="1543423"/>
            <a:ext cx="5771015" cy="308572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64</a:t>
            </a:fld>
            <a:endParaRPr lang="en-US" dirty="0"/>
          </a:p>
        </p:txBody>
      </p:sp>
    </p:spTree>
    <p:extLst>
      <p:ext uri="{BB962C8B-B14F-4D97-AF65-F5344CB8AC3E}">
        <p14:creationId xmlns:p14="http://schemas.microsoft.com/office/powerpoint/2010/main" val="925640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Management (Cont.)</a:t>
            </a:r>
          </a:p>
        </p:txBody>
      </p:sp>
      <p:sp>
        <p:nvSpPr>
          <p:cNvPr id="5" name="Object4"/>
          <p:cNvSpPr/>
          <p:nvPr/>
        </p:nvSpPr>
        <p:spPr>
          <a:xfrm>
            <a:off x="0" y="812486"/>
            <a:ext cx="4224670" cy="3737567"/>
          </a:xfrm>
          <a:prstGeom prst="rect">
            <a:avLst/>
          </a:prstGeom>
          <a:noFill/>
          <a:ln/>
        </p:spPr>
        <p:txBody>
          <a:bodyPr wrap="square" rtlCol="0" anchor="t"/>
          <a:lstStyle/>
          <a:p>
            <a:pPr>
              <a:lnSpc>
                <a:spcPts val="2000"/>
              </a:lnSpc>
            </a:pPr>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next figure shows how the elements of the PKI interoperate:</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In this example, Bob has received his digital certificate from the CA. This certificate is used whenever Bob communicates with other parties.</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Bob communicates with Alice.</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When Alice receives Bob’s digital certificate, she communicates with the trusted CA to validate Bob’s identity.</a:t>
            </a:r>
          </a:p>
          <a:p>
            <a:pPr>
              <a:lnSpc>
                <a:spcPts val="2000"/>
              </a:lnSpc>
            </a:pPr>
            <a:endParaRPr lang="en-US" sz="1400" dirty="0"/>
          </a:p>
        </p:txBody>
      </p:sp>
      <p:pic>
        <p:nvPicPr>
          <p:cNvPr id="6" name="Picture 5">
            <a:extLst>
              <a:ext uri="{FF2B5EF4-FFF2-40B4-BE49-F238E27FC236}">
                <a16:creationId xmlns:a16="http://schemas.microsoft.com/office/drawing/2014/main" id="{766887CA-84F0-4821-9F19-5EC8C7366AC3}"/>
              </a:ext>
            </a:extLst>
          </p:cNvPr>
          <p:cNvPicPr>
            <a:picLocks noChangeAspect="1"/>
          </p:cNvPicPr>
          <p:nvPr/>
        </p:nvPicPr>
        <p:blipFill>
          <a:blip r:embed="rId3"/>
          <a:stretch>
            <a:fillRect/>
          </a:stretch>
        </p:blipFill>
        <p:spPr>
          <a:xfrm>
            <a:off x="4224670" y="914400"/>
            <a:ext cx="4833698" cy="342370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65</a:t>
            </a:fld>
            <a:endParaRPr lang="en-US" dirty="0"/>
          </a:p>
        </p:txBody>
      </p:sp>
    </p:spTree>
    <p:extLst>
      <p:ext uri="{BB962C8B-B14F-4D97-AF65-F5344CB8AC3E}">
        <p14:creationId xmlns:p14="http://schemas.microsoft.com/office/powerpoint/2010/main" val="18435762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Authorities System</a:t>
            </a:r>
          </a:p>
        </p:txBody>
      </p:sp>
      <p:sp>
        <p:nvSpPr>
          <p:cNvPr id="5" name="Object4"/>
          <p:cNvSpPr/>
          <p:nvPr/>
        </p:nvSpPr>
        <p:spPr>
          <a:xfrm>
            <a:off x="0" y="722837"/>
            <a:ext cx="905256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CAs, especially those that are outsourced, issue certificates based on classes which determine how trusted a certificate is.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table provides a description of the classes. The class number is determined by how rigorous the procedure was that verified the identity of the holder when the certificate was issued. The higher the class number, the more trusted the certificate. </a:t>
            </a:r>
          </a:p>
        </p:txBody>
      </p:sp>
      <p:graphicFrame>
        <p:nvGraphicFramePr>
          <p:cNvPr id="6" name="Table 5">
            <a:extLst>
              <a:ext uri="{FF2B5EF4-FFF2-40B4-BE49-F238E27FC236}">
                <a16:creationId xmlns:a16="http://schemas.microsoft.com/office/drawing/2014/main" id="{FDDA0873-7042-4766-A878-5BC85867E526}"/>
              </a:ext>
            </a:extLst>
          </p:cNvPr>
          <p:cNvGraphicFramePr>
            <a:graphicFrameLocks noGrp="1"/>
          </p:cNvGraphicFramePr>
          <p:nvPr>
            <p:extLst>
              <p:ext uri="{D42A27DB-BD31-4B8C-83A1-F6EECF244321}">
                <p14:modId xmlns:p14="http://schemas.microsoft.com/office/powerpoint/2010/main" val="859963284"/>
              </p:ext>
            </p:extLst>
          </p:nvPr>
        </p:nvGraphicFramePr>
        <p:xfrm>
          <a:off x="93133" y="2409869"/>
          <a:ext cx="8959427" cy="1996440"/>
        </p:xfrm>
        <a:graphic>
          <a:graphicData uri="http://schemas.openxmlformats.org/drawingml/2006/table">
            <a:tbl>
              <a:tblPr/>
              <a:tblGrid>
                <a:gridCol w="1463164">
                  <a:extLst>
                    <a:ext uri="{9D8B030D-6E8A-4147-A177-3AD203B41FA5}">
                      <a16:colId xmlns:a16="http://schemas.microsoft.com/office/drawing/2014/main" val="20000"/>
                    </a:ext>
                  </a:extLst>
                </a:gridCol>
                <a:gridCol w="7496263">
                  <a:extLst>
                    <a:ext uri="{9D8B030D-6E8A-4147-A177-3AD203B41FA5}">
                      <a16:colId xmlns:a16="http://schemas.microsoft.com/office/drawing/2014/main" val="20001"/>
                    </a:ext>
                  </a:extLst>
                </a:gridCol>
              </a:tblGrid>
              <a:tr h="0">
                <a:tc>
                  <a:txBody>
                    <a:bodyPr/>
                    <a:lstStyle/>
                    <a:p>
                      <a:r>
                        <a:rPr lang="en-US" sz="1200" dirty="0">
                          <a:solidFill>
                            <a:srgbClr val="FFFFFF"/>
                          </a:solidFill>
                        </a:rPr>
                        <a:t>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0</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for testing in situations in which no checks have been performed.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1</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by individuals who require verification of email.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chemeClr val="tx1"/>
                          </a:solidFill>
                        </a:rPr>
                        <a:t>2</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by organizations for which proof of identity is required.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3</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for servers and software signing. Independent verification and checking of identity and authority is done by the certificate authority.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chemeClr val="tx1"/>
                          </a:solidFill>
                        </a:rPr>
                        <a:t>4</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for online business transactions between companies.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chemeClr val="tx1"/>
                          </a:solidFill>
                        </a:rPr>
                        <a:t>5</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for private organizations or government security.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66</a:t>
            </a:fld>
            <a:endParaRPr lang="en-US" dirty="0"/>
          </a:p>
        </p:txBody>
      </p:sp>
    </p:spTree>
    <p:extLst>
      <p:ext uri="{BB962C8B-B14F-4D97-AF65-F5344CB8AC3E}">
        <p14:creationId xmlns:p14="http://schemas.microsoft.com/office/powerpoint/2010/main" val="31132724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Trust System</a:t>
            </a:r>
          </a:p>
        </p:txBody>
      </p:sp>
      <p:sp>
        <p:nvSpPr>
          <p:cNvPr id="5" name="Object4"/>
          <p:cNvSpPr/>
          <p:nvPr/>
        </p:nvSpPr>
        <p:spPr>
          <a:xfrm>
            <a:off x="0" y="914400"/>
            <a:ext cx="4059991"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PKIs can form different topologies of trust. The simplest is the single-root PKI topology.</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As shown in the figure, a single CA, called the root CA, issues all the certificates to the end users, which are usually within the same organization. The benefit to this approach is its simplicity. However, it is difficult to scale to a large environment because it requires a strictly centralized administration, which creates a single point of failure.</a:t>
            </a:r>
          </a:p>
        </p:txBody>
      </p:sp>
      <p:pic>
        <p:nvPicPr>
          <p:cNvPr id="4" name="Picture 3">
            <a:extLst>
              <a:ext uri="{FF2B5EF4-FFF2-40B4-BE49-F238E27FC236}">
                <a16:creationId xmlns:a16="http://schemas.microsoft.com/office/drawing/2014/main" id="{82D35BEE-F35F-4596-809D-9BF3AA5ACC55}"/>
              </a:ext>
            </a:extLst>
          </p:cNvPr>
          <p:cNvPicPr>
            <a:picLocks noChangeAspect="1"/>
          </p:cNvPicPr>
          <p:nvPr/>
        </p:nvPicPr>
        <p:blipFill>
          <a:blip r:embed="rId3"/>
          <a:stretch>
            <a:fillRect/>
          </a:stretch>
        </p:blipFill>
        <p:spPr>
          <a:xfrm>
            <a:off x="4059991" y="996151"/>
            <a:ext cx="4529847" cy="315119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67</a:t>
            </a:fld>
            <a:endParaRPr lang="en-US" dirty="0"/>
          </a:p>
        </p:txBody>
      </p:sp>
    </p:spTree>
    <p:extLst>
      <p:ext uri="{BB962C8B-B14F-4D97-AF65-F5344CB8AC3E}">
        <p14:creationId xmlns:p14="http://schemas.microsoft.com/office/powerpoint/2010/main" val="3355514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Trust System (Cont.)</a:t>
            </a:r>
          </a:p>
        </p:txBody>
      </p:sp>
      <p:sp>
        <p:nvSpPr>
          <p:cNvPr id="5" name="Object4"/>
          <p:cNvSpPr/>
          <p:nvPr/>
        </p:nvSpPr>
        <p:spPr>
          <a:xfrm>
            <a:off x="71045" y="815736"/>
            <a:ext cx="8353958" cy="69639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On larger networks, PKI CAs may be linked using two basic architectures: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Cross-certified CA topologies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Hierarchical CA topologies</a:t>
            </a:r>
          </a:p>
        </p:txBody>
      </p:sp>
      <p:pic>
        <p:nvPicPr>
          <p:cNvPr id="6" name="Picture 5">
            <a:extLst>
              <a:ext uri="{FF2B5EF4-FFF2-40B4-BE49-F238E27FC236}">
                <a16:creationId xmlns:a16="http://schemas.microsoft.com/office/drawing/2014/main" id="{40220CE2-7EB3-4300-85C0-9F8F6A7630C9}"/>
              </a:ext>
            </a:extLst>
          </p:cNvPr>
          <p:cNvPicPr>
            <a:picLocks noChangeAspect="1"/>
          </p:cNvPicPr>
          <p:nvPr/>
        </p:nvPicPr>
        <p:blipFill>
          <a:blip r:embed="rId3"/>
          <a:stretch>
            <a:fillRect/>
          </a:stretch>
        </p:blipFill>
        <p:spPr>
          <a:xfrm>
            <a:off x="256487" y="1697675"/>
            <a:ext cx="3991537" cy="2858523"/>
          </a:xfrm>
          <a:prstGeom prst="rect">
            <a:avLst/>
          </a:prstGeom>
        </p:spPr>
      </p:pic>
      <p:sp>
        <p:nvSpPr>
          <p:cNvPr id="10" name="TextBox 9">
            <a:extLst>
              <a:ext uri="{FF2B5EF4-FFF2-40B4-BE49-F238E27FC236}">
                <a16:creationId xmlns:a16="http://schemas.microsoft.com/office/drawing/2014/main" id="{F0096493-509D-43FC-B1AE-20EEB1A5F8D4}"/>
              </a:ext>
            </a:extLst>
          </p:cNvPr>
          <p:cNvSpPr txBox="1"/>
          <p:nvPr/>
        </p:nvSpPr>
        <p:spPr>
          <a:xfrm>
            <a:off x="1197296" y="4387038"/>
            <a:ext cx="4610986" cy="369332"/>
          </a:xfrm>
          <a:prstGeom prst="rect">
            <a:avLst/>
          </a:prstGeom>
          <a:noFill/>
        </p:spPr>
        <p:txBody>
          <a:bodyPr wrap="square">
            <a:spAutoFit/>
          </a:bodyPr>
          <a:lstStyle/>
          <a:p>
            <a:r>
              <a:rPr lang="en-US" sz="1800" dirty="0"/>
              <a:t>Cross-certified CA</a:t>
            </a:r>
          </a:p>
        </p:txBody>
      </p:sp>
      <p:pic>
        <p:nvPicPr>
          <p:cNvPr id="7" name="Picture 6">
            <a:extLst>
              <a:ext uri="{FF2B5EF4-FFF2-40B4-BE49-F238E27FC236}">
                <a16:creationId xmlns:a16="http://schemas.microsoft.com/office/drawing/2014/main" id="{5763E803-7FC1-4E8A-8567-677003E7563D}"/>
              </a:ext>
            </a:extLst>
          </p:cNvPr>
          <p:cNvPicPr>
            <a:picLocks noChangeAspect="1"/>
          </p:cNvPicPr>
          <p:nvPr/>
        </p:nvPicPr>
        <p:blipFill>
          <a:blip r:embed="rId4"/>
          <a:stretch>
            <a:fillRect/>
          </a:stretch>
        </p:blipFill>
        <p:spPr>
          <a:xfrm>
            <a:off x="4433953" y="1697675"/>
            <a:ext cx="4096831" cy="2793916"/>
          </a:xfrm>
          <a:prstGeom prst="rect">
            <a:avLst/>
          </a:prstGeom>
        </p:spPr>
      </p:pic>
      <p:sp>
        <p:nvSpPr>
          <p:cNvPr id="12" name="TextBox 11">
            <a:extLst>
              <a:ext uri="{FF2B5EF4-FFF2-40B4-BE49-F238E27FC236}">
                <a16:creationId xmlns:a16="http://schemas.microsoft.com/office/drawing/2014/main" id="{B7BCA21A-649D-4F86-9FDA-DAAC7D51F7C1}"/>
              </a:ext>
            </a:extLst>
          </p:cNvPr>
          <p:cNvSpPr txBox="1"/>
          <p:nvPr/>
        </p:nvSpPr>
        <p:spPr>
          <a:xfrm>
            <a:off x="5901246" y="4371532"/>
            <a:ext cx="4610986" cy="369332"/>
          </a:xfrm>
          <a:prstGeom prst="rect">
            <a:avLst/>
          </a:prstGeom>
          <a:noFill/>
        </p:spPr>
        <p:txBody>
          <a:bodyPr wrap="square">
            <a:spAutoFit/>
          </a:bodyPr>
          <a:lstStyle/>
          <a:p>
            <a:r>
              <a:rPr lang="en-US" sz="1800" dirty="0"/>
              <a:t>Hierarchical CA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68</a:t>
            </a:fld>
            <a:endParaRPr lang="en-US" dirty="0"/>
          </a:p>
        </p:txBody>
      </p:sp>
    </p:spTree>
    <p:extLst>
      <p:ext uri="{BB962C8B-B14F-4D97-AF65-F5344CB8AC3E}">
        <p14:creationId xmlns:p14="http://schemas.microsoft.com/office/powerpoint/2010/main" val="31641919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Interoperability of Different PKI Vendors</a:t>
            </a:r>
          </a:p>
        </p:txBody>
      </p:sp>
      <p:sp>
        <p:nvSpPr>
          <p:cNvPr id="5" name="Object4"/>
          <p:cNvSpPr/>
          <p:nvPr/>
        </p:nvSpPr>
        <p:spPr>
          <a:xfrm>
            <a:off x="0" y="731520"/>
            <a:ext cx="395393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Interoperability between a PKI and its supporting services, such as Lightweight Directory Access Protocol (LDAP) and X.500 directories, is a concern because many CA vendors have proposed and implemented proprietary solutions instead of waiting for standards to develop.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address this interoperability concern, the IETF published the Internet X.509 Public Key Infrastructure Certificate Policy and Certification Practices Framework (RFC 2527). The X.509 version 3 (X.509 v3) standard defines the format of a digital certificate.</a:t>
            </a:r>
          </a:p>
          <a:p>
            <a:pPr>
              <a:lnSpc>
                <a:spcPts val="2000"/>
              </a:lnSpc>
            </a:pPr>
            <a:endParaRPr lang="en-US" sz="1400" dirty="0"/>
          </a:p>
        </p:txBody>
      </p:sp>
      <p:pic>
        <p:nvPicPr>
          <p:cNvPr id="4" name="Picture 3">
            <a:extLst>
              <a:ext uri="{FF2B5EF4-FFF2-40B4-BE49-F238E27FC236}">
                <a16:creationId xmlns:a16="http://schemas.microsoft.com/office/drawing/2014/main" id="{4AC6B6E8-FEE3-4B83-B5BF-A95120CF18D0}"/>
              </a:ext>
            </a:extLst>
          </p:cNvPr>
          <p:cNvPicPr>
            <a:picLocks noChangeAspect="1"/>
          </p:cNvPicPr>
          <p:nvPr/>
        </p:nvPicPr>
        <p:blipFill>
          <a:blip r:embed="rId3"/>
          <a:stretch>
            <a:fillRect/>
          </a:stretch>
        </p:blipFill>
        <p:spPr>
          <a:xfrm>
            <a:off x="4106333" y="731520"/>
            <a:ext cx="3027165" cy="2575704"/>
          </a:xfrm>
          <a:prstGeom prst="rect">
            <a:avLst/>
          </a:prstGeom>
        </p:spPr>
      </p:pic>
      <p:pic>
        <p:nvPicPr>
          <p:cNvPr id="6" name="Picture 5">
            <a:extLst>
              <a:ext uri="{FF2B5EF4-FFF2-40B4-BE49-F238E27FC236}">
                <a16:creationId xmlns:a16="http://schemas.microsoft.com/office/drawing/2014/main" id="{8D5B495B-55DC-4A9A-9FD7-A7F3C479EE1C}"/>
              </a:ext>
            </a:extLst>
          </p:cNvPr>
          <p:cNvPicPr>
            <a:picLocks noChangeAspect="1"/>
          </p:cNvPicPr>
          <p:nvPr/>
        </p:nvPicPr>
        <p:blipFill>
          <a:blip r:embed="rId4"/>
          <a:stretch>
            <a:fillRect/>
          </a:stretch>
        </p:blipFill>
        <p:spPr>
          <a:xfrm>
            <a:off x="6089531" y="2755640"/>
            <a:ext cx="2715802" cy="18735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69</a:t>
            </a:fld>
            <a:endParaRPr lang="en-US" dirty="0"/>
          </a:p>
        </p:txBody>
      </p:sp>
    </p:spTree>
    <p:extLst>
      <p:ext uri="{BB962C8B-B14F-4D97-AF65-F5344CB8AC3E}">
        <p14:creationId xmlns:p14="http://schemas.microsoft.com/office/powerpoint/2010/main" val="32184974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Certificate Enrollment, Authentication, and Revocation</a:t>
            </a:r>
          </a:p>
        </p:txBody>
      </p:sp>
      <p:sp>
        <p:nvSpPr>
          <p:cNvPr id="5" name="Object4"/>
          <p:cNvSpPr/>
          <p:nvPr/>
        </p:nvSpPr>
        <p:spPr>
          <a:xfrm>
            <a:off x="-70884" y="731520"/>
            <a:ext cx="9214884"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All systems that leverage the PKI must have the CA’s public key, which is called the self-signed certificate. The CA public key verifies all the certificates issued by the CA and is vital for the proper operation of the PKI.</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For many systems such as web browsers, the distribution of CA certificates is handled automatically.</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The certificate enrollment process is used by a host system to enroll with a PKI. To do so, CA certificates are retrieved in-band over a network, and the authentication is done out-of-band (OOB) using the telephone.</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Authentication no longer requires the presence of the CA server, and each user exchanges their certificates containing public keys. </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Certificates must sometimes be revoked. The two of the most common methods of revocation are Certificate Revocation List (CRL) and Online Certificate Status Protocol (OCSP).</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70</a:t>
            </a:fld>
            <a:endParaRPr lang="en-US" dirty="0"/>
          </a:p>
        </p:txBody>
      </p:sp>
    </p:spTree>
    <p:extLst>
      <p:ext uri="{BB962C8B-B14F-4D97-AF65-F5344CB8AC3E}">
        <p14:creationId xmlns:p14="http://schemas.microsoft.com/office/powerpoint/2010/main" val="25105349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386316" y="1504507"/>
            <a:ext cx="8229600" cy="914400"/>
          </a:xfrm>
          <a:prstGeom prst="rect">
            <a:avLst/>
          </a:prstGeom>
          <a:noFill/>
          <a:ln/>
        </p:spPr>
        <p:txBody>
          <a:bodyPr wrap="square" rtlCol="0"/>
          <a:lstStyle/>
          <a:p>
            <a:pPr marL="0" indent="0">
              <a:buNone/>
            </a:pPr>
            <a:r>
              <a:rPr lang="en-US" dirty="0"/>
              <a:t>17.3 Applications and Impacts of Cryptography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71</a:t>
            </a:fld>
            <a:endParaRPr lang="en-US" dirty="0"/>
          </a:p>
        </p:txBody>
      </p:sp>
    </p:spTree>
    <p:extLst>
      <p:ext uri="{BB962C8B-B14F-4D97-AF65-F5344CB8AC3E}">
        <p14:creationId xmlns:p14="http://schemas.microsoft.com/office/powerpoint/2010/main" val="30476340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PKI Applications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Where can PKI be used by an enterprise? The following provides a short list of common uses of PKIs: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SSL/TLS certificate-based peer authentication </a:t>
            </a:r>
            <a:r>
              <a:rPr lang="en-US" sz="1600" dirty="0">
                <a:solidFill>
                  <a:srgbClr val="000000"/>
                </a:solidFill>
                <a:latin typeface="Arial" pitchFamily="34" charset="0"/>
                <a:ea typeface="Arial" pitchFamily="34" charset="-122"/>
                <a:cs typeface="Arial" pitchFamily="34" charset="-120"/>
                <a:hlinkClick r:id="rId3"/>
              </a:rPr>
              <a:t>https://youtu.be/j9QmMEWmcfo?si=l5j4fgUlFP_-6CXN</a:t>
            </a:r>
            <a:r>
              <a:rPr lang="en-US" sz="1600" dirty="0">
                <a:solidFill>
                  <a:srgbClr val="000000"/>
                </a:solidFill>
                <a:latin typeface="Arial" pitchFamily="34" charset="0"/>
                <a:ea typeface="Arial" pitchFamily="34" charset="-122"/>
                <a:cs typeface="Arial" pitchFamily="34" charset="-120"/>
              </a:rPr>
              <a:t> (</a:t>
            </a:r>
            <a:r>
              <a:rPr lang="en-US" sz="1600" dirty="0" err="1">
                <a:solidFill>
                  <a:srgbClr val="000000"/>
                </a:solidFill>
                <a:latin typeface="Arial" pitchFamily="34" charset="0"/>
                <a:ea typeface="Arial" pitchFamily="34" charset="-122"/>
                <a:cs typeface="Arial" pitchFamily="34" charset="-120"/>
              </a:rPr>
              <a:t>činnosť</a:t>
            </a:r>
            <a:r>
              <a:rPr lang="en-US" sz="1600" dirty="0">
                <a:solidFill>
                  <a:srgbClr val="000000"/>
                </a:solidFill>
                <a:latin typeface="Arial" pitchFamily="34" charset="0"/>
                <a:ea typeface="Arial" pitchFamily="34" charset="-122"/>
                <a:cs typeface="Arial" pitchFamily="34" charset="-120"/>
              </a:rPr>
              <a:t> TLS )</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network traffic using IPsec VPNs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HTTPS Web traffic</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Control access to the network using 802.1x authentication</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email using the S/MIME protocol</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instant messaging</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Approve and authorize applications with Code Signing</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Protect user data with the Encryption File System (EFS)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Implement two-factor authentication with smart cards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Securing USB storage devices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72</a:t>
            </a:fld>
            <a:endParaRPr lang="en-US" dirty="0"/>
          </a:p>
        </p:txBody>
      </p:sp>
    </p:spTree>
    <p:extLst>
      <p:ext uri="{BB962C8B-B14F-4D97-AF65-F5344CB8AC3E}">
        <p14:creationId xmlns:p14="http://schemas.microsoft.com/office/powerpoint/2010/main" val="27386676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Encrypted Network Transactions</a:t>
            </a:r>
          </a:p>
        </p:txBody>
      </p:sp>
      <p:sp>
        <p:nvSpPr>
          <p:cNvPr id="9" name="TextBox 8">
            <a:extLst>
              <a:ext uri="{FF2B5EF4-FFF2-40B4-BE49-F238E27FC236}">
                <a16:creationId xmlns:a16="http://schemas.microsoft.com/office/drawing/2014/main" id="{5DB47B6D-2279-40C9-9A5B-580A197AD12D}"/>
              </a:ext>
            </a:extLst>
          </p:cNvPr>
          <p:cNvSpPr txBox="1"/>
          <p:nvPr/>
        </p:nvSpPr>
        <p:spPr>
          <a:xfrm>
            <a:off x="63794" y="852341"/>
            <a:ext cx="9200707" cy="378565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Threat actors can use SSL/TLS to introduce regulatory compliance violations, viruses, malware, data loss, and intrusion attempts in a network.</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Other SSL/TLS-related issues may be associated with validating the certificate of a web server. When this occurs, web browsers will display a security warning. PKI-related issues that are associated with security warnings include:</a:t>
            </a:r>
          </a:p>
          <a:p>
            <a:endParaRPr lang="en-US" sz="16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Validity date range</a:t>
            </a:r>
            <a:r>
              <a:rPr lang="en-US" sz="1600" dirty="0">
                <a:effectLst/>
                <a:latin typeface="Arial" panose="020B0604020202020204" pitchFamily="34" charset="0"/>
                <a:cs typeface="Arial" panose="020B0604020202020204" pitchFamily="34" charset="0"/>
              </a:rPr>
              <a:t> - The X.509v3 certificates specify “not before” and “not after” dates. If the current date is outside the range, the web browser displays a message. Expired certificates may simply be the result of administrator oversight, but they may also reflect more serious conditions.</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Signature validation error</a:t>
            </a:r>
            <a:r>
              <a:rPr lang="en-US" sz="1600" dirty="0">
                <a:effectLst/>
                <a:latin typeface="Arial" panose="020B0604020202020204" pitchFamily="34" charset="0"/>
                <a:cs typeface="Arial" panose="020B0604020202020204" pitchFamily="34" charset="0"/>
              </a:rPr>
              <a:t> - If a browser cannot validate the signature on the certificate, there is no assurance that the public key in the certificate is authentic. Signature validation will fail if the root certificate of the CA hierarchy is not available in the browser’s certificate store.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73</a:t>
            </a:fld>
            <a:endParaRPr lang="en-US" dirty="0"/>
          </a:p>
        </p:txBody>
      </p:sp>
    </p:spTree>
    <p:extLst>
      <p:ext uri="{BB962C8B-B14F-4D97-AF65-F5344CB8AC3E}">
        <p14:creationId xmlns:p14="http://schemas.microsoft.com/office/powerpoint/2010/main" val="26566168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Encryption and Security Monitoring</a:t>
            </a:r>
          </a:p>
        </p:txBody>
      </p:sp>
      <p:sp>
        <p:nvSpPr>
          <p:cNvPr id="5" name="Object4"/>
          <p:cNvSpPr/>
          <p:nvPr/>
        </p:nvSpPr>
        <p:spPr>
          <a:xfrm>
            <a:off x="0" y="914400"/>
            <a:ext cx="879667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Network monitoring becomes more challenging when packets are encrypted.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However, the increased use of HTTPS in the enterprise network introduces new challenges. Because HTTPS introduces end-to-end encrypted HTTP traffic (via TLS/SSL), it is not as easy to peek into user traffic.</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Here is a list of some of the things that a security analyst could do:</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Configure rules to distinguish between SSL and non-SSL traffic, HTTPS and non-HTTPS SSL traffic.</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Enhance security through server certificate validation using CRLs and OCSP.</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Implement antimalware protection and URL filtering of HTTPS content.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Deploy a Cisco SSL Appliance to decrypt SSL traffic and send it to intrusion prevention system (IPS) </a:t>
            </a:r>
          </a:p>
          <a:p>
            <a:pPr lvl="1"/>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74</a:t>
            </a:fld>
            <a:endParaRPr lang="en-US" dirty="0"/>
          </a:p>
        </p:txBody>
      </p:sp>
    </p:spTree>
    <p:extLst>
      <p:ext uri="{BB962C8B-B14F-4D97-AF65-F5344CB8AC3E}">
        <p14:creationId xmlns:p14="http://schemas.microsoft.com/office/powerpoint/2010/main" val="26005052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212777671"/>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4467</TotalTime>
  <Words>8847</Words>
  <Application>Microsoft Macintosh PowerPoint</Application>
  <PresentationFormat>Prezentácia na obrazovke (16:9)</PresentationFormat>
  <Paragraphs>808</Paragraphs>
  <Slides>75</Slides>
  <Notes>75</Notes>
  <HiddenSlides>0</HiddenSlides>
  <MMClips>0</MMClips>
  <ScaleCrop>false</ScaleCrop>
  <HeadingPairs>
    <vt:vector size="6" baseType="variant">
      <vt:variant>
        <vt:lpstr>Použité písma</vt:lpstr>
      </vt:variant>
      <vt:variant>
        <vt:i4>5</vt:i4>
      </vt:variant>
      <vt:variant>
        <vt:lpstr>Motív</vt:lpstr>
      </vt:variant>
      <vt:variant>
        <vt:i4>2</vt:i4>
      </vt:variant>
      <vt:variant>
        <vt:lpstr>Nadpisy snímok</vt:lpstr>
      </vt:variant>
      <vt:variant>
        <vt:i4>75</vt:i4>
      </vt:variant>
    </vt:vector>
  </HeadingPairs>
  <TitlesOfParts>
    <vt:vector size="82" baseType="lpstr">
      <vt:lpstr>-apple-system</vt:lpstr>
      <vt:lpstr>Arial</vt:lpstr>
      <vt:lpstr>Calibri</vt:lpstr>
      <vt:lpstr>CiscoSans ExtraLight</vt:lpstr>
      <vt:lpstr>Wingdings</vt:lpstr>
      <vt:lpstr>Office Theme</vt:lpstr>
      <vt:lpstr>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Baráth, Július</cp:lastModifiedBy>
  <cp:revision>29</cp:revision>
  <dcterms:created xsi:type="dcterms:W3CDTF">2020-12-08T18:27:12Z</dcterms:created>
  <dcterms:modified xsi:type="dcterms:W3CDTF">2026-03-17T12:10:34Z</dcterms:modified>
</cp:coreProperties>
</file>
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2.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3.xml" ContentType="application/vnd.openxmlformats-officedocument.presentationml.tags+xml"/>
  <Override PartName="/ppt/notesSlides/notesSlide4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5" r:id="rId2"/>
    <p:sldMasterId id="2147483670" r:id="rId3"/>
  </p:sldMasterIdLst>
  <p:notesMasterIdLst>
    <p:notesMasterId r:id="rId45"/>
  </p:notesMasterIdLst>
  <p:sldIdLst>
    <p:sldId id="262" r:id="rId4"/>
    <p:sldId id="925" r:id="rId5"/>
    <p:sldId id="263" r:id="rId6"/>
    <p:sldId id="264" r:id="rId7"/>
    <p:sldId id="265" r:id="rId8"/>
    <p:sldId id="267" r:id="rId9"/>
    <p:sldId id="268" r:id="rId10"/>
    <p:sldId id="269" r:id="rId11"/>
    <p:sldId id="270" r:id="rId12"/>
    <p:sldId id="1083" r:id="rId13"/>
    <p:sldId id="1081" r:id="rId14"/>
    <p:sldId id="1082" r:id="rId15"/>
    <p:sldId id="271" r:id="rId16"/>
    <p:sldId id="1084" r:id="rId17"/>
    <p:sldId id="1085" r:id="rId18"/>
    <p:sldId id="1092" r:id="rId19"/>
    <p:sldId id="1093" r:id="rId20"/>
    <p:sldId id="1094" r:id="rId21"/>
    <p:sldId id="1095" r:id="rId22"/>
    <p:sldId id="1096" r:id="rId23"/>
    <p:sldId id="1097" r:id="rId24"/>
    <p:sldId id="1098" r:id="rId25"/>
    <p:sldId id="1099" r:id="rId26"/>
    <p:sldId id="1100" r:id="rId27"/>
    <p:sldId id="266" r:id="rId28"/>
    <p:sldId id="1101" r:id="rId29"/>
    <p:sldId id="1102" r:id="rId30"/>
    <p:sldId id="1103" r:id="rId31"/>
    <p:sldId id="1104" r:id="rId32"/>
    <p:sldId id="272" r:id="rId33"/>
    <p:sldId id="1105" r:id="rId34"/>
    <p:sldId id="1106" r:id="rId35"/>
    <p:sldId id="1074" r:id="rId36"/>
    <p:sldId id="1110" r:id="rId37"/>
    <p:sldId id="1107" r:id="rId38"/>
    <p:sldId id="276" r:id="rId39"/>
    <p:sldId id="277" r:id="rId40"/>
    <p:sldId id="278" r:id="rId41"/>
    <p:sldId id="1075" r:id="rId42"/>
    <p:sldId id="280" r:id="rId43"/>
    <p:sldId id="1109" r:id="rId4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826" autoAdjust="0"/>
    <p:restoredTop sz="96325" autoAdjust="0"/>
  </p:normalViewPr>
  <p:slideViewPr>
    <p:cSldViewPr snapToGrid="0" snapToObjects="1">
      <p:cViewPr varScale="1">
        <p:scale>
          <a:sx n="219" d="100"/>
          <a:sy n="219" d="100"/>
        </p:scale>
        <p:origin x="200" y="192"/>
      </p:cViewPr>
      <p:guideLst/>
    </p:cSldViewPr>
  </p:slideViewPr>
  <p:notesTextViewPr>
    <p:cViewPr>
      <p:scale>
        <a:sx n="1" d="1"/>
        <a:sy n="1" d="1"/>
      </p:scale>
      <p:origin x="0" y="0"/>
    </p:cViewPr>
  </p:notesTextViewPr>
  <p:sorterViewPr>
    <p:cViewPr>
      <p:scale>
        <a:sx n="130" d="100"/>
        <a:sy n="13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theme" Target="theme/theme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áth, Július" userId="aebde9b9-dccc-4475-a9ac-c05e78323d7a" providerId="ADAL" clId="{C4B389A9-8B86-0146-90DB-6AF3E7965AE6}"/>
    <pc:docChg chg="undo custSel addSld delSld modSld">
      <pc:chgData name="Baráth, Július" userId="aebde9b9-dccc-4475-a9ac-c05e78323d7a" providerId="ADAL" clId="{C4B389A9-8B86-0146-90DB-6AF3E7965AE6}" dt="2023-02-20T08:09:56.040" v="128" actId="20577"/>
      <pc:docMkLst>
        <pc:docMk/>
      </pc:docMkLst>
      <pc:sldChg chg="del">
        <pc:chgData name="Baráth, Július" userId="aebde9b9-dccc-4475-a9ac-c05e78323d7a" providerId="ADAL" clId="{C4B389A9-8B86-0146-90DB-6AF3E7965AE6}" dt="2023-02-07T06:43:47.503" v="3" actId="2696"/>
        <pc:sldMkLst>
          <pc:docMk/>
          <pc:sldMk cId="0" sldId="256"/>
        </pc:sldMkLst>
      </pc:sldChg>
      <pc:sldChg chg="del">
        <pc:chgData name="Baráth, Július" userId="aebde9b9-dccc-4475-a9ac-c05e78323d7a" providerId="ADAL" clId="{C4B389A9-8B86-0146-90DB-6AF3E7965AE6}" dt="2023-02-07T06:43:47.530" v="8" actId="2696"/>
        <pc:sldMkLst>
          <pc:docMk/>
          <pc:sldMk cId="0" sldId="257"/>
        </pc:sldMkLst>
      </pc:sldChg>
      <pc:sldChg chg="del">
        <pc:chgData name="Baráth, Július" userId="aebde9b9-dccc-4475-a9ac-c05e78323d7a" providerId="ADAL" clId="{C4B389A9-8B86-0146-90DB-6AF3E7965AE6}" dt="2023-02-07T06:43:47.511" v="4" actId="2696"/>
        <pc:sldMkLst>
          <pc:docMk/>
          <pc:sldMk cId="0" sldId="258"/>
        </pc:sldMkLst>
      </pc:sldChg>
      <pc:sldChg chg="mod modShow">
        <pc:chgData name="Baráth, Július" userId="aebde9b9-dccc-4475-a9ac-c05e78323d7a" providerId="ADAL" clId="{C4B389A9-8B86-0146-90DB-6AF3E7965AE6}" dt="2023-02-07T06:43:53.678" v="11" actId="729"/>
        <pc:sldMkLst>
          <pc:docMk/>
          <pc:sldMk cId="0" sldId="262"/>
        </pc:sldMkLst>
      </pc:sldChg>
      <pc:sldChg chg="modSp mod">
        <pc:chgData name="Baráth, Július" userId="aebde9b9-dccc-4475-a9ac-c05e78323d7a" providerId="ADAL" clId="{C4B389A9-8B86-0146-90DB-6AF3E7965AE6}" dt="2023-02-20T07:04:05.208" v="23" actId="115"/>
        <pc:sldMkLst>
          <pc:docMk/>
          <pc:sldMk cId="0" sldId="265"/>
        </pc:sldMkLst>
      </pc:sldChg>
      <pc:sldChg chg="add del">
        <pc:chgData name="Baráth, Július" userId="aebde9b9-dccc-4475-a9ac-c05e78323d7a" providerId="ADAL" clId="{C4B389A9-8B86-0146-90DB-6AF3E7965AE6}" dt="2023-02-07T06:43:15.453" v="1"/>
        <pc:sldMkLst>
          <pc:docMk/>
          <pc:sldMk cId="867586683" sldId="266"/>
        </pc:sldMkLst>
      </pc:sldChg>
      <pc:sldChg chg="add">
        <pc:chgData name="Baráth, Július" userId="aebde9b9-dccc-4475-a9ac-c05e78323d7a" providerId="ADAL" clId="{C4B389A9-8B86-0146-90DB-6AF3E7965AE6}" dt="2023-02-07T06:43:35.182" v="2"/>
        <pc:sldMkLst>
          <pc:docMk/>
          <pc:sldMk cId="1187242848" sldId="266"/>
        </pc:sldMkLst>
      </pc:sldChg>
      <pc:sldChg chg="addSp modSp add mod">
        <pc:chgData name="Baráth, Július" userId="aebde9b9-dccc-4475-a9ac-c05e78323d7a" providerId="ADAL" clId="{C4B389A9-8B86-0146-90DB-6AF3E7965AE6}" dt="2023-02-20T07:27:19.674" v="31" actId="1076"/>
        <pc:sldMkLst>
          <pc:docMk/>
          <pc:sldMk cId="162077528" sldId="272"/>
        </pc:sldMkLst>
      </pc:sldChg>
      <pc:sldChg chg="add del">
        <pc:chgData name="Baráth, Július" userId="aebde9b9-dccc-4475-a9ac-c05e78323d7a" providerId="ADAL" clId="{C4B389A9-8B86-0146-90DB-6AF3E7965AE6}" dt="2023-02-07T06:43:15.453" v="1"/>
        <pc:sldMkLst>
          <pc:docMk/>
          <pc:sldMk cId="2269465669" sldId="272"/>
        </pc:sldMkLst>
      </pc:sldChg>
      <pc:sldChg chg="del">
        <pc:chgData name="Baráth, Július" userId="aebde9b9-dccc-4475-a9ac-c05e78323d7a" providerId="ADAL" clId="{C4B389A9-8B86-0146-90DB-6AF3E7965AE6}" dt="2023-02-07T06:44:19.559" v="13" actId="2696"/>
        <pc:sldMkLst>
          <pc:docMk/>
          <pc:sldMk cId="0" sldId="273"/>
        </pc:sldMkLst>
      </pc:sldChg>
      <pc:sldChg chg="del">
        <pc:chgData name="Baráth, Július" userId="aebde9b9-dccc-4475-a9ac-c05e78323d7a" providerId="ADAL" clId="{C4B389A9-8B86-0146-90DB-6AF3E7965AE6}" dt="2023-02-07T06:44:26.411" v="14" actId="2696"/>
        <pc:sldMkLst>
          <pc:docMk/>
          <pc:sldMk cId="0" sldId="274"/>
        </pc:sldMkLst>
      </pc:sldChg>
      <pc:sldChg chg="del">
        <pc:chgData name="Baráth, Július" userId="aebde9b9-dccc-4475-a9ac-c05e78323d7a" providerId="ADAL" clId="{C4B389A9-8B86-0146-90DB-6AF3E7965AE6}" dt="2023-02-07T06:44:26.411" v="14" actId="2696"/>
        <pc:sldMkLst>
          <pc:docMk/>
          <pc:sldMk cId="0" sldId="275"/>
        </pc:sldMkLst>
      </pc:sldChg>
      <pc:sldChg chg="add del">
        <pc:chgData name="Baráth, Július" userId="aebde9b9-dccc-4475-a9ac-c05e78323d7a" providerId="ADAL" clId="{C4B389A9-8B86-0146-90DB-6AF3E7965AE6}" dt="2023-02-07T06:43:15.453" v="1"/>
        <pc:sldMkLst>
          <pc:docMk/>
          <pc:sldMk cId="89244014" sldId="276"/>
        </pc:sldMkLst>
      </pc:sldChg>
      <pc:sldChg chg="add">
        <pc:chgData name="Baráth, Július" userId="aebde9b9-dccc-4475-a9ac-c05e78323d7a" providerId="ADAL" clId="{C4B389A9-8B86-0146-90DB-6AF3E7965AE6}" dt="2023-02-07T06:43:35.182" v="2"/>
        <pc:sldMkLst>
          <pc:docMk/>
          <pc:sldMk cId="3162136114" sldId="276"/>
        </pc:sldMkLst>
      </pc:sldChg>
      <pc:sldChg chg="add">
        <pc:chgData name="Baráth, Július" userId="aebde9b9-dccc-4475-a9ac-c05e78323d7a" providerId="ADAL" clId="{C4B389A9-8B86-0146-90DB-6AF3E7965AE6}" dt="2023-02-07T06:43:35.182" v="2"/>
        <pc:sldMkLst>
          <pc:docMk/>
          <pc:sldMk cId="364515037" sldId="277"/>
        </pc:sldMkLst>
      </pc:sldChg>
      <pc:sldChg chg="add del">
        <pc:chgData name="Baráth, Július" userId="aebde9b9-dccc-4475-a9ac-c05e78323d7a" providerId="ADAL" clId="{C4B389A9-8B86-0146-90DB-6AF3E7965AE6}" dt="2023-02-07T06:43:15.453" v="1"/>
        <pc:sldMkLst>
          <pc:docMk/>
          <pc:sldMk cId="3501838266" sldId="277"/>
        </pc:sldMkLst>
      </pc:sldChg>
      <pc:sldChg chg="add del">
        <pc:chgData name="Baráth, Július" userId="aebde9b9-dccc-4475-a9ac-c05e78323d7a" providerId="ADAL" clId="{C4B389A9-8B86-0146-90DB-6AF3E7965AE6}" dt="2023-02-07T06:43:15.453" v="1"/>
        <pc:sldMkLst>
          <pc:docMk/>
          <pc:sldMk cId="645204822" sldId="278"/>
        </pc:sldMkLst>
      </pc:sldChg>
      <pc:sldChg chg="add">
        <pc:chgData name="Baráth, Július" userId="aebde9b9-dccc-4475-a9ac-c05e78323d7a" providerId="ADAL" clId="{C4B389A9-8B86-0146-90DB-6AF3E7965AE6}" dt="2023-02-07T06:43:35.182" v="2"/>
        <pc:sldMkLst>
          <pc:docMk/>
          <pc:sldMk cId="4223978719" sldId="278"/>
        </pc:sldMkLst>
      </pc:sldChg>
      <pc:sldChg chg="add del">
        <pc:chgData name="Baráth, Július" userId="aebde9b9-dccc-4475-a9ac-c05e78323d7a" providerId="ADAL" clId="{C4B389A9-8B86-0146-90DB-6AF3E7965AE6}" dt="2023-02-07T06:43:15.453" v="1"/>
        <pc:sldMkLst>
          <pc:docMk/>
          <pc:sldMk cId="1638576163" sldId="280"/>
        </pc:sldMkLst>
      </pc:sldChg>
      <pc:sldChg chg="add">
        <pc:chgData name="Baráth, Július" userId="aebde9b9-dccc-4475-a9ac-c05e78323d7a" providerId="ADAL" clId="{C4B389A9-8B86-0146-90DB-6AF3E7965AE6}" dt="2023-02-07T06:43:35.182" v="2"/>
        <pc:sldMkLst>
          <pc:docMk/>
          <pc:sldMk cId="2603394963" sldId="280"/>
        </pc:sldMkLst>
      </pc:sldChg>
      <pc:sldChg chg="add del">
        <pc:chgData name="Baráth, Július" userId="aebde9b9-dccc-4475-a9ac-c05e78323d7a" providerId="ADAL" clId="{C4B389A9-8B86-0146-90DB-6AF3E7965AE6}" dt="2023-02-07T06:45:43.979" v="16" actId="2696"/>
        <pc:sldMkLst>
          <pc:docMk/>
          <pc:sldMk cId="298593441" sldId="281"/>
        </pc:sldMkLst>
      </pc:sldChg>
      <pc:sldChg chg="add del">
        <pc:chgData name="Baráth, Július" userId="aebde9b9-dccc-4475-a9ac-c05e78323d7a" providerId="ADAL" clId="{C4B389A9-8B86-0146-90DB-6AF3E7965AE6}" dt="2023-02-07T06:43:15.453" v="1"/>
        <pc:sldMkLst>
          <pc:docMk/>
          <pc:sldMk cId="1928899583" sldId="281"/>
        </pc:sldMkLst>
      </pc:sldChg>
      <pc:sldChg chg="add del">
        <pc:chgData name="Baráth, Július" userId="aebde9b9-dccc-4475-a9ac-c05e78323d7a" providerId="ADAL" clId="{C4B389A9-8B86-0146-90DB-6AF3E7965AE6}" dt="2023-02-07T06:43:15.453" v="1"/>
        <pc:sldMkLst>
          <pc:docMk/>
          <pc:sldMk cId="1132568816" sldId="282"/>
        </pc:sldMkLst>
      </pc:sldChg>
      <pc:sldChg chg="add del">
        <pc:chgData name="Baráth, Július" userId="aebde9b9-dccc-4475-a9ac-c05e78323d7a" providerId="ADAL" clId="{C4B389A9-8B86-0146-90DB-6AF3E7965AE6}" dt="2023-02-07T06:45:45.735" v="17" actId="2696"/>
        <pc:sldMkLst>
          <pc:docMk/>
          <pc:sldMk cId="4063853891" sldId="282"/>
        </pc:sldMkLst>
      </pc:sldChg>
      <pc:sldChg chg="add del">
        <pc:chgData name="Baráth, Július" userId="aebde9b9-dccc-4475-a9ac-c05e78323d7a" providerId="ADAL" clId="{C4B389A9-8B86-0146-90DB-6AF3E7965AE6}" dt="2023-02-07T06:45:47.082" v="18" actId="2696"/>
        <pc:sldMkLst>
          <pc:docMk/>
          <pc:sldMk cId="2450792003" sldId="283"/>
        </pc:sldMkLst>
      </pc:sldChg>
      <pc:sldChg chg="add del">
        <pc:chgData name="Baráth, Július" userId="aebde9b9-dccc-4475-a9ac-c05e78323d7a" providerId="ADAL" clId="{C4B389A9-8B86-0146-90DB-6AF3E7965AE6}" dt="2023-02-07T06:43:15.453" v="1"/>
        <pc:sldMkLst>
          <pc:docMk/>
          <pc:sldMk cId="4108083411" sldId="283"/>
        </pc:sldMkLst>
      </pc:sldChg>
      <pc:sldChg chg="add del">
        <pc:chgData name="Baráth, Július" userId="aebde9b9-dccc-4475-a9ac-c05e78323d7a" providerId="ADAL" clId="{C4B389A9-8B86-0146-90DB-6AF3E7965AE6}" dt="2023-02-07T06:45:58.447" v="19" actId="2696"/>
        <pc:sldMkLst>
          <pc:docMk/>
          <pc:sldMk cId="2483207690" sldId="284"/>
        </pc:sldMkLst>
      </pc:sldChg>
      <pc:sldChg chg="add del">
        <pc:chgData name="Baráth, Július" userId="aebde9b9-dccc-4475-a9ac-c05e78323d7a" providerId="ADAL" clId="{C4B389A9-8B86-0146-90DB-6AF3E7965AE6}" dt="2023-02-07T06:43:15.453" v="1"/>
        <pc:sldMkLst>
          <pc:docMk/>
          <pc:sldMk cId="3756656171" sldId="284"/>
        </pc:sldMkLst>
      </pc:sldChg>
      <pc:sldChg chg="add del">
        <pc:chgData name="Baráth, Július" userId="aebde9b9-dccc-4475-a9ac-c05e78323d7a" providerId="ADAL" clId="{C4B389A9-8B86-0146-90DB-6AF3E7965AE6}" dt="2023-02-07T06:45:58.447" v="19" actId="2696"/>
        <pc:sldMkLst>
          <pc:docMk/>
          <pc:sldMk cId="732393377" sldId="285"/>
        </pc:sldMkLst>
      </pc:sldChg>
      <pc:sldChg chg="add del">
        <pc:chgData name="Baráth, Július" userId="aebde9b9-dccc-4475-a9ac-c05e78323d7a" providerId="ADAL" clId="{C4B389A9-8B86-0146-90DB-6AF3E7965AE6}" dt="2023-02-07T06:43:15.453" v="1"/>
        <pc:sldMkLst>
          <pc:docMk/>
          <pc:sldMk cId="1257143960" sldId="285"/>
        </pc:sldMkLst>
      </pc:sldChg>
      <pc:sldChg chg="add del">
        <pc:chgData name="Baráth, Július" userId="aebde9b9-dccc-4475-a9ac-c05e78323d7a" providerId="ADAL" clId="{C4B389A9-8B86-0146-90DB-6AF3E7965AE6}" dt="2023-02-07T06:44:45.699" v="15" actId="2696"/>
        <pc:sldMkLst>
          <pc:docMk/>
          <pc:sldMk cId="4048389770" sldId="287"/>
        </pc:sldMkLst>
      </pc:sldChg>
      <pc:sldChg chg="add del">
        <pc:chgData name="Baráth, Július" userId="aebde9b9-dccc-4475-a9ac-c05e78323d7a" providerId="ADAL" clId="{C4B389A9-8B86-0146-90DB-6AF3E7965AE6}" dt="2023-02-07T06:43:15.453" v="1"/>
        <pc:sldMkLst>
          <pc:docMk/>
          <pc:sldMk cId="4161464158" sldId="287"/>
        </pc:sldMkLst>
      </pc:sldChg>
      <pc:sldChg chg="del">
        <pc:chgData name="Baráth, Július" userId="aebde9b9-dccc-4475-a9ac-c05e78323d7a" providerId="ADAL" clId="{C4B389A9-8B86-0146-90DB-6AF3E7965AE6}" dt="2023-02-07T06:43:47.522" v="6" actId="2696"/>
        <pc:sldMkLst>
          <pc:docMk/>
          <pc:sldMk cId="1533357529" sldId="880"/>
        </pc:sldMkLst>
      </pc:sldChg>
      <pc:sldChg chg="mod modShow">
        <pc:chgData name="Baráth, Július" userId="aebde9b9-dccc-4475-a9ac-c05e78323d7a" providerId="ADAL" clId="{C4B389A9-8B86-0146-90DB-6AF3E7965AE6}" dt="2023-02-07T06:44:00.135" v="12" actId="729"/>
        <pc:sldMkLst>
          <pc:docMk/>
          <pc:sldMk cId="3381894665" sldId="925"/>
        </pc:sldMkLst>
      </pc:sldChg>
      <pc:sldChg chg="add del">
        <pc:chgData name="Baráth, Július" userId="aebde9b9-dccc-4475-a9ac-c05e78323d7a" providerId="ADAL" clId="{C4B389A9-8B86-0146-90DB-6AF3E7965AE6}" dt="2023-02-07T06:44:45.699" v="15" actId="2696"/>
        <pc:sldMkLst>
          <pc:docMk/>
          <pc:sldMk cId="1095710483" sldId="1070"/>
        </pc:sldMkLst>
      </pc:sldChg>
      <pc:sldChg chg="add del">
        <pc:chgData name="Baráth, Július" userId="aebde9b9-dccc-4475-a9ac-c05e78323d7a" providerId="ADAL" clId="{C4B389A9-8B86-0146-90DB-6AF3E7965AE6}" dt="2023-02-07T06:43:15.453" v="1"/>
        <pc:sldMkLst>
          <pc:docMk/>
          <pc:sldMk cId="3587714147" sldId="1070"/>
        </pc:sldMkLst>
      </pc:sldChg>
      <pc:sldChg chg="del">
        <pc:chgData name="Baráth, Július" userId="aebde9b9-dccc-4475-a9ac-c05e78323d7a" providerId="ADAL" clId="{C4B389A9-8B86-0146-90DB-6AF3E7965AE6}" dt="2023-02-07T06:43:47.526" v="7" actId="2696"/>
        <pc:sldMkLst>
          <pc:docMk/>
          <pc:sldMk cId="1736058053" sldId="1071"/>
        </pc:sldMkLst>
      </pc:sldChg>
      <pc:sldChg chg="del">
        <pc:chgData name="Baráth, Július" userId="aebde9b9-dccc-4475-a9ac-c05e78323d7a" providerId="ADAL" clId="{C4B389A9-8B86-0146-90DB-6AF3E7965AE6}" dt="2023-02-07T06:43:47.518" v="5" actId="2696"/>
        <pc:sldMkLst>
          <pc:docMk/>
          <pc:sldMk cId="0" sldId="1072"/>
        </pc:sldMkLst>
      </pc:sldChg>
      <pc:sldChg chg="del">
        <pc:chgData name="Baráth, Július" userId="aebde9b9-dccc-4475-a9ac-c05e78323d7a" providerId="ADAL" clId="{C4B389A9-8B86-0146-90DB-6AF3E7965AE6}" dt="2023-02-07T06:43:47.533" v="9" actId="2696"/>
        <pc:sldMkLst>
          <pc:docMk/>
          <pc:sldMk cId="1138333762" sldId="1073"/>
        </pc:sldMkLst>
      </pc:sldChg>
      <pc:sldChg chg="modSp add mod">
        <pc:chgData name="Baráth, Július" userId="aebde9b9-dccc-4475-a9ac-c05e78323d7a" providerId="ADAL" clId="{C4B389A9-8B86-0146-90DB-6AF3E7965AE6}" dt="2023-02-20T08:07:34.397" v="97" actId="1076"/>
        <pc:sldMkLst>
          <pc:docMk/>
          <pc:sldMk cId="424762455" sldId="1074"/>
        </pc:sldMkLst>
      </pc:sldChg>
      <pc:sldChg chg="add del">
        <pc:chgData name="Baráth, Július" userId="aebde9b9-dccc-4475-a9ac-c05e78323d7a" providerId="ADAL" clId="{C4B389A9-8B86-0146-90DB-6AF3E7965AE6}" dt="2023-02-07T06:43:15.453" v="1"/>
        <pc:sldMkLst>
          <pc:docMk/>
          <pc:sldMk cId="1466201746" sldId="1074"/>
        </pc:sldMkLst>
      </pc:sldChg>
      <pc:sldChg chg="add">
        <pc:chgData name="Baráth, Július" userId="aebde9b9-dccc-4475-a9ac-c05e78323d7a" providerId="ADAL" clId="{C4B389A9-8B86-0146-90DB-6AF3E7965AE6}" dt="2023-02-07T06:43:35.182" v="2"/>
        <pc:sldMkLst>
          <pc:docMk/>
          <pc:sldMk cId="2339038379" sldId="1075"/>
        </pc:sldMkLst>
      </pc:sldChg>
      <pc:sldChg chg="add del">
        <pc:chgData name="Baráth, Július" userId="aebde9b9-dccc-4475-a9ac-c05e78323d7a" providerId="ADAL" clId="{C4B389A9-8B86-0146-90DB-6AF3E7965AE6}" dt="2023-02-07T06:43:15.453" v="1"/>
        <pc:sldMkLst>
          <pc:docMk/>
          <pc:sldMk cId="2911692389" sldId="1075"/>
        </pc:sldMkLst>
      </pc:sldChg>
      <pc:sldChg chg="del">
        <pc:chgData name="Baráth, Július" userId="aebde9b9-dccc-4475-a9ac-c05e78323d7a" providerId="ADAL" clId="{C4B389A9-8B86-0146-90DB-6AF3E7965AE6}" dt="2023-02-07T06:44:26.411" v="14" actId="2696"/>
        <pc:sldMkLst>
          <pc:docMk/>
          <pc:sldMk cId="3645693150" sldId="1078"/>
        </pc:sldMkLst>
      </pc:sldChg>
      <pc:sldChg chg="del">
        <pc:chgData name="Baráth, Július" userId="aebde9b9-dccc-4475-a9ac-c05e78323d7a" providerId="ADAL" clId="{C4B389A9-8B86-0146-90DB-6AF3E7965AE6}" dt="2023-02-07T06:44:26.411" v="14" actId="2696"/>
        <pc:sldMkLst>
          <pc:docMk/>
          <pc:sldMk cId="4190828277" sldId="1079"/>
        </pc:sldMkLst>
      </pc:sldChg>
      <pc:sldChg chg="del">
        <pc:chgData name="Baráth, Július" userId="aebde9b9-dccc-4475-a9ac-c05e78323d7a" providerId="ADAL" clId="{C4B389A9-8B86-0146-90DB-6AF3E7965AE6}" dt="2023-02-07T06:43:47.537" v="10" actId="2696"/>
        <pc:sldMkLst>
          <pc:docMk/>
          <pc:sldMk cId="1100015435" sldId="1080"/>
        </pc:sldMkLst>
      </pc:sldChg>
      <pc:sldChg chg="add del">
        <pc:chgData name="Baráth, Július" userId="aebde9b9-dccc-4475-a9ac-c05e78323d7a" providerId="ADAL" clId="{C4B389A9-8B86-0146-90DB-6AF3E7965AE6}" dt="2023-02-07T06:43:15.453" v="1"/>
        <pc:sldMkLst>
          <pc:docMk/>
          <pc:sldMk cId="1382544832" sldId="1085"/>
        </pc:sldMkLst>
      </pc:sldChg>
      <pc:sldChg chg="delSp add mod">
        <pc:chgData name="Baráth, Július" userId="aebde9b9-dccc-4475-a9ac-c05e78323d7a" providerId="ADAL" clId="{C4B389A9-8B86-0146-90DB-6AF3E7965AE6}" dt="2023-02-20T07:10:55.115" v="24" actId="478"/>
        <pc:sldMkLst>
          <pc:docMk/>
          <pc:sldMk cId="2591581256" sldId="1085"/>
        </pc:sldMkLst>
      </pc:sldChg>
      <pc:sldChg chg="add del">
        <pc:chgData name="Baráth, Július" userId="aebde9b9-dccc-4475-a9ac-c05e78323d7a" providerId="ADAL" clId="{C4B389A9-8B86-0146-90DB-6AF3E7965AE6}" dt="2023-02-07T06:43:15.453" v="1"/>
        <pc:sldMkLst>
          <pc:docMk/>
          <pc:sldMk cId="290632238" sldId="1086"/>
        </pc:sldMkLst>
      </pc:sldChg>
      <pc:sldChg chg="add del">
        <pc:chgData name="Baráth, Július" userId="aebde9b9-dccc-4475-a9ac-c05e78323d7a" providerId="ADAL" clId="{C4B389A9-8B86-0146-90DB-6AF3E7965AE6}" dt="2023-02-07T06:44:45.699" v="15" actId="2696"/>
        <pc:sldMkLst>
          <pc:docMk/>
          <pc:sldMk cId="2412579818" sldId="1086"/>
        </pc:sldMkLst>
      </pc:sldChg>
      <pc:sldChg chg="add del">
        <pc:chgData name="Baráth, Július" userId="aebde9b9-dccc-4475-a9ac-c05e78323d7a" providerId="ADAL" clId="{C4B389A9-8B86-0146-90DB-6AF3E7965AE6}" dt="2023-02-07T06:43:15.453" v="1"/>
        <pc:sldMkLst>
          <pc:docMk/>
          <pc:sldMk cId="2340444836" sldId="1087"/>
        </pc:sldMkLst>
      </pc:sldChg>
      <pc:sldChg chg="add del">
        <pc:chgData name="Baráth, Július" userId="aebde9b9-dccc-4475-a9ac-c05e78323d7a" providerId="ADAL" clId="{C4B389A9-8B86-0146-90DB-6AF3E7965AE6}" dt="2023-02-07T06:44:45.699" v="15" actId="2696"/>
        <pc:sldMkLst>
          <pc:docMk/>
          <pc:sldMk cId="3907715450" sldId="1087"/>
        </pc:sldMkLst>
      </pc:sldChg>
      <pc:sldChg chg="add del">
        <pc:chgData name="Baráth, Július" userId="aebde9b9-dccc-4475-a9ac-c05e78323d7a" providerId="ADAL" clId="{C4B389A9-8B86-0146-90DB-6AF3E7965AE6}" dt="2023-02-07T06:44:45.699" v="15" actId="2696"/>
        <pc:sldMkLst>
          <pc:docMk/>
          <pc:sldMk cId="2411629866" sldId="1088"/>
        </pc:sldMkLst>
      </pc:sldChg>
      <pc:sldChg chg="add del">
        <pc:chgData name="Baráth, Július" userId="aebde9b9-dccc-4475-a9ac-c05e78323d7a" providerId="ADAL" clId="{C4B389A9-8B86-0146-90DB-6AF3E7965AE6}" dt="2023-02-07T06:43:15.453" v="1"/>
        <pc:sldMkLst>
          <pc:docMk/>
          <pc:sldMk cId="2517309488" sldId="1088"/>
        </pc:sldMkLst>
      </pc:sldChg>
      <pc:sldChg chg="add del">
        <pc:chgData name="Baráth, Július" userId="aebde9b9-dccc-4475-a9ac-c05e78323d7a" providerId="ADAL" clId="{C4B389A9-8B86-0146-90DB-6AF3E7965AE6}" dt="2023-02-07T06:43:15.453" v="1"/>
        <pc:sldMkLst>
          <pc:docMk/>
          <pc:sldMk cId="945623627" sldId="1089"/>
        </pc:sldMkLst>
      </pc:sldChg>
      <pc:sldChg chg="add del">
        <pc:chgData name="Baráth, Július" userId="aebde9b9-dccc-4475-a9ac-c05e78323d7a" providerId="ADAL" clId="{C4B389A9-8B86-0146-90DB-6AF3E7965AE6}" dt="2023-02-07T06:44:45.699" v="15" actId="2696"/>
        <pc:sldMkLst>
          <pc:docMk/>
          <pc:sldMk cId="3385111614" sldId="1089"/>
        </pc:sldMkLst>
      </pc:sldChg>
      <pc:sldChg chg="add del">
        <pc:chgData name="Baráth, Július" userId="aebde9b9-dccc-4475-a9ac-c05e78323d7a" providerId="ADAL" clId="{C4B389A9-8B86-0146-90DB-6AF3E7965AE6}" dt="2023-02-07T06:44:45.699" v="15" actId="2696"/>
        <pc:sldMkLst>
          <pc:docMk/>
          <pc:sldMk cId="87215" sldId="1090"/>
        </pc:sldMkLst>
      </pc:sldChg>
      <pc:sldChg chg="add del">
        <pc:chgData name="Baráth, Július" userId="aebde9b9-dccc-4475-a9ac-c05e78323d7a" providerId="ADAL" clId="{C4B389A9-8B86-0146-90DB-6AF3E7965AE6}" dt="2023-02-07T06:43:15.453" v="1"/>
        <pc:sldMkLst>
          <pc:docMk/>
          <pc:sldMk cId="3773007135" sldId="1090"/>
        </pc:sldMkLst>
      </pc:sldChg>
      <pc:sldChg chg="add del">
        <pc:chgData name="Baráth, Július" userId="aebde9b9-dccc-4475-a9ac-c05e78323d7a" providerId="ADAL" clId="{C4B389A9-8B86-0146-90DB-6AF3E7965AE6}" dt="2023-02-07T06:43:15.453" v="1"/>
        <pc:sldMkLst>
          <pc:docMk/>
          <pc:sldMk cId="22401047" sldId="1091"/>
        </pc:sldMkLst>
      </pc:sldChg>
      <pc:sldChg chg="add del">
        <pc:chgData name="Baráth, Július" userId="aebde9b9-dccc-4475-a9ac-c05e78323d7a" providerId="ADAL" clId="{C4B389A9-8B86-0146-90DB-6AF3E7965AE6}" dt="2023-02-07T06:44:45.699" v="15" actId="2696"/>
        <pc:sldMkLst>
          <pc:docMk/>
          <pc:sldMk cId="240464043" sldId="1091"/>
        </pc:sldMkLst>
      </pc:sldChg>
      <pc:sldChg chg="add">
        <pc:chgData name="Baráth, Július" userId="aebde9b9-dccc-4475-a9ac-c05e78323d7a" providerId="ADAL" clId="{C4B389A9-8B86-0146-90DB-6AF3E7965AE6}" dt="2023-02-07T06:43:35.182" v="2"/>
        <pc:sldMkLst>
          <pc:docMk/>
          <pc:sldMk cId="1018649253" sldId="1092"/>
        </pc:sldMkLst>
      </pc:sldChg>
      <pc:sldChg chg="add del">
        <pc:chgData name="Baráth, Július" userId="aebde9b9-dccc-4475-a9ac-c05e78323d7a" providerId="ADAL" clId="{C4B389A9-8B86-0146-90DB-6AF3E7965AE6}" dt="2023-02-07T06:43:15.453" v="1"/>
        <pc:sldMkLst>
          <pc:docMk/>
          <pc:sldMk cId="4167891364" sldId="1092"/>
        </pc:sldMkLst>
      </pc:sldChg>
      <pc:sldChg chg="add">
        <pc:chgData name="Baráth, Július" userId="aebde9b9-dccc-4475-a9ac-c05e78323d7a" providerId="ADAL" clId="{C4B389A9-8B86-0146-90DB-6AF3E7965AE6}" dt="2023-02-07T06:43:35.182" v="2"/>
        <pc:sldMkLst>
          <pc:docMk/>
          <pc:sldMk cId="1068464719" sldId="1093"/>
        </pc:sldMkLst>
      </pc:sldChg>
      <pc:sldChg chg="add del">
        <pc:chgData name="Baráth, Július" userId="aebde9b9-dccc-4475-a9ac-c05e78323d7a" providerId="ADAL" clId="{C4B389A9-8B86-0146-90DB-6AF3E7965AE6}" dt="2023-02-07T06:43:15.453" v="1"/>
        <pc:sldMkLst>
          <pc:docMk/>
          <pc:sldMk cId="1823006200" sldId="1093"/>
        </pc:sldMkLst>
      </pc:sldChg>
      <pc:sldChg chg="add">
        <pc:chgData name="Baráth, Július" userId="aebde9b9-dccc-4475-a9ac-c05e78323d7a" providerId="ADAL" clId="{C4B389A9-8B86-0146-90DB-6AF3E7965AE6}" dt="2023-02-07T06:43:35.182" v="2"/>
        <pc:sldMkLst>
          <pc:docMk/>
          <pc:sldMk cId="966843983" sldId="1094"/>
        </pc:sldMkLst>
      </pc:sldChg>
      <pc:sldChg chg="add del">
        <pc:chgData name="Baráth, Július" userId="aebde9b9-dccc-4475-a9ac-c05e78323d7a" providerId="ADAL" clId="{C4B389A9-8B86-0146-90DB-6AF3E7965AE6}" dt="2023-02-07T06:43:15.453" v="1"/>
        <pc:sldMkLst>
          <pc:docMk/>
          <pc:sldMk cId="2712548489" sldId="1094"/>
        </pc:sldMkLst>
      </pc:sldChg>
      <pc:sldChg chg="add del">
        <pc:chgData name="Baráth, Július" userId="aebde9b9-dccc-4475-a9ac-c05e78323d7a" providerId="ADAL" clId="{C4B389A9-8B86-0146-90DB-6AF3E7965AE6}" dt="2023-02-07T06:43:15.453" v="1"/>
        <pc:sldMkLst>
          <pc:docMk/>
          <pc:sldMk cId="928599886" sldId="1095"/>
        </pc:sldMkLst>
      </pc:sldChg>
      <pc:sldChg chg="add">
        <pc:chgData name="Baráth, Július" userId="aebde9b9-dccc-4475-a9ac-c05e78323d7a" providerId="ADAL" clId="{C4B389A9-8B86-0146-90DB-6AF3E7965AE6}" dt="2023-02-07T06:43:35.182" v="2"/>
        <pc:sldMkLst>
          <pc:docMk/>
          <pc:sldMk cId="4118109188" sldId="1095"/>
        </pc:sldMkLst>
      </pc:sldChg>
      <pc:sldChg chg="add del">
        <pc:chgData name="Baráth, Július" userId="aebde9b9-dccc-4475-a9ac-c05e78323d7a" providerId="ADAL" clId="{C4B389A9-8B86-0146-90DB-6AF3E7965AE6}" dt="2023-02-07T06:43:15.453" v="1"/>
        <pc:sldMkLst>
          <pc:docMk/>
          <pc:sldMk cId="1546130817" sldId="1096"/>
        </pc:sldMkLst>
      </pc:sldChg>
      <pc:sldChg chg="add">
        <pc:chgData name="Baráth, Július" userId="aebde9b9-dccc-4475-a9ac-c05e78323d7a" providerId="ADAL" clId="{C4B389A9-8B86-0146-90DB-6AF3E7965AE6}" dt="2023-02-07T06:43:35.182" v="2"/>
        <pc:sldMkLst>
          <pc:docMk/>
          <pc:sldMk cId="2055437856" sldId="1096"/>
        </pc:sldMkLst>
      </pc:sldChg>
      <pc:sldChg chg="add">
        <pc:chgData name="Baráth, Július" userId="aebde9b9-dccc-4475-a9ac-c05e78323d7a" providerId="ADAL" clId="{C4B389A9-8B86-0146-90DB-6AF3E7965AE6}" dt="2023-02-07T06:43:35.182" v="2"/>
        <pc:sldMkLst>
          <pc:docMk/>
          <pc:sldMk cId="1475393038" sldId="1097"/>
        </pc:sldMkLst>
      </pc:sldChg>
      <pc:sldChg chg="add del">
        <pc:chgData name="Baráth, Július" userId="aebde9b9-dccc-4475-a9ac-c05e78323d7a" providerId="ADAL" clId="{C4B389A9-8B86-0146-90DB-6AF3E7965AE6}" dt="2023-02-07T06:43:15.453" v="1"/>
        <pc:sldMkLst>
          <pc:docMk/>
          <pc:sldMk cId="4115269371" sldId="1097"/>
        </pc:sldMkLst>
      </pc:sldChg>
      <pc:sldChg chg="add del">
        <pc:chgData name="Baráth, Július" userId="aebde9b9-dccc-4475-a9ac-c05e78323d7a" providerId="ADAL" clId="{C4B389A9-8B86-0146-90DB-6AF3E7965AE6}" dt="2023-02-07T06:43:15.453" v="1"/>
        <pc:sldMkLst>
          <pc:docMk/>
          <pc:sldMk cId="2374385075" sldId="1098"/>
        </pc:sldMkLst>
      </pc:sldChg>
      <pc:sldChg chg="add">
        <pc:chgData name="Baráth, Július" userId="aebde9b9-dccc-4475-a9ac-c05e78323d7a" providerId="ADAL" clId="{C4B389A9-8B86-0146-90DB-6AF3E7965AE6}" dt="2023-02-07T06:43:35.182" v="2"/>
        <pc:sldMkLst>
          <pc:docMk/>
          <pc:sldMk cId="3862525678" sldId="1098"/>
        </pc:sldMkLst>
      </pc:sldChg>
      <pc:sldChg chg="add del">
        <pc:chgData name="Baráth, Július" userId="aebde9b9-dccc-4475-a9ac-c05e78323d7a" providerId="ADAL" clId="{C4B389A9-8B86-0146-90DB-6AF3E7965AE6}" dt="2023-02-07T06:43:15.453" v="1"/>
        <pc:sldMkLst>
          <pc:docMk/>
          <pc:sldMk cId="3103182814" sldId="1099"/>
        </pc:sldMkLst>
      </pc:sldChg>
      <pc:sldChg chg="add">
        <pc:chgData name="Baráth, Július" userId="aebde9b9-dccc-4475-a9ac-c05e78323d7a" providerId="ADAL" clId="{C4B389A9-8B86-0146-90DB-6AF3E7965AE6}" dt="2023-02-07T06:43:35.182" v="2"/>
        <pc:sldMkLst>
          <pc:docMk/>
          <pc:sldMk cId="3386847551" sldId="1099"/>
        </pc:sldMkLst>
      </pc:sldChg>
      <pc:sldChg chg="add del">
        <pc:chgData name="Baráth, Július" userId="aebde9b9-dccc-4475-a9ac-c05e78323d7a" providerId="ADAL" clId="{C4B389A9-8B86-0146-90DB-6AF3E7965AE6}" dt="2023-02-07T06:43:15.453" v="1"/>
        <pc:sldMkLst>
          <pc:docMk/>
          <pc:sldMk cId="827815178" sldId="1100"/>
        </pc:sldMkLst>
      </pc:sldChg>
      <pc:sldChg chg="add">
        <pc:chgData name="Baráth, Július" userId="aebde9b9-dccc-4475-a9ac-c05e78323d7a" providerId="ADAL" clId="{C4B389A9-8B86-0146-90DB-6AF3E7965AE6}" dt="2023-02-07T06:43:35.182" v="2"/>
        <pc:sldMkLst>
          <pc:docMk/>
          <pc:sldMk cId="2665576622" sldId="1100"/>
        </pc:sldMkLst>
      </pc:sldChg>
      <pc:sldChg chg="add del">
        <pc:chgData name="Baráth, Július" userId="aebde9b9-dccc-4475-a9ac-c05e78323d7a" providerId="ADAL" clId="{C4B389A9-8B86-0146-90DB-6AF3E7965AE6}" dt="2023-02-07T06:43:15.453" v="1"/>
        <pc:sldMkLst>
          <pc:docMk/>
          <pc:sldMk cId="1483771885" sldId="1101"/>
        </pc:sldMkLst>
      </pc:sldChg>
      <pc:sldChg chg="add">
        <pc:chgData name="Baráth, Július" userId="aebde9b9-dccc-4475-a9ac-c05e78323d7a" providerId="ADAL" clId="{C4B389A9-8B86-0146-90DB-6AF3E7965AE6}" dt="2023-02-07T06:43:35.182" v="2"/>
        <pc:sldMkLst>
          <pc:docMk/>
          <pc:sldMk cId="1857964524" sldId="1101"/>
        </pc:sldMkLst>
      </pc:sldChg>
      <pc:sldChg chg="add del">
        <pc:chgData name="Baráth, Július" userId="aebde9b9-dccc-4475-a9ac-c05e78323d7a" providerId="ADAL" clId="{C4B389A9-8B86-0146-90DB-6AF3E7965AE6}" dt="2023-02-07T06:43:15.453" v="1"/>
        <pc:sldMkLst>
          <pc:docMk/>
          <pc:sldMk cId="221427433" sldId="1102"/>
        </pc:sldMkLst>
      </pc:sldChg>
      <pc:sldChg chg="modSp add mod">
        <pc:chgData name="Baráth, Július" userId="aebde9b9-dccc-4475-a9ac-c05e78323d7a" providerId="ADAL" clId="{C4B389A9-8B86-0146-90DB-6AF3E7965AE6}" dt="2023-02-20T07:40:07.990" v="64" actId="20577"/>
        <pc:sldMkLst>
          <pc:docMk/>
          <pc:sldMk cId="2039466031" sldId="1102"/>
        </pc:sldMkLst>
      </pc:sldChg>
      <pc:sldChg chg="add del">
        <pc:chgData name="Baráth, Július" userId="aebde9b9-dccc-4475-a9ac-c05e78323d7a" providerId="ADAL" clId="{C4B389A9-8B86-0146-90DB-6AF3E7965AE6}" dt="2023-02-07T06:43:15.453" v="1"/>
        <pc:sldMkLst>
          <pc:docMk/>
          <pc:sldMk cId="721228230" sldId="1103"/>
        </pc:sldMkLst>
      </pc:sldChg>
      <pc:sldChg chg="add">
        <pc:chgData name="Baráth, Július" userId="aebde9b9-dccc-4475-a9ac-c05e78323d7a" providerId="ADAL" clId="{C4B389A9-8B86-0146-90DB-6AF3E7965AE6}" dt="2023-02-07T06:43:35.182" v="2"/>
        <pc:sldMkLst>
          <pc:docMk/>
          <pc:sldMk cId="1320771861" sldId="1103"/>
        </pc:sldMkLst>
      </pc:sldChg>
      <pc:sldChg chg="add">
        <pc:chgData name="Baráth, Július" userId="aebde9b9-dccc-4475-a9ac-c05e78323d7a" providerId="ADAL" clId="{C4B389A9-8B86-0146-90DB-6AF3E7965AE6}" dt="2023-02-07T06:43:35.182" v="2"/>
        <pc:sldMkLst>
          <pc:docMk/>
          <pc:sldMk cId="783862646" sldId="1104"/>
        </pc:sldMkLst>
      </pc:sldChg>
      <pc:sldChg chg="add del">
        <pc:chgData name="Baráth, Július" userId="aebde9b9-dccc-4475-a9ac-c05e78323d7a" providerId="ADAL" clId="{C4B389A9-8B86-0146-90DB-6AF3E7965AE6}" dt="2023-02-07T06:43:15.453" v="1"/>
        <pc:sldMkLst>
          <pc:docMk/>
          <pc:sldMk cId="2993333410" sldId="1104"/>
        </pc:sldMkLst>
      </pc:sldChg>
      <pc:sldChg chg="addSp modSp add mod">
        <pc:chgData name="Baráth, Július" userId="aebde9b9-dccc-4475-a9ac-c05e78323d7a" providerId="ADAL" clId="{C4B389A9-8B86-0146-90DB-6AF3E7965AE6}" dt="2023-02-20T07:54:11.599" v="84" actId="1076"/>
        <pc:sldMkLst>
          <pc:docMk/>
          <pc:sldMk cId="736378205" sldId="1105"/>
        </pc:sldMkLst>
      </pc:sldChg>
      <pc:sldChg chg="add del">
        <pc:chgData name="Baráth, Július" userId="aebde9b9-dccc-4475-a9ac-c05e78323d7a" providerId="ADAL" clId="{C4B389A9-8B86-0146-90DB-6AF3E7965AE6}" dt="2023-02-07T06:43:15.453" v="1"/>
        <pc:sldMkLst>
          <pc:docMk/>
          <pc:sldMk cId="1459731415" sldId="1105"/>
        </pc:sldMkLst>
      </pc:sldChg>
      <pc:sldChg chg="add">
        <pc:chgData name="Baráth, Július" userId="aebde9b9-dccc-4475-a9ac-c05e78323d7a" providerId="ADAL" clId="{C4B389A9-8B86-0146-90DB-6AF3E7965AE6}" dt="2023-02-07T06:43:35.182" v="2"/>
        <pc:sldMkLst>
          <pc:docMk/>
          <pc:sldMk cId="2475727809" sldId="1106"/>
        </pc:sldMkLst>
      </pc:sldChg>
      <pc:sldChg chg="add del">
        <pc:chgData name="Baráth, Július" userId="aebde9b9-dccc-4475-a9ac-c05e78323d7a" providerId="ADAL" clId="{C4B389A9-8B86-0146-90DB-6AF3E7965AE6}" dt="2023-02-07T06:43:15.453" v="1"/>
        <pc:sldMkLst>
          <pc:docMk/>
          <pc:sldMk cId="4286410732" sldId="1106"/>
        </pc:sldMkLst>
      </pc:sldChg>
      <pc:sldChg chg="add">
        <pc:chgData name="Baráth, Július" userId="aebde9b9-dccc-4475-a9ac-c05e78323d7a" providerId="ADAL" clId="{C4B389A9-8B86-0146-90DB-6AF3E7965AE6}" dt="2023-02-07T06:43:35.182" v="2"/>
        <pc:sldMkLst>
          <pc:docMk/>
          <pc:sldMk cId="1490559014" sldId="1107"/>
        </pc:sldMkLst>
      </pc:sldChg>
      <pc:sldChg chg="add del">
        <pc:chgData name="Baráth, Július" userId="aebde9b9-dccc-4475-a9ac-c05e78323d7a" providerId="ADAL" clId="{C4B389A9-8B86-0146-90DB-6AF3E7965AE6}" dt="2023-02-07T06:43:15.453" v="1"/>
        <pc:sldMkLst>
          <pc:docMk/>
          <pc:sldMk cId="3670547374" sldId="1107"/>
        </pc:sldMkLst>
      </pc:sldChg>
      <pc:sldChg chg="add del">
        <pc:chgData name="Baráth, Július" userId="aebde9b9-dccc-4475-a9ac-c05e78323d7a" providerId="ADAL" clId="{C4B389A9-8B86-0146-90DB-6AF3E7965AE6}" dt="2023-02-07T06:45:58.447" v="19" actId="2696"/>
        <pc:sldMkLst>
          <pc:docMk/>
          <pc:sldMk cId="2688766290" sldId="1108"/>
        </pc:sldMkLst>
      </pc:sldChg>
      <pc:sldChg chg="add del">
        <pc:chgData name="Baráth, Július" userId="aebde9b9-dccc-4475-a9ac-c05e78323d7a" providerId="ADAL" clId="{C4B389A9-8B86-0146-90DB-6AF3E7965AE6}" dt="2023-02-07T06:43:15.453" v="1"/>
        <pc:sldMkLst>
          <pc:docMk/>
          <pc:sldMk cId="3945678399" sldId="1108"/>
        </pc:sldMkLst>
      </pc:sldChg>
      <pc:sldChg chg="add del">
        <pc:chgData name="Baráth, Július" userId="aebde9b9-dccc-4475-a9ac-c05e78323d7a" providerId="ADAL" clId="{C4B389A9-8B86-0146-90DB-6AF3E7965AE6}" dt="2023-02-07T06:43:15.453" v="1"/>
        <pc:sldMkLst>
          <pc:docMk/>
          <pc:sldMk cId="2157768179" sldId="1109"/>
        </pc:sldMkLst>
      </pc:sldChg>
      <pc:sldChg chg="add">
        <pc:chgData name="Baráth, Július" userId="aebde9b9-dccc-4475-a9ac-c05e78323d7a" providerId="ADAL" clId="{C4B389A9-8B86-0146-90DB-6AF3E7965AE6}" dt="2023-02-07T06:43:35.182" v="2"/>
        <pc:sldMkLst>
          <pc:docMk/>
          <pc:sldMk cId="2329690303" sldId="1109"/>
        </pc:sldMkLst>
      </pc:sldChg>
      <pc:sldChg chg="addSp delSp modSp new mod">
        <pc:chgData name="Baráth, Július" userId="aebde9b9-dccc-4475-a9ac-c05e78323d7a" providerId="ADAL" clId="{C4B389A9-8B86-0146-90DB-6AF3E7965AE6}" dt="2023-02-20T08:09:56.040" v="128" actId="20577"/>
        <pc:sldMkLst>
          <pc:docMk/>
          <pc:sldMk cId="961391019" sldId="1110"/>
        </pc:sldMkLst>
      </pc:sldChg>
    </pc:docChg>
  </pc:docChgLst>
  <pc:docChgLst>
    <pc:chgData name="Baráth, Július" userId="S::julius.barath@aos.sk::aebde9b9-dccc-4475-a9ac-c05e78323d7a" providerId="AD" clId="Web-{C1458636-062E-42E7-4836-2C5FE3A0D69D}"/>
    <pc:docChg chg="modSld">
      <pc:chgData name="Baráth, Július" userId="S::julius.barath@aos.sk::aebde9b9-dccc-4475-a9ac-c05e78323d7a" providerId="AD" clId="Web-{C1458636-062E-42E7-4836-2C5FE3A0D69D}" dt="2023-02-21T11:28:28.220" v="9"/>
      <pc:docMkLst>
        <pc:docMk/>
      </pc:docMkLst>
      <pc:sldChg chg="modSp">
        <pc:chgData name="Baráth, Július" userId="S::julius.barath@aos.sk::aebde9b9-dccc-4475-a9ac-c05e78323d7a" providerId="AD" clId="Web-{C1458636-062E-42E7-4836-2C5FE3A0D69D}" dt="2023-02-21T11:28:28.220" v="9"/>
        <pc:sldMkLst>
          <pc:docMk/>
          <pc:sldMk cId="2039466031" sldId="1102"/>
        </pc:sldMkLst>
      </pc:sldChg>
    </pc:docChg>
  </pc:docChgLst>
  <pc:docChgLst>
    <pc:chgData name="Baráth, Július" userId="aebde9b9-dccc-4475-a9ac-c05e78323d7a" providerId="ADAL" clId="{D7E56765-70C3-2B43-8D11-149ED1DF8332}"/>
    <pc:docChg chg="modSld">
      <pc:chgData name="Baráth, Július" userId="aebde9b9-dccc-4475-a9ac-c05e78323d7a" providerId="ADAL" clId="{D7E56765-70C3-2B43-8D11-149ED1DF8332}" dt="2025-02-19T09:15:31.314" v="2" actId="113"/>
      <pc:docMkLst>
        <pc:docMk/>
      </pc:docMkLst>
      <pc:sldChg chg="modSp mod">
        <pc:chgData name="Baráth, Július" userId="aebde9b9-dccc-4475-a9ac-c05e78323d7a" providerId="ADAL" clId="{D7E56765-70C3-2B43-8D11-149ED1DF8332}" dt="2025-02-19T08:50:09.091" v="0" actId="115"/>
        <pc:sldMkLst>
          <pc:docMk/>
          <pc:sldMk cId="2578811075" sldId="1084"/>
        </pc:sldMkLst>
        <pc:spChg chg="mod">
          <ac:chgData name="Baráth, Július" userId="aebde9b9-dccc-4475-a9ac-c05e78323d7a" providerId="ADAL" clId="{D7E56765-70C3-2B43-8D11-149ED1DF8332}" dt="2025-02-19T08:50:09.091" v="0" actId="115"/>
          <ac:spMkLst>
            <pc:docMk/>
            <pc:sldMk cId="2578811075" sldId="1084"/>
            <ac:spMk id="5" creationId="{00000000-0000-0000-0000-000000000000}"/>
          </ac:spMkLst>
        </pc:spChg>
      </pc:sldChg>
      <pc:sldChg chg="modSp mod">
        <pc:chgData name="Baráth, Július" userId="aebde9b9-dccc-4475-a9ac-c05e78323d7a" providerId="ADAL" clId="{D7E56765-70C3-2B43-8D11-149ED1DF8332}" dt="2025-02-19T09:15:31.314" v="2" actId="113"/>
        <pc:sldMkLst>
          <pc:docMk/>
          <pc:sldMk cId="961391019" sldId="1110"/>
        </pc:sldMkLst>
        <pc:spChg chg="mod">
          <ac:chgData name="Baráth, Július" userId="aebde9b9-dccc-4475-a9ac-c05e78323d7a" providerId="ADAL" clId="{D7E56765-70C3-2B43-8D11-149ED1DF8332}" dt="2025-02-19T09:15:31.314" v="2" actId="113"/>
          <ac:spMkLst>
            <pc:docMk/>
            <pc:sldMk cId="961391019" sldId="1110"/>
            <ac:spMk id="5" creationId="{0E2C8AED-5BE8-FB58-F8E1-5001E13B39F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98335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9: Firewall Technologies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0A313ED8-785B-4D16-9B17-4143385249B9}"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2</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t>1 – Networking Today</a:t>
            </a:r>
          </a:p>
          <a:p>
            <a:r>
              <a:rPr lang="en-GB" dirty="0"/>
              <a:t>1.0.2 – What will I learn to do in this module?</a:t>
            </a:r>
          </a:p>
        </p:txBody>
      </p:sp>
    </p:spTree>
    <p:extLst>
      <p:ext uri="{BB962C8B-B14F-4D97-AF65-F5344CB8AC3E}">
        <p14:creationId xmlns:p14="http://schemas.microsoft.com/office/powerpoint/2010/main" val="1587924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Firewall Technologies
9.1: Secure Networks with Firewalls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Firewall Technologies
9.1: Secure Networks with Firewalls
9.1.1: Firewalls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Firewall Technologies
9.1: Secure Networks with Firewalls
9.1.2: Types of Firewalls</a:t>
            </a:r>
          </a:p>
          <a:p>
            <a:r>
              <a:rPr lang="en-US" dirty="0"/>
              <a:t>9.1.3: Check Your Understanding – Identify the Type of Firewall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Firewall Technologies
9.1: Secure Networks with Firewalls
9.1.4: Packet Filtering Firewall Benefits and Limitations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Firewall Technologies
9.1: Secure Networks with Firewalls
9.1.5: Stateful Firewall Benefits and Limitations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Firewall Technologies
9.2: Firewalls in Network Design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Firewall Technologies
9.2: Firewalls in Network Design
9.2.1: Common Security Architectures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Firewall Technologies
9.2: Firewalls in Network Design
9.2.1: Common Security Architectures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21565658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Firewall Technologies
9.2: Firewalls in Network Design
9.2.1: Common Security Architectures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2685005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Firewall Technologies
9.2: Firewalls in Network Design
9.2.1: Common Security Architectures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9872670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Firewall Technologies
9.2: Firewalls in Network Design
9.2.2: Layered Defense</a:t>
            </a:r>
          </a:p>
          <a:p>
            <a:r>
              <a:rPr lang="en-US" dirty="0"/>
              <a:t>9.2.3: Check Your Understanding – Identify Basic Security Architecture for Firewalls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Firewall Technologies
9.2: Firewalls in Network Design
9.2.2: Layered Defense</a:t>
            </a:r>
          </a:p>
          <a:p>
            <a:r>
              <a:rPr lang="en-US" dirty="0"/>
              <a:t>9.2.3: Check Your Understanding – Identify Basic Security Architecture for Firewalls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19190028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10: Zone-Based Policy Firewalls
</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39770238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0A313ED8-785B-4D16-9B17-4143385249B9}"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16</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t>1 – Networking Today</a:t>
            </a:r>
          </a:p>
          <a:p>
            <a:r>
              <a:rPr lang="en-GB" dirty="0"/>
              <a:t>1.0.2 – What will I learn to do in this module?</a:t>
            </a:r>
          </a:p>
        </p:txBody>
      </p:sp>
    </p:spTree>
    <p:extLst>
      <p:ext uri="{BB962C8B-B14F-4D97-AF65-F5344CB8AC3E}">
        <p14:creationId xmlns:p14="http://schemas.microsoft.com/office/powerpoint/2010/main" val="38934672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10.1: ZPF Overview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dirty="0"/>
          </a:p>
        </p:txBody>
      </p:sp>
    </p:spTree>
    <p:extLst>
      <p:ext uri="{BB962C8B-B14F-4D97-AF65-F5344CB8AC3E}">
        <p14:creationId xmlns:p14="http://schemas.microsoft.com/office/powerpoint/2010/main" val="28364887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10.1: ZPF Overview
10.1.1: Benefits of a ZPF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dirty="0"/>
          </a:p>
        </p:txBody>
      </p:sp>
    </p:spTree>
    <p:extLst>
      <p:ext uri="{BB962C8B-B14F-4D97-AF65-F5344CB8AC3E}">
        <p14:creationId xmlns:p14="http://schemas.microsoft.com/office/powerpoint/2010/main" val="18100873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10.1: ZPF Overview
10.1.2: ZPF Design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dirty="0"/>
          </a:p>
        </p:txBody>
      </p:sp>
    </p:spTree>
    <p:extLst>
      <p:ext uri="{BB962C8B-B14F-4D97-AF65-F5344CB8AC3E}">
        <p14:creationId xmlns:p14="http://schemas.microsoft.com/office/powerpoint/2010/main" val="19616147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10.1: ZPF Overview
10.1.2: ZPF Design
</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dirty="0"/>
          </a:p>
        </p:txBody>
      </p:sp>
    </p:spTree>
    <p:extLst>
      <p:ext uri="{BB962C8B-B14F-4D97-AF65-F5344CB8AC3E}">
        <p14:creationId xmlns:p14="http://schemas.microsoft.com/office/powerpoint/2010/main" val="7953974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10.1: ZPF Overview
10.1.2: ZPF Design
</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dirty="0"/>
          </a:p>
        </p:txBody>
      </p:sp>
    </p:spTree>
    <p:extLst>
      <p:ext uri="{BB962C8B-B14F-4D97-AF65-F5344CB8AC3E}">
        <p14:creationId xmlns:p14="http://schemas.microsoft.com/office/powerpoint/2010/main" val="40180144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10.1: ZPF Overview
10.1.2: ZPF Design
</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dirty="0"/>
          </a:p>
        </p:txBody>
      </p:sp>
    </p:spTree>
    <p:extLst>
      <p:ext uri="{BB962C8B-B14F-4D97-AF65-F5344CB8AC3E}">
        <p14:creationId xmlns:p14="http://schemas.microsoft.com/office/powerpoint/2010/main" val="38324663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10.1: ZPF Overview
10.1.2: ZPF Design
</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dirty="0"/>
          </a:p>
        </p:txBody>
      </p:sp>
    </p:spTree>
    <p:extLst>
      <p:ext uri="{BB962C8B-B14F-4D97-AF65-F5344CB8AC3E}">
        <p14:creationId xmlns:p14="http://schemas.microsoft.com/office/powerpoint/2010/main" val="16522700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10.1: ZPF Overview
10.1.2: ZPF Design
</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dirty="0"/>
          </a:p>
        </p:txBody>
      </p:sp>
    </p:spTree>
    <p:extLst>
      <p:ext uri="{BB962C8B-B14F-4D97-AF65-F5344CB8AC3E}">
        <p14:creationId xmlns:p14="http://schemas.microsoft.com/office/powerpoint/2010/main" val="21190277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10.2: ZPF Operation
</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dirty="0"/>
          </a:p>
        </p:txBody>
      </p:sp>
    </p:spTree>
    <p:extLst>
      <p:ext uri="{BB962C8B-B14F-4D97-AF65-F5344CB8AC3E}">
        <p14:creationId xmlns:p14="http://schemas.microsoft.com/office/powerpoint/2010/main" val="28611033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10.2: ZPF Operation
10.2.1: ZPF Actions
</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dirty="0"/>
          </a:p>
        </p:txBody>
      </p:sp>
    </p:spTree>
    <p:extLst>
      <p:ext uri="{BB962C8B-B14F-4D97-AF65-F5344CB8AC3E}">
        <p14:creationId xmlns:p14="http://schemas.microsoft.com/office/powerpoint/2010/main" val="24556149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10.2: ZPF Operation
10.2.2: Rules for Transit Traffic
</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dirty="0"/>
          </a:p>
        </p:txBody>
      </p:sp>
    </p:spTree>
    <p:extLst>
      <p:ext uri="{BB962C8B-B14F-4D97-AF65-F5344CB8AC3E}">
        <p14:creationId xmlns:p14="http://schemas.microsoft.com/office/powerpoint/2010/main" val="11093554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10.2: ZPF Operation
10.2.3: Rules for Traffic to the Self Zone</a:t>
            </a:r>
          </a:p>
          <a:p>
            <a:r>
              <a:rPr lang="en-US" dirty="0"/>
              <a:t>10.2.4: Check Your Understanding - Rules for Transit Traffic 
</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dirty="0"/>
          </a:p>
        </p:txBody>
      </p:sp>
    </p:spTree>
    <p:extLst>
      <p:ext uri="{BB962C8B-B14F-4D97-AF65-F5344CB8AC3E}">
        <p14:creationId xmlns:p14="http://schemas.microsoft.com/office/powerpoint/2010/main" val="20114442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10.3: Configure a ZPF
</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dirty="0"/>
          </a:p>
        </p:txBody>
      </p:sp>
    </p:spTree>
    <p:extLst>
      <p:ext uri="{BB962C8B-B14F-4D97-AF65-F5344CB8AC3E}">
        <p14:creationId xmlns:p14="http://schemas.microsoft.com/office/powerpoint/2010/main" val="3655028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10.3: Configure a ZPF
10.3.1: Configure a ZPF
</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dirty="0"/>
          </a:p>
        </p:txBody>
      </p:sp>
    </p:spTree>
    <p:extLst>
      <p:ext uri="{BB962C8B-B14F-4D97-AF65-F5344CB8AC3E}">
        <p14:creationId xmlns:p14="http://schemas.microsoft.com/office/powerpoint/2010/main" val="360095806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10.3: Configure a ZPF
10.3.2: Step 1. Create Zones
</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dirty="0"/>
          </a:p>
        </p:txBody>
      </p:sp>
    </p:spTree>
    <p:extLst>
      <p:ext uri="{BB962C8B-B14F-4D97-AF65-F5344CB8AC3E}">
        <p14:creationId xmlns:p14="http://schemas.microsoft.com/office/powerpoint/2010/main" val="39129606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10.3: Configure a ZPF
10.3.3: Step 2. Identify Traffic
</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dirty="0"/>
          </a:p>
        </p:txBody>
      </p:sp>
    </p:spTree>
    <p:extLst>
      <p:ext uri="{BB962C8B-B14F-4D97-AF65-F5344CB8AC3E}">
        <p14:creationId xmlns:p14="http://schemas.microsoft.com/office/powerpoint/2010/main" val="15934909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10.3: Configure a ZPF
10.3.3: Step 2. Identify Traffic
</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dirty="0"/>
          </a:p>
        </p:txBody>
      </p:sp>
    </p:spTree>
    <p:extLst>
      <p:ext uri="{BB962C8B-B14F-4D97-AF65-F5344CB8AC3E}">
        <p14:creationId xmlns:p14="http://schemas.microsoft.com/office/powerpoint/2010/main" val="100142671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10.3: Configure a ZPF
10.3.4: Step 3. Define an Action
</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dirty="0"/>
          </a:p>
        </p:txBody>
      </p:sp>
    </p:spTree>
    <p:extLst>
      <p:ext uri="{BB962C8B-B14F-4D97-AF65-F5344CB8AC3E}">
        <p14:creationId xmlns:p14="http://schemas.microsoft.com/office/powerpoint/2010/main" val="412730682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10.3: Configure a ZPF
10.3.5: Step 4. Identify a Zone-Pair and Match to a Policy
</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dirty="0"/>
          </a:p>
        </p:txBody>
      </p:sp>
    </p:spTree>
    <p:extLst>
      <p:ext uri="{BB962C8B-B14F-4D97-AF65-F5344CB8AC3E}">
        <p14:creationId xmlns:p14="http://schemas.microsoft.com/office/powerpoint/2010/main" val="334671004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10.3: Configure a ZPF
10.3.6: Step 5. Assign Zones to Interfaces
</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dirty="0"/>
          </a:p>
        </p:txBody>
      </p:sp>
    </p:spTree>
    <p:extLst>
      <p:ext uri="{BB962C8B-B14F-4D97-AF65-F5344CB8AC3E}">
        <p14:creationId xmlns:p14="http://schemas.microsoft.com/office/powerpoint/2010/main" val="198644413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10.3: Configure a ZPF
10.3.7: Verify a ZPF Configuration
</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dirty="0"/>
          </a:p>
        </p:txBody>
      </p:sp>
    </p:spTree>
    <p:extLst>
      <p:ext uri="{BB962C8B-B14F-4D97-AF65-F5344CB8AC3E}">
        <p14:creationId xmlns:p14="http://schemas.microsoft.com/office/powerpoint/2010/main" val="341571632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10.3: Configure a ZPF
10.3.7: Verify a ZPF Configuration</a:t>
            </a:r>
          </a:p>
          <a:p>
            <a:r>
              <a:rPr lang="en-US" dirty="0"/>
              <a:t>10.3.8: Syntax Checker-Configure a ZPF
</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dirty="0"/>
          </a:p>
        </p:txBody>
      </p:sp>
    </p:spTree>
    <p:extLst>
      <p:ext uri="{BB962C8B-B14F-4D97-AF65-F5344CB8AC3E}">
        <p14:creationId xmlns:p14="http://schemas.microsoft.com/office/powerpoint/2010/main" val="240462255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Zone-Based Policy Firewalls
10.3: Configure a ZPF
10.3.9: ZPF Configuration Considerations
</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dirty="0"/>
          </a:p>
        </p:txBody>
      </p:sp>
    </p:spTree>
    <p:extLst>
      <p:ext uri="{BB962C8B-B14F-4D97-AF65-F5344CB8AC3E}">
        <p14:creationId xmlns:p14="http://schemas.microsoft.com/office/powerpoint/2010/main" val="256513544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641018C-6CAF-B84E-B92C-ECB119457FBA}"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001943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lvl1pPr marL="0" indent="0">
              <a:buNone/>
              <a:defRPr lang="en-US" sz="3600" dirty="0">
                <a:solidFill>
                  <a:srgbClr val="AFE8FB"/>
                </a:solidFill>
                <a:latin typeface="Arial" pitchFamily="34" charset="0"/>
                <a:ea typeface="Arial" pitchFamily="34" charset="-122"/>
                <a:cs typeface="Arial" pitchFamily="34" charset="-120"/>
              </a:defRPr>
            </a:lvl1pPr>
          </a:lstStyle>
          <a:p>
            <a:pPr marL="0" indent="0">
              <a:buNone/>
            </a:pPr>
            <a:r>
              <a:rPr lang="en-US" sz="3600" dirty="0">
                <a:solidFill>
                  <a:srgbClr val="AFE8FB"/>
                </a:solidFill>
                <a:latin typeface="Arial" pitchFamily="34" charset="0"/>
                <a:ea typeface="Arial" pitchFamily="34" charset="-122"/>
                <a:cs typeface="Arial" pitchFamily="34" charset="-120"/>
              </a:rPr>
              <a:t>(custom placeholder text!)</a:t>
            </a:r>
            <a:endParaRPr lang="en-US" sz="36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_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lvl1pPr marL="0" indent="0">
              <a:buNone/>
              <a:defRPr lang="en-US" sz="4200" dirty="0">
                <a:solidFill>
                  <a:srgbClr val="AFE8FB"/>
                </a:solidFill>
                <a:latin typeface="Arial" pitchFamily="34" charset="0"/>
                <a:ea typeface="Arial" pitchFamily="34" charset="-122"/>
                <a:cs typeface="Arial" pitchFamily="34" charset="-120"/>
              </a:defRPr>
            </a:lvl1pPr>
          </a:lstStyle>
          <a:p>
            <a:pPr marL="0" indent="0">
              <a:buNone/>
            </a:pPr>
            <a:r>
              <a:rPr lang="en-US" sz="4200" dirty="0">
                <a:solidFill>
                  <a:srgbClr val="AFE8FB"/>
                </a:solidFill>
                <a:latin typeface="Arial" pitchFamily="34" charset="0"/>
                <a:ea typeface="Arial" pitchFamily="34" charset="-122"/>
                <a:cs typeface="Arial" pitchFamily="34" charset="-120"/>
              </a:rPr>
              <a:t>(custom placeholder text!)</a:t>
            </a:r>
            <a:endParaRPr lang="en-US" sz="42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ST_INTRO">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OCK">
    <p:bg>
      <p:bgPr>
        <a:solidFill>
          <a:srgbClr val="00394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lvl1pPr marL="0" indent="0">
              <a:buNone/>
              <a:defRPr lang="en-US" sz="4600" dirty="0">
                <a:solidFill>
                  <a:srgbClr val="B1E8FA"/>
                </a:solidFill>
                <a:latin typeface="Arial" pitchFamily="34" charset="0"/>
                <a:ea typeface="Arial" pitchFamily="34" charset="-122"/>
                <a:cs typeface="Arial" pitchFamily="34" charset="-120"/>
              </a:defRPr>
            </a:lvl1pPr>
          </a:lstStyle>
          <a:p>
            <a:pPr marL="0" indent="0">
              <a:buNone/>
            </a:pPr>
            <a:r>
              <a:rPr lang="en-US" sz="4600" dirty="0">
                <a:solidFill>
                  <a:srgbClr val="B1E8FA"/>
                </a:solidFill>
                <a:latin typeface="Arial" pitchFamily="34" charset="0"/>
                <a:ea typeface="Arial" pitchFamily="34" charset="-122"/>
                <a:cs typeface="Arial" pitchFamily="34" charset="-120"/>
              </a:rPr>
              <a:t>(custom placeholder text!)</a:t>
            </a:r>
            <a:endParaRPr lang="en-US" sz="4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rcRect t="-16667" b="-16667"/>
          <a:stretch/>
        </p:blipFill>
        <p:spPr>
          <a:xfrm>
            <a:off x="457200" y="4629150"/>
            <a:ext cx="365760" cy="36576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UNK">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274320"/>
            <a:ext cx="9144000" cy="914400"/>
          </a:xfrm>
          <a:prstGeom prst="rect">
            <a:avLst/>
          </a:prstGeom>
          <a:noFill/>
          <a:ln/>
        </p:spPr>
        <p:txBody>
          <a:bodyPr wrap="square" rtlCol="0"/>
          <a:lstStyle>
            <a:lvl1pPr marL="0" indent="0">
              <a:buNone/>
              <a:defRPr lang="en-US" sz="2200" dirty="0">
                <a:solidFill>
                  <a:srgbClr val="024C69"/>
                </a:solidFill>
                <a:latin typeface="Arial" pitchFamily="34" charset="0"/>
                <a:ea typeface="Arial" pitchFamily="34" charset="-122"/>
                <a:cs typeface="Arial" pitchFamily="34" charset="-120"/>
              </a:defRPr>
            </a:lvl1pPr>
          </a:lstStyle>
          <a:p>
            <a:pPr marL="0" indent="0">
              <a:buNone/>
            </a:pPr>
            <a:r>
              <a:rPr lang="en-US" sz="2200" dirty="0">
                <a:solidFill>
                  <a:srgbClr val="024C69"/>
                </a:solidFill>
                <a:latin typeface="Arial" pitchFamily="34" charset="0"/>
                <a:ea typeface="Arial" pitchFamily="34" charset="-122"/>
                <a:cs typeface="Arial" pitchFamily="34" charset="-120"/>
              </a:rPr>
              <a:t>(custom placeholder text!)</a:t>
            </a:r>
            <a:endParaRPr lang="en-US" sz="2200" dirty="0"/>
          </a:p>
        </p:txBody>
      </p:sp>
      <p:sp>
        <p:nvSpPr>
          <p:cNvPr id="3" name="Object2"/>
          <p:cNvSpPr>
            <a:spLocks noGrp="1"/>
          </p:cNvSpPr>
          <p:nvPr>
            <p:ph type="body" idx="101"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4" name="Object3"/>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5" name="Object 4"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49566611"/>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3738800047"/>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4248846023"/>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86592030"/>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1986556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1800221"/>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1874506118"/>
      </p:ext>
    </p:extLst>
  </p:cSld>
  <p:clrMapOvr>
    <a:masterClrMapping/>
  </p:clrMapOvr>
  <p:transition spd="slow">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657145466"/>
      </p:ext>
    </p:extLst>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1834940297"/>
      </p:ext>
    </p:extLst>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57519932"/>
      </p:ext>
    </p:extLst>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862479528"/>
      </p:ext>
    </p:extLst>
  </p:cSld>
  <p:clrMapOvr>
    <a:masterClrMapping/>
  </p:clrMapOvr>
  <p:transition spd="slow">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859487320"/>
      </p:ext>
    </p:extLst>
  </p:cSld>
  <p:clrMapOvr>
    <a:masterClrMapping/>
  </p:clrMapOvr>
  <p:transition spd="slow">
    <p:wip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3474989005"/>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036004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37415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INT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lvl1pPr marL="0" indent="0">
              <a:buNone/>
              <a:defRPr lang="en-US" sz="3600" dirty="0">
                <a:solidFill>
                  <a:srgbClr val="AFE8FB"/>
                </a:solidFill>
                <a:latin typeface="Arial" pitchFamily="34" charset="0"/>
                <a:ea typeface="Arial" pitchFamily="34" charset="-122"/>
                <a:cs typeface="Arial" pitchFamily="34" charset="-120"/>
              </a:defRPr>
            </a:lvl1pPr>
          </a:lstStyle>
          <a:p>
            <a:pPr marL="0" indent="0">
              <a:buNone/>
            </a:pPr>
            <a:r>
              <a:rPr lang="en-US" sz="3600" dirty="0">
                <a:solidFill>
                  <a:srgbClr val="AFE8FB"/>
                </a:solidFill>
                <a:latin typeface="Arial" pitchFamily="34" charset="0"/>
                <a:ea typeface="Arial" pitchFamily="34" charset="-122"/>
                <a:cs typeface="Arial" pitchFamily="34" charset="-120"/>
              </a:rPr>
              <a:t>(custom placeholder text!)</a:t>
            </a:r>
            <a:endParaRPr lang="en-US" sz="36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extLst>
      <p:ext uri="{BB962C8B-B14F-4D97-AF65-F5344CB8AC3E}">
        <p14:creationId xmlns:p14="http://schemas.microsoft.com/office/powerpoint/2010/main" val="12450527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INTRO_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lvl1pPr marL="0" indent="0">
              <a:buNone/>
              <a:defRPr lang="en-US" sz="4200" dirty="0">
                <a:solidFill>
                  <a:srgbClr val="AFE8FB"/>
                </a:solidFill>
                <a:latin typeface="Arial" pitchFamily="34" charset="0"/>
                <a:ea typeface="Arial" pitchFamily="34" charset="-122"/>
                <a:cs typeface="Arial" pitchFamily="34" charset="-120"/>
              </a:defRPr>
            </a:lvl1pPr>
          </a:lstStyle>
          <a:p>
            <a:pPr marL="0" indent="0">
              <a:buNone/>
            </a:pPr>
            <a:r>
              <a:rPr lang="en-US" sz="4200" dirty="0">
                <a:solidFill>
                  <a:srgbClr val="AFE8FB"/>
                </a:solidFill>
                <a:latin typeface="Arial" pitchFamily="34" charset="0"/>
                <a:ea typeface="Arial" pitchFamily="34" charset="-122"/>
                <a:cs typeface="Arial" pitchFamily="34" charset="-120"/>
              </a:rPr>
              <a:t>(custom placeholder text!)</a:t>
            </a:r>
            <a:endParaRPr lang="en-US" sz="42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extLst>
      <p:ext uri="{BB962C8B-B14F-4D97-AF65-F5344CB8AC3E}">
        <p14:creationId xmlns:p14="http://schemas.microsoft.com/office/powerpoint/2010/main" val="427012889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INST_INTRO">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2020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extLst>
      <p:ext uri="{BB962C8B-B14F-4D97-AF65-F5344CB8AC3E}">
        <p14:creationId xmlns:p14="http://schemas.microsoft.com/office/powerpoint/2010/main" val="39237780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BLOCK">
    <p:bg>
      <p:bgPr>
        <a:solidFill>
          <a:srgbClr val="00394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lvl1pPr marL="0" indent="0">
              <a:buNone/>
              <a:defRPr lang="en-US" sz="4600" dirty="0">
                <a:solidFill>
                  <a:srgbClr val="B1E8FA"/>
                </a:solidFill>
                <a:latin typeface="Arial" pitchFamily="34" charset="0"/>
                <a:ea typeface="Arial" pitchFamily="34" charset="-122"/>
                <a:cs typeface="Arial" pitchFamily="34" charset="-120"/>
              </a:defRPr>
            </a:lvl1pPr>
          </a:lstStyle>
          <a:p>
            <a:pPr marL="0" indent="0">
              <a:buNone/>
            </a:pPr>
            <a:r>
              <a:rPr lang="en-US" sz="4600" dirty="0">
                <a:solidFill>
                  <a:srgbClr val="B1E8FA"/>
                </a:solidFill>
                <a:latin typeface="Arial" pitchFamily="34" charset="0"/>
                <a:ea typeface="Arial" pitchFamily="34" charset="-122"/>
                <a:cs typeface="Arial" pitchFamily="34" charset="-120"/>
              </a:rPr>
              <a:t>(custom placeholder text!)</a:t>
            </a:r>
            <a:endParaRPr lang="en-US" sz="4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2020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rcRect t="-16667" b="-16667"/>
          <a:stretch/>
        </p:blipFill>
        <p:spPr>
          <a:xfrm>
            <a:off x="457200" y="4629150"/>
            <a:ext cx="365760" cy="36576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extLst>
      <p:ext uri="{BB962C8B-B14F-4D97-AF65-F5344CB8AC3E}">
        <p14:creationId xmlns:p14="http://schemas.microsoft.com/office/powerpoint/2010/main" val="227589092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HUNK">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274320"/>
            <a:ext cx="9144000" cy="914400"/>
          </a:xfrm>
          <a:prstGeom prst="rect">
            <a:avLst/>
          </a:prstGeom>
          <a:noFill/>
          <a:ln/>
        </p:spPr>
        <p:txBody>
          <a:bodyPr wrap="square" rtlCol="0"/>
          <a:lstStyle>
            <a:lvl1pPr marL="0" indent="0">
              <a:buNone/>
              <a:defRPr lang="en-US" sz="2200" dirty="0">
                <a:solidFill>
                  <a:srgbClr val="024C69"/>
                </a:solidFill>
                <a:latin typeface="Arial" pitchFamily="34" charset="0"/>
                <a:ea typeface="Arial" pitchFamily="34" charset="-122"/>
                <a:cs typeface="Arial" pitchFamily="34" charset="-120"/>
              </a:defRPr>
            </a:lvl1pPr>
          </a:lstStyle>
          <a:p>
            <a:pPr marL="0" indent="0">
              <a:buNone/>
            </a:pPr>
            <a:r>
              <a:rPr lang="en-US" sz="2200" dirty="0">
                <a:solidFill>
                  <a:srgbClr val="024C69"/>
                </a:solidFill>
                <a:latin typeface="Arial" pitchFamily="34" charset="0"/>
                <a:ea typeface="Arial" pitchFamily="34" charset="-122"/>
                <a:cs typeface="Arial" pitchFamily="34" charset="-120"/>
              </a:rPr>
              <a:t>(custom placeholder text!)</a:t>
            </a:r>
            <a:endParaRPr lang="en-US" sz="2200" dirty="0"/>
          </a:p>
        </p:txBody>
      </p:sp>
      <p:sp>
        <p:nvSpPr>
          <p:cNvPr id="3" name="Object2"/>
          <p:cNvSpPr>
            <a:spLocks noGrp="1"/>
          </p:cNvSpPr>
          <p:nvPr>
            <p:ph type="body" idx="101"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4" name="Object3"/>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2020  Cisco and/or its affiliates. All rights reserved.   Cisco Confidential</a:t>
            </a:r>
            <a:endParaRPr lang="en-US" sz="600" dirty="0"/>
          </a:p>
        </p:txBody>
      </p:sp>
      <p:pic>
        <p:nvPicPr>
          <p:cNvPr id="5" name="Object 4"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extLst>
      <p:ext uri="{BB962C8B-B14F-4D97-AF65-F5344CB8AC3E}">
        <p14:creationId xmlns:p14="http://schemas.microsoft.com/office/powerpoint/2010/main" val="393948756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563623907"/>
      </p:ext>
    </p:extLst>
  </p:cSld>
  <p:clrMapOvr>
    <a:masterClrMapping/>
  </p:clrMapOvr>
  <p:transition spd="slow">
    <p:wip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1894541374"/>
      </p:ext>
    </p:extLst>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slideLayout" Target="../slideLayouts/slideLayout19.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5" Type="http://schemas.openxmlformats.org/officeDocument/2006/relationships/theme" Target="../theme/theme2.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5" Type="http://schemas.openxmlformats.org/officeDocument/2006/relationships/slideLayout" Target="../slideLayouts/slideLayout25.xml"/><Relationship Id="rId4" Type="http://schemas.openxmlformats.org/officeDocument/2006/relationships/slideLayout" Target="../slideLayouts/slideLayout24.xml"/><Relationship Id="rId9"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2021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4155866754"/>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 id="2147483669"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33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extLst>
      <p:ext uri="{BB962C8B-B14F-4D97-AF65-F5344CB8AC3E}">
        <p14:creationId xmlns:p14="http://schemas.microsoft.com/office/powerpoint/2010/main" val="3926746723"/>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9.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8.xml"/><Relationship Id="rId1" Type="http://schemas.openxmlformats.org/officeDocument/2006/relationships/tags" Target="../tags/tag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26.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26.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2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5.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26.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26.xml"/><Relationship Id="rId4" Type="http://schemas.openxmlformats.org/officeDocument/2006/relationships/image" Target="../media/image20.png"/></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2.xml"/><Relationship Id="rId1" Type="http://schemas.openxmlformats.org/officeDocument/2006/relationships/slideLayout" Target="../slideLayouts/slideLayout26.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3.xml"/><Relationship Id="rId1" Type="http://schemas.openxmlformats.org/officeDocument/2006/relationships/slideLayout" Target="../slideLayouts/slideLayout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4.xml"/><Relationship Id="rId1" Type="http://schemas.openxmlformats.org/officeDocument/2006/relationships/slideLayout" Target="../slideLayouts/slideLayout26.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5.xml"/><Relationship Id="rId1" Type="http://schemas.openxmlformats.org/officeDocument/2006/relationships/slideLayout" Target="../slideLayouts/slideLayout26.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6.xml"/><Relationship Id="rId1" Type="http://schemas.openxmlformats.org/officeDocument/2006/relationships/slideLayout" Target="../slideLayouts/slideLayout26.xml"/><Relationship Id="rId4" Type="http://schemas.openxmlformats.org/officeDocument/2006/relationships/image" Target="../media/image26.png"/></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7.xml"/><Relationship Id="rId1" Type="http://schemas.openxmlformats.org/officeDocument/2006/relationships/slideLayout" Target="../slideLayouts/slideLayout26.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8.xml"/><Relationship Id="rId1" Type="http://schemas.openxmlformats.org/officeDocument/2006/relationships/slideLayout" Target="../slideLayouts/slideLayout2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6.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7.xml"/><Relationship Id="rId1" Type="http://schemas.openxmlformats.org/officeDocument/2006/relationships/tags" Target="../tags/tag3.xml"/></Relationships>
</file>

<file path=ppt/slides/slide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p>
            <a:pPr marL="0" indent="0">
              <a:buNone/>
            </a:pPr>
            <a:r>
              <a:rPr lang="en-US" dirty="0"/>
              <a:t>Module 9: Firewall Technologies</a:t>
            </a:r>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v1.0</a:t>
            </a:r>
          </a:p>
          <a:p>
            <a:pPr marL="0" indent="0">
              <a:buNone/>
            </a:pPr>
            <a:r>
              <a:rPr lang="en-US" dirty="0"/>
              <a:t>(NETSEC)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eaLnBrk="1" hangingPunct="1"/>
            <a:r>
              <a:rPr lang="en-US" dirty="0"/>
              <a:t>Module Objectives</a:t>
            </a:r>
          </a:p>
        </p:txBody>
      </p:sp>
      <p:sp>
        <p:nvSpPr>
          <p:cNvPr id="6147" name="Rectangle 34"/>
          <p:cNvSpPr>
            <a:spLocks noGrp="1" noChangeArrowheads="1"/>
          </p:cNvSpPr>
          <p:nvPr>
            <p:ph idx="1"/>
          </p:nvPr>
        </p:nvSpPr>
        <p:spPr>
          <a:xfrm>
            <a:off x="99461" y="654206"/>
            <a:ext cx="8731272" cy="82746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Firewall Technologies</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Explain how firewalls are implemented to provide network security. </a:t>
            </a:r>
            <a:endParaRPr lang="en-US" altLang="en-US" sz="1600" dirty="0">
              <a:solidFill>
                <a:schemeClr val="tx1"/>
              </a:solidFill>
              <a:latin typeface="Arial" panose="020B0604020202020204" pitchFamily="34" charset="0"/>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1163741416"/>
              </p:ext>
            </p:extLst>
          </p:nvPr>
        </p:nvGraphicFramePr>
        <p:xfrm>
          <a:off x="423333" y="1625600"/>
          <a:ext cx="8263467" cy="751564"/>
        </p:xfrm>
        <a:graphic>
          <a:graphicData uri="http://schemas.openxmlformats.org/drawingml/2006/table">
            <a:tbl>
              <a:tblPr firstRow="1" firstCol="1" bandRow="1">
                <a:tableStyleId>{5C22544A-7EE6-4342-B048-85BDC9FD1C3A}</a:tableStyleId>
              </a:tblPr>
              <a:tblGrid>
                <a:gridCol w="2917548">
                  <a:extLst>
                    <a:ext uri="{9D8B030D-6E8A-4147-A177-3AD203B41FA5}">
                      <a16:colId xmlns:a16="http://schemas.microsoft.com/office/drawing/2014/main" val="399010295"/>
                    </a:ext>
                  </a:extLst>
                </a:gridCol>
                <a:gridCol w="5345919">
                  <a:extLst>
                    <a:ext uri="{9D8B030D-6E8A-4147-A177-3AD203B41FA5}">
                      <a16:colId xmlns:a16="http://schemas.microsoft.com/office/drawing/2014/main" val="3417728144"/>
                    </a:ext>
                  </a:extLst>
                </a:gridCol>
              </a:tblGrid>
              <a:tr h="224116">
                <a:tc>
                  <a:txBody>
                    <a:bodyPr/>
                    <a:lstStyle/>
                    <a:p>
                      <a:pPr marL="0" marR="0">
                        <a:lnSpc>
                          <a:spcPct val="107000"/>
                        </a:lnSpc>
                        <a:spcBef>
                          <a:spcPts val="0"/>
                        </a:spcBef>
                        <a:spcAft>
                          <a:spcPts val="0"/>
                        </a:spcAft>
                      </a:pPr>
                      <a:r>
                        <a:rPr lang="en-US" sz="1100" dirty="0">
                          <a:effectLst/>
                        </a:rPr>
                        <a:t>Topic Title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Topic Objective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64302898"/>
                  </a:ext>
                </a:extLst>
              </a:tr>
              <a:tr h="263724">
                <a:tc>
                  <a:txBody>
                    <a:bodyPr/>
                    <a:lstStyle/>
                    <a:p>
                      <a:pPr marL="0" marR="0">
                        <a:lnSpc>
                          <a:spcPct val="107000"/>
                        </a:lnSpc>
                        <a:spcBef>
                          <a:spcPts val="0"/>
                        </a:spcBef>
                        <a:spcAft>
                          <a:spcPts val="0"/>
                        </a:spcAft>
                      </a:pPr>
                      <a:r>
                        <a:rPr lang="en-US" sz="1100" dirty="0">
                          <a:effectLst/>
                        </a:rPr>
                        <a:t>Secure Networks with Firewalls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Explain how firewalls are used to help secure networks.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530891527"/>
                  </a:ext>
                </a:extLst>
              </a:tr>
              <a:tr h="263724">
                <a:tc>
                  <a:txBody>
                    <a:bodyPr/>
                    <a:lstStyle/>
                    <a:p>
                      <a:pPr marL="0" marR="0">
                        <a:lnSpc>
                          <a:spcPct val="107000"/>
                        </a:lnSpc>
                        <a:spcBef>
                          <a:spcPts val="0"/>
                        </a:spcBef>
                        <a:spcAft>
                          <a:spcPts val="0"/>
                        </a:spcAft>
                      </a:pPr>
                      <a:r>
                        <a:rPr lang="en-US" sz="1100" dirty="0">
                          <a:effectLst/>
                        </a:rPr>
                        <a:t>Firewalls in Network Design</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Explain design considerations for implementing firewall technologies.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662892947"/>
                  </a:ext>
                </a:extLst>
              </a:tr>
            </a:tbl>
          </a:graphicData>
        </a:graphic>
      </p:graphicFrame>
    </p:spTree>
    <p:custDataLst>
      <p:tags r:id="rId1"/>
    </p:custDataLst>
    <p:extLst>
      <p:ext uri="{BB962C8B-B14F-4D97-AF65-F5344CB8AC3E}">
        <p14:creationId xmlns:p14="http://schemas.microsoft.com/office/powerpoint/2010/main" val="3381894665"/>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9.1 Secure Networks with Firewalls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Secure Networks with Firewalls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Firewalls</a:t>
            </a:r>
          </a:p>
        </p:txBody>
      </p:sp>
      <p:sp>
        <p:nvSpPr>
          <p:cNvPr id="5" name="Object4"/>
          <p:cNvSpPr/>
          <p:nvPr/>
        </p:nvSpPr>
        <p:spPr>
          <a:xfrm>
            <a:off x="0" y="914400"/>
            <a:ext cx="3924300" cy="257175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All firewalls share some common properties:</a:t>
            </a:r>
          </a:p>
          <a:p>
            <a:pPr>
              <a:lnSpc>
                <a:spcPts val="2000"/>
              </a:lnSpc>
            </a:pPr>
            <a:endParaRPr lang="en-US" sz="1600" dirty="0">
              <a:solidFill>
                <a:srgbClr val="000000"/>
              </a:solidFill>
              <a:latin typeface="Arial" pitchFamily="34" charset="0"/>
              <a:ea typeface="Arial" pitchFamily="34" charset="-122"/>
              <a:cs typeface="Arial" pitchFamily="34" charset="-120"/>
            </a:endParaRP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Firewalls are resistant to network attacks.</a:t>
            </a: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Firewalls are the only transit point between internal corporate networks and external networks because all traffic flows through the firewall.</a:t>
            </a: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Firewalls enforce the access control policy.</a:t>
            </a:r>
          </a:p>
          <a:p>
            <a:pPr marL="285750" indent="-285750">
              <a:lnSpc>
                <a:spcPts val="2000"/>
              </a:lnSpc>
              <a:buFont typeface="Arial" panose="020B0604020202020204" pitchFamily="34" charset="0"/>
              <a:buChar char="•"/>
            </a:pPr>
            <a:endParaRPr lang="en-US" sz="1600" dirty="0">
              <a:solidFill>
                <a:srgbClr val="000000"/>
              </a:solidFill>
              <a:latin typeface="Arial" pitchFamily="34" charset="0"/>
              <a:cs typeface="Arial" pitchFamily="34" charset="-120"/>
            </a:endParaRPr>
          </a:p>
          <a:p>
            <a:pPr>
              <a:lnSpc>
                <a:spcPts val="2000"/>
              </a:lnSpc>
            </a:pPr>
            <a:r>
              <a:rPr lang="en-US" sz="1600" dirty="0">
                <a:solidFill>
                  <a:srgbClr val="000000"/>
                </a:solidFill>
                <a:latin typeface="Arial" pitchFamily="34" charset="0"/>
                <a:cs typeface="Arial" pitchFamily="34" charset="-120"/>
              </a:rPr>
              <a:t>Different types of firewalls have different benefits and limitations.</a:t>
            </a:r>
            <a:endParaRPr lang="en-US" sz="16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a:t>
            </a:fld>
            <a:endParaRPr lang="en-US" dirty="0"/>
          </a:p>
        </p:txBody>
      </p:sp>
      <p:pic>
        <p:nvPicPr>
          <p:cNvPr id="4" name="Picture 3">
            <a:extLst>
              <a:ext uri="{FF2B5EF4-FFF2-40B4-BE49-F238E27FC236}">
                <a16:creationId xmlns:a16="http://schemas.microsoft.com/office/drawing/2014/main" id="{E66BAF49-3A19-43A1-AF57-6CBFC142314F}"/>
              </a:ext>
            </a:extLst>
          </p:cNvPr>
          <p:cNvPicPr>
            <a:picLocks noChangeAspect="1"/>
          </p:cNvPicPr>
          <p:nvPr/>
        </p:nvPicPr>
        <p:blipFill>
          <a:blip r:embed="rId3"/>
          <a:stretch>
            <a:fillRect/>
          </a:stretch>
        </p:blipFill>
        <p:spPr>
          <a:xfrm>
            <a:off x="4188024" y="857101"/>
            <a:ext cx="4692251" cy="295730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Secure Networks with Firewalls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Types of Firewalls</a:t>
            </a:r>
          </a:p>
        </p:txBody>
      </p:sp>
      <p:sp>
        <p:nvSpPr>
          <p:cNvPr id="5" name="Object4"/>
          <p:cNvSpPr/>
          <p:nvPr/>
        </p:nvSpPr>
        <p:spPr>
          <a:xfrm>
            <a:off x="0" y="914400"/>
            <a:ext cx="8229600"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It is important to understand the different types of firewalls and their specific capabilities so that the right firewall is used for each situation.</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cs typeface="Arial" pitchFamily="34" charset="-120"/>
              </a:rPr>
              <a:t>Packet Filtering (Stateless) firewalls  - </a:t>
            </a:r>
            <a:r>
              <a:rPr lang="en-US" sz="1400" dirty="0">
                <a:solidFill>
                  <a:srgbClr val="000000"/>
                </a:solidFill>
                <a:latin typeface="Arial" pitchFamily="34" charset="0"/>
                <a:cs typeface="Arial" pitchFamily="34" charset="-120"/>
              </a:rPr>
              <a:t>These are usually part of a router firewall, which permits or denies traffic based on Layer 3 and Layer 4 information. They are stateless firewalls that use a simple policy table look-up that filters traffic based on specific criteria.</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cs typeface="Arial" pitchFamily="34" charset="-120"/>
              </a:rPr>
              <a:t>Stateful firewalls – </a:t>
            </a:r>
            <a:r>
              <a:rPr lang="en-US" sz="1400" dirty="0">
                <a:solidFill>
                  <a:srgbClr val="000000"/>
                </a:solidFill>
                <a:latin typeface="Arial" pitchFamily="34" charset="0"/>
                <a:cs typeface="Arial" pitchFamily="34" charset="-120"/>
              </a:rPr>
              <a:t>These are the most versatile and the </a:t>
            </a:r>
            <a:r>
              <a:rPr lang="en-US" sz="1400" u="sng" dirty="0">
                <a:solidFill>
                  <a:srgbClr val="000000"/>
                </a:solidFill>
                <a:latin typeface="Arial" pitchFamily="34" charset="0"/>
                <a:cs typeface="Arial" pitchFamily="34" charset="-120"/>
              </a:rPr>
              <a:t>most common firewall technologies in use</a:t>
            </a:r>
            <a:r>
              <a:rPr lang="en-US" sz="1400" dirty="0">
                <a:solidFill>
                  <a:srgbClr val="000000"/>
                </a:solidFill>
                <a:latin typeface="Arial" pitchFamily="34" charset="0"/>
                <a:cs typeface="Arial" pitchFamily="34" charset="-120"/>
              </a:rPr>
              <a:t>. Stateful firewalls provide stateful packet filtering by using </a:t>
            </a:r>
            <a:r>
              <a:rPr lang="en-US" sz="1400" u="sng" dirty="0">
                <a:solidFill>
                  <a:srgbClr val="000000"/>
                </a:solidFill>
                <a:latin typeface="Arial" pitchFamily="34" charset="0"/>
                <a:cs typeface="Arial" pitchFamily="34" charset="-120"/>
              </a:rPr>
              <a:t>connection information maintained in a state table</a:t>
            </a:r>
            <a:r>
              <a:rPr lang="en-US" sz="1400" dirty="0">
                <a:solidFill>
                  <a:srgbClr val="000000"/>
                </a:solidFill>
                <a:latin typeface="Arial" pitchFamily="34" charset="0"/>
                <a:cs typeface="Arial" pitchFamily="34" charset="-120"/>
              </a:rPr>
              <a:t>. Stateful filtering is a firewall architecture at the network layer. </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cs typeface="Arial" pitchFamily="34" charset="-120"/>
              </a:rPr>
              <a:t>Application Gateway (Proxy) firewalls </a:t>
            </a:r>
            <a:r>
              <a:rPr lang="en-US" sz="1400" dirty="0">
                <a:solidFill>
                  <a:srgbClr val="000000"/>
                </a:solidFill>
                <a:latin typeface="Arial" pitchFamily="34" charset="0"/>
                <a:cs typeface="Arial" pitchFamily="34" charset="-120"/>
              </a:rPr>
              <a:t>– These filter information at Layers 3, 4, 5, and 7. Most of the firewall control and filtering is done in software. When a client needs to access a remote server, it connects to a proxy server. </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cs typeface="Arial" pitchFamily="34" charset="-120"/>
              </a:rPr>
              <a:t>Next Generation firewalls </a:t>
            </a:r>
            <a:r>
              <a:rPr lang="en-US" sz="1400" dirty="0">
                <a:solidFill>
                  <a:srgbClr val="000000"/>
                </a:solidFill>
                <a:latin typeface="Arial" pitchFamily="34" charset="0"/>
                <a:cs typeface="Arial" pitchFamily="34" charset="-120"/>
              </a:rPr>
              <a:t>– These go beyond stateful firewalls by providing </a:t>
            </a:r>
            <a:r>
              <a:rPr lang="en-US" sz="1400" u="sng" dirty="0">
                <a:solidFill>
                  <a:srgbClr val="000000"/>
                </a:solidFill>
                <a:latin typeface="Arial" pitchFamily="34" charset="0"/>
                <a:cs typeface="Arial" pitchFamily="34" charset="-120"/>
              </a:rPr>
              <a:t>integrated intrusion prevention, application awareness and control, upgrade paths </a:t>
            </a:r>
            <a:r>
              <a:rPr lang="en-US" sz="1400" dirty="0">
                <a:solidFill>
                  <a:srgbClr val="000000"/>
                </a:solidFill>
                <a:latin typeface="Arial" pitchFamily="34" charset="0"/>
                <a:cs typeface="Arial" pitchFamily="34" charset="-120"/>
              </a:rPr>
              <a:t>to include future information feeds, and techniques to address evolving security threats.</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FB8F0A0-6387-4480-8563-49BD1E5DEAB6}"/>
              </a:ext>
            </a:extLst>
          </p:cNvPr>
          <p:cNvPicPr>
            <a:picLocks noChangeAspect="1"/>
          </p:cNvPicPr>
          <p:nvPr/>
        </p:nvPicPr>
        <p:blipFill>
          <a:blip r:embed="rId3"/>
          <a:stretch>
            <a:fillRect/>
          </a:stretch>
        </p:blipFill>
        <p:spPr>
          <a:xfrm>
            <a:off x="5131645" y="1562836"/>
            <a:ext cx="3933846" cy="2356916"/>
          </a:xfrm>
          <a:prstGeom prst="rect">
            <a:avLst/>
          </a:prstGeom>
        </p:spPr>
      </p:pic>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Secure Networks with Firewalls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Packet Filtering Firewall Benefits and Limitations</a:t>
            </a:r>
          </a:p>
        </p:txBody>
      </p:sp>
      <p:sp>
        <p:nvSpPr>
          <p:cNvPr id="5" name="Object4"/>
          <p:cNvSpPr/>
          <p:nvPr/>
        </p:nvSpPr>
        <p:spPr>
          <a:xfrm>
            <a:off x="152400" y="705256"/>
            <a:ext cx="5167745" cy="3514725"/>
          </a:xfrm>
          <a:prstGeom prst="rect">
            <a:avLst/>
          </a:prstGeom>
          <a:noFill/>
          <a:ln/>
        </p:spPr>
        <p:txBody>
          <a:bodyPr wrap="square" rtlCol="0" anchor="t"/>
          <a:lstStyle/>
          <a:p>
            <a:pPr>
              <a:lnSpc>
                <a:spcPts val="2000"/>
              </a:lnSpc>
            </a:pPr>
            <a:r>
              <a:rPr lang="en-US" sz="1300" dirty="0">
                <a:solidFill>
                  <a:srgbClr val="000000"/>
                </a:solidFill>
                <a:latin typeface="Arial" pitchFamily="34" charset="0"/>
                <a:ea typeface="Arial" pitchFamily="34" charset="-122"/>
                <a:cs typeface="Arial" pitchFamily="34" charset="-120"/>
              </a:rPr>
              <a:t>Benefits of Packet Filtering Firewalls:</a:t>
            </a:r>
          </a:p>
          <a:p>
            <a:pPr marL="285750" indent="-285750">
              <a:lnSpc>
                <a:spcPts val="2000"/>
              </a:lnSpc>
              <a:buFont typeface="Arial" panose="020B0604020202020204" pitchFamily="34" charset="0"/>
              <a:buChar char="•"/>
            </a:pPr>
            <a:r>
              <a:rPr lang="en-US" sz="1300" dirty="0">
                <a:solidFill>
                  <a:srgbClr val="000000"/>
                </a:solidFill>
                <a:latin typeface="Arial" pitchFamily="34" charset="0"/>
                <a:ea typeface="Arial" pitchFamily="34" charset="-122"/>
                <a:cs typeface="Arial" pitchFamily="34" charset="-120"/>
              </a:rPr>
              <a:t>They implement simple permit or deny rule sets.</a:t>
            </a:r>
          </a:p>
          <a:p>
            <a:pPr marL="285750" indent="-285750">
              <a:lnSpc>
                <a:spcPts val="2000"/>
              </a:lnSpc>
              <a:buFont typeface="Arial" panose="020B0604020202020204" pitchFamily="34" charset="0"/>
              <a:buChar char="•"/>
            </a:pPr>
            <a:r>
              <a:rPr lang="en-US" sz="1300" dirty="0">
                <a:solidFill>
                  <a:srgbClr val="000000"/>
                </a:solidFill>
                <a:latin typeface="Arial" pitchFamily="34" charset="0"/>
                <a:ea typeface="Arial" pitchFamily="34" charset="-122"/>
                <a:cs typeface="Arial" pitchFamily="34" charset="-120"/>
              </a:rPr>
              <a:t>They have a low impact on network performance.</a:t>
            </a:r>
          </a:p>
          <a:p>
            <a:pPr marL="285750" indent="-285750">
              <a:lnSpc>
                <a:spcPts val="2000"/>
              </a:lnSpc>
              <a:buFont typeface="Arial" panose="020B0604020202020204" pitchFamily="34" charset="0"/>
              <a:buChar char="•"/>
            </a:pPr>
            <a:r>
              <a:rPr lang="en-US" sz="1300" dirty="0">
                <a:solidFill>
                  <a:srgbClr val="000000"/>
                </a:solidFill>
                <a:latin typeface="Arial" pitchFamily="34" charset="0"/>
                <a:ea typeface="Arial" pitchFamily="34" charset="-122"/>
                <a:cs typeface="Arial" pitchFamily="34" charset="-120"/>
              </a:rPr>
              <a:t>They are easy to implement and are supported by most routers.</a:t>
            </a:r>
          </a:p>
          <a:p>
            <a:pPr marL="285750" indent="-285750">
              <a:lnSpc>
                <a:spcPts val="2000"/>
              </a:lnSpc>
              <a:buFont typeface="Arial" panose="020B0604020202020204" pitchFamily="34" charset="0"/>
              <a:buChar char="•"/>
            </a:pPr>
            <a:r>
              <a:rPr lang="en-US" sz="1300" dirty="0">
                <a:solidFill>
                  <a:srgbClr val="000000"/>
                </a:solidFill>
                <a:latin typeface="Arial" pitchFamily="34" charset="0"/>
                <a:ea typeface="Arial" pitchFamily="34" charset="-122"/>
                <a:cs typeface="Arial" pitchFamily="34" charset="-120"/>
              </a:rPr>
              <a:t>They provide an initial degree of security at the network layer.</a:t>
            </a:r>
          </a:p>
          <a:p>
            <a:pPr marL="285750" indent="-285750">
              <a:lnSpc>
                <a:spcPts val="2000"/>
              </a:lnSpc>
              <a:buFont typeface="Arial" panose="020B0604020202020204" pitchFamily="34" charset="0"/>
              <a:buChar char="•"/>
            </a:pPr>
            <a:r>
              <a:rPr lang="en-US" sz="1300" dirty="0">
                <a:solidFill>
                  <a:srgbClr val="000000"/>
                </a:solidFill>
                <a:latin typeface="Arial" pitchFamily="34" charset="0"/>
                <a:ea typeface="Arial" pitchFamily="34" charset="-122"/>
                <a:cs typeface="Arial" pitchFamily="34" charset="-120"/>
              </a:rPr>
              <a:t>They perform many of the tasks of a high-end firewall at a much lower cost.</a:t>
            </a:r>
          </a:p>
          <a:p>
            <a:pPr>
              <a:lnSpc>
                <a:spcPts val="2000"/>
              </a:lnSpc>
            </a:pPr>
            <a:endParaRPr lang="en-US" sz="1300" dirty="0">
              <a:solidFill>
                <a:srgbClr val="000000"/>
              </a:solidFill>
              <a:latin typeface="Arial" pitchFamily="34" charset="0"/>
              <a:ea typeface="Arial" pitchFamily="34" charset="-122"/>
              <a:cs typeface="Arial" pitchFamily="34" charset="-120"/>
            </a:endParaRPr>
          </a:p>
          <a:p>
            <a:pPr>
              <a:lnSpc>
                <a:spcPts val="2000"/>
              </a:lnSpc>
            </a:pPr>
            <a:r>
              <a:rPr lang="en-US" sz="1300" dirty="0">
                <a:solidFill>
                  <a:srgbClr val="000000"/>
                </a:solidFill>
                <a:latin typeface="Arial" pitchFamily="34" charset="0"/>
                <a:ea typeface="Arial" pitchFamily="34" charset="-122"/>
                <a:cs typeface="Arial" pitchFamily="34" charset="-120"/>
              </a:rPr>
              <a:t>Limitations of Packet Filtering Firewalls:</a:t>
            </a:r>
          </a:p>
          <a:p>
            <a:pPr marL="285750" indent="-285750">
              <a:lnSpc>
                <a:spcPts val="2000"/>
              </a:lnSpc>
              <a:buFont typeface="Arial" panose="020B0604020202020204" pitchFamily="34" charset="0"/>
              <a:buChar char="•"/>
            </a:pPr>
            <a:r>
              <a:rPr lang="en-US" sz="1300" dirty="0">
                <a:solidFill>
                  <a:srgbClr val="000000"/>
                </a:solidFill>
                <a:latin typeface="Arial" pitchFamily="34" charset="0"/>
                <a:ea typeface="Arial" pitchFamily="34" charset="-122"/>
                <a:cs typeface="Arial" pitchFamily="34" charset="-120"/>
              </a:rPr>
              <a:t>They are susceptible to IP spoofing. </a:t>
            </a:r>
          </a:p>
          <a:p>
            <a:pPr marL="285750" indent="-285750">
              <a:lnSpc>
                <a:spcPts val="2000"/>
              </a:lnSpc>
              <a:buFont typeface="Arial" panose="020B0604020202020204" pitchFamily="34" charset="0"/>
              <a:buChar char="•"/>
            </a:pPr>
            <a:r>
              <a:rPr lang="en-US" sz="1300" dirty="0">
                <a:solidFill>
                  <a:srgbClr val="000000"/>
                </a:solidFill>
                <a:latin typeface="Arial" pitchFamily="34" charset="0"/>
                <a:ea typeface="Arial" pitchFamily="34" charset="-122"/>
                <a:cs typeface="Arial" pitchFamily="34" charset="-120"/>
              </a:rPr>
              <a:t>They do not reliably filter fragmented packets. </a:t>
            </a:r>
          </a:p>
          <a:p>
            <a:pPr marL="285750" indent="-285750">
              <a:lnSpc>
                <a:spcPts val="2000"/>
              </a:lnSpc>
              <a:buFont typeface="Arial" panose="020B0604020202020204" pitchFamily="34" charset="0"/>
              <a:buChar char="•"/>
            </a:pPr>
            <a:r>
              <a:rPr lang="en-US" sz="1300" dirty="0">
                <a:solidFill>
                  <a:srgbClr val="000000"/>
                </a:solidFill>
                <a:latin typeface="Arial" pitchFamily="34" charset="0"/>
                <a:ea typeface="Arial" pitchFamily="34" charset="-122"/>
                <a:cs typeface="Arial" pitchFamily="34" charset="-120"/>
              </a:rPr>
              <a:t>They use complex ACLs, which can be difficult to implement and maintain.</a:t>
            </a:r>
          </a:p>
          <a:p>
            <a:pPr marL="285750" indent="-285750">
              <a:lnSpc>
                <a:spcPts val="2000"/>
              </a:lnSpc>
              <a:buFont typeface="Arial" panose="020B0604020202020204" pitchFamily="34" charset="0"/>
              <a:buChar char="•"/>
            </a:pPr>
            <a:r>
              <a:rPr lang="en-US" sz="1300" dirty="0">
                <a:solidFill>
                  <a:srgbClr val="000000"/>
                </a:solidFill>
                <a:latin typeface="Arial" pitchFamily="34" charset="0"/>
                <a:ea typeface="Arial" pitchFamily="34" charset="-122"/>
                <a:cs typeface="Arial" pitchFamily="34" charset="-120"/>
              </a:rPr>
              <a:t>They cannot dynamically filter certain services. </a:t>
            </a:r>
          </a:p>
          <a:p>
            <a:pPr marL="285750" indent="-285750">
              <a:lnSpc>
                <a:spcPts val="2000"/>
              </a:lnSpc>
              <a:buFont typeface="Arial" panose="020B0604020202020204" pitchFamily="34" charset="0"/>
              <a:buChar char="•"/>
            </a:pPr>
            <a:r>
              <a:rPr lang="en-US" sz="1300" dirty="0">
                <a:solidFill>
                  <a:srgbClr val="000000"/>
                </a:solidFill>
                <a:latin typeface="Arial" pitchFamily="34" charset="0"/>
                <a:ea typeface="Arial" pitchFamily="34" charset="-122"/>
                <a:cs typeface="Arial" pitchFamily="34" charset="-120"/>
              </a:rPr>
              <a:t>They are stateless. </a:t>
            </a:r>
            <a:endParaRPr lang="en-US" sz="13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Secure Networks with Firewalls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Stateful Firewall Benefits and Limitations</a:t>
            </a:r>
          </a:p>
        </p:txBody>
      </p:sp>
      <p:graphicFrame>
        <p:nvGraphicFramePr>
          <p:cNvPr id="14" name="Table 13"/>
          <p:cNvGraphicFramePr>
            <a:graphicFrameLocks noGrp="1"/>
          </p:cNvGraphicFramePr>
          <p:nvPr>
            <p:extLst>
              <p:ext uri="{D42A27DB-BD31-4B8C-83A1-F6EECF244321}">
                <p14:modId xmlns:p14="http://schemas.microsoft.com/office/powerpoint/2010/main" val="4030820373"/>
              </p:ext>
            </p:extLst>
          </p:nvPr>
        </p:nvGraphicFramePr>
        <p:xfrm>
          <a:off x="182880" y="1794510"/>
          <a:ext cx="8961120" cy="1554480"/>
        </p:xfrm>
        <a:graphic>
          <a:graphicData uri="http://schemas.openxmlformats.org/drawingml/2006/table">
            <a:tbl>
              <a:tblPr/>
              <a:tblGrid>
                <a:gridCol w="448056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tblGrid>
              <a:tr h="0">
                <a:tc>
                  <a:txBody>
                    <a:bodyPr/>
                    <a:lstStyle/>
                    <a:p>
                      <a:r>
                        <a:rPr lang="en-US" sz="1200" dirty="0">
                          <a:solidFill>
                            <a:srgbClr val="FFFFFF"/>
                          </a:solidFill>
                        </a:rPr>
                        <a:t>Benefits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Limitations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Primary means of defense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No Application Layer inspection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rPr>
                        <a:t>Strong packet filtering</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Limited tracking of stateless protocols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dirty="0">
                          <a:solidFill>
                            <a:srgbClr val="58585B"/>
                          </a:solidFill>
                        </a:rPr>
                        <a:t>Improved performance over packet filters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Difficult to defend against dynamic port negotiation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dirty="0">
                          <a:solidFill>
                            <a:srgbClr val="58585B"/>
                          </a:solidFill>
                        </a:rPr>
                        <a:t>Defends against spoofing and DoS attacks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No authentication support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200" dirty="0">
                          <a:solidFill>
                            <a:srgbClr val="58585B"/>
                          </a:solidFill>
                        </a:rPr>
                        <a:t>Richer data log</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7</a:t>
            </a:fld>
            <a:endParaRPr lang="en-US" dirty="0"/>
          </a:p>
        </p:txBody>
      </p:sp>
      <p:sp>
        <p:nvSpPr>
          <p:cNvPr id="4" name="TextBox 3">
            <a:extLst>
              <a:ext uri="{FF2B5EF4-FFF2-40B4-BE49-F238E27FC236}">
                <a16:creationId xmlns:a16="http://schemas.microsoft.com/office/drawing/2014/main" id="{B53A8D20-822A-42CA-8619-6326985BC0E2}"/>
              </a:ext>
            </a:extLst>
          </p:cNvPr>
          <p:cNvSpPr txBox="1"/>
          <p:nvPr/>
        </p:nvSpPr>
        <p:spPr>
          <a:xfrm>
            <a:off x="100013" y="1000125"/>
            <a:ext cx="7743825"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table lists benefits and limitations of stateful firewalls</a:t>
            </a:r>
            <a:r>
              <a:rPr lang="en-US" dirty="0"/>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9.2 Firewalls in Network Design</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Firewalls in Network Design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Common Security Architectures</a:t>
            </a:r>
          </a:p>
        </p:txBody>
      </p:sp>
      <p:sp>
        <p:nvSpPr>
          <p:cNvPr id="5" name="Object4"/>
          <p:cNvSpPr/>
          <p:nvPr/>
        </p:nvSpPr>
        <p:spPr>
          <a:xfrm>
            <a:off x="0" y="914400"/>
            <a:ext cx="8229600" cy="2571750"/>
          </a:xfrm>
          <a:prstGeom prst="rect">
            <a:avLst/>
          </a:prstGeom>
          <a:noFill/>
          <a:ln/>
        </p:spPr>
        <p:txBody>
          <a:bodyPr wrap="square" rtlCol="0" anchor="t"/>
          <a:lstStyle/>
          <a:p>
            <a:pPr>
              <a:lnSpc>
                <a:spcPts val="2000"/>
              </a:lnSpc>
            </a:pPr>
            <a:r>
              <a:rPr lang="en-US" dirty="0">
                <a:solidFill>
                  <a:srgbClr val="000000"/>
                </a:solidFill>
                <a:latin typeface="Arial" pitchFamily="34" charset="0"/>
                <a:ea typeface="Arial" pitchFamily="34" charset="-122"/>
                <a:cs typeface="Arial" pitchFamily="34" charset="-120"/>
              </a:rPr>
              <a:t>Firewall design is primarily about device interfaces permitting or denying traffic based on the source, the destination, and the type of traffic. Here are three common firewall designs:</a:t>
            </a:r>
          </a:p>
          <a:p>
            <a:pPr>
              <a:lnSpc>
                <a:spcPts val="2000"/>
              </a:lnSpc>
            </a:pPr>
            <a:endParaRPr lang="en-US" dirty="0">
              <a:solidFill>
                <a:srgbClr val="000000"/>
              </a:solidFill>
              <a:latin typeface="Arial" pitchFamily="34" charset="0"/>
              <a:ea typeface="Arial" pitchFamily="34" charset="-122"/>
              <a:cs typeface="Arial" pitchFamily="34" charset="-120"/>
            </a:endParaRPr>
          </a:p>
          <a:p>
            <a:pPr marL="742950" lvl="1" indent="-285750">
              <a:lnSpc>
                <a:spcPts val="2000"/>
              </a:lnSpc>
              <a:buFont typeface="Arial" panose="020B0604020202020204" pitchFamily="34" charset="0"/>
              <a:buChar char="•"/>
            </a:pPr>
            <a:r>
              <a:rPr lang="en-US" b="1" dirty="0">
                <a:solidFill>
                  <a:srgbClr val="000000"/>
                </a:solidFill>
                <a:latin typeface="Arial" pitchFamily="34" charset="0"/>
                <a:cs typeface="Arial" pitchFamily="34" charset="-120"/>
              </a:rPr>
              <a:t>Private and Public </a:t>
            </a:r>
          </a:p>
          <a:p>
            <a:pPr marL="742950" lvl="1" indent="-285750">
              <a:lnSpc>
                <a:spcPts val="2000"/>
              </a:lnSpc>
              <a:buFont typeface="Arial" panose="020B0604020202020204" pitchFamily="34" charset="0"/>
              <a:buChar char="•"/>
            </a:pPr>
            <a:r>
              <a:rPr lang="en-US" b="1" dirty="0">
                <a:solidFill>
                  <a:srgbClr val="000000"/>
                </a:solidFill>
                <a:latin typeface="Arial" pitchFamily="34" charset="0"/>
                <a:cs typeface="Arial" pitchFamily="34" charset="-120"/>
              </a:rPr>
              <a:t>Demilitarized Zone (DMZ)</a:t>
            </a:r>
          </a:p>
          <a:p>
            <a:pPr marL="742950" lvl="1" indent="-285750">
              <a:lnSpc>
                <a:spcPts val="2000"/>
              </a:lnSpc>
              <a:buFont typeface="Arial" panose="020B0604020202020204" pitchFamily="34" charset="0"/>
              <a:buChar char="•"/>
            </a:pPr>
            <a:r>
              <a:rPr lang="en-US" b="1" dirty="0">
                <a:solidFill>
                  <a:srgbClr val="000000"/>
                </a:solidFill>
                <a:latin typeface="Arial" pitchFamily="34" charset="0"/>
                <a:cs typeface="Arial" pitchFamily="34" charset="-120"/>
              </a:rPr>
              <a:t>Zone-Based Policy</a:t>
            </a:r>
            <a:endParaRPr lang="en-US"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Firewalls in Network Design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Common Security Architectures (Cont.)</a:t>
            </a:r>
          </a:p>
        </p:txBody>
      </p:sp>
      <p:sp>
        <p:nvSpPr>
          <p:cNvPr id="5" name="Object4"/>
          <p:cNvSpPr/>
          <p:nvPr/>
        </p:nvSpPr>
        <p:spPr>
          <a:xfrm>
            <a:off x="0" y="783671"/>
            <a:ext cx="9144000" cy="2571750"/>
          </a:xfrm>
          <a:prstGeom prst="rect">
            <a:avLst/>
          </a:prstGeom>
          <a:noFill/>
          <a:ln/>
        </p:spPr>
        <p:txBody>
          <a:bodyPr wrap="square" rtlCol="0" anchor="t"/>
          <a:lstStyle/>
          <a:p>
            <a:pPr>
              <a:lnSpc>
                <a:spcPts val="2000"/>
              </a:lnSpc>
            </a:pPr>
            <a:r>
              <a:rPr lang="en-US" sz="1400" b="1" dirty="0">
                <a:solidFill>
                  <a:srgbClr val="000000"/>
                </a:solidFill>
                <a:latin typeface="Arial" pitchFamily="34" charset="0"/>
                <a:cs typeface="Arial" pitchFamily="34" charset="-120"/>
              </a:rPr>
              <a:t>Private and Public </a:t>
            </a:r>
            <a:r>
              <a:rPr lang="en-US" sz="1400" dirty="0">
                <a:solidFill>
                  <a:srgbClr val="000000"/>
                </a:solidFill>
                <a:latin typeface="Arial" pitchFamily="34" charset="0"/>
                <a:cs typeface="Arial" pitchFamily="34" charset="-120"/>
              </a:rPr>
              <a:t>- The public network (or outside network) is untrusted, and the private network (or inside network) is trusted. </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10</a:t>
            </a:fld>
            <a:endParaRPr lang="en-US" dirty="0"/>
          </a:p>
        </p:txBody>
      </p:sp>
      <p:pic>
        <p:nvPicPr>
          <p:cNvPr id="6" name="Picture 5">
            <a:extLst>
              <a:ext uri="{FF2B5EF4-FFF2-40B4-BE49-F238E27FC236}">
                <a16:creationId xmlns:a16="http://schemas.microsoft.com/office/drawing/2014/main" id="{5C5EA09F-05E4-43C4-B743-CD7F90B37347}"/>
              </a:ext>
            </a:extLst>
          </p:cNvPr>
          <p:cNvPicPr>
            <a:picLocks noChangeAspect="1"/>
          </p:cNvPicPr>
          <p:nvPr/>
        </p:nvPicPr>
        <p:blipFill>
          <a:blip r:embed="rId3"/>
          <a:stretch>
            <a:fillRect/>
          </a:stretch>
        </p:blipFill>
        <p:spPr>
          <a:xfrm>
            <a:off x="888623" y="1795895"/>
            <a:ext cx="7340977" cy="2590933"/>
          </a:xfrm>
          <a:prstGeom prst="rect">
            <a:avLst/>
          </a:prstGeom>
        </p:spPr>
      </p:pic>
    </p:spTree>
    <p:extLst>
      <p:ext uri="{BB962C8B-B14F-4D97-AF65-F5344CB8AC3E}">
        <p14:creationId xmlns:p14="http://schemas.microsoft.com/office/powerpoint/2010/main" val="512610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Firewalls in Network Design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Common Security Architectures (Cont.)</a:t>
            </a:r>
          </a:p>
        </p:txBody>
      </p:sp>
      <p:sp>
        <p:nvSpPr>
          <p:cNvPr id="5" name="Object4"/>
          <p:cNvSpPr/>
          <p:nvPr/>
        </p:nvSpPr>
        <p:spPr>
          <a:xfrm>
            <a:off x="-1" y="731520"/>
            <a:ext cx="9143999" cy="2571750"/>
          </a:xfrm>
          <a:prstGeom prst="rect">
            <a:avLst/>
          </a:prstGeom>
          <a:noFill/>
          <a:ln/>
        </p:spPr>
        <p:txBody>
          <a:bodyPr wrap="square" rtlCol="0" anchor="t"/>
          <a:lstStyle/>
          <a:p>
            <a:pPr>
              <a:lnSpc>
                <a:spcPts val="2000"/>
              </a:lnSpc>
            </a:pPr>
            <a:r>
              <a:rPr lang="en-US" sz="1400" b="1" dirty="0">
                <a:solidFill>
                  <a:srgbClr val="000000"/>
                </a:solidFill>
                <a:latin typeface="Arial" pitchFamily="34" charset="0"/>
                <a:cs typeface="Arial" pitchFamily="34" charset="-120"/>
              </a:rPr>
              <a:t>Demilitarized Zone (DMZ) </a:t>
            </a:r>
            <a:r>
              <a:rPr lang="en-US" sz="1400" dirty="0">
                <a:solidFill>
                  <a:srgbClr val="000000"/>
                </a:solidFill>
                <a:latin typeface="Arial" pitchFamily="34" charset="0"/>
                <a:cs typeface="Arial" pitchFamily="34" charset="-120"/>
              </a:rPr>
              <a:t>- This is a firewall design where there is typically one inside interface connected to the private network, one outside interface connected to the public network, and one DMZ interface.</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11</a:t>
            </a:fld>
            <a:endParaRPr lang="en-US" dirty="0"/>
          </a:p>
        </p:txBody>
      </p:sp>
      <p:pic>
        <p:nvPicPr>
          <p:cNvPr id="6" name="Picture 5">
            <a:extLst>
              <a:ext uri="{FF2B5EF4-FFF2-40B4-BE49-F238E27FC236}">
                <a16:creationId xmlns:a16="http://schemas.microsoft.com/office/drawing/2014/main" id="{88F7034A-F5CB-4AEA-AB2A-7A379429DB0E}"/>
              </a:ext>
            </a:extLst>
          </p:cNvPr>
          <p:cNvPicPr>
            <a:picLocks noChangeAspect="1"/>
          </p:cNvPicPr>
          <p:nvPr/>
        </p:nvPicPr>
        <p:blipFill>
          <a:blip r:embed="rId3"/>
          <a:stretch>
            <a:fillRect/>
          </a:stretch>
        </p:blipFill>
        <p:spPr>
          <a:xfrm>
            <a:off x="1717963" y="1313001"/>
            <a:ext cx="5310909" cy="3708915"/>
          </a:xfrm>
          <a:prstGeom prst="rect">
            <a:avLst/>
          </a:prstGeom>
        </p:spPr>
      </p:pic>
    </p:spTree>
    <p:extLst>
      <p:ext uri="{BB962C8B-B14F-4D97-AF65-F5344CB8AC3E}">
        <p14:creationId xmlns:p14="http://schemas.microsoft.com/office/powerpoint/2010/main" val="32843221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Firewalls in Network Design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Common Security Architectures</a:t>
            </a:r>
          </a:p>
        </p:txBody>
      </p:sp>
      <p:sp>
        <p:nvSpPr>
          <p:cNvPr id="5" name="Object4"/>
          <p:cNvSpPr/>
          <p:nvPr/>
        </p:nvSpPr>
        <p:spPr>
          <a:xfrm>
            <a:off x="-1" y="708660"/>
            <a:ext cx="9143999" cy="2571750"/>
          </a:xfrm>
          <a:prstGeom prst="rect">
            <a:avLst/>
          </a:prstGeom>
          <a:noFill/>
          <a:ln/>
        </p:spPr>
        <p:txBody>
          <a:bodyPr wrap="square" rtlCol="0" anchor="t"/>
          <a:lstStyle/>
          <a:p>
            <a:pPr>
              <a:lnSpc>
                <a:spcPts val="2000"/>
              </a:lnSpc>
            </a:pPr>
            <a:r>
              <a:rPr lang="en-US" sz="1400" b="1" dirty="0">
                <a:solidFill>
                  <a:srgbClr val="000000"/>
                </a:solidFill>
                <a:latin typeface="Arial" pitchFamily="34" charset="0"/>
                <a:cs typeface="Arial" pitchFamily="34" charset="-120"/>
              </a:rPr>
              <a:t>Zone-Based Policy </a:t>
            </a:r>
            <a:r>
              <a:rPr lang="en-US" sz="1400" dirty="0">
                <a:solidFill>
                  <a:srgbClr val="000000"/>
                </a:solidFill>
                <a:latin typeface="Arial" pitchFamily="34" charset="0"/>
                <a:cs typeface="Arial" pitchFamily="34" charset="-120"/>
              </a:rPr>
              <a:t>- Zone-based policy firewalls (ZPFs) use the concept of zones to provide additional flexibility. A zone is a group of one or more interfaces that have similar functions or features. Zones help you specify where a Cisco IOS firewall rule or policy should be applied.</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12</a:t>
            </a:fld>
            <a:endParaRPr lang="en-US" dirty="0"/>
          </a:p>
        </p:txBody>
      </p:sp>
      <p:pic>
        <p:nvPicPr>
          <p:cNvPr id="6" name="Picture 5">
            <a:extLst>
              <a:ext uri="{FF2B5EF4-FFF2-40B4-BE49-F238E27FC236}">
                <a16:creationId xmlns:a16="http://schemas.microsoft.com/office/drawing/2014/main" id="{0E62ECAF-23F8-4729-AD51-03B39A254485}"/>
              </a:ext>
            </a:extLst>
          </p:cNvPr>
          <p:cNvPicPr>
            <a:picLocks noChangeAspect="1"/>
          </p:cNvPicPr>
          <p:nvPr/>
        </p:nvPicPr>
        <p:blipFill>
          <a:blip r:embed="rId3"/>
          <a:stretch>
            <a:fillRect/>
          </a:stretch>
        </p:blipFill>
        <p:spPr>
          <a:xfrm>
            <a:off x="2185608" y="1631644"/>
            <a:ext cx="4772780" cy="3445309"/>
          </a:xfrm>
          <a:prstGeom prst="rect">
            <a:avLst/>
          </a:prstGeom>
        </p:spPr>
      </p:pic>
    </p:spTree>
    <p:extLst>
      <p:ext uri="{BB962C8B-B14F-4D97-AF65-F5344CB8AC3E}">
        <p14:creationId xmlns:p14="http://schemas.microsoft.com/office/powerpoint/2010/main" val="40321036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Firewalls in Network Design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Layered Defense</a:t>
            </a:r>
          </a:p>
        </p:txBody>
      </p:sp>
      <p:sp>
        <p:nvSpPr>
          <p:cNvPr id="5" name="Object4"/>
          <p:cNvSpPr/>
          <p:nvPr/>
        </p:nvSpPr>
        <p:spPr>
          <a:xfrm>
            <a:off x="142875" y="750570"/>
            <a:ext cx="8229600"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A layered defense uses different types of firewalls that are combined in layers to add depth to the security of an organization. Policies can be enforced between the layers and inside the layers. The following example shows four layers of security.</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13</a:t>
            </a:fld>
            <a:endParaRPr lang="en-US" dirty="0"/>
          </a:p>
        </p:txBody>
      </p:sp>
      <p:pic>
        <p:nvPicPr>
          <p:cNvPr id="6" name="Picture 5">
            <a:extLst>
              <a:ext uri="{FF2B5EF4-FFF2-40B4-BE49-F238E27FC236}">
                <a16:creationId xmlns:a16="http://schemas.microsoft.com/office/drawing/2014/main" id="{587E1677-7137-4034-BAD6-89751CD5E7BC}"/>
              </a:ext>
            </a:extLst>
          </p:cNvPr>
          <p:cNvPicPr>
            <a:picLocks noChangeAspect="1"/>
          </p:cNvPicPr>
          <p:nvPr/>
        </p:nvPicPr>
        <p:blipFill>
          <a:blip r:embed="rId3"/>
          <a:stretch>
            <a:fillRect/>
          </a:stretch>
        </p:blipFill>
        <p:spPr>
          <a:xfrm>
            <a:off x="674734" y="1821180"/>
            <a:ext cx="2501120" cy="2571750"/>
          </a:xfrm>
          <a:prstGeom prst="rect">
            <a:avLst/>
          </a:prstGeom>
        </p:spPr>
      </p:pic>
      <p:sp>
        <p:nvSpPr>
          <p:cNvPr id="11" name="TextBox 10">
            <a:extLst>
              <a:ext uri="{FF2B5EF4-FFF2-40B4-BE49-F238E27FC236}">
                <a16:creationId xmlns:a16="http://schemas.microsoft.com/office/drawing/2014/main" id="{2BA2C2F1-61AB-4F35-9CE8-DEC847250D25}"/>
              </a:ext>
            </a:extLst>
          </p:cNvPr>
          <p:cNvSpPr txBox="1"/>
          <p:nvPr/>
        </p:nvSpPr>
        <p:spPr>
          <a:xfrm>
            <a:off x="3338656" y="2199114"/>
            <a:ext cx="5251161" cy="1600438"/>
          </a:xfrm>
          <a:prstGeom prst="rect">
            <a:avLst/>
          </a:prstGeom>
          <a:noFill/>
        </p:spPr>
        <p:txBody>
          <a:bodyPr wrap="square">
            <a:spAutoFit/>
          </a:bodyPr>
          <a:lstStyle/>
          <a:p>
            <a:pPr marL="176213" indent="-176213">
              <a:buFont typeface="+mj-lt"/>
              <a:buAutoNum type="arabicPeriod"/>
            </a:pPr>
            <a:r>
              <a:rPr lang="en-US" sz="1400" b="1" dirty="0">
                <a:latin typeface="Arial" panose="020B0604020202020204" pitchFamily="34" charset="0"/>
                <a:cs typeface="Arial" panose="020B0604020202020204" pitchFamily="34" charset="0"/>
              </a:rPr>
              <a:t>Network Core security </a:t>
            </a:r>
            <a:r>
              <a:rPr lang="en-US" sz="1400" dirty="0">
                <a:latin typeface="Arial" panose="020B0604020202020204" pitchFamily="34" charset="0"/>
                <a:cs typeface="Arial" panose="020B0604020202020204" pitchFamily="34" charset="0"/>
              </a:rPr>
              <a:t>- Protects against malicious software and traffic anomalies, enforces network policies, and ensures survivability</a:t>
            </a:r>
          </a:p>
          <a:p>
            <a:pPr marL="176213" indent="-176213">
              <a:buFont typeface="+mj-lt"/>
              <a:buAutoNum type="arabicPeriod"/>
            </a:pPr>
            <a:r>
              <a:rPr lang="en-US" sz="1400" b="1" dirty="0">
                <a:latin typeface="Arial" panose="020B0604020202020204" pitchFamily="34" charset="0"/>
                <a:cs typeface="Arial" panose="020B0604020202020204" pitchFamily="34" charset="0"/>
              </a:rPr>
              <a:t>Perimeter security </a:t>
            </a:r>
            <a:r>
              <a:rPr lang="en-US" sz="1400" dirty="0">
                <a:latin typeface="Arial" panose="020B0604020202020204" pitchFamily="34" charset="0"/>
                <a:cs typeface="Arial" panose="020B0604020202020204" pitchFamily="34" charset="0"/>
              </a:rPr>
              <a:t>- Secures boundaries between zones</a:t>
            </a:r>
          </a:p>
          <a:p>
            <a:pPr marL="176213" indent="-176213">
              <a:buFont typeface="+mj-lt"/>
              <a:buAutoNum type="arabicPeriod"/>
            </a:pPr>
            <a:r>
              <a:rPr lang="en-US" sz="1400" b="1" dirty="0">
                <a:latin typeface="Arial" panose="020B0604020202020204" pitchFamily="34" charset="0"/>
                <a:cs typeface="Arial" panose="020B0604020202020204" pitchFamily="34" charset="0"/>
              </a:rPr>
              <a:t>Communications security </a:t>
            </a:r>
            <a:r>
              <a:rPr lang="en-US" sz="1400" dirty="0">
                <a:latin typeface="Arial" panose="020B0604020202020204" pitchFamily="34" charset="0"/>
                <a:cs typeface="Arial" panose="020B0604020202020204" pitchFamily="34" charset="0"/>
              </a:rPr>
              <a:t>- Provides information assurance</a:t>
            </a:r>
          </a:p>
          <a:p>
            <a:pPr marL="176213" indent="-176213">
              <a:buFont typeface="+mj-lt"/>
              <a:buAutoNum type="arabicPeriod"/>
            </a:pPr>
            <a:r>
              <a:rPr lang="en-US" sz="1400" b="1" dirty="0">
                <a:latin typeface="Arial" panose="020B0604020202020204" pitchFamily="34" charset="0"/>
                <a:cs typeface="Arial" panose="020B0604020202020204" pitchFamily="34" charset="0"/>
              </a:rPr>
              <a:t>Endpoint security </a:t>
            </a:r>
            <a:r>
              <a:rPr lang="en-US" sz="1400" dirty="0">
                <a:latin typeface="Arial" panose="020B0604020202020204" pitchFamily="34" charset="0"/>
                <a:cs typeface="Arial" panose="020B0604020202020204" pitchFamily="34" charset="0"/>
              </a:rPr>
              <a:t>- Provides identity and device security policy compliance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Firewalls in Network Design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Layered Defense (Cont.)</a:t>
            </a:r>
          </a:p>
        </p:txBody>
      </p:sp>
      <p:sp>
        <p:nvSpPr>
          <p:cNvPr id="5" name="Object4"/>
          <p:cNvSpPr/>
          <p:nvPr/>
        </p:nvSpPr>
        <p:spPr>
          <a:xfrm>
            <a:off x="142875" y="750570"/>
            <a:ext cx="8229600"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This partial list of best practices can serve as a starting point for a firewall security policy.</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Position firewalls at security boundaries. Firewalls are a critical part of network security, but it is unwise to rely exclusively on a firewall for security.</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Deny all traffic by default.</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Permit only services that are needed.</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Ensure that physical access to the firewall is controlled.</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Regularly monitor firewall logs.</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Practice change management for firewall configuration changes.</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Remember that </a:t>
            </a:r>
            <a:r>
              <a:rPr lang="en-US" sz="1400" u="sng" dirty="0">
                <a:solidFill>
                  <a:srgbClr val="000000"/>
                </a:solidFill>
                <a:latin typeface="Arial" pitchFamily="34" charset="0"/>
                <a:ea typeface="Arial" pitchFamily="34" charset="-122"/>
                <a:cs typeface="Arial" pitchFamily="34" charset="-120"/>
              </a:rPr>
              <a:t>firewalls primarily protect from technical attacks originating from the outside.</a:t>
            </a:r>
            <a:endParaRPr lang="en-US" sz="1400" u="sng"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14</a:t>
            </a:fld>
            <a:endParaRPr lang="en-US" dirty="0"/>
          </a:p>
        </p:txBody>
      </p:sp>
    </p:spTree>
    <p:extLst>
      <p:ext uri="{BB962C8B-B14F-4D97-AF65-F5344CB8AC3E}">
        <p14:creationId xmlns:p14="http://schemas.microsoft.com/office/powerpoint/2010/main" val="25788110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p>
            <a:pPr marL="0" indent="0">
              <a:buNone/>
            </a:pPr>
            <a:r>
              <a:rPr lang="en-US" dirty="0"/>
              <a:t>Module 10: Zone-Based Policy Firewalls</a:t>
            </a:r>
          </a:p>
        </p:txBody>
      </p:sp>
      <p:sp>
        <p:nvSpPr>
          <p:cNvPr id="4" name="Object3"/>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v1.0</a:t>
            </a:r>
          </a:p>
          <a:p>
            <a:pPr marL="0" indent="0">
              <a:buNone/>
            </a:pPr>
            <a:r>
              <a:rPr lang="en-US" dirty="0"/>
              <a:t>(NETSEC)</a:t>
            </a:r>
          </a:p>
        </p:txBody>
      </p:sp>
    </p:spTree>
    <p:extLst>
      <p:ext uri="{BB962C8B-B14F-4D97-AF65-F5344CB8AC3E}">
        <p14:creationId xmlns:p14="http://schemas.microsoft.com/office/powerpoint/2010/main" val="25915812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eaLnBrk="1" hangingPunct="1"/>
            <a:r>
              <a:rPr lang="en-US" dirty="0"/>
              <a:t>Module Objectives</a:t>
            </a:r>
          </a:p>
        </p:txBody>
      </p:sp>
      <p:sp>
        <p:nvSpPr>
          <p:cNvPr id="6147" name="Rectangle 34"/>
          <p:cNvSpPr>
            <a:spLocks noGrp="1" noChangeArrowheads="1"/>
          </p:cNvSpPr>
          <p:nvPr>
            <p:ph idx="1"/>
          </p:nvPr>
        </p:nvSpPr>
        <p:spPr>
          <a:xfrm>
            <a:off x="99461" y="654206"/>
            <a:ext cx="8731272" cy="82746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Zone-Based Policy Firewalls</a:t>
            </a:r>
            <a:r>
              <a:rPr lang="en-US" altLang="en-US" sz="1400" b="1" dirty="0">
                <a:solidFill>
                  <a:schemeClr val="tx1"/>
                </a:solidFill>
                <a:ea typeface="Calibri" panose="020F0502020204030204" pitchFamily="34" charset="0"/>
                <a:cs typeface="Calibri" panose="020F0502020204030204" pitchFamily="34" charset="0"/>
              </a:rPr>
              <a:t>		</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Implement Zone-Based Policy Firewall using CLI.</a:t>
            </a:r>
            <a:endParaRPr lang="en-US" altLang="en-US" sz="1600" dirty="0">
              <a:solidFill>
                <a:schemeClr val="tx1"/>
              </a:solidFill>
              <a:latin typeface="Arial" panose="020B0604020202020204" pitchFamily="34" charset="0"/>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762276320"/>
              </p:ext>
            </p:extLst>
          </p:nvPr>
        </p:nvGraphicFramePr>
        <p:xfrm>
          <a:off x="423333" y="1625600"/>
          <a:ext cx="8263467" cy="1006223"/>
        </p:xfrm>
        <a:graphic>
          <a:graphicData uri="http://schemas.openxmlformats.org/drawingml/2006/table">
            <a:tbl>
              <a:tblPr firstRow="1" firstCol="1" bandRow="1">
                <a:tableStyleId>{5C22544A-7EE6-4342-B048-85BDC9FD1C3A}</a:tableStyleId>
              </a:tblPr>
              <a:tblGrid>
                <a:gridCol w="2319867">
                  <a:extLst>
                    <a:ext uri="{9D8B030D-6E8A-4147-A177-3AD203B41FA5}">
                      <a16:colId xmlns:a16="http://schemas.microsoft.com/office/drawing/2014/main" val="399010295"/>
                    </a:ext>
                  </a:extLst>
                </a:gridCol>
                <a:gridCol w="5943600">
                  <a:extLst>
                    <a:ext uri="{9D8B030D-6E8A-4147-A177-3AD203B41FA5}">
                      <a16:colId xmlns:a16="http://schemas.microsoft.com/office/drawing/2014/main" val="3417728144"/>
                    </a:ext>
                  </a:extLst>
                </a:gridCol>
              </a:tblGrid>
              <a:tr h="224116">
                <a:tc>
                  <a:txBody>
                    <a:bodyPr/>
                    <a:lstStyle/>
                    <a:p>
                      <a:pPr marL="0" marR="0">
                        <a:lnSpc>
                          <a:spcPct val="107000"/>
                        </a:lnSpc>
                        <a:spcBef>
                          <a:spcPts val="0"/>
                        </a:spcBef>
                        <a:spcAft>
                          <a:spcPts val="0"/>
                        </a:spcAft>
                      </a:pPr>
                      <a:r>
                        <a:rPr lang="en-US" sz="1400" dirty="0">
                          <a:effectLst/>
                        </a:rPr>
                        <a:t>Topic Title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400" dirty="0">
                          <a:effectLst/>
                        </a:rPr>
                        <a:t>Topic Objective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64302898"/>
                  </a:ext>
                </a:extLst>
              </a:tr>
              <a:tr h="263724">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ZPF Overview</a:t>
                      </a:r>
                    </a:p>
                  </a:txBody>
                  <a:tcPr marL="60168" marR="60168" marT="0" marB="0"/>
                </a:tc>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Explain how Zone-Based Firewalls are used to help secure a network.</a:t>
                      </a:r>
                    </a:p>
                  </a:txBody>
                  <a:tcPr marL="60168" marR="60168" marT="0" marB="0"/>
                </a:tc>
                <a:extLst>
                  <a:ext uri="{0D108BD9-81ED-4DB2-BD59-A6C34878D82A}">
                    <a16:rowId xmlns:a16="http://schemas.microsoft.com/office/drawing/2014/main" val="3530891527"/>
                  </a:ext>
                </a:extLst>
              </a:tr>
              <a:tr h="263724">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ZPF Operation</a:t>
                      </a:r>
                    </a:p>
                  </a:txBody>
                  <a:tcPr marL="60168" marR="60168" marT="0" marB="0"/>
                </a:tc>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Explain the operation of a Zone-Based Policy Firewall.</a:t>
                      </a:r>
                    </a:p>
                  </a:txBody>
                  <a:tcPr marL="60168" marR="60168" marT="0" marB="0"/>
                </a:tc>
                <a:extLst>
                  <a:ext uri="{0D108BD9-81ED-4DB2-BD59-A6C34878D82A}">
                    <a16:rowId xmlns:a16="http://schemas.microsoft.com/office/drawing/2014/main" val="662892947"/>
                  </a:ext>
                </a:extLst>
              </a:tr>
              <a:tr h="254659">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Configuring a ZPF</a:t>
                      </a:r>
                    </a:p>
                  </a:txBody>
                  <a:tcPr marL="60168" marR="60168" marT="0" marB="0"/>
                </a:tc>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Configure a Zone-Based Firewall with CLI.</a:t>
                      </a:r>
                    </a:p>
                  </a:txBody>
                  <a:tcPr marL="60168" marR="60168" marT="0" marB="0"/>
                </a:tc>
                <a:extLst>
                  <a:ext uri="{0D108BD9-81ED-4DB2-BD59-A6C34878D82A}">
                    <a16:rowId xmlns:a16="http://schemas.microsoft.com/office/drawing/2014/main" val="1283686363"/>
                  </a:ext>
                </a:extLst>
              </a:tr>
            </a:tbl>
          </a:graphicData>
        </a:graphic>
      </p:graphicFrame>
    </p:spTree>
    <p:custDataLst>
      <p:tags r:id="rId1"/>
    </p:custDataLst>
    <p:extLst>
      <p:ext uri="{BB962C8B-B14F-4D97-AF65-F5344CB8AC3E}">
        <p14:creationId xmlns:p14="http://schemas.microsoft.com/office/powerpoint/2010/main" val="1018649253"/>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10.1 ZPF Overview</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17</a:t>
            </a:fld>
            <a:endParaRPr lang="en-US" dirty="0"/>
          </a:p>
        </p:txBody>
      </p:sp>
    </p:spTree>
    <p:extLst>
      <p:ext uri="{BB962C8B-B14F-4D97-AF65-F5344CB8AC3E}">
        <p14:creationId xmlns:p14="http://schemas.microsoft.com/office/powerpoint/2010/main" val="10684647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ZPF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Benefits of a ZPF</a:t>
            </a:r>
          </a:p>
        </p:txBody>
      </p:sp>
      <p:sp>
        <p:nvSpPr>
          <p:cNvPr id="5" name="Object4"/>
          <p:cNvSpPr/>
          <p:nvPr/>
        </p:nvSpPr>
        <p:spPr>
          <a:xfrm>
            <a:off x="-1" y="914400"/>
            <a:ext cx="9143999" cy="16573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There are two configuration models for Cisco IOS Firewall:</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Classic Firewall</a:t>
            </a:r>
            <a:r>
              <a:rPr lang="en-US" sz="1600" dirty="0">
                <a:latin typeface="Arial" panose="020B0604020202020204" pitchFamily="34" charset="0"/>
                <a:cs typeface="Arial" panose="020B0604020202020204" pitchFamily="34" charset="0"/>
              </a:rPr>
              <a:t> - The traditional configuration model in which firewall policy is applied on interfaces.</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Zone-based Policy Firewall (ZPF)</a:t>
            </a:r>
            <a:r>
              <a:rPr lang="en-US" sz="1600" dirty="0">
                <a:latin typeface="Arial" panose="020B0604020202020204" pitchFamily="34" charset="0"/>
                <a:cs typeface="Arial" panose="020B0604020202020204" pitchFamily="34" charset="0"/>
              </a:rPr>
              <a:t> - The new configuration mode in which interfaces are assigned to security zones, and firewall policy is applied to traffic moving between the zones.</a:t>
            </a:r>
          </a:p>
        </p:txBody>
      </p:sp>
      <p:sp>
        <p:nvSpPr>
          <p:cNvPr id="9" name="TextBox 8">
            <a:extLst>
              <a:ext uri="{FF2B5EF4-FFF2-40B4-BE49-F238E27FC236}">
                <a16:creationId xmlns:a16="http://schemas.microsoft.com/office/drawing/2014/main" id="{9369FF55-71A9-41B9-88BB-2E0838BAE8D7}"/>
              </a:ext>
            </a:extLst>
          </p:cNvPr>
          <p:cNvSpPr txBox="1"/>
          <p:nvPr/>
        </p:nvSpPr>
        <p:spPr>
          <a:xfrm>
            <a:off x="56770" y="2325478"/>
            <a:ext cx="9030456" cy="2308324"/>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There are several benefits of a ZPF:</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It is not dependent on ACLs.</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The router security posture is to block unless explicitly allowed.</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Policies are easy to read and troubleshoot with the Cisco Common Classification Policy Language (C3PL). C3PL is a structured method to create traffic policies based on events, conditions, and actions. This provides scalability because one policy affects any given traffic, instead of needing multiple ACLs and inspection actions for different types of traffic.</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Virtual and physical interfaces can be grouped into zones.</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Policies are applied to unidirectional traffic between zones.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18</a:t>
            </a:fld>
            <a:endParaRPr lang="en-US" dirty="0"/>
          </a:p>
        </p:txBody>
      </p:sp>
    </p:spTree>
    <p:extLst>
      <p:ext uri="{BB962C8B-B14F-4D97-AF65-F5344CB8AC3E}">
        <p14:creationId xmlns:p14="http://schemas.microsoft.com/office/powerpoint/2010/main" val="9668439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ZPF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ZPF Design</a:t>
            </a:r>
          </a:p>
        </p:txBody>
      </p:sp>
      <p:sp>
        <p:nvSpPr>
          <p:cNvPr id="5" name="Object4"/>
          <p:cNvSpPr/>
          <p:nvPr/>
        </p:nvSpPr>
        <p:spPr>
          <a:xfrm>
            <a:off x="0" y="684398"/>
            <a:ext cx="8306440" cy="2571750"/>
          </a:xfrm>
          <a:prstGeom prst="rect">
            <a:avLst/>
          </a:prstGeom>
          <a:noFill/>
          <a:ln/>
        </p:spPr>
        <p:txBody>
          <a:bodyPr wrap="square" rtlCol="0" anchor="t"/>
          <a:lstStyle/>
          <a:p>
            <a:r>
              <a:rPr lang="en-US" sz="1600" dirty="0">
                <a:effectLst/>
                <a:latin typeface="Arial" panose="020B0604020202020204" pitchFamily="34" charset="0"/>
                <a:cs typeface="Arial" panose="020B0604020202020204" pitchFamily="34" charset="0"/>
              </a:rPr>
              <a:t>Designing ZPFs involves several steps:</a:t>
            </a:r>
          </a:p>
          <a:p>
            <a:endParaRPr lang="en-US" sz="1600" dirty="0">
              <a:effectLst/>
              <a:latin typeface="Arial" panose="020B0604020202020204" pitchFamily="34" charset="0"/>
              <a:cs typeface="Arial" panose="020B0604020202020204" pitchFamily="34" charset="0"/>
            </a:endParaRPr>
          </a:p>
          <a:p>
            <a:pPr lvl="1"/>
            <a:r>
              <a:rPr lang="en-US" sz="1600" b="1" dirty="0">
                <a:effectLst/>
                <a:latin typeface="Arial" panose="020B0604020202020204" pitchFamily="34" charset="0"/>
                <a:cs typeface="Arial" panose="020B0604020202020204" pitchFamily="34" charset="0"/>
              </a:rPr>
              <a:t>Step 1</a:t>
            </a:r>
            <a:r>
              <a:rPr lang="en-US" sz="1600" dirty="0">
                <a:effectLst/>
                <a:latin typeface="Arial" panose="020B0604020202020204" pitchFamily="34" charset="0"/>
                <a:cs typeface="Arial" panose="020B0604020202020204" pitchFamily="34" charset="0"/>
              </a:rPr>
              <a:t>. Determine the zones. A zone defines a boundary where traffic is subjected to policy restrictions as it crosses to another region of the network.</a:t>
            </a:r>
          </a:p>
          <a:p>
            <a:pPr lvl="1"/>
            <a:endParaRPr lang="en-US" sz="1600" dirty="0">
              <a:effectLst/>
              <a:latin typeface="Arial" panose="020B0604020202020204" pitchFamily="34" charset="0"/>
              <a:cs typeface="Arial" panose="020B0604020202020204" pitchFamily="34" charset="0"/>
            </a:endParaRPr>
          </a:p>
          <a:p>
            <a:pPr lvl="1"/>
            <a:r>
              <a:rPr lang="en-US" sz="1600" b="1" dirty="0">
                <a:effectLst/>
                <a:latin typeface="Arial" panose="020B0604020202020204" pitchFamily="34" charset="0"/>
                <a:cs typeface="Arial" panose="020B0604020202020204" pitchFamily="34" charset="0"/>
              </a:rPr>
              <a:t>Step 2</a:t>
            </a:r>
            <a:r>
              <a:rPr lang="en-US" sz="1600" dirty="0">
                <a:effectLst/>
                <a:latin typeface="Arial" panose="020B0604020202020204" pitchFamily="34" charset="0"/>
                <a:cs typeface="Arial" panose="020B0604020202020204" pitchFamily="34" charset="0"/>
              </a:rPr>
              <a:t>. Establish policies between zones. Define the sessions that clients in the source zones can request from servers in destination zones.</a:t>
            </a:r>
          </a:p>
          <a:p>
            <a:pPr lvl="1"/>
            <a:endParaRPr lang="en-US" sz="1600" dirty="0">
              <a:effectLst/>
              <a:latin typeface="Arial" panose="020B0604020202020204" pitchFamily="34" charset="0"/>
              <a:cs typeface="Arial" panose="020B0604020202020204" pitchFamily="34" charset="0"/>
            </a:endParaRPr>
          </a:p>
          <a:p>
            <a:pPr lvl="1"/>
            <a:r>
              <a:rPr lang="en-US" sz="1600" b="1" dirty="0">
                <a:effectLst/>
                <a:latin typeface="Arial" panose="020B0604020202020204" pitchFamily="34" charset="0"/>
                <a:cs typeface="Arial" panose="020B0604020202020204" pitchFamily="34" charset="0"/>
              </a:rPr>
              <a:t>Step 3</a:t>
            </a:r>
            <a:r>
              <a:rPr lang="en-US" sz="1600" dirty="0">
                <a:effectLst/>
                <a:latin typeface="Arial" panose="020B0604020202020204" pitchFamily="34" charset="0"/>
                <a:cs typeface="Arial" panose="020B0604020202020204" pitchFamily="34" charset="0"/>
              </a:rPr>
              <a:t>. Design the physical infrastructure. This includes dictating the number of devices between most-secure and least-secure zones and determining redundant devices.</a:t>
            </a:r>
          </a:p>
          <a:p>
            <a:pPr lvl="1"/>
            <a:endParaRPr lang="en-US" sz="1600" dirty="0">
              <a:effectLst/>
              <a:latin typeface="Arial" panose="020B0604020202020204" pitchFamily="34" charset="0"/>
              <a:cs typeface="Arial" panose="020B0604020202020204" pitchFamily="34" charset="0"/>
            </a:endParaRPr>
          </a:p>
          <a:p>
            <a:pPr lvl="1"/>
            <a:r>
              <a:rPr lang="en-US" sz="1600" b="1" dirty="0">
                <a:effectLst/>
                <a:latin typeface="Arial" panose="020B0604020202020204" pitchFamily="34" charset="0"/>
                <a:cs typeface="Arial" panose="020B0604020202020204" pitchFamily="34" charset="0"/>
              </a:rPr>
              <a:t>Step 4</a:t>
            </a:r>
            <a:r>
              <a:rPr lang="en-US" sz="1600" dirty="0">
                <a:effectLst/>
                <a:latin typeface="Arial" panose="020B0604020202020204" pitchFamily="34" charset="0"/>
                <a:cs typeface="Arial" panose="020B0604020202020204" pitchFamily="34" charset="0"/>
              </a:rPr>
              <a:t>. Identify subsets within zones and merge traffic requirements. Although an important consideration, implementing zone subsets is beyond the scope of this curriculum.</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19</a:t>
            </a:fld>
            <a:endParaRPr lang="en-US" dirty="0"/>
          </a:p>
        </p:txBody>
      </p:sp>
    </p:spTree>
    <p:extLst>
      <p:ext uri="{BB962C8B-B14F-4D97-AF65-F5344CB8AC3E}">
        <p14:creationId xmlns:p14="http://schemas.microsoft.com/office/powerpoint/2010/main" val="41181091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ZPF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ZPF Design (Cont.)</a:t>
            </a:r>
          </a:p>
        </p:txBody>
      </p:sp>
      <p:sp>
        <p:nvSpPr>
          <p:cNvPr id="6" name="TextBox 5">
            <a:extLst>
              <a:ext uri="{FF2B5EF4-FFF2-40B4-BE49-F238E27FC236}">
                <a16:creationId xmlns:a16="http://schemas.microsoft.com/office/drawing/2014/main" id="{A559A6A1-4F45-4892-BA1C-8CF2CAEFE93A}"/>
              </a:ext>
            </a:extLst>
          </p:cNvPr>
          <p:cNvSpPr txBox="1"/>
          <p:nvPr/>
        </p:nvSpPr>
        <p:spPr>
          <a:xfrm>
            <a:off x="2855229" y="695088"/>
            <a:ext cx="3433542" cy="369332"/>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LAN to Internet Example</a:t>
            </a:r>
          </a:p>
        </p:txBody>
      </p:sp>
      <p:pic>
        <p:nvPicPr>
          <p:cNvPr id="11" name="Picture 10">
            <a:extLst>
              <a:ext uri="{FF2B5EF4-FFF2-40B4-BE49-F238E27FC236}">
                <a16:creationId xmlns:a16="http://schemas.microsoft.com/office/drawing/2014/main" id="{AC3F1CB5-8E07-4587-B8DD-8A54FB2D0F87}"/>
              </a:ext>
            </a:extLst>
          </p:cNvPr>
          <p:cNvPicPr>
            <a:picLocks noChangeAspect="1"/>
          </p:cNvPicPr>
          <p:nvPr/>
        </p:nvPicPr>
        <p:blipFill>
          <a:blip r:embed="rId3"/>
          <a:stretch>
            <a:fillRect/>
          </a:stretch>
        </p:blipFill>
        <p:spPr>
          <a:xfrm>
            <a:off x="936438" y="1404174"/>
            <a:ext cx="7271124" cy="3035456"/>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20</a:t>
            </a:fld>
            <a:endParaRPr lang="en-US" dirty="0"/>
          </a:p>
        </p:txBody>
      </p:sp>
    </p:spTree>
    <p:extLst>
      <p:ext uri="{BB962C8B-B14F-4D97-AF65-F5344CB8AC3E}">
        <p14:creationId xmlns:p14="http://schemas.microsoft.com/office/powerpoint/2010/main" val="20554378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ZPF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ZPF Design (Cont.)</a:t>
            </a:r>
          </a:p>
        </p:txBody>
      </p:sp>
      <p:sp>
        <p:nvSpPr>
          <p:cNvPr id="6" name="TextBox 5">
            <a:extLst>
              <a:ext uri="{FF2B5EF4-FFF2-40B4-BE49-F238E27FC236}">
                <a16:creationId xmlns:a16="http://schemas.microsoft.com/office/drawing/2014/main" id="{A559A6A1-4F45-4892-BA1C-8CF2CAEFE93A}"/>
              </a:ext>
            </a:extLst>
          </p:cNvPr>
          <p:cNvSpPr txBox="1"/>
          <p:nvPr/>
        </p:nvSpPr>
        <p:spPr>
          <a:xfrm>
            <a:off x="2116952" y="695088"/>
            <a:ext cx="4910097" cy="369332"/>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Firewall with Public Servers Example 1</a:t>
            </a:r>
          </a:p>
        </p:txBody>
      </p:sp>
      <p:pic>
        <p:nvPicPr>
          <p:cNvPr id="5" name="Picture 4">
            <a:extLst>
              <a:ext uri="{FF2B5EF4-FFF2-40B4-BE49-F238E27FC236}">
                <a16:creationId xmlns:a16="http://schemas.microsoft.com/office/drawing/2014/main" id="{B55FBB80-47A0-4A59-892C-F7B055B0B4C7}"/>
              </a:ext>
            </a:extLst>
          </p:cNvPr>
          <p:cNvPicPr>
            <a:picLocks noChangeAspect="1"/>
          </p:cNvPicPr>
          <p:nvPr/>
        </p:nvPicPr>
        <p:blipFill>
          <a:blip r:embed="rId3"/>
          <a:stretch>
            <a:fillRect/>
          </a:stretch>
        </p:blipFill>
        <p:spPr>
          <a:xfrm>
            <a:off x="1900596" y="1188720"/>
            <a:ext cx="5342807" cy="3775521"/>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21</a:t>
            </a:fld>
            <a:endParaRPr lang="en-US" dirty="0"/>
          </a:p>
        </p:txBody>
      </p:sp>
    </p:spTree>
    <p:extLst>
      <p:ext uri="{BB962C8B-B14F-4D97-AF65-F5344CB8AC3E}">
        <p14:creationId xmlns:p14="http://schemas.microsoft.com/office/powerpoint/2010/main" val="14753930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ZPF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ZPF Design (Cont.)</a:t>
            </a:r>
          </a:p>
        </p:txBody>
      </p:sp>
      <p:sp>
        <p:nvSpPr>
          <p:cNvPr id="6" name="TextBox 5">
            <a:extLst>
              <a:ext uri="{FF2B5EF4-FFF2-40B4-BE49-F238E27FC236}">
                <a16:creationId xmlns:a16="http://schemas.microsoft.com/office/drawing/2014/main" id="{A559A6A1-4F45-4892-BA1C-8CF2CAEFE93A}"/>
              </a:ext>
            </a:extLst>
          </p:cNvPr>
          <p:cNvSpPr txBox="1"/>
          <p:nvPr/>
        </p:nvSpPr>
        <p:spPr>
          <a:xfrm>
            <a:off x="2116952" y="695088"/>
            <a:ext cx="4910097" cy="369332"/>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Firewall with Public Servers Example 2</a:t>
            </a:r>
          </a:p>
        </p:txBody>
      </p:sp>
      <p:pic>
        <p:nvPicPr>
          <p:cNvPr id="5" name="Picture 4">
            <a:extLst>
              <a:ext uri="{FF2B5EF4-FFF2-40B4-BE49-F238E27FC236}">
                <a16:creationId xmlns:a16="http://schemas.microsoft.com/office/drawing/2014/main" id="{844E7AD2-AE06-4F9B-90D2-4F9A52260CFE}"/>
              </a:ext>
            </a:extLst>
          </p:cNvPr>
          <p:cNvPicPr>
            <a:picLocks noChangeAspect="1"/>
          </p:cNvPicPr>
          <p:nvPr/>
        </p:nvPicPr>
        <p:blipFill>
          <a:blip r:embed="rId3"/>
          <a:stretch>
            <a:fillRect/>
          </a:stretch>
        </p:blipFill>
        <p:spPr>
          <a:xfrm>
            <a:off x="977715" y="1114491"/>
            <a:ext cx="7188569" cy="3333921"/>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22</a:t>
            </a:fld>
            <a:endParaRPr lang="en-US" dirty="0"/>
          </a:p>
        </p:txBody>
      </p:sp>
    </p:spTree>
    <p:extLst>
      <p:ext uri="{BB962C8B-B14F-4D97-AF65-F5344CB8AC3E}">
        <p14:creationId xmlns:p14="http://schemas.microsoft.com/office/powerpoint/2010/main" val="38625256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ZPF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ZPF Design (Cont.)</a:t>
            </a:r>
          </a:p>
        </p:txBody>
      </p:sp>
      <p:sp>
        <p:nvSpPr>
          <p:cNvPr id="6" name="TextBox 5">
            <a:extLst>
              <a:ext uri="{FF2B5EF4-FFF2-40B4-BE49-F238E27FC236}">
                <a16:creationId xmlns:a16="http://schemas.microsoft.com/office/drawing/2014/main" id="{A559A6A1-4F45-4892-BA1C-8CF2CAEFE93A}"/>
              </a:ext>
            </a:extLst>
          </p:cNvPr>
          <p:cNvSpPr txBox="1"/>
          <p:nvPr/>
        </p:nvSpPr>
        <p:spPr>
          <a:xfrm>
            <a:off x="2116952" y="695088"/>
            <a:ext cx="4910097" cy="369332"/>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Redundant Firewalls</a:t>
            </a:r>
          </a:p>
        </p:txBody>
      </p:sp>
      <p:pic>
        <p:nvPicPr>
          <p:cNvPr id="7" name="Picture 6">
            <a:extLst>
              <a:ext uri="{FF2B5EF4-FFF2-40B4-BE49-F238E27FC236}">
                <a16:creationId xmlns:a16="http://schemas.microsoft.com/office/drawing/2014/main" id="{5B0D696D-482B-4643-A397-52CEB1F0672D}"/>
              </a:ext>
            </a:extLst>
          </p:cNvPr>
          <p:cNvPicPr>
            <a:picLocks noChangeAspect="1"/>
          </p:cNvPicPr>
          <p:nvPr/>
        </p:nvPicPr>
        <p:blipFill>
          <a:blip r:embed="rId3"/>
          <a:stretch>
            <a:fillRect/>
          </a:stretch>
        </p:blipFill>
        <p:spPr>
          <a:xfrm>
            <a:off x="1661847" y="1188720"/>
            <a:ext cx="5820306" cy="3132816"/>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23</a:t>
            </a:fld>
            <a:endParaRPr lang="en-US" dirty="0"/>
          </a:p>
        </p:txBody>
      </p:sp>
    </p:spTree>
    <p:extLst>
      <p:ext uri="{BB962C8B-B14F-4D97-AF65-F5344CB8AC3E}">
        <p14:creationId xmlns:p14="http://schemas.microsoft.com/office/powerpoint/2010/main" val="33868475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ZPF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ZPF Design (Cont.)</a:t>
            </a:r>
          </a:p>
        </p:txBody>
      </p:sp>
      <p:sp>
        <p:nvSpPr>
          <p:cNvPr id="6" name="TextBox 5">
            <a:extLst>
              <a:ext uri="{FF2B5EF4-FFF2-40B4-BE49-F238E27FC236}">
                <a16:creationId xmlns:a16="http://schemas.microsoft.com/office/drawing/2014/main" id="{A559A6A1-4F45-4892-BA1C-8CF2CAEFE93A}"/>
              </a:ext>
            </a:extLst>
          </p:cNvPr>
          <p:cNvSpPr txBox="1"/>
          <p:nvPr/>
        </p:nvSpPr>
        <p:spPr>
          <a:xfrm>
            <a:off x="2116952" y="695088"/>
            <a:ext cx="4910097" cy="369332"/>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Complex Firewall</a:t>
            </a:r>
          </a:p>
        </p:txBody>
      </p:sp>
      <p:pic>
        <p:nvPicPr>
          <p:cNvPr id="5" name="Picture 4">
            <a:extLst>
              <a:ext uri="{FF2B5EF4-FFF2-40B4-BE49-F238E27FC236}">
                <a16:creationId xmlns:a16="http://schemas.microsoft.com/office/drawing/2014/main" id="{0C8ACED7-C5ED-405E-8360-2C82E69C792F}"/>
              </a:ext>
            </a:extLst>
          </p:cNvPr>
          <p:cNvPicPr>
            <a:picLocks noChangeAspect="1"/>
          </p:cNvPicPr>
          <p:nvPr/>
        </p:nvPicPr>
        <p:blipFill>
          <a:blip r:embed="rId3"/>
          <a:stretch>
            <a:fillRect/>
          </a:stretch>
        </p:blipFill>
        <p:spPr>
          <a:xfrm>
            <a:off x="1998361" y="1064420"/>
            <a:ext cx="5147278" cy="3863777"/>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24</a:t>
            </a:fld>
            <a:endParaRPr lang="en-US" dirty="0"/>
          </a:p>
        </p:txBody>
      </p:sp>
    </p:spTree>
    <p:extLst>
      <p:ext uri="{BB962C8B-B14F-4D97-AF65-F5344CB8AC3E}">
        <p14:creationId xmlns:p14="http://schemas.microsoft.com/office/powerpoint/2010/main" val="26655766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10.2 ZPF Operation</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25</a:t>
            </a:fld>
            <a:endParaRPr lang="en-US" dirty="0"/>
          </a:p>
        </p:txBody>
      </p:sp>
    </p:spTree>
    <p:extLst>
      <p:ext uri="{BB962C8B-B14F-4D97-AF65-F5344CB8AC3E}">
        <p14:creationId xmlns:p14="http://schemas.microsoft.com/office/powerpoint/2010/main" val="11872428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ZPF Operation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ZPF Actions</a:t>
            </a:r>
          </a:p>
        </p:txBody>
      </p:sp>
      <p:sp>
        <p:nvSpPr>
          <p:cNvPr id="5" name="Object4"/>
          <p:cNvSpPr/>
          <p:nvPr/>
        </p:nvSpPr>
        <p:spPr>
          <a:xfrm>
            <a:off x="0" y="914400"/>
            <a:ext cx="8944164" cy="2571750"/>
          </a:xfrm>
          <a:prstGeom prst="rect">
            <a:avLst/>
          </a:prstGeom>
          <a:noFill/>
          <a:ln/>
        </p:spPr>
        <p:txBody>
          <a:bodyPr wrap="square" rtlCol="0" anchor="t"/>
          <a:lstStyle/>
          <a:p>
            <a:r>
              <a:rPr lang="en-US" dirty="0">
                <a:effectLst/>
                <a:latin typeface="Arial" panose="020B0604020202020204" pitchFamily="34" charset="0"/>
                <a:cs typeface="Arial" panose="020B0604020202020204" pitchFamily="34" charset="0"/>
              </a:rPr>
              <a:t>Policies identify actions that the ZPF will perform on network traffic. Three possible actions can be configured to process traffic by protocol, source and destination zones (zone pairs), and other criteria.</a:t>
            </a:r>
          </a:p>
          <a:p>
            <a:endParaRPr lang="en-US" dirty="0">
              <a:effectLst/>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b="1" dirty="0">
                <a:effectLst/>
                <a:latin typeface="Arial" panose="020B0604020202020204" pitchFamily="34" charset="0"/>
                <a:cs typeface="Arial" panose="020B0604020202020204" pitchFamily="34" charset="0"/>
              </a:rPr>
              <a:t>Inspect</a:t>
            </a:r>
            <a:r>
              <a:rPr lang="en-US" dirty="0">
                <a:effectLst/>
                <a:latin typeface="Arial" panose="020B0604020202020204" pitchFamily="34" charset="0"/>
                <a:cs typeface="Arial" panose="020B0604020202020204" pitchFamily="34" charset="0"/>
              </a:rPr>
              <a:t> - Performs Cisco IOS stateful packet inspection.</a:t>
            </a:r>
          </a:p>
          <a:p>
            <a:pPr marL="742950" lvl="1" indent="-285750">
              <a:buFont typeface="Arial" panose="020B0604020202020204" pitchFamily="34" charset="0"/>
              <a:buChar char="•"/>
            </a:pPr>
            <a:r>
              <a:rPr lang="en-US" b="1" dirty="0">
                <a:effectLst/>
                <a:latin typeface="Arial" panose="020B0604020202020204" pitchFamily="34" charset="0"/>
                <a:cs typeface="Arial" panose="020B0604020202020204" pitchFamily="34" charset="0"/>
              </a:rPr>
              <a:t>Drop</a:t>
            </a:r>
            <a:r>
              <a:rPr lang="en-US" dirty="0">
                <a:effectLst/>
                <a:latin typeface="Arial" panose="020B0604020202020204" pitchFamily="34" charset="0"/>
                <a:cs typeface="Arial" panose="020B0604020202020204" pitchFamily="34" charset="0"/>
              </a:rPr>
              <a:t> - Analogous to a </a:t>
            </a:r>
            <a:r>
              <a:rPr lang="en-US" b="1" dirty="0">
                <a:effectLst/>
                <a:latin typeface="Arial" panose="020B0604020202020204" pitchFamily="34" charset="0"/>
                <a:cs typeface="Arial" panose="020B0604020202020204" pitchFamily="34" charset="0"/>
              </a:rPr>
              <a:t>deny</a:t>
            </a:r>
            <a:r>
              <a:rPr lang="en-US" dirty="0">
                <a:effectLst/>
                <a:latin typeface="Arial" panose="020B0604020202020204" pitchFamily="34" charset="0"/>
                <a:cs typeface="Arial" panose="020B0604020202020204" pitchFamily="34" charset="0"/>
              </a:rPr>
              <a:t> statement in an ACL. A </a:t>
            </a:r>
            <a:r>
              <a:rPr lang="en-US" b="1" dirty="0">
                <a:effectLst/>
                <a:latin typeface="Arial" panose="020B0604020202020204" pitchFamily="34" charset="0"/>
                <a:cs typeface="Arial" panose="020B0604020202020204" pitchFamily="34" charset="0"/>
              </a:rPr>
              <a:t>log</a:t>
            </a:r>
            <a:r>
              <a:rPr lang="en-US" dirty="0">
                <a:effectLst/>
                <a:latin typeface="Arial" panose="020B0604020202020204" pitchFamily="34" charset="0"/>
                <a:cs typeface="Arial" panose="020B0604020202020204" pitchFamily="34" charset="0"/>
              </a:rPr>
              <a:t> option is available to log the rejected packets.</a:t>
            </a:r>
          </a:p>
          <a:p>
            <a:pPr marL="742950" lvl="1" indent="-285750">
              <a:buFont typeface="Arial" panose="020B0604020202020204" pitchFamily="34" charset="0"/>
              <a:buChar char="•"/>
            </a:pPr>
            <a:r>
              <a:rPr lang="en-US" b="1" dirty="0">
                <a:effectLst/>
                <a:latin typeface="Arial" panose="020B0604020202020204" pitchFamily="34" charset="0"/>
                <a:cs typeface="Arial" panose="020B0604020202020204" pitchFamily="34" charset="0"/>
              </a:rPr>
              <a:t>Pass</a:t>
            </a:r>
            <a:r>
              <a:rPr lang="en-US" dirty="0">
                <a:effectLst/>
                <a:latin typeface="Arial" panose="020B0604020202020204" pitchFamily="34" charset="0"/>
                <a:cs typeface="Arial" panose="020B0604020202020204" pitchFamily="34" charset="0"/>
              </a:rPr>
              <a:t> - Analogous to a </a:t>
            </a:r>
            <a:r>
              <a:rPr lang="en-US" b="1" dirty="0">
                <a:effectLst/>
                <a:latin typeface="Arial" panose="020B0604020202020204" pitchFamily="34" charset="0"/>
                <a:cs typeface="Arial" panose="020B0604020202020204" pitchFamily="34" charset="0"/>
              </a:rPr>
              <a:t>permit</a:t>
            </a:r>
            <a:r>
              <a:rPr lang="en-US" dirty="0">
                <a:effectLst/>
                <a:latin typeface="Arial" panose="020B0604020202020204" pitchFamily="34" charset="0"/>
                <a:cs typeface="Arial" panose="020B0604020202020204" pitchFamily="34" charset="0"/>
              </a:rPr>
              <a:t> statement in an ACL. The pass action does not track the state of connections or sessions within the traffic.</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26</a:t>
            </a:fld>
            <a:endParaRPr lang="en-US" dirty="0"/>
          </a:p>
        </p:txBody>
      </p:sp>
    </p:spTree>
    <p:extLst>
      <p:ext uri="{BB962C8B-B14F-4D97-AF65-F5344CB8AC3E}">
        <p14:creationId xmlns:p14="http://schemas.microsoft.com/office/powerpoint/2010/main" val="18579645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ZPF Operation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Rules for Transit Traffic</a:t>
            </a:r>
          </a:p>
        </p:txBody>
      </p:sp>
      <p:sp>
        <p:nvSpPr>
          <p:cNvPr id="7" name="TextBox 6">
            <a:extLst>
              <a:ext uri="{FF2B5EF4-FFF2-40B4-BE49-F238E27FC236}">
                <a16:creationId xmlns:a16="http://schemas.microsoft.com/office/drawing/2014/main" id="{E821BFAA-E93E-4629-B02F-5215A2A6E221}"/>
              </a:ext>
            </a:extLst>
          </p:cNvPr>
          <p:cNvSpPr txBox="1"/>
          <p:nvPr/>
        </p:nvSpPr>
        <p:spPr>
          <a:xfrm>
            <a:off x="91440" y="764754"/>
            <a:ext cx="3996110" cy="1477328"/>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Traffic transiting through router interfaces is subject to several rules governing interface behavior. For the transit traffic example, refer to the topology shown in the figure.</a:t>
            </a:r>
          </a:p>
        </p:txBody>
      </p:sp>
      <p:graphicFrame>
        <p:nvGraphicFramePr>
          <p:cNvPr id="14" name="Table 13"/>
          <p:cNvGraphicFramePr>
            <a:graphicFrameLocks noGrp="1"/>
          </p:cNvGraphicFramePr>
          <p:nvPr>
            <p:extLst>
              <p:ext uri="{D42A27DB-BD31-4B8C-83A1-F6EECF244321}">
                <p14:modId xmlns:p14="http://schemas.microsoft.com/office/powerpoint/2010/main" val="3669277479"/>
              </p:ext>
            </p:extLst>
          </p:nvPr>
        </p:nvGraphicFramePr>
        <p:xfrm>
          <a:off x="91440" y="2368426"/>
          <a:ext cx="8961120" cy="2255520"/>
        </p:xfrm>
        <a:graphic>
          <a:graphicData uri="http://schemas.openxmlformats.org/drawingml/2006/table">
            <a:tbl>
              <a:tblPr/>
              <a:tblGrid>
                <a:gridCol w="1792224">
                  <a:extLst>
                    <a:ext uri="{9D8B030D-6E8A-4147-A177-3AD203B41FA5}">
                      <a16:colId xmlns:a16="http://schemas.microsoft.com/office/drawing/2014/main" val="20000"/>
                    </a:ext>
                  </a:extLst>
                </a:gridCol>
                <a:gridCol w="1792224">
                  <a:extLst>
                    <a:ext uri="{9D8B030D-6E8A-4147-A177-3AD203B41FA5}">
                      <a16:colId xmlns:a16="http://schemas.microsoft.com/office/drawing/2014/main" val="20001"/>
                    </a:ext>
                  </a:extLst>
                </a:gridCol>
                <a:gridCol w="1792224">
                  <a:extLst>
                    <a:ext uri="{9D8B030D-6E8A-4147-A177-3AD203B41FA5}">
                      <a16:colId xmlns:a16="http://schemas.microsoft.com/office/drawing/2014/main" val="20002"/>
                    </a:ext>
                  </a:extLst>
                </a:gridCol>
                <a:gridCol w="1792224">
                  <a:extLst>
                    <a:ext uri="{9D8B030D-6E8A-4147-A177-3AD203B41FA5}">
                      <a16:colId xmlns:a16="http://schemas.microsoft.com/office/drawing/2014/main" val="20003"/>
                    </a:ext>
                  </a:extLst>
                </a:gridCol>
                <a:gridCol w="1792224">
                  <a:extLst>
                    <a:ext uri="{9D8B030D-6E8A-4147-A177-3AD203B41FA5}">
                      <a16:colId xmlns:a16="http://schemas.microsoft.com/office/drawing/2014/main" val="20004"/>
                    </a:ext>
                  </a:extLst>
                </a:gridCol>
              </a:tblGrid>
              <a:tr h="0">
                <a:tc>
                  <a:txBody>
                    <a:bodyPr/>
                    <a:lstStyle/>
                    <a:p>
                      <a:r>
                        <a:rPr lang="en-US" sz="1200" dirty="0">
                          <a:solidFill>
                            <a:srgbClr val="FFFFFF"/>
                          </a:solidFill>
                        </a:rPr>
                        <a:t>Source Interface Member of Zone?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Destination Interface Member of Zone?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Zone-Pair Exists?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Policy Exists?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Result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NO</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NO</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N/A</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N/A</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PASS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rPr>
                        <a:t>YES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NO</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N/A</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N/A</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DROP</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2"/>
                  </a:ext>
                </a:extLst>
              </a:tr>
              <a:tr h="0">
                <a:tc>
                  <a:txBody>
                    <a:bodyPr/>
                    <a:lstStyle/>
                    <a:p>
                      <a:r>
                        <a:rPr lang="en-US" sz="1200" dirty="0">
                          <a:solidFill>
                            <a:srgbClr val="58585B"/>
                          </a:solidFill>
                        </a:rPr>
                        <a:t>NO</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YES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N/A</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N/A</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DROP</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dirty="0">
                          <a:solidFill>
                            <a:srgbClr val="58585B"/>
                          </a:solidFill>
                        </a:rPr>
                        <a:t>YES (private)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YES (private)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N/A</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N/A</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PASS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4"/>
                  </a:ext>
                </a:extLst>
              </a:tr>
              <a:tr h="0">
                <a:tc>
                  <a:txBody>
                    <a:bodyPr/>
                    <a:lstStyle/>
                    <a:p>
                      <a:r>
                        <a:rPr lang="en-US" sz="1200" dirty="0">
                          <a:solidFill>
                            <a:srgbClr val="58585B"/>
                          </a:solidFill>
                        </a:rPr>
                        <a:t>YES (private)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YES (public)</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NO</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N/A</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DROP</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r>
                        <a:rPr lang="en-US" sz="1200" dirty="0">
                          <a:solidFill>
                            <a:srgbClr val="58585B"/>
                          </a:solidFill>
                        </a:rPr>
                        <a:t>YES (private)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YES (public)</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YES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NO</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FF0000"/>
                          </a:solidFill>
                        </a:rPr>
                        <a:t>DROP </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6"/>
                  </a:ext>
                </a:extLst>
              </a:tr>
              <a:tr h="0">
                <a:tc>
                  <a:txBody>
                    <a:bodyPr/>
                    <a:lstStyle/>
                    <a:p>
                      <a:r>
                        <a:rPr lang="en-US" sz="1200" dirty="0">
                          <a:solidFill>
                            <a:srgbClr val="58585B"/>
                          </a:solidFill>
                        </a:rPr>
                        <a:t>YES (private)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YES (public)</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YES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YES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INSPECT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7"/>
                  </a:ext>
                </a:extLst>
              </a:tr>
            </a:tbl>
          </a:graphicData>
        </a:graphic>
      </p:graphicFrame>
      <p:pic>
        <p:nvPicPr>
          <p:cNvPr id="5" name="Picture 4">
            <a:extLst>
              <a:ext uri="{FF2B5EF4-FFF2-40B4-BE49-F238E27FC236}">
                <a16:creationId xmlns:a16="http://schemas.microsoft.com/office/drawing/2014/main" id="{81B12CAC-C34B-4F2C-B5AA-C0227D59F78F}"/>
              </a:ext>
            </a:extLst>
          </p:cNvPr>
          <p:cNvPicPr>
            <a:picLocks noChangeAspect="1"/>
          </p:cNvPicPr>
          <p:nvPr/>
        </p:nvPicPr>
        <p:blipFill>
          <a:blip r:embed="rId3"/>
          <a:stretch>
            <a:fillRect/>
          </a:stretch>
        </p:blipFill>
        <p:spPr>
          <a:xfrm>
            <a:off x="4399414" y="362438"/>
            <a:ext cx="3554654" cy="1950063"/>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27</a:t>
            </a:fld>
            <a:endParaRPr lang="en-US" dirty="0"/>
          </a:p>
        </p:txBody>
      </p:sp>
    </p:spTree>
    <p:extLst>
      <p:ext uri="{BB962C8B-B14F-4D97-AF65-F5344CB8AC3E}">
        <p14:creationId xmlns:p14="http://schemas.microsoft.com/office/powerpoint/2010/main" val="20394660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ZPF Operation</a:t>
            </a:r>
          </a:p>
        </p:txBody>
      </p:sp>
      <p:sp>
        <p:nvSpPr>
          <p:cNvPr id="3" name="Object2"/>
          <p:cNvSpPr>
            <a:spLocks noGrp="1"/>
          </p:cNvSpPr>
          <p:nvPr>
            <p:ph type="body" idx="100" hasCustomPrompt="1"/>
          </p:nvPr>
        </p:nvSpPr>
        <p:spPr>
          <a:xfrm>
            <a:off x="0" y="250097"/>
            <a:ext cx="9144000" cy="914400"/>
          </a:xfrm>
          <a:prstGeom prst="rect">
            <a:avLst/>
          </a:prstGeom>
          <a:noFill/>
          <a:ln/>
        </p:spPr>
        <p:txBody>
          <a:bodyPr wrap="square" rtlCol="0"/>
          <a:lstStyle/>
          <a:p>
            <a:pPr marL="0" indent="0">
              <a:buNone/>
            </a:pPr>
            <a:r>
              <a:rPr lang="en-US" dirty="0"/>
              <a:t>Rules for Traffic to the Self Zone</a:t>
            </a:r>
          </a:p>
        </p:txBody>
      </p:sp>
      <p:sp>
        <p:nvSpPr>
          <p:cNvPr id="7" name="TextBox 6">
            <a:extLst>
              <a:ext uri="{FF2B5EF4-FFF2-40B4-BE49-F238E27FC236}">
                <a16:creationId xmlns:a16="http://schemas.microsoft.com/office/drawing/2014/main" id="{0C0D18A5-D5A4-4B77-9F2E-7573DE56B5BA}"/>
              </a:ext>
            </a:extLst>
          </p:cNvPr>
          <p:cNvSpPr txBox="1"/>
          <p:nvPr/>
        </p:nvSpPr>
        <p:spPr>
          <a:xfrm>
            <a:off x="91440" y="879227"/>
            <a:ext cx="8822446" cy="1323439"/>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The self zone is the router itself and includes all the IP addresses assigned to the router interfaces. This is traffic that originates at the router or is addressed to a router interface.</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 rules depend on whether the router is the source or the destination of the traffic, as shown in the table.</a:t>
            </a:r>
          </a:p>
        </p:txBody>
      </p:sp>
      <p:graphicFrame>
        <p:nvGraphicFramePr>
          <p:cNvPr id="15" name="Table 14"/>
          <p:cNvGraphicFramePr>
            <a:graphicFrameLocks noGrp="1"/>
          </p:cNvGraphicFramePr>
          <p:nvPr>
            <p:extLst>
              <p:ext uri="{D42A27DB-BD31-4B8C-83A1-F6EECF244321}">
                <p14:modId xmlns:p14="http://schemas.microsoft.com/office/powerpoint/2010/main" val="227500400"/>
              </p:ext>
            </p:extLst>
          </p:nvPr>
        </p:nvGraphicFramePr>
        <p:xfrm>
          <a:off x="91440" y="2267833"/>
          <a:ext cx="8961120" cy="1996440"/>
        </p:xfrm>
        <a:graphic>
          <a:graphicData uri="http://schemas.openxmlformats.org/drawingml/2006/table">
            <a:tbl>
              <a:tblPr/>
              <a:tblGrid>
                <a:gridCol w="1792224">
                  <a:extLst>
                    <a:ext uri="{9D8B030D-6E8A-4147-A177-3AD203B41FA5}">
                      <a16:colId xmlns:a16="http://schemas.microsoft.com/office/drawing/2014/main" val="20000"/>
                    </a:ext>
                  </a:extLst>
                </a:gridCol>
                <a:gridCol w="1792224">
                  <a:extLst>
                    <a:ext uri="{9D8B030D-6E8A-4147-A177-3AD203B41FA5}">
                      <a16:colId xmlns:a16="http://schemas.microsoft.com/office/drawing/2014/main" val="20001"/>
                    </a:ext>
                  </a:extLst>
                </a:gridCol>
                <a:gridCol w="1792224">
                  <a:extLst>
                    <a:ext uri="{9D8B030D-6E8A-4147-A177-3AD203B41FA5}">
                      <a16:colId xmlns:a16="http://schemas.microsoft.com/office/drawing/2014/main" val="20002"/>
                    </a:ext>
                  </a:extLst>
                </a:gridCol>
                <a:gridCol w="1792224">
                  <a:extLst>
                    <a:ext uri="{9D8B030D-6E8A-4147-A177-3AD203B41FA5}">
                      <a16:colId xmlns:a16="http://schemas.microsoft.com/office/drawing/2014/main" val="20003"/>
                    </a:ext>
                  </a:extLst>
                </a:gridCol>
                <a:gridCol w="1792224">
                  <a:extLst>
                    <a:ext uri="{9D8B030D-6E8A-4147-A177-3AD203B41FA5}">
                      <a16:colId xmlns:a16="http://schemas.microsoft.com/office/drawing/2014/main" val="20004"/>
                    </a:ext>
                  </a:extLst>
                </a:gridCol>
              </a:tblGrid>
              <a:tr h="0">
                <a:tc>
                  <a:txBody>
                    <a:bodyPr/>
                    <a:lstStyle/>
                    <a:p>
                      <a:r>
                        <a:rPr lang="en-US" sz="1200" dirty="0">
                          <a:solidFill>
                            <a:srgbClr val="FFFFFF"/>
                          </a:solidFill>
                        </a:rPr>
                        <a:t>Source Interface Member of Zone?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Destination Interface Member of Zone?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Zone-Pair Exists?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Policy Exists?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Result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YES (self zone)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YES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NO</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N/A</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PASS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rPr>
                        <a:t>YES (self zone)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YES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YES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NO</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PASS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2"/>
                  </a:ext>
                </a:extLst>
              </a:tr>
              <a:tr h="0">
                <a:tc>
                  <a:txBody>
                    <a:bodyPr/>
                    <a:lstStyle/>
                    <a:p>
                      <a:r>
                        <a:rPr lang="en-US" sz="1200" dirty="0">
                          <a:solidFill>
                            <a:srgbClr val="58585B"/>
                          </a:solidFill>
                        </a:rPr>
                        <a:t>YES (self zone)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YES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YES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YES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INSPECT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dirty="0">
                          <a:solidFill>
                            <a:srgbClr val="58585B"/>
                          </a:solidFill>
                        </a:rPr>
                        <a:t>YES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YES (self zone)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NO</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N/A</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PASS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4"/>
                  </a:ext>
                </a:extLst>
              </a:tr>
              <a:tr h="0">
                <a:tc>
                  <a:txBody>
                    <a:bodyPr/>
                    <a:lstStyle/>
                    <a:p>
                      <a:r>
                        <a:rPr lang="en-US" sz="1200" dirty="0">
                          <a:solidFill>
                            <a:srgbClr val="58585B"/>
                          </a:solidFill>
                        </a:rPr>
                        <a:t>YES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YES (self zone)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YES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NO</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PASS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r>
                        <a:rPr lang="en-US" sz="1200" dirty="0">
                          <a:solidFill>
                            <a:srgbClr val="58585B"/>
                          </a:solidFill>
                        </a:rPr>
                        <a:t>YES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YES (self zone)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YES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YES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INSPECT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6"/>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28</a:t>
            </a:fld>
            <a:endParaRPr lang="en-US" dirty="0"/>
          </a:p>
        </p:txBody>
      </p:sp>
    </p:spTree>
    <p:extLst>
      <p:ext uri="{BB962C8B-B14F-4D97-AF65-F5344CB8AC3E}">
        <p14:creationId xmlns:p14="http://schemas.microsoft.com/office/powerpoint/2010/main" val="13207718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10.3 Configure a ZPF</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29</a:t>
            </a:fld>
            <a:endParaRPr lang="en-US" dirty="0"/>
          </a:p>
        </p:txBody>
      </p:sp>
    </p:spTree>
    <p:extLst>
      <p:ext uri="{BB962C8B-B14F-4D97-AF65-F5344CB8AC3E}">
        <p14:creationId xmlns:p14="http://schemas.microsoft.com/office/powerpoint/2010/main" val="7838626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 ZPF</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Configure a ZPF</a:t>
            </a:r>
          </a:p>
        </p:txBody>
      </p:sp>
      <p:sp>
        <p:nvSpPr>
          <p:cNvPr id="5" name="Object4"/>
          <p:cNvSpPr/>
          <p:nvPr/>
        </p:nvSpPr>
        <p:spPr>
          <a:xfrm>
            <a:off x="91439" y="787282"/>
            <a:ext cx="8877993" cy="675758"/>
          </a:xfrm>
          <a:prstGeom prst="rect">
            <a:avLst/>
          </a:prstGeom>
          <a:noFill/>
          <a:ln/>
        </p:spPr>
        <p:txBody>
          <a:bodyPr wrap="square" rtlCol="0" anchor="t"/>
          <a:lstStyle/>
          <a:p>
            <a:pPr>
              <a:lnSpc>
                <a:spcPts val="2000"/>
              </a:lnSpc>
            </a:pPr>
            <a:r>
              <a:rPr lang="en-US" sz="1500" dirty="0">
                <a:latin typeface="Arial" panose="020B0604020202020204" pitchFamily="34" charset="0"/>
                <a:cs typeface="Arial" panose="020B0604020202020204" pitchFamily="34" charset="0"/>
              </a:rPr>
              <a:t>The topology and steps shown in the figure will be used throughout the remainder of this topic to demonstrate ZPF configuration. </a:t>
            </a:r>
          </a:p>
        </p:txBody>
      </p:sp>
      <p:sp>
        <p:nvSpPr>
          <p:cNvPr id="10" name="TextBox 9">
            <a:extLst>
              <a:ext uri="{FF2B5EF4-FFF2-40B4-BE49-F238E27FC236}">
                <a16:creationId xmlns:a16="http://schemas.microsoft.com/office/drawing/2014/main" id="{4FA44AD3-843A-458B-9714-CFA8FEA14EBC}"/>
              </a:ext>
            </a:extLst>
          </p:cNvPr>
          <p:cNvSpPr txBox="1"/>
          <p:nvPr/>
        </p:nvSpPr>
        <p:spPr>
          <a:xfrm>
            <a:off x="1935225" y="3451286"/>
            <a:ext cx="4614262" cy="1169551"/>
          </a:xfrm>
          <a:prstGeom prst="rect">
            <a:avLst/>
          </a:prstGeom>
          <a:noFill/>
        </p:spPr>
        <p:txBody>
          <a:bodyPr wrap="square">
            <a:spAutoFit/>
          </a:bodyPr>
          <a:lstStyle/>
          <a:p>
            <a:r>
              <a:rPr lang="en-US" sz="1400" dirty="0"/>
              <a:t>Step 1: Create the zones.</a:t>
            </a:r>
          </a:p>
          <a:p>
            <a:r>
              <a:rPr lang="en-US" sz="1400" dirty="0"/>
              <a:t>Step 2: Identify traffic with a class-map.</a:t>
            </a:r>
          </a:p>
          <a:p>
            <a:r>
              <a:rPr lang="en-US" sz="1400" dirty="0"/>
              <a:t>Step 3: Define an action with a policy-map.</a:t>
            </a:r>
          </a:p>
          <a:p>
            <a:r>
              <a:rPr lang="en-US" sz="1400" dirty="0"/>
              <a:t>Step 4: Identify a zone pair and match it to a policy-map.</a:t>
            </a:r>
          </a:p>
          <a:p>
            <a:r>
              <a:rPr lang="en-US" sz="1400" dirty="0"/>
              <a:t>Step 5: Assign zones to the appropriate interfaces.</a:t>
            </a:r>
          </a:p>
        </p:txBody>
      </p:sp>
      <p:pic>
        <p:nvPicPr>
          <p:cNvPr id="4" name="Picture 3">
            <a:extLst>
              <a:ext uri="{FF2B5EF4-FFF2-40B4-BE49-F238E27FC236}">
                <a16:creationId xmlns:a16="http://schemas.microsoft.com/office/drawing/2014/main" id="{AE5AA670-7777-4DB5-9E40-020CE6363E46}"/>
              </a:ext>
            </a:extLst>
          </p:cNvPr>
          <p:cNvPicPr>
            <a:picLocks noChangeAspect="1"/>
          </p:cNvPicPr>
          <p:nvPr/>
        </p:nvPicPr>
        <p:blipFill>
          <a:blip r:embed="rId3"/>
          <a:stretch>
            <a:fillRect/>
          </a:stretch>
        </p:blipFill>
        <p:spPr>
          <a:xfrm>
            <a:off x="1530660" y="1463040"/>
            <a:ext cx="5423392" cy="1867921"/>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30</a:t>
            </a:fld>
            <a:endParaRPr lang="en-US" dirty="0"/>
          </a:p>
        </p:txBody>
      </p:sp>
      <p:sp>
        <p:nvSpPr>
          <p:cNvPr id="7" name="BlokTextu 6">
            <a:extLst>
              <a:ext uri="{FF2B5EF4-FFF2-40B4-BE49-F238E27FC236}">
                <a16:creationId xmlns:a16="http://schemas.microsoft.com/office/drawing/2014/main" id="{EC1C0C59-2B46-89F7-6468-B276783C6222}"/>
              </a:ext>
            </a:extLst>
          </p:cNvPr>
          <p:cNvSpPr txBox="1"/>
          <p:nvPr/>
        </p:nvSpPr>
        <p:spPr>
          <a:xfrm>
            <a:off x="1146715" y="4777661"/>
            <a:ext cx="6659137" cy="276999"/>
          </a:xfrm>
          <a:prstGeom prst="rect">
            <a:avLst/>
          </a:prstGeom>
          <a:noFill/>
        </p:spPr>
        <p:txBody>
          <a:bodyPr wrap="square">
            <a:spAutoFit/>
          </a:bodyPr>
          <a:lstStyle/>
          <a:p>
            <a:r>
              <a:rPr lang="sk-SK" sz="1200" dirty="0" err="1"/>
              <a:t>https</a:t>
            </a:r>
            <a:r>
              <a:rPr lang="sk-SK" sz="1200" dirty="0"/>
              <a:t>://</a:t>
            </a:r>
            <a:r>
              <a:rPr lang="sk-SK" sz="1200" dirty="0" err="1"/>
              <a:t>www.cisco.com</a:t>
            </a:r>
            <a:r>
              <a:rPr lang="sk-SK" sz="1200" dirty="0"/>
              <a:t>/c/</a:t>
            </a:r>
            <a:r>
              <a:rPr lang="sk-SK" sz="1200" dirty="0" err="1"/>
              <a:t>en</a:t>
            </a:r>
            <a:r>
              <a:rPr lang="sk-SK" sz="1200" dirty="0"/>
              <a:t>/</a:t>
            </a:r>
            <a:r>
              <a:rPr lang="sk-SK" sz="1200" dirty="0" err="1"/>
              <a:t>us</a:t>
            </a:r>
            <a:r>
              <a:rPr lang="sk-SK" sz="1200" dirty="0"/>
              <a:t>/</a:t>
            </a:r>
            <a:r>
              <a:rPr lang="sk-SK" sz="1200" dirty="0" err="1"/>
              <a:t>support</a:t>
            </a:r>
            <a:r>
              <a:rPr lang="sk-SK" sz="1200" dirty="0"/>
              <a:t>/</a:t>
            </a:r>
            <a:r>
              <a:rPr lang="sk-SK" sz="1200" dirty="0" err="1"/>
              <a:t>docs</a:t>
            </a:r>
            <a:r>
              <a:rPr lang="sk-SK" sz="1200" dirty="0"/>
              <a:t>/</a:t>
            </a:r>
            <a:r>
              <a:rPr lang="sk-SK" sz="1200" dirty="0" err="1"/>
              <a:t>security</a:t>
            </a:r>
            <a:r>
              <a:rPr lang="sk-SK" sz="1200" dirty="0"/>
              <a:t>/</a:t>
            </a:r>
            <a:r>
              <a:rPr lang="sk-SK" sz="1200" dirty="0" err="1"/>
              <a:t>ios</a:t>
            </a:r>
            <a:r>
              <a:rPr lang="sk-SK" sz="1200" dirty="0"/>
              <a:t>-firewall/98628-zone-design-guide.html</a:t>
            </a:r>
          </a:p>
        </p:txBody>
      </p:sp>
    </p:spTree>
    <p:extLst>
      <p:ext uri="{BB962C8B-B14F-4D97-AF65-F5344CB8AC3E}">
        <p14:creationId xmlns:p14="http://schemas.microsoft.com/office/powerpoint/2010/main" val="1620775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 ZPF</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Step 1. Create Zones</a:t>
            </a:r>
          </a:p>
        </p:txBody>
      </p:sp>
      <p:sp>
        <p:nvSpPr>
          <p:cNvPr id="5" name="Object4"/>
          <p:cNvSpPr/>
          <p:nvPr/>
        </p:nvSpPr>
        <p:spPr>
          <a:xfrm>
            <a:off x="0" y="731520"/>
            <a:ext cx="9144000" cy="2571750"/>
          </a:xfrm>
          <a:prstGeom prst="rect">
            <a:avLst/>
          </a:prstGeom>
          <a:noFill/>
          <a:ln/>
        </p:spPr>
        <p:txBody>
          <a:bodyPr wrap="square" rtlCol="0" anchor="t"/>
          <a:lstStyle/>
          <a:p>
            <a:r>
              <a:rPr lang="en-US" sz="1600" dirty="0">
                <a:effectLst/>
                <a:latin typeface="Arial" panose="020B0604020202020204" pitchFamily="34" charset="0"/>
                <a:cs typeface="Arial" panose="020B0604020202020204" pitchFamily="34" charset="0"/>
              </a:rPr>
              <a:t>The first step, is to create the zones. However, before creating the zones answer a few questions:</a:t>
            </a:r>
          </a:p>
          <a:p>
            <a:pPr marL="285750"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What interfaces should be included in the zones?</a:t>
            </a:r>
          </a:p>
          <a:p>
            <a:pPr marL="285750"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What will be the name for each zone?</a:t>
            </a:r>
          </a:p>
          <a:p>
            <a:pPr marL="285750"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What traffic is necessary between the zones and in which direction?</a:t>
            </a:r>
          </a:p>
          <a:p>
            <a:endParaRPr lang="en-US" sz="1600" dirty="0">
              <a:effectLst/>
              <a:latin typeface="Arial" panose="020B0604020202020204" pitchFamily="34" charset="0"/>
              <a:cs typeface="Arial" panose="020B0604020202020204" pitchFamily="34" charset="0"/>
            </a:endParaRPr>
          </a:p>
          <a:p>
            <a:r>
              <a:rPr lang="en-US" sz="1600" dirty="0">
                <a:effectLst/>
                <a:latin typeface="Arial" panose="020B0604020202020204" pitchFamily="34" charset="0"/>
                <a:cs typeface="Arial" panose="020B0604020202020204" pitchFamily="34" charset="0"/>
              </a:rPr>
              <a:t>In the example topology, we have two interfaces, two zones, and traffic flowing in one direction. Traffic sourced from the public zone will not be allowed. Create the private and public zones for the firewall with the zone security command, as shown here.</a:t>
            </a:r>
          </a:p>
          <a:p>
            <a:endParaRPr lang="en-US" sz="1400" dirty="0">
              <a:effectLst/>
            </a:endParaRPr>
          </a:p>
          <a:p>
            <a:endParaRPr lang="en-US" sz="1400" dirty="0"/>
          </a:p>
          <a:p>
            <a:endParaRPr lang="en-US" sz="1400" dirty="0">
              <a:effectLst/>
            </a:endParaRPr>
          </a:p>
        </p:txBody>
      </p:sp>
      <p:pic>
        <p:nvPicPr>
          <p:cNvPr id="4" name="Picture 3">
            <a:extLst>
              <a:ext uri="{FF2B5EF4-FFF2-40B4-BE49-F238E27FC236}">
                <a16:creationId xmlns:a16="http://schemas.microsoft.com/office/drawing/2014/main" id="{2F57D36E-C92E-4CFA-AF3A-C88D08F9FD1D}"/>
              </a:ext>
            </a:extLst>
          </p:cNvPr>
          <p:cNvPicPr>
            <a:picLocks noChangeAspect="1"/>
          </p:cNvPicPr>
          <p:nvPr/>
        </p:nvPicPr>
        <p:blipFill>
          <a:blip r:embed="rId3"/>
          <a:stretch>
            <a:fillRect/>
          </a:stretch>
        </p:blipFill>
        <p:spPr>
          <a:xfrm>
            <a:off x="4314305" y="3020447"/>
            <a:ext cx="4488873" cy="1545208"/>
          </a:xfrm>
          <a:prstGeom prst="rect">
            <a:avLst/>
          </a:prstGeom>
        </p:spPr>
      </p:pic>
      <p:pic>
        <p:nvPicPr>
          <p:cNvPr id="7" name="Picture 6">
            <a:extLst>
              <a:ext uri="{FF2B5EF4-FFF2-40B4-BE49-F238E27FC236}">
                <a16:creationId xmlns:a16="http://schemas.microsoft.com/office/drawing/2014/main" id="{EC2A7A30-4B0C-4C4D-9901-7384BC763076}"/>
              </a:ext>
            </a:extLst>
          </p:cNvPr>
          <p:cNvPicPr>
            <a:picLocks noChangeAspect="1"/>
          </p:cNvPicPr>
          <p:nvPr/>
        </p:nvPicPr>
        <p:blipFill>
          <a:blip r:embed="rId4"/>
          <a:stretch>
            <a:fillRect/>
          </a:stretch>
        </p:blipFill>
        <p:spPr>
          <a:xfrm>
            <a:off x="340822" y="2935757"/>
            <a:ext cx="3772094" cy="1714588"/>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31</a:t>
            </a:fld>
            <a:endParaRPr lang="en-US" dirty="0"/>
          </a:p>
        </p:txBody>
      </p:sp>
      <p:sp>
        <p:nvSpPr>
          <p:cNvPr id="8" name="BlokTextu 7">
            <a:extLst>
              <a:ext uri="{FF2B5EF4-FFF2-40B4-BE49-F238E27FC236}">
                <a16:creationId xmlns:a16="http://schemas.microsoft.com/office/drawing/2014/main" id="{A2611A91-E7F5-565A-7A5B-2778DD22D8EA}"/>
              </a:ext>
            </a:extLst>
          </p:cNvPr>
          <p:cNvSpPr txBox="1"/>
          <p:nvPr/>
        </p:nvSpPr>
        <p:spPr>
          <a:xfrm>
            <a:off x="1026841" y="4703861"/>
            <a:ext cx="7090317" cy="307777"/>
          </a:xfrm>
          <a:prstGeom prst="rect">
            <a:avLst/>
          </a:prstGeom>
          <a:noFill/>
        </p:spPr>
        <p:txBody>
          <a:bodyPr wrap="square">
            <a:spAutoFit/>
          </a:bodyPr>
          <a:lstStyle/>
          <a:p>
            <a:r>
              <a:rPr lang="sk-SK" sz="1400" b="1" dirty="0">
                <a:effectLst/>
              </a:rPr>
              <a:t>PKT </a:t>
            </a:r>
            <a:r>
              <a:rPr lang="sk-SK" sz="1400" b="1" dirty="0" err="1">
                <a:effectLst/>
              </a:rPr>
              <a:t>tracer</a:t>
            </a:r>
            <a:r>
              <a:rPr lang="sk-SK" sz="1400" b="1" dirty="0">
                <a:effectLst/>
              </a:rPr>
              <a:t>: </a:t>
            </a:r>
            <a:r>
              <a:rPr lang="sk-SK" sz="1400" dirty="0">
                <a:effectLst/>
              </a:rPr>
              <a:t>Router(</a:t>
            </a:r>
            <a:r>
              <a:rPr lang="sk-SK" sz="1400" dirty="0" err="1">
                <a:effectLst/>
              </a:rPr>
              <a:t>config</a:t>
            </a:r>
            <a:r>
              <a:rPr lang="sk-SK" sz="1400" dirty="0">
                <a:effectLst/>
              </a:rPr>
              <a:t>)#</a:t>
            </a:r>
            <a:r>
              <a:rPr lang="sk-SK" sz="1400" dirty="0" err="1">
                <a:effectLst/>
              </a:rPr>
              <a:t>license</a:t>
            </a:r>
            <a:r>
              <a:rPr lang="sk-SK" sz="1400" dirty="0">
                <a:effectLst/>
              </a:rPr>
              <a:t> </a:t>
            </a:r>
            <a:r>
              <a:rPr lang="sk-SK" sz="1400" dirty="0" err="1">
                <a:effectLst/>
              </a:rPr>
              <a:t>boot</a:t>
            </a:r>
            <a:r>
              <a:rPr lang="sk-SK" sz="1400" dirty="0">
                <a:effectLst/>
              </a:rPr>
              <a:t> module c2900 </a:t>
            </a:r>
            <a:r>
              <a:rPr lang="sk-SK" sz="1400" dirty="0" err="1">
                <a:effectLst/>
              </a:rPr>
              <a:t>technology-package</a:t>
            </a:r>
            <a:r>
              <a:rPr lang="sk-SK" sz="1400" dirty="0">
                <a:effectLst/>
              </a:rPr>
              <a:t> securityk9</a:t>
            </a:r>
          </a:p>
        </p:txBody>
      </p:sp>
    </p:spTree>
    <p:extLst>
      <p:ext uri="{BB962C8B-B14F-4D97-AF65-F5344CB8AC3E}">
        <p14:creationId xmlns:p14="http://schemas.microsoft.com/office/powerpoint/2010/main" val="7363782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 ZPF</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Step 2. Identify Traffic</a:t>
            </a:r>
          </a:p>
        </p:txBody>
      </p:sp>
      <p:sp>
        <p:nvSpPr>
          <p:cNvPr id="8" name="TextBox 7">
            <a:extLst>
              <a:ext uri="{FF2B5EF4-FFF2-40B4-BE49-F238E27FC236}">
                <a16:creationId xmlns:a16="http://schemas.microsoft.com/office/drawing/2014/main" id="{1C8B1EDC-B945-4FFD-AC27-7462D2B3B969}"/>
              </a:ext>
            </a:extLst>
          </p:cNvPr>
          <p:cNvSpPr txBox="1"/>
          <p:nvPr/>
        </p:nvSpPr>
        <p:spPr>
          <a:xfrm>
            <a:off x="0" y="819388"/>
            <a:ext cx="8961119" cy="338554"/>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The second step is to use a class-map to identify the traffic to which a policy will be applied. </a:t>
            </a:r>
          </a:p>
        </p:txBody>
      </p:sp>
      <p:sp>
        <p:nvSpPr>
          <p:cNvPr id="10" name="TextBox 9">
            <a:extLst>
              <a:ext uri="{FF2B5EF4-FFF2-40B4-BE49-F238E27FC236}">
                <a16:creationId xmlns:a16="http://schemas.microsoft.com/office/drawing/2014/main" id="{B233FD64-70E4-40E9-ABE5-73D6B5C5B1A5}"/>
              </a:ext>
            </a:extLst>
          </p:cNvPr>
          <p:cNvSpPr txBox="1"/>
          <p:nvPr/>
        </p:nvSpPr>
        <p:spPr>
          <a:xfrm>
            <a:off x="0" y="1155437"/>
            <a:ext cx="8961119" cy="1323439"/>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The figure shows the syntax for the </a:t>
            </a:r>
            <a:r>
              <a:rPr lang="en-US" sz="1600" b="1" dirty="0">
                <a:latin typeface="Arial" panose="020B0604020202020204" pitchFamily="34" charset="0"/>
                <a:cs typeface="Arial" panose="020B0604020202020204" pitchFamily="34" charset="0"/>
              </a:rPr>
              <a:t>class-map</a:t>
            </a:r>
            <a:r>
              <a:rPr lang="en-US" sz="1600" dirty="0">
                <a:latin typeface="Arial" panose="020B0604020202020204" pitchFamily="34" charset="0"/>
                <a:cs typeface="Arial" panose="020B0604020202020204" pitchFamily="34" charset="0"/>
              </a:rPr>
              <a:t> command. There are several types of class-maps. For a ZPF configuration, use the </a:t>
            </a:r>
            <a:r>
              <a:rPr lang="en-US" sz="1600" b="1" dirty="0">
                <a:latin typeface="Arial" panose="020B0604020202020204" pitchFamily="34" charset="0"/>
                <a:cs typeface="Arial" panose="020B0604020202020204" pitchFamily="34" charset="0"/>
              </a:rPr>
              <a:t>inspect</a:t>
            </a:r>
            <a:r>
              <a:rPr lang="en-US" sz="1600" dirty="0">
                <a:latin typeface="Arial" panose="020B0604020202020204" pitchFamily="34" charset="0"/>
                <a:cs typeface="Arial" panose="020B0604020202020204" pitchFamily="34" charset="0"/>
              </a:rPr>
              <a:t> keyword to define a class-map. Determine how packets are evaluated when multiple match criteria exist. Packets must meet one of the match criteria (</a:t>
            </a:r>
            <a:r>
              <a:rPr lang="en-US" sz="1600" b="1" dirty="0">
                <a:latin typeface="Arial" panose="020B0604020202020204" pitchFamily="34" charset="0"/>
                <a:cs typeface="Arial" panose="020B0604020202020204" pitchFamily="34" charset="0"/>
              </a:rPr>
              <a:t>match-any</a:t>
            </a:r>
            <a:r>
              <a:rPr lang="en-US" sz="1600" dirty="0">
                <a:latin typeface="Arial" panose="020B0604020202020204" pitchFamily="34" charset="0"/>
                <a:cs typeface="Arial" panose="020B0604020202020204" pitchFamily="34" charset="0"/>
              </a:rPr>
              <a:t>) or all of the match criteria (</a:t>
            </a:r>
            <a:r>
              <a:rPr lang="en-US" sz="1600" b="1" dirty="0">
                <a:latin typeface="Arial" panose="020B0604020202020204" pitchFamily="34" charset="0"/>
                <a:cs typeface="Arial" panose="020B0604020202020204" pitchFamily="34" charset="0"/>
              </a:rPr>
              <a:t>match-all</a:t>
            </a:r>
            <a:r>
              <a:rPr lang="en-US" sz="1600" dirty="0">
                <a:latin typeface="Arial" panose="020B0604020202020204" pitchFamily="34" charset="0"/>
                <a:cs typeface="Arial" panose="020B0604020202020204" pitchFamily="34" charset="0"/>
              </a:rPr>
              <a:t>) to be considered a member of the class.</a:t>
            </a:r>
          </a:p>
        </p:txBody>
      </p:sp>
      <p:graphicFrame>
        <p:nvGraphicFramePr>
          <p:cNvPr id="20" name="Table 19"/>
          <p:cNvGraphicFramePr>
            <a:graphicFrameLocks noGrp="1"/>
          </p:cNvGraphicFramePr>
          <p:nvPr>
            <p:extLst>
              <p:ext uri="{D42A27DB-BD31-4B8C-83A1-F6EECF244321}">
                <p14:modId xmlns:p14="http://schemas.microsoft.com/office/powerpoint/2010/main" val="2513338753"/>
              </p:ext>
            </p:extLst>
          </p:nvPr>
        </p:nvGraphicFramePr>
        <p:xfrm>
          <a:off x="406485" y="3132893"/>
          <a:ext cx="7961428" cy="1036320"/>
        </p:xfrm>
        <a:graphic>
          <a:graphicData uri="http://schemas.openxmlformats.org/drawingml/2006/table">
            <a:tbl>
              <a:tblPr/>
              <a:tblGrid>
                <a:gridCol w="1673253">
                  <a:extLst>
                    <a:ext uri="{9D8B030D-6E8A-4147-A177-3AD203B41FA5}">
                      <a16:colId xmlns:a16="http://schemas.microsoft.com/office/drawing/2014/main" val="20000"/>
                    </a:ext>
                  </a:extLst>
                </a:gridCol>
                <a:gridCol w="6288175">
                  <a:extLst>
                    <a:ext uri="{9D8B030D-6E8A-4147-A177-3AD203B41FA5}">
                      <a16:colId xmlns:a16="http://schemas.microsoft.com/office/drawing/2014/main" val="20001"/>
                    </a:ext>
                  </a:extLst>
                </a:gridCol>
              </a:tblGrid>
              <a:tr h="0">
                <a:tc>
                  <a:txBody>
                    <a:bodyPr/>
                    <a:lstStyle/>
                    <a:p>
                      <a:r>
                        <a:rPr lang="en-US" sz="1200" dirty="0">
                          <a:solidFill>
                            <a:srgbClr val="FFFFFF"/>
                          </a:solidFill>
                        </a:rPr>
                        <a:t>Parameter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match-any</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Packets must meet one of the match criteria to be considered a member of the class.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match-all</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Packets must meet all of the match criteria to be considered a member of the class.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2"/>
                  </a:ext>
                </a:extLst>
              </a:tr>
              <a:tr h="0">
                <a:tc>
                  <a:txBody>
                    <a:bodyPr/>
                    <a:lstStyle/>
                    <a:p>
                      <a:r>
                        <a:rPr lang="en-US" sz="1200" i="1" dirty="0">
                          <a:solidFill>
                            <a:srgbClr val="58585B"/>
                          </a:solidFill>
                          <a:latin typeface="Courier New" panose="02070309020205020404" pitchFamily="49" charset="0"/>
                          <a:cs typeface="Courier New" panose="02070309020205020404" pitchFamily="49" charset="0"/>
                        </a:rPr>
                        <a:t>class-map-name</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Name of the class-map that will be used to configure the policy for the class in the policy-map.</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bl>
          </a:graphicData>
        </a:graphic>
      </p:graphicFrame>
      <p:pic>
        <p:nvPicPr>
          <p:cNvPr id="5" name="Picture 4">
            <a:extLst>
              <a:ext uri="{FF2B5EF4-FFF2-40B4-BE49-F238E27FC236}">
                <a16:creationId xmlns:a16="http://schemas.microsoft.com/office/drawing/2014/main" id="{D2DC4D5D-9939-4265-9051-1B6A1E214C4B}"/>
              </a:ext>
            </a:extLst>
          </p:cNvPr>
          <p:cNvPicPr>
            <a:picLocks noChangeAspect="1"/>
          </p:cNvPicPr>
          <p:nvPr/>
        </p:nvPicPr>
        <p:blipFill>
          <a:blip r:embed="rId3"/>
          <a:stretch>
            <a:fillRect/>
          </a:stretch>
        </p:blipFill>
        <p:spPr>
          <a:xfrm>
            <a:off x="837303" y="2484825"/>
            <a:ext cx="6839301" cy="431822"/>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32</a:t>
            </a:fld>
            <a:endParaRPr lang="en-US" dirty="0"/>
          </a:p>
        </p:txBody>
      </p:sp>
    </p:spTree>
    <p:extLst>
      <p:ext uri="{BB962C8B-B14F-4D97-AF65-F5344CB8AC3E}">
        <p14:creationId xmlns:p14="http://schemas.microsoft.com/office/powerpoint/2010/main" val="24757278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 ZPF</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Step 2. Identify Traffic (Cont.)</a:t>
            </a:r>
          </a:p>
        </p:txBody>
      </p:sp>
      <p:sp>
        <p:nvSpPr>
          <p:cNvPr id="8" name="TextBox 7">
            <a:extLst>
              <a:ext uri="{FF2B5EF4-FFF2-40B4-BE49-F238E27FC236}">
                <a16:creationId xmlns:a16="http://schemas.microsoft.com/office/drawing/2014/main" id="{FBC53246-FE4D-4BD6-AD5A-1DB607284D7C}"/>
              </a:ext>
            </a:extLst>
          </p:cNvPr>
          <p:cNvSpPr txBox="1"/>
          <p:nvPr/>
        </p:nvSpPr>
        <p:spPr>
          <a:xfrm>
            <a:off x="0" y="865554"/>
            <a:ext cx="9310254" cy="584775"/>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The figure shows the syntax for the match statements in class-map sub-configuration mode. Match traffic to an ACL, a specific protocol, or even another class-map.</a:t>
            </a:r>
          </a:p>
        </p:txBody>
      </p:sp>
      <p:graphicFrame>
        <p:nvGraphicFramePr>
          <p:cNvPr id="39" name="Table 38"/>
          <p:cNvGraphicFramePr>
            <a:graphicFrameLocks noGrp="1"/>
          </p:cNvGraphicFramePr>
          <p:nvPr>
            <p:extLst>
              <p:ext uri="{D42A27DB-BD31-4B8C-83A1-F6EECF244321}">
                <p14:modId xmlns:p14="http://schemas.microsoft.com/office/powerpoint/2010/main" val="670111601"/>
              </p:ext>
            </p:extLst>
          </p:nvPr>
        </p:nvGraphicFramePr>
        <p:xfrm>
          <a:off x="839620" y="2821510"/>
          <a:ext cx="7631014" cy="1036320"/>
        </p:xfrm>
        <a:graphic>
          <a:graphicData uri="http://schemas.openxmlformats.org/drawingml/2006/table">
            <a:tbl>
              <a:tblPr/>
              <a:tblGrid>
                <a:gridCol w="1921777">
                  <a:extLst>
                    <a:ext uri="{9D8B030D-6E8A-4147-A177-3AD203B41FA5}">
                      <a16:colId xmlns:a16="http://schemas.microsoft.com/office/drawing/2014/main" val="20000"/>
                    </a:ext>
                  </a:extLst>
                </a:gridCol>
                <a:gridCol w="5709237">
                  <a:extLst>
                    <a:ext uri="{9D8B030D-6E8A-4147-A177-3AD203B41FA5}">
                      <a16:colId xmlns:a16="http://schemas.microsoft.com/office/drawing/2014/main" val="20001"/>
                    </a:ext>
                  </a:extLst>
                </a:gridCol>
              </a:tblGrid>
              <a:tr h="0">
                <a:tc>
                  <a:txBody>
                    <a:bodyPr/>
                    <a:lstStyle/>
                    <a:p>
                      <a:r>
                        <a:rPr lang="en-US" sz="1200" dirty="0">
                          <a:solidFill>
                            <a:srgbClr val="FFFFFF"/>
                          </a:solidFill>
                        </a:rPr>
                        <a:t>Parameter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match access-group</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Configures the match criteria for a class-map based on the specified ACL number or name.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match protocol</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Configures the match criteria for a class-map based on the specified protocol.</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2"/>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match class-map</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Uses another class-map to identify traffic.</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bl>
          </a:graphicData>
        </a:graphic>
      </p:graphicFrame>
      <p:pic>
        <p:nvPicPr>
          <p:cNvPr id="6" name="Picture 5">
            <a:extLst>
              <a:ext uri="{FF2B5EF4-FFF2-40B4-BE49-F238E27FC236}">
                <a16:creationId xmlns:a16="http://schemas.microsoft.com/office/drawing/2014/main" id="{08800B72-A5AC-45AA-9583-FF14DA820B05}"/>
              </a:ext>
            </a:extLst>
          </p:cNvPr>
          <p:cNvPicPr>
            <a:picLocks noChangeAspect="1"/>
          </p:cNvPicPr>
          <p:nvPr/>
        </p:nvPicPr>
        <p:blipFill>
          <a:blip r:embed="rId3"/>
          <a:stretch>
            <a:fillRect/>
          </a:stretch>
        </p:blipFill>
        <p:spPr>
          <a:xfrm>
            <a:off x="1217144" y="1712359"/>
            <a:ext cx="6709711" cy="847542"/>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33</a:t>
            </a:fld>
            <a:endParaRPr lang="en-US" dirty="0"/>
          </a:p>
        </p:txBody>
      </p:sp>
    </p:spTree>
    <p:extLst>
      <p:ext uri="{BB962C8B-B14F-4D97-AF65-F5344CB8AC3E}">
        <p14:creationId xmlns:p14="http://schemas.microsoft.com/office/powerpoint/2010/main" val="4247624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BlokTextu 4">
            <a:extLst>
              <a:ext uri="{FF2B5EF4-FFF2-40B4-BE49-F238E27FC236}">
                <a16:creationId xmlns:a16="http://schemas.microsoft.com/office/drawing/2014/main" id="{0E2C8AED-5BE8-FB58-F8E1-5001E13B39FC}"/>
              </a:ext>
            </a:extLst>
          </p:cNvPr>
          <p:cNvSpPr txBox="1"/>
          <p:nvPr/>
        </p:nvSpPr>
        <p:spPr>
          <a:xfrm>
            <a:off x="170985" y="852902"/>
            <a:ext cx="8326244" cy="2031325"/>
          </a:xfrm>
          <a:prstGeom prst="rect">
            <a:avLst/>
          </a:prstGeom>
          <a:noFill/>
        </p:spPr>
        <p:txBody>
          <a:bodyPr wrap="square">
            <a:spAutoFit/>
          </a:bodyPr>
          <a:lstStyle/>
          <a:p>
            <a:pPr fontAlgn="base"/>
            <a:r>
              <a:rPr lang="sk-SK" b="0" dirty="0">
                <a:solidFill>
                  <a:srgbClr val="58585B"/>
                </a:solidFill>
                <a:effectLst/>
                <a:latin typeface="inherit"/>
              </a:rPr>
              <a:t>In </a:t>
            </a:r>
            <a:r>
              <a:rPr lang="sk-SK" b="0" dirty="0" err="1">
                <a:solidFill>
                  <a:srgbClr val="58585B"/>
                </a:solidFill>
                <a:effectLst/>
                <a:latin typeface="inherit"/>
              </a:rPr>
              <a:t>addition</a:t>
            </a:r>
            <a:r>
              <a:rPr lang="sk-SK" b="0" dirty="0">
                <a:solidFill>
                  <a:srgbClr val="58585B"/>
                </a:solidFill>
                <a:effectLst/>
                <a:latin typeface="inherit"/>
              </a:rPr>
              <a:t> to user-</a:t>
            </a:r>
            <a:r>
              <a:rPr lang="sk-SK" b="0" dirty="0" err="1">
                <a:solidFill>
                  <a:srgbClr val="58585B"/>
                </a:solidFill>
                <a:effectLst/>
                <a:latin typeface="inherit"/>
              </a:rPr>
              <a:t>defined</a:t>
            </a:r>
            <a:r>
              <a:rPr lang="sk-SK" b="0" dirty="0">
                <a:solidFill>
                  <a:srgbClr val="58585B"/>
                </a:solidFill>
                <a:effectLst/>
                <a:latin typeface="inherit"/>
              </a:rPr>
              <a:t> </a:t>
            </a:r>
            <a:r>
              <a:rPr lang="sk-SK" b="0" dirty="0" err="1">
                <a:solidFill>
                  <a:srgbClr val="58585B"/>
                </a:solidFill>
                <a:effectLst/>
                <a:latin typeface="inherit"/>
              </a:rPr>
              <a:t>classes</a:t>
            </a:r>
            <a:r>
              <a:rPr lang="sk-SK" b="0" dirty="0">
                <a:solidFill>
                  <a:srgbClr val="58585B"/>
                </a:solidFill>
                <a:effectLst/>
                <a:latin typeface="inherit"/>
              </a:rPr>
              <a:t>, a </a:t>
            </a:r>
            <a:r>
              <a:rPr lang="sk-SK" b="0" dirty="0" err="1">
                <a:solidFill>
                  <a:srgbClr val="58585B"/>
                </a:solidFill>
                <a:effectLst/>
                <a:latin typeface="inherit"/>
              </a:rPr>
              <a:t>system-defined</a:t>
            </a:r>
            <a:r>
              <a:rPr lang="sk-SK" b="0" dirty="0">
                <a:solidFill>
                  <a:srgbClr val="58585B"/>
                </a:solidFill>
                <a:effectLst/>
                <a:latin typeface="inherit"/>
              </a:rPr>
              <a:t> </a:t>
            </a:r>
            <a:r>
              <a:rPr lang="sk-SK" b="0" dirty="0" err="1">
                <a:solidFill>
                  <a:srgbClr val="58585B"/>
                </a:solidFill>
                <a:effectLst/>
                <a:latin typeface="inherit"/>
              </a:rPr>
              <a:t>class</a:t>
            </a:r>
            <a:r>
              <a:rPr lang="sk-SK" b="0" dirty="0">
                <a:solidFill>
                  <a:srgbClr val="58585B"/>
                </a:solidFill>
                <a:effectLst/>
                <a:latin typeface="inherit"/>
              </a:rPr>
              <a:t> </a:t>
            </a:r>
            <a:r>
              <a:rPr lang="sk-SK" b="0" dirty="0" err="1">
                <a:solidFill>
                  <a:srgbClr val="58585B"/>
                </a:solidFill>
                <a:effectLst/>
                <a:latin typeface="inherit"/>
              </a:rPr>
              <a:t>map</a:t>
            </a:r>
            <a:r>
              <a:rPr lang="sk-SK" b="0" dirty="0">
                <a:solidFill>
                  <a:srgbClr val="58585B"/>
                </a:solidFill>
                <a:effectLst/>
                <a:latin typeface="inherit"/>
              </a:rPr>
              <a:t> </a:t>
            </a:r>
            <a:r>
              <a:rPr lang="sk-SK" b="0" dirty="0" err="1">
                <a:solidFill>
                  <a:srgbClr val="58585B"/>
                </a:solidFill>
                <a:effectLst/>
                <a:latin typeface="inherit"/>
              </a:rPr>
              <a:t>named</a:t>
            </a:r>
            <a:r>
              <a:rPr lang="sk-SK" b="0" dirty="0">
                <a:solidFill>
                  <a:srgbClr val="58585B"/>
                </a:solidFill>
                <a:effectLst/>
                <a:latin typeface="inherit"/>
              </a:rPr>
              <a:t> </a:t>
            </a:r>
            <a:r>
              <a:rPr lang="sk-SK" b="1" dirty="0" err="1">
                <a:solidFill>
                  <a:srgbClr val="58585B"/>
                </a:solidFill>
                <a:effectLst/>
                <a:latin typeface="inherit"/>
              </a:rPr>
              <a:t>class</a:t>
            </a:r>
            <a:r>
              <a:rPr lang="sk-SK" b="1" dirty="0">
                <a:solidFill>
                  <a:srgbClr val="58585B"/>
                </a:solidFill>
                <a:effectLst/>
                <a:latin typeface="inherit"/>
              </a:rPr>
              <a:t>-default </a:t>
            </a:r>
            <a:r>
              <a:rPr lang="sk-SK" b="0" dirty="0" err="1">
                <a:solidFill>
                  <a:srgbClr val="58585B"/>
                </a:solidFill>
                <a:effectLst/>
                <a:latin typeface="inherit"/>
              </a:rPr>
              <a:t>represents</a:t>
            </a:r>
            <a:r>
              <a:rPr lang="sk-SK" b="0" dirty="0">
                <a:solidFill>
                  <a:srgbClr val="58585B"/>
                </a:solidFill>
                <a:effectLst/>
                <a:latin typeface="inherit"/>
              </a:rPr>
              <a:t> </a:t>
            </a:r>
            <a:r>
              <a:rPr lang="sk-SK" b="0" u="sng" dirty="0" err="1">
                <a:solidFill>
                  <a:srgbClr val="58585B"/>
                </a:solidFill>
                <a:effectLst/>
                <a:latin typeface="inherit"/>
              </a:rPr>
              <a:t>all</a:t>
            </a:r>
            <a:r>
              <a:rPr lang="sk-SK" b="0" u="sng" dirty="0">
                <a:solidFill>
                  <a:srgbClr val="58585B"/>
                </a:solidFill>
                <a:effectLst/>
                <a:latin typeface="inherit"/>
              </a:rPr>
              <a:t> </a:t>
            </a:r>
            <a:r>
              <a:rPr lang="sk-SK" b="0" u="sng" dirty="0" err="1">
                <a:solidFill>
                  <a:srgbClr val="58585B"/>
                </a:solidFill>
                <a:effectLst/>
                <a:latin typeface="inherit"/>
              </a:rPr>
              <a:t>packets</a:t>
            </a:r>
            <a:r>
              <a:rPr lang="sk-SK" b="0" u="sng" dirty="0">
                <a:solidFill>
                  <a:srgbClr val="58585B"/>
                </a:solidFill>
                <a:effectLst/>
                <a:latin typeface="inherit"/>
              </a:rPr>
              <a:t> </a:t>
            </a:r>
            <a:r>
              <a:rPr lang="sk-SK" b="0" u="sng" dirty="0" err="1">
                <a:solidFill>
                  <a:srgbClr val="58585B"/>
                </a:solidFill>
                <a:effectLst/>
                <a:latin typeface="inherit"/>
              </a:rPr>
              <a:t>that</a:t>
            </a:r>
            <a:r>
              <a:rPr lang="sk-SK" b="0" u="sng" dirty="0">
                <a:solidFill>
                  <a:srgbClr val="58585B"/>
                </a:solidFill>
                <a:effectLst/>
                <a:latin typeface="inherit"/>
              </a:rPr>
              <a:t> do </a:t>
            </a:r>
            <a:r>
              <a:rPr lang="sk-SK" b="0" u="sng" dirty="0" err="1">
                <a:solidFill>
                  <a:srgbClr val="58585B"/>
                </a:solidFill>
                <a:effectLst/>
                <a:latin typeface="inherit"/>
              </a:rPr>
              <a:t>not</a:t>
            </a:r>
            <a:r>
              <a:rPr lang="sk-SK" b="0" u="sng" dirty="0">
                <a:solidFill>
                  <a:srgbClr val="58585B"/>
                </a:solidFill>
                <a:effectLst/>
                <a:latin typeface="inherit"/>
              </a:rPr>
              <a:t> </a:t>
            </a:r>
            <a:r>
              <a:rPr lang="sk-SK" b="0" u="sng" dirty="0" err="1">
                <a:solidFill>
                  <a:srgbClr val="58585B"/>
                </a:solidFill>
                <a:effectLst/>
                <a:latin typeface="inherit"/>
              </a:rPr>
              <a:t>match</a:t>
            </a:r>
            <a:r>
              <a:rPr lang="sk-SK" b="0" u="sng" dirty="0">
                <a:solidFill>
                  <a:srgbClr val="58585B"/>
                </a:solidFill>
                <a:effectLst/>
                <a:latin typeface="inherit"/>
              </a:rPr>
              <a:t> </a:t>
            </a:r>
            <a:r>
              <a:rPr lang="sk-SK" b="0" u="sng" dirty="0" err="1">
                <a:solidFill>
                  <a:srgbClr val="58585B"/>
                </a:solidFill>
                <a:effectLst/>
                <a:latin typeface="inherit"/>
              </a:rPr>
              <a:t>any</a:t>
            </a:r>
            <a:r>
              <a:rPr lang="sk-SK" b="0" u="sng" dirty="0">
                <a:solidFill>
                  <a:srgbClr val="58585B"/>
                </a:solidFill>
                <a:effectLst/>
                <a:latin typeface="inherit"/>
              </a:rPr>
              <a:t> of </a:t>
            </a:r>
            <a:r>
              <a:rPr lang="sk-SK" b="0" u="sng" dirty="0" err="1">
                <a:solidFill>
                  <a:srgbClr val="58585B"/>
                </a:solidFill>
                <a:effectLst/>
                <a:latin typeface="inherit"/>
              </a:rPr>
              <a:t>the</a:t>
            </a:r>
            <a:r>
              <a:rPr lang="sk-SK" b="0" u="sng" dirty="0">
                <a:solidFill>
                  <a:srgbClr val="58585B"/>
                </a:solidFill>
                <a:effectLst/>
                <a:latin typeface="inherit"/>
              </a:rPr>
              <a:t> user-</a:t>
            </a:r>
            <a:r>
              <a:rPr lang="sk-SK" b="0" u="sng" dirty="0" err="1">
                <a:solidFill>
                  <a:srgbClr val="58585B"/>
                </a:solidFill>
                <a:effectLst/>
                <a:latin typeface="inherit"/>
              </a:rPr>
              <a:t>defined</a:t>
            </a:r>
            <a:r>
              <a:rPr lang="sk-SK" b="0" u="sng" dirty="0">
                <a:solidFill>
                  <a:srgbClr val="58585B"/>
                </a:solidFill>
                <a:effectLst/>
                <a:latin typeface="inherit"/>
              </a:rPr>
              <a:t> </a:t>
            </a:r>
            <a:r>
              <a:rPr lang="sk-SK" b="0" u="sng" dirty="0" err="1">
                <a:solidFill>
                  <a:srgbClr val="58585B"/>
                </a:solidFill>
                <a:effectLst/>
                <a:latin typeface="inherit"/>
              </a:rPr>
              <a:t>classes</a:t>
            </a:r>
            <a:r>
              <a:rPr lang="sk-SK" b="0" u="sng" dirty="0">
                <a:solidFill>
                  <a:srgbClr val="58585B"/>
                </a:solidFill>
                <a:effectLst/>
                <a:latin typeface="inherit"/>
              </a:rPr>
              <a:t> </a:t>
            </a:r>
            <a:r>
              <a:rPr lang="sk-SK" b="0" dirty="0">
                <a:solidFill>
                  <a:srgbClr val="58585B"/>
                </a:solidFill>
                <a:effectLst/>
                <a:latin typeface="inherit"/>
              </a:rPr>
              <a:t>in a </a:t>
            </a:r>
            <a:r>
              <a:rPr lang="sk-SK" b="0" dirty="0" err="1">
                <a:solidFill>
                  <a:srgbClr val="58585B"/>
                </a:solidFill>
                <a:effectLst/>
                <a:latin typeface="inherit"/>
              </a:rPr>
              <a:t>policy</a:t>
            </a:r>
            <a:r>
              <a:rPr lang="sk-SK" b="0" dirty="0">
                <a:solidFill>
                  <a:srgbClr val="58585B"/>
                </a:solidFill>
                <a:effectLst/>
                <a:latin typeface="inherit"/>
              </a:rPr>
              <a:t>. </a:t>
            </a:r>
            <a:r>
              <a:rPr lang="sk-SK" b="0" dirty="0" err="1">
                <a:solidFill>
                  <a:srgbClr val="58585B"/>
                </a:solidFill>
                <a:effectLst/>
                <a:latin typeface="inherit"/>
              </a:rPr>
              <a:t>The</a:t>
            </a:r>
            <a:r>
              <a:rPr lang="sk-SK" b="0" dirty="0">
                <a:solidFill>
                  <a:srgbClr val="58585B"/>
                </a:solidFill>
                <a:effectLst/>
                <a:latin typeface="inherit"/>
              </a:rPr>
              <a:t> </a:t>
            </a:r>
            <a:r>
              <a:rPr lang="sk-SK" b="0" dirty="0" err="1">
                <a:solidFill>
                  <a:srgbClr val="58585B"/>
                </a:solidFill>
                <a:effectLst/>
                <a:latin typeface="inherit"/>
              </a:rPr>
              <a:t>class</a:t>
            </a:r>
            <a:r>
              <a:rPr lang="sk-SK" b="0" dirty="0">
                <a:solidFill>
                  <a:srgbClr val="58585B"/>
                </a:solidFill>
                <a:effectLst/>
                <a:latin typeface="inherit"/>
              </a:rPr>
              <a:t>-default </a:t>
            </a:r>
            <a:r>
              <a:rPr lang="sk-SK" b="0" dirty="0" err="1">
                <a:solidFill>
                  <a:srgbClr val="58585B"/>
                </a:solidFill>
                <a:effectLst/>
                <a:latin typeface="inherit"/>
              </a:rPr>
              <a:t>class</a:t>
            </a:r>
            <a:r>
              <a:rPr lang="sk-SK" b="0" dirty="0">
                <a:solidFill>
                  <a:srgbClr val="58585B"/>
                </a:solidFill>
                <a:effectLst/>
                <a:latin typeface="inherit"/>
              </a:rPr>
              <a:t> </a:t>
            </a:r>
            <a:r>
              <a:rPr lang="sk-SK" b="0" dirty="0" err="1">
                <a:solidFill>
                  <a:srgbClr val="58585B"/>
                </a:solidFill>
                <a:effectLst/>
                <a:latin typeface="inherit"/>
              </a:rPr>
              <a:t>is</a:t>
            </a:r>
            <a:r>
              <a:rPr lang="sk-SK" b="0" dirty="0">
                <a:solidFill>
                  <a:srgbClr val="58585B"/>
                </a:solidFill>
                <a:effectLst/>
                <a:latin typeface="inherit"/>
              </a:rPr>
              <a:t> </a:t>
            </a:r>
            <a:r>
              <a:rPr lang="sk-SK" b="0" dirty="0" err="1">
                <a:solidFill>
                  <a:srgbClr val="58585B"/>
                </a:solidFill>
                <a:effectLst/>
                <a:latin typeface="inherit"/>
              </a:rPr>
              <a:t>always</a:t>
            </a:r>
            <a:r>
              <a:rPr lang="sk-SK" b="0" dirty="0">
                <a:solidFill>
                  <a:srgbClr val="58585B"/>
                </a:solidFill>
                <a:effectLst/>
                <a:latin typeface="inherit"/>
              </a:rPr>
              <a:t> </a:t>
            </a:r>
            <a:r>
              <a:rPr lang="sk-SK" b="0" dirty="0" err="1">
                <a:solidFill>
                  <a:srgbClr val="58585B"/>
                </a:solidFill>
                <a:effectLst/>
                <a:latin typeface="inherit"/>
              </a:rPr>
              <a:t>the</a:t>
            </a:r>
            <a:r>
              <a:rPr lang="sk-SK" b="0" dirty="0">
                <a:solidFill>
                  <a:srgbClr val="58585B"/>
                </a:solidFill>
                <a:effectLst/>
                <a:latin typeface="inherit"/>
              </a:rPr>
              <a:t> </a:t>
            </a:r>
            <a:r>
              <a:rPr lang="sk-SK" b="0" dirty="0" err="1">
                <a:solidFill>
                  <a:srgbClr val="58585B"/>
                </a:solidFill>
                <a:effectLst/>
                <a:latin typeface="inherit"/>
              </a:rPr>
              <a:t>last</a:t>
            </a:r>
            <a:r>
              <a:rPr lang="sk-SK" b="0" dirty="0">
                <a:solidFill>
                  <a:srgbClr val="58585B"/>
                </a:solidFill>
                <a:effectLst/>
                <a:latin typeface="inherit"/>
              </a:rPr>
              <a:t> </a:t>
            </a:r>
            <a:r>
              <a:rPr lang="sk-SK" b="0" dirty="0" err="1">
                <a:solidFill>
                  <a:srgbClr val="58585B"/>
                </a:solidFill>
                <a:effectLst/>
                <a:latin typeface="inherit"/>
              </a:rPr>
              <a:t>class</a:t>
            </a:r>
            <a:r>
              <a:rPr lang="sk-SK" b="0" dirty="0">
                <a:solidFill>
                  <a:srgbClr val="58585B"/>
                </a:solidFill>
                <a:effectLst/>
                <a:latin typeface="inherit"/>
              </a:rPr>
              <a:t> in a </a:t>
            </a:r>
            <a:r>
              <a:rPr lang="sk-SK" b="0" dirty="0" err="1">
                <a:solidFill>
                  <a:srgbClr val="58585B"/>
                </a:solidFill>
                <a:effectLst/>
                <a:latin typeface="inherit"/>
              </a:rPr>
              <a:t>policy</a:t>
            </a:r>
            <a:r>
              <a:rPr lang="sk-SK" b="0" dirty="0">
                <a:solidFill>
                  <a:srgbClr val="58585B"/>
                </a:solidFill>
                <a:effectLst/>
                <a:latin typeface="inherit"/>
              </a:rPr>
              <a:t> </a:t>
            </a:r>
            <a:r>
              <a:rPr lang="sk-SK" b="0" dirty="0" err="1">
                <a:solidFill>
                  <a:srgbClr val="58585B"/>
                </a:solidFill>
                <a:effectLst/>
                <a:latin typeface="inherit"/>
              </a:rPr>
              <a:t>map</a:t>
            </a:r>
            <a:r>
              <a:rPr lang="sk-SK" b="0" dirty="0">
                <a:solidFill>
                  <a:srgbClr val="58585B"/>
                </a:solidFill>
                <a:effectLst/>
                <a:latin typeface="inherit"/>
              </a:rPr>
              <a:t>.</a:t>
            </a:r>
          </a:p>
          <a:p>
            <a:pPr fontAlgn="base"/>
            <a:endParaRPr lang="sk-SK" b="0" dirty="0">
              <a:solidFill>
                <a:srgbClr val="58585B"/>
              </a:solidFill>
              <a:effectLst/>
              <a:latin typeface="inherit"/>
            </a:endParaRPr>
          </a:p>
          <a:p>
            <a:pPr fontAlgn="base"/>
            <a:r>
              <a:rPr lang="sk-SK" b="0" dirty="0" err="1">
                <a:solidFill>
                  <a:srgbClr val="58585B"/>
                </a:solidFill>
                <a:effectLst/>
                <a:latin typeface="inherit"/>
              </a:rPr>
              <a:t>You</a:t>
            </a:r>
            <a:r>
              <a:rPr lang="sk-SK" b="0" dirty="0">
                <a:solidFill>
                  <a:srgbClr val="58585B"/>
                </a:solidFill>
                <a:effectLst/>
                <a:latin typeface="inherit"/>
              </a:rPr>
              <a:t> </a:t>
            </a:r>
            <a:r>
              <a:rPr lang="sk-SK" b="0" dirty="0" err="1">
                <a:solidFill>
                  <a:srgbClr val="58585B"/>
                </a:solidFill>
                <a:effectLst/>
                <a:latin typeface="inherit"/>
              </a:rPr>
              <a:t>can</a:t>
            </a:r>
            <a:r>
              <a:rPr lang="sk-SK" b="0" dirty="0">
                <a:solidFill>
                  <a:srgbClr val="58585B"/>
                </a:solidFill>
                <a:effectLst/>
                <a:latin typeface="inherit"/>
              </a:rPr>
              <a:t> </a:t>
            </a:r>
            <a:r>
              <a:rPr lang="sk-SK" b="0" dirty="0" err="1">
                <a:solidFill>
                  <a:srgbClr val="58585B"/>
                </a:solidFill>
                <a:effectLst/>
                <a:latin typeface="inherit"/>
              </a:rPr>
              <a:t>define</a:t>
            </a:r>
            <a:r>
              <a:rPr lang="sk-SK" b="0" dirty="0">
                <a:solidFill>
                  <a:srgbClr val="58585B"/>
                </a:solidFill>
                <a:effectLst/>
                <a:latin typeface="inherit"/>
              </a:rPr>
              <a:t> </a:t>
            </a:r>
            <a:r>
              <a:rPr lang="sk-SK" b="0" dirty="0" err="1">
                <a:solidFill>
                  <a:srgbClr val="58585B"/>
                </a:solidFill>
                <a:effectLst/>
                <a:latin typeface="inherit"/>
              </a:rPr>
              <a:t>explicit</a:t>
            </a:r>
            <a:r>
              <a:rPr lang="sk-SK" b="0" dirty="0">
                <a:solidFill>
                  <a:srgbClr val="58585B"/>
                </a:solidFill>
                <a:effectLst/>
                <a:latin typeface="inherit"/>
              </a:rPr>
              <a:t> </a:t>
            </a:r>
            <a:r>
              <a:rPr lang="sk-SK" b="0" dirty="0" err="1">
                <a:solidFill>
                  <a:srgbClr val="58585B"/>
                </a:solidFill>
                <a:effectLst/>
                <a:latin typeface="inherit"/>
              </a:rPr>
              <a:t>actions</a:t>
            </a:r>
            <a:r>
              <a:rPr lang="sk-SK" b="0" dirty="0">
                <a:solidFill>
                  <a:srgbClr val="58585B"/>
                </a:solidFill>
                <a:effectLst/>
                <a:latin typeface="inherit"/>
              </a:rPr>
              <a:t> </a:t>
            </a:r>
            <a:r>
              <a:rPr lang="sk-SK" b="0" dirty="0" err="1">
                <a:solidFill>
                  <a:srgbClr val="58585B"/>
                </a:solidFill>
                <a:effectLst/>
                <a:latin typeface="inherit"/>
              </a:rPr>
              <a:t>for</a:t>
            </a:r>
            <a:r>
              <a:rPr lang="sk-SK" b="0" dirty="0">
                <a:solidFill>
                  <a:srgbClr val="58585B"/>
                </a:solidFill>
                <a:effectLst/>
                <a:latin typeface="inherit"/>
              </a:rPr>
              <a:t> a </a:t>
            </a:r>
            <a:r>
              <a:rPr lang="sk-SK" b="0" dirty="0" err="1">
                <a:solidFill>
                  <a:srgbClr val="58585B"/>
                </a:solidFill>
                <a:effectLst/>
                <a:latin typeface="inherit"/>
              </a:rPr>
              <a:t>group</a:t>
            </a:r>
            <a:r>
              <a:rPr lang="sk-SK" b="0" dirty="0">
                <a:solidFill>
                  <a:srgbClr val="58585B"/>
                </a:solidFill>
                <a:effectLst/>
                <a:latin typeface="inherit"/>
              </a:rPr>
              <a:t> of </a:t>
            </a:r>
            <a:r>
              <a:rPr lang="sk-SK" b="0" dirty="0" err="1">
                <a:solidFill>
                  <a:srgbClr val="58585B"/>
                </a:solidFill>
                <a:effectLst/>
                <a:latin typeface="inherit"/>
              </a:rPr>
              <a:t>packets</a:t>
            </a:r>
            <a:r>
              <a:rPr lang="sk-SK" b="0" dirty="0">
                <a:solidFill>
                  <a:srgbClr val="58585B"/>
                </a:solidFill>
                <a:effectLst/>
                <a:latin typeface="inherit"/>
              </a:rPr>
              <a:t> </a:t>
            </a:r>
            <a:r>
              <a:rPr lang="sk-SK" b="0" dirty="0" err="1">
                <a:solidFill>
                  <a:srgbClr val="58585B"/>
                </a:solidFill>
                <a:effectLst/>
                <a:latin typeface="inherit"/>
              </a:rPr>
              <a:t>that</a:t>
            </a:r>
            <a:r>
              <a:rPr lang="sk-SK" b="0" dirty="0">
                <a:solidFill>
                  <a:srgbClr val="58585B"/>
                </a:solidFill>
                <a:effectLst/>
                <a:latin typeface="inherit"/>
              </a:rPr>
              <a:t> </a:t>
            </a:r>
            <a:r>
              <a:rPr lang="sk-SK" b="0" dirty="0" err="1">
                <a:solidFill>
                  <a:srgbClr val="58585B"/>
                </a:solidFill>
                <a:effectLst/>
                <a:latin typeface="inherit"/>
              </a:rPr>
              <a:t>does</a:t>
            </a:r>
            <a:r>
              <a:rPr lang="sk-SK" b="0" dirty="0">
                <a:solidFill>
                  <a:srgbClr val="58585B"/>
                </a:solidFill>
                <a:effectLst/>
                <a:latin typeface="inherit"/>
              </a:rPr>
              <a:t> </a:t>
            </a:r>
            <a:r>
              <a:rPr lang="sk-SK" b="0" dirty="0" err="1">
                <a:solidFill>
                  <a:srgbClr val="58585B"/>
                </a:solidFill>
                <a:effectLst/>
                <a:latin typeface="inherit"/>
              </a:rPr>
              <a:t>not</a:t>
            </a:r>
            <a:r>
              <a:rPr lang="sk-SK" b="0" dirty="0">
                <a:solidFill>
                  <a:srgbClr val="58585B"/>
                </a:solidFill>
                <a:effectLst/>
                <a:latin typeface="inherit"/>
              </a:rPr>
              <a:t> </a:t>
            </a:r>
            <a:r>
              <a:rPr lang="sk-SK" b="0" dirty="0" err="1">
                <a:solidFill>
                  <a:srgbClr val="58585B"/>
                </a:solidFill>
                <a:effectLst/>
                <a:latin typeface="inherit"/>
              </a:rPr>
              <a:t>match</a:t>
            </a:r>
            <a:r>
              <a:rPr lang="sk-SK" b="0" dirty="0">
                <a:solidFill>
                  <a:srgbClr val="58585B"/>
                </a:solidFill>
                <a:effectLst/>
                <a:latin typeface="inherit"/>
              </a:rPr>
              <a:t> </a:t>
            </a:r>
            <a:r>
              <a:rPr lang="sk-SK" b="0" dirty="0" err="1">
                <a:solidFill>
                  <a:srgbClr val="58585B"/>
                </a:solidFill>
                <a:effectLst/>
                <a:latin typeface="inherit"/>
              </a:rPr>
              <a:t>any</a:t>
            </a:r>
            <a:r>
              <a:rPr lang="sk-SK" b="0" dirty="0">
                <a:solidFill>
                  <a:srgbClr val="58585B"/>
                </a:solidFill>
                <a:effectLst/>
                <a:latin typeface="inherit"/>
              </a:rPr>
              <a:t> of </a:t>
            </a:r>
            <a:r>
              <a:rPr lang="sk-SK" b="0" dirty="0" err="1">
                <a:solidFill>
                  <a:srgbClr val="58585B"/>
                </a:solidFill>
                <a:effectLst/>
                <a:latin typeface="inherit"/>
              </a:rPr>
              <a:t>the</a:t>
            </a:r>
            <a:r>
              <a:rPr lang="sk-SK" b="0" dirty="0">
                <a:solidFill>
                  <a:srgbClr val="58585B"/>
                </a:solidFill>
                <a:effectLst/>
                <a:latin typeface="inherit"/>
              </a:rPr>
              <a:t> user-</a:t>
            </a:r>
            <a:r>
              <a:rPr lang="sk-SK" b="0" dirty="0" err="1">
                <a:solidFill>
                  <a:srgbClr val="58585B"/>
                </a:solidFill>
                <a:effectLst/>
                <a:latin typeface="inherit"/>
              </a:rPr>
              <a:t>defined</a:t>
            </a:r>
            <a:r>
              <a:rPr lang="sk-SK" b="0" dirty="0">
                <a:solidFill>
                  <a:srgbClr val="58585B"/>
                </a:solidFill>
                <a:effectLst/>
                <a:latin typeface="inherit"/>
              </a:rPr>
              <a:t> </a:t>
            </a:r>
            <a:r>
              <a:rPr lang="sk-SK" b="0" dirty="0" err="1">
                <a:solidFill>
                  <a:srgbClr val="58585B"/>
                </a:solidFill>
                <a:effectLst/>
                <a:latin typeface="inherit"/>
              </a:rPr>
              <a:t>classes</a:t>
            </a:r>
            <a:r>
              <a:rPr lang="sk-SK" b="0" dirty="0">
                <a:solidFill>
                  <a:srgbClr val="58585B"/>
                </a:solidFill>
                <a:effectLst/>
                <a:latin typeface="inherit"/>
              </a:rPr>
              <a:t>. </a:t>
            </a:r>
            <a:r>
              <a:rPr lang="sk-SK" b="0" dirty="0" err="1">
                <a:solidFill>
                  <a:srgbClr val="58585B"/>
                </a:solidFill>
                <a:effectLst/>
                <a:latin typeface="inherit"/>
              </a:rPr>
              <a:t>If</a:t>
            </a:r>
            <a:r>
              <a:rPr lang="sk-SK" b="0" dirty="0">
                <a:solidFill>
                  <a:srgbClr val="58585B"/>
                </a:solidFill>
                <a:effectLst/>
                <a:latin typeface="inherit"/>
              </a:rPr>
              <a:t> </a:t>
            </a:r>
            <a:r>
              <a:rPr lang="sk-SK" b="0" dirty="0" err="1">
                <a:solidFill>
                  <a:srgbClr val="58585B"/>
                </a:solidFill>
                <a:effectLst/>
                <a:latin typeface="inherit"/>
              </a:rPr>
              <a:t>you</a:t>
            </a:r>
            <a:r>
              <a:rPr lang="sk-SK" b="0" dirty="0">
                <a:solidFill>
                  <a:srgbClr val="58585B"/>
                </a:solidFill>
                <a:effectLst/>
                <a:latin typeface="inherit"/>
              </a:rPr>
              <a:t> do </a:t>
            </a:r>
            <a:r>
              <a:rPr lang="sk-SK" b="0" dirty="0" err="1">
                <a:solidFill>
                  <a:srgbClr val="58585B"/>
                </a:solidFill>
                <a:effectLst/>
                <a:latin typeface="inherit"/>
              </a:rPr>
              <a:t>not</a:t>
            </a:r>
            <a:r>
              <a:rPr lang="sk-SK" b="0" dirty="0">
                <a:solidFill>
                  <a:srgbClr val="58585B"/>
                </a:solidFill>
                <a:effectLst/>
                <a:latin typeface="inherit"/>
              </a:rPr>
              <a:t> </a:t>
            </a:r>
            <a:r>
              <a:rPr lang="sk-SK" b="0" dirty="0" err="1">
                <a:solidFill>
                  <a:srgbClr val="58585B"/>
                </a:solidFill>
                <a:effectLst/>
                <a:latin typeface="inherit"/>
              </a:rPr>
              <a:t>configure</a:t>
            </a:r>
            <a:r>
              <a:rPr lang="sk-SK" b="0" dirty="0">
                <a:solidFill>
                  <a:srgbClr val="58585B"/>
                </a:solidFill>
                <a:effectLst/>
                <a:latin typeface="inherit"/>
              </a:rPr>
              <a:t> </a:t>
            </a:r>
            <a:r>
              <a:rPr lang="sk-SK" b="0" dirty="0" err="1">
                <a:solidFill>
                  <a:srgbClr val="58585B"/>
                </a:solidFill>
                <a:effectLst/>
                <a:latin typeface="inherit"/>
              </a:rPr>
              <a:t>any</a:t>
            </a:r>
            <a:r>
              <a:rPr lang="sk-SK" b="0" dirty="0">
                <a:solidFill>
                  <a:srgbClr val="58585B"/>
                </a:solidFill>
                <a:effectLst/>
                <a:latin typeface="inherit"/>
              </a:rPr>
              <a:t> </a:t>
            </a:r>
            <a:r>
              <a:rPr lang="sk-SK" b="0" dirty="0" err="1">
                <a:solidFill>
                  <a:srgbClr val="58585B"/>
                </a:solidFill>
                <a:effectLst/>
                <a:latin typeface="inherit"/>
              </a:rPr>
              <a:t>actions</a:t>
            </a:r>
            <a:r>
              <a:rPr lang="sk-SK" b="0" dirty="0">
                <a:solidFill>
                  <a:srgbClr val="58585B"/>
                </a:solidFill>
                <a:effectLst/>
                <a:latin typeface="inherit"/>
              </a:rPr>
              <a:t> </a:t>
            </a:r>
            <a:r>
              <a:rPr lang="sk-SK" b="0" dirty="0" err="1">
                <a:solidFill>
                  <a:srgbClr val="58585B"/>
                </a:solidFill>
                <a:effectLst/>
                <a:latin typeface="inherit"/>
              </a:rPr>
              <a:t>for</a:t>
            </a:r>
            <a:r>
              <a:rPr lang="sk-SK" b="0" dirty="0">
                <a:solidFill>
                  <a:srgbClr val="58585B"/>
                </a:solidFill>
                <a:effectLst/>
                <a:latin typeface="inherit"/>
              </a:rPr>
              <a:t> </a:t>
            </a:r>
            <a:r>
              <a:rPr lang="sk-SK" b="0" dirty="0" err="1">
                <a:solidFill>
                  <a:srgbClr val="58585B"/>
                </a:solidFill>
                <a:effectLst/>
                <a:latin typeface="inherit"/>
              </a:rPr>
              <a:t>the</a:t>
            </a:r>
            <a:r>
              <a:rPr lang="sk-SK" b="0" dirty="0">
                <a:solidFill>
                  <a:srgbClr val="58585B"/>
                </a:solidFill>
                <a:effectLst/>
                <a:latin typeface="inherit"/>
              </a:rPr>
              <a:t> </a:t>
            </a:r>
            <a:r>
              <a:rPr lang="sk-SK" b="0" dirty="0" err="1">
                <a:solidFill>
                  <a:srgbClr val="58585B"/>
                </a:solidFill>
                <a:effectLst/>
                <a:latin typeface="inherit"/>
              </a:rPr>
              <a:t>class</a:t>
            </a:r>
            <a:r>
              <a:rPr lang="sk-SK" b="0" dirty="0">
                <a:solidFill>
                  <a:srgbClr val="58585B"/>
                </a:solidFill>
                <a:effectLst/>
                <a:latin typeface="inherit"/>
              </a:rPr>
              <a:t>-default </a:t>
            </a:r>
            <a:r>
              <a:rPr lang="sk-SK" b="0" dirty="0" err="1">
                <a:solidFill>
                  <a:srgbClr val="58585B"/>
                </a:solidFill>
                <a:effectLst/>
                <a:latin typeface="inherit"/>
              </a:rPr>
              <a:t>class</a:t>
            </a:r>
            <a:r>
              <a:rPr lang="sk-SK" b="0" dirty="0">
                <a:solidFill>
                  <a:srgbClr val="58585B"/>
                </a:solidFill>
                <a:effectLst/>
                <a:latin typeface="inherit"/>
              </a:rPr>
              <a:t> in </a:t>
            </a:r>
            <a:r>
              <a:rPr lang="sk-SK" b="0" dirty="0" err="1">
                <a:solidFill>
                  <a:srgbClr val="58585B"/>
                </a:solidFill>
                <a:effectLst/>
                <a:latin typeface="inherit"/>
              </a:rPr>
              <a:t>an</a:t>
            </a:r>
            <a:r>
              <a:rPr lang="sk-SK" b="0" dirty="0">
                <a:solidFill>
                  <a:srgbClr val="58585B"/>
                </a:solidFill>
                <a:effectLst/>
                <a:latin typeface="inherit"/>
              </a:rPr>
              <a:t> </a:t>
            </a:r>
            <a:r>
              <a:rPr lang="sk-SK" b="0" dirty="0" err="1">
                <a:solidFill>
                  <a:srgbClr val="58585B"/>
                </a:solidFill>
                <a:effectLst/>
                <a:latin typeface="inherit"/>
              </a:rPr>
              <a:t>inspect</a:t>
            </a:r>
            <a:r>
              <a:rPr lang="sk-SK" b="0" dirty="0">
                <a:solidFill>
                  <a:srgbClr val="58585B"/>
                </a:solidFill>
                <a:effectLst/>
                <a:latin typeface="inherit"/>
              </a:rPr>
              <a:t> </a:t>
            </a:r>
            <a:r>
              <a:rPr lang="sk-SK" b="0" dirty="0" err="1">
                <a:solidFill>
                  <a:srgbClr val="58585B"/>
                </a:solidFill>
                <a:effectLst/>
                <a:latin typeface="inherit"/>
              </a:rPr>
              <a:t>policy</a:t>
            </a:r>
            <a:r>
              <a:rPr lang="sk-SK" b="0" dirty="0">
                <a:solidFill>
                  <a:srgbClr val="58585B"/>
                </a:solidFill>
                <a:effectLst/>
                <a:latin typeface="inherit"/>
              </a:rPr>
              <a:t>, </a:t>
            </a:r>
            <a:r>
              <a:rPr lang="sk-SK" b="0" dirty="0" err="1">
                <a:solidFill>
                  <a:srgbClr val="58585B"/>
                </a:solidFill>
                <a:effectLst/>
                <a:latin typeface="inherit"/>
              </a:rPr>
              <a:t>the</a:t>
            </a:r>
            <a:r>
              <a:rPr lang="sk-SK" b="0" dirty="0">
                <a:solidFill>
                  <a:srgbClr val="58585B"/>
                </a:solidFill>
                <a:effectLst/>
                <a:latin typeface="inherit"/>
              </a:rPr>
              <a:t> default </a:t>
            </a:r>
            <a:r>
              <a:rPr lang="sk-SK" b="0" dirty="0" err="1">
                <a:solidFill>
                  <a:srgbClr val="58585B"/>
                </a:solidFill>
                <a:effectLst/>
                <a:latin typeface="inherit"/>
              </a:rPr>
              <a:t>action</a:t>
            </a:r>
            <a:r>
              <a:rPr lang="sk-SK" b="0" dirty="0">
                <a:solidFill>
                  <a:srgbClr val="58585B"/>
                </a:solidFill>
                <a:effectLst/>
                <a:latin typeface="inherit"/>
              </a:rPr>
              <a:t> </a:t>
            </a:r>
            <a:r>
              <a:rPr lang="sk-SK" b="0" dirty="0" err="1">
                <a:solidFill>
                  <a:srgbClr val="58585B"/>
                </a:solidFill>
                <a:effectLst/>
                <a:latin typeface="inherit"/>
              </a:rPr>
              <a:t>is</a:t>
            </a:r>
            <a:r>
              <a:rPr lang="sk-SK" b="0" dirty="0">
                <a:solidFill>
                  <a:srgbClr val="58585B"/>
                </a:solidFill>
                <a:effectLst/>
                <a:latin typeface="inherit"/>
              </a:rPr>
              <a:t> </a:t>
            </a:r>
            <a:r>
              <a:rPr lang="sk-SK" b="1" dirty="0">
                <a:solidFill>
                  <a:srgbClr val="58585B"/>
                </a:solidFill>
                <a:effectLst/>
                <a:latin typeface="inherit"/>
              </a:rPr>
              <a:t>drop</a:t>
            </a:r>
            <a:r>
              <a:rPr lang="sk-SK" b="0" dirty="0">
                <a:solidFill>
                  <a:srgbClr val="58585B"/>
                </a:solidFill>
                <a:effectLst/>
                <a:latin typeface="inherit"/>
              </a:rPr>
              <a:t> .</a:t>
            </a:r>
          </a:p>
        </p:txBody>
      </p:sp>
      <p:sp>
        <p:nvSpPr>
          <p:cNvPr id="6" name="Object1">
            <a:extLst>
              <a:ext uri="{FF2B5EF4-FFF2-40B4-BE49-F238E27FC236}">
                <a16:creationId xmlns:a16="http://schemas.microsoft.com/office/drawing/2014/main" id="{F85217AE-80A5-1B9B-B703-F198812D20F4}"/>
              </a:ext>
            </a:extLst>
          </p:cNvPr>
          <p:cNvSpPr txBox="1">
            <a:spLocks/>
          </p:cNvSpPr>
          <p:nvPr/>
        </p:nvSpPr>
        <p:spPr>
          <a:xfrm>
            <a:off x="152400" y="83903"/>
            <a:ext cx="9144000" cy="274320"/>
          </a:xfrm>
          <a:prstGeom prst="rect">
            <a:avLst/>
          </a:prstGeom>
          <a:noFill/>
          <a:ln/>
        </p:spPr>
        <p:txBody>
          <a:bodyPr wrap="square" rtlCol="0"/>
          <a:lstStyle>
            <a:lvl1pPr marL="0" indent="0" algn="l" defTabSz="914400" rtl="0" eaLnBrk="1" latinLnBrk="0" hangingPunct="1">
              <a:spcBef>
                <a:spcPct val="20000"/>
              </a:spcBef>
              <a:buFont typeface="Arial" pitchFamily="34" charset="0"/>
              <a:buNone/>
              <a:defRPr lang="en-US" sz="1600" kern="1200" dirty="0">
                <a:solidFill>
                  <a:srgbClr val="024C69"/>
                </a:solidFill>
                <a:latin typeface="Arial" pitchFamily="34" charset="0"/>
                <a:ea typeface="Arial" pitchFamily="34" charset="-122"/>
                <a:cs typeface="Arial" pitchFamily="34" charset="-12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sk-SK"/>
              <a:t>Configure a ZPF</a:t>
            </a:r>
          </a:p>
        </p:txBody>
      </p:sp>
      <p:sp>
        <p:nvSpPr>
          <p:cNvPr id="7" name="Object2">
            <a:extLst>
              <a:ext uri="{FF2B5EF4-FFF2-40B4-BE49-F238E27FC236}">
                <a16:creationId xmlns:a16="http://schemas.microsoft.com/office/drawing/2014/main" id="{57D90370-9DD8-7DCD-ED91-9F57ACFBEF40}"/>
              </a:ext>
            </a:extLst>
          </p:cNvPr>
          <p:cNvSpPr txBox="1">
            <a:spLocks/>
          </p:cNvSpPr>
          <p:nvPr/>
        </p:nvSpPr>
        <p:spPr>
          <a:xfrm>
            <a:off x="152400" y="426720"/>
            <a:ext cx="9144000" cy="584324"/>
          </a:xfrm>
          <a:prstGeom prst="rect">
            <a:avLst/>
          </a:prstGeom>
          <a:noFill/>
          <a:ln/>
        </p:spPr>
        <p:txBody>
          <a:bodyPr wrap="square" rtlCol="0"/>
          <a:lstStyle>
            <a:lvl1pPr marL="0" indent="0" algn="l" defTabSz="914400" rtl="0" eaLnBrk="1" latinLnBrk="0" hangingPunct="1">
              <a:spcBef>
                <a:spcPct val="20000"/>
              </a:spcBef>
              <a:buFont typeface="Arial" pitchFamily="34" charset="0"/>
              <a:buNone/>
              <a:defRPr lang="en-US" sz="2200" kern="1200" dirty="0">
                <a:solidFill>
                  <a:srgbClr val="024C69"/>
                </a:solidFill>
                <a:latin typeface="Arial" pitchFamily="34" charset="0"/>
                <a:ea typeface="Arial" pitchFamily="34" charset="-122"/>
                <a:cs typeface="Arial" pitchFamily="34" charset="-12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sk-SK" dirty="0"/>
              <a:t>Step 2. </a:t>
            </a:r>
            <a:r>
              <a:rPr lang="sk-SK" dirty="0" err="1"/>
              <a:t>Identify</a:t>
            </a:r>
            <a:r>
              <a:rPr lang="sk-SK" dirty="0"/>
              <a:t> </a:t>
            </a:r>
            <a:r>
              <a:rPr lang="sk-SK" dirty="0" err="1"/>
              <a:t>Traffic</a:t>
            </a:r>
            <a:r>
              <a:rPr lang="sk-SK" dirty="0"/>
              <a:t> - </a:t>
            </a:r>
            <a:r>
              <a:rPr lang="sk-SK" dirty="0" err="1"/>
              <a:t>Class</a:t>
            </a:r>
            <a:r>
              <a:rPr lang="sk-SK" dirty="0"/>
              <a:t>-Default </a:t>
            </a:r>
            <a:r>
              <a:rPr lang="sk-SK" dirty="0" err="1"/>
              <a:t>Class</a:t>
            </a:r>
            <a:r>
              <a:rPr lang="sk-SK" dirty="0"/>
              <a:t> </a:t>
            </a:r>
            <a:r>
              <a:rPr lang="sk-SK" dirty="0" err="1"/>
              <a:t>Map</a:t>
            </a:r>
            <a:r>
              <a:rPr lang="sk-SK" dirty="0"/>
              <a:t> (</a:t>
            </a:r>
            <a:r>
              <a:rPr lang="sk-SK" dirty="0" err="1"/>
              <a:t>Cont</a:t>
            </a:r>
            <a:r>
              <a:rPr lang="sk-SK" dirty="0"/>
              <a:t>.)</a:t>
            </a:r>
          </a:p>
        </p:txBody>
      </p:sp>
    </p:spTree>
    <p:extLst>
      <p:ext uri="{BB962C8B-B14F-4D97-AF65-F5344CB8AC3E}">
        <p14:creationId xmlns:p14="http://schemas.microsoft.com/office/powerpoint/2010/main" val="9613910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 ZPF</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Step 3. Define an Action</a:t>
            </a:r>
          </a:p>
        </p:txBody>
      </p:sp>
      <p:sp>
        <p:nvSpPr>
          <p:cNvPr id="7" name="TextBox 6">
            <a:extLst>
              <a:ext uri="{FF2B5EF4-FFF2-40B4-BE49-F238E27FC236}">
                <a16:creationId xmlns:a16="http://schemas.microsoft.com/office/drawing/2014/main" id="{25AF834F-13D2-4749-BB27-496BEBBD9694}"/>
              </a:ext>
            </a:extLst>
          </p:cNvPr>
          <p:cNvSpPr txBox="1"/>
          <p:nvPr/>
        </p:nvSpPr>
        <p:spPr>
          <a:xfrm>
            <a:off x="0" y="815251"/>
            <a:ext cx="8661862" cy="1200329"/>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The third step is to use a policy-map to define what action should be taken for traffic that is a member of a class. The figure shows the command syntax to configure a policy-map. An action is a specific functionality. It is typically associated with a traffic class. For example, inspect, drop, and pass are actions.</a:t>
            </a:r>
          </a:p>
        </p:txBody>
      </p:sp>
      <p:graphicFrame>
        <p:nvGraphicFramePr>
          <p:cNvPr id="21" name="Table 20"/>
          <p:cNvGraphicFramePr>
            <a:graphicFrameLocks noGrp="1"/>
          </p:cNvGraphicFramePr>
          <p:nvPr>
            <p:extLst>
              <p:ext uri="{D42A27DB-BD31-4B8C-83A1-F6EECF244321}">
                <p14:modId xmlns:p14="http://schemas.microsoft.com/office/powerpoint/2010/main" val="3354608880"/>
              </p:ext>
            </p:extLst>
          </p:nvPr>
        </p:nvGraphicFramePr>
        <p:xfrm>
          <a:off x="1335310" y="2983052"/>
          <a:ext cx="5991241" cy="1402080"/>
        </p:xfrm>
        <a:graphic>
          <a:graphicData uri="http://schemas.openxmlformats.org/drawingml/2006/table">
            <a:tbl>
              <a:tblPr/>
              <a:tblGrid>
                <a:gridCol w="1095295">
                  <a:extLst>
                    <a:ext uri="{9D8B030D-6E8A-4147-A177-3AD203B41FA5}">
                      <a16:colId xmlns:a16="http://schemas.microsoft.com/office/drawing/2014/main" val="20000"/>
                    </a:ext>
                  </a:extLst>
                </a:gridCol>
                <a:gridCol w="4895946">
                  <a:extLst>
                    <a:ext uri="{9D8B030D-6E8A-4147-A177-3AD203B41FA5}">
                      <a16:colId xmlns:a16="http://schemas.microsoft.com/office/drawing/2014/main" val="20001"/>
                    </a:ext>
                  </a:extLst>
                </a:gridCol>
              </a:tblGrid>
              <a:tr h="0">
                <a:tc>
                  <a:txBody>
                    <a:bodyPr/>
                    <a:lstStyle/>
                    <a:p>
                      <a:r>
                        <a:rPr lang="en-US" sz="1200" dirty="0">
                          <a:solidFill>
                            <a:srgbClr val="FFFFFF"/>
                          </a:solidFill>
                        </a:rPr>
                        <a:t>Parameter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inspect</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An action that offers state−based traffic control. The router maintains session information for TCP and UDP and permits return traffic.</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drop</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Discards unwanted traffic</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2"/>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pass</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A stateless action that allows the router to forward traffic from one zone to another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bl>
          </a:graphicData>
        </a:graphic>
      </p:graphicFrame>
      <p:pic>
        <p:nvPicPr>
          <p:cNvPr id="6" name="Picture 5">
            <a:extLst>
              <a:ext uri="{FF2B5EF4-FFF2-40B4-BE49-F238E27FC236}">
                <a16:creationId xmlns:a16="http://schemas.microsoft.com/office/drawing/2014/main" id="{8B60E0B0-CB6F-4646-AE1E-970ED43846EA}"/>
              </a:ext>
            </a:extLst>
          </p:cNvPr>
          <p:cNvPicPr>
            <a:picLocks noChangeAspect="1"/>
          </p:cNvPicPr>
          <p:nvPr/>
        </p:nvPicPr>
        <p:blipFill>
          <a:blip r:embed="rId3"/>
          <a:stretch>
            <a:fillRect/>
          </a:stretch>
        </p:blipFill>
        <p:spPr>
          <a:xfrm>
            <a:off x="1697447" y="2090201"/>
            <a:ext cx="5278083" cy="752891"/>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35</a:t>
            </a:fld>
            <a:endParaRPr lang="en-US" dirty="0"/>
          </a:p>
        </p:txBody>
      </p:sp>
    </p:spTree>
    <p:extLst>
      <p:ext uri="{BB962C8B-B14F-4D97-AF65-F5344CB8AC3E}">
        <p14:creationId xmlns:p14="http://schemas.microsoft.com/office/powerpoint/2010/main" val="14905590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 ZPF</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Step 4. Identify a Zone-Pair and Match to a Policy</a:t>
            </a:r>
          </a:p>
        </p:txBody>
      </p:sp>
      <p:sp>
        <p:nvSpPr>
          <p:cNvPr id="7" name="TextBox 6">
            <a:extLst>
              <a:ext uri="{FF2B5EF4-FFF2-40B4-BE49-F238E27FC236}">
                <a16:creationId xmlns:a16="http://schemas.microsoft.com/office/drawing/2014/main" id="{2DDC8483-A7A5-4A3E-A49B-388CC2641FE8}"/>
              </a:ext>
            </a:extLst>
          </p:cNvPr>
          <p:cNvSpPr txBox="1"/>
          <p:nvPr/>
        </p:nvSpPr>
        <p:spPr>
          <a:xfrm>
            <a:off x="91440" y="907953"/>
            <a:ext cx="8961120" cy="1200329"/>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The fourth step is to identify a zone pair and associate that zone pair to a policy-map. The figure shows the command syntax. Create a zone-pair with the </a:t>
            </a:r>
            <a:r>
              <a:rPr lang="en-US" b="1" dirty="0">
                <a:latin typeface="Arial" panose="020B0604020202020204" pitchFamily="34" charset="0"/>
                <a:cs typeface="Arial" panose="020B0604020202020204" pitchFamily="34" charset="0"/>
              </a:rPr>
              <a:t>zone-pair security</a:t>
            </a:r>
            <a:r>
              <a:rPr lang="en-US" dirty="0">
                <a:latin typeface="Arial" panose="020B0604020202020204" pitchFamily="34" charset="0"/>
                <a:cs typeface="Arial" panose="020B0604020202020204" pitchFamily="34" charset="0"/>
              </a:rPr>
              <a:t> command. Then use the </a:t>
            </a:r>
            <a:r>
              <a:rPr lang="en-US" b="1" dirty="0">
                <a:latin typeface="Arial" panose="020B0604020202020204" pitchFamily="34" charset="0"/>
                <a:cs typeface="Arial" panose="020B0604020202020204" pitchFamily="34" charset="0"/>
              </a:rPr>
              <a:t>service-policy type inspect</a:t>
            </a:r>
            <a:r>
              <a:rPr lang="en-US" dirty="0">
                <a:latin typeface="Arial" panose="020B0604020202020204" pitchFamily="34" charset="0"/>
                <a:cs typeface="Arial" panose="020B0604020202020204" pitchFamily="34" charset="0"/>
              </a:rPr>
              <a:t> command to attach a policy-map and its associated action to the zone-pair.</a:t>
            </a:r>
          </a:p>
        </p:txBody>
      </p:sp>
      <p:graphicFrame>
        <p:nvGraphicFramePr>
          <p:cNvPr id="22" name="Table 21"/>
          <p:cNvGraphicFramePr>
            <a:graphicFrameLocks noGrp="1"/>
          </p:cNvGraphicFramePr>
          <p:nvPr>
            <p:extLst>
              <p:ext uri="{D42A27DB-BD31-4B8C-83A1-F6EECF244321}">
                <p14:modId xmlns:p14="http://schemas.microsoft.com/office/powerpoint/2010/main" val="37616434"/>
              </p:ext>
            </p:extLst>
          </p:nvPr>
        </p:nvGraphicFramePr>
        <p:xfrm>
          <a:off x="91440" y="3111781"/>
          <a:ext cx="8961120" cy="1219200"/>
        </p:xfrm>
        <a:graphic>
          <a:graphicData uri="http://schemas.openxmlformats.org/drawingml/2006/table">
            <a:tbl>
              <a:tblPr/>
              <a:tblGrid>
                <a:gridCol w="3335639">
                  <a:extLst>
                    <a:ext uri="{9D8B030D-6E8A-4147-A177-3AD203B41FA5}">
                      <a16:colId xmlns:a16="http://schemas.microsoft.com/office/drawing/2014/main" val="20000"/>
                    </a:ext>
                  </a:extLst>
                </a:gridCol>
                <a:gridCol w="5625481">
                  <a:extLst>
                    <a:ext uri="{9D8B030D-6E8A-4147-A177-3AD203B41FA5}">
                      <a16:colId xmlns:a16="http://schemas.microsoft.com/office/drawing/2014/main" val="20001"/>
                    </a:ext>
                  </a:extLst>
                </a:gridCol>
              </a:tblGrid>
              <a:tr h="0">
                <a:tc>
                  <a:txBody>
                    <a:bodyPr/>
                    <a:lstStyle/>
                    <a:p>
                      <a:r>
                        <a:rPr lang="en-US" sz="1200" dirty="0">
                          <a:solidFill>
                            <a:srgbClr val="FFFFFF"/>
                          </a:solidFill>
                        </a:rPr>
                        <a:t>Parameter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source</a:t>
                      </a:r>
                      <a:r>
                        <a:rPr lang="en-US" sz="1200" dirty="0">
                          <a:solidFill>
                            <a:srgbClr val="58585B"/>
                          </a:solidFill>
                          <a:latin typeface="Courier New" panose="02070309020205020404" pitchFamily="49" charset="0"/>
                          <a:cs typeface="Courier New" panose="02070309020205020404" pitchFamily="49" charset="0"/>
                        </a:rPr>
                        <a:t> </a:t>
                      </a:r>
                      <a:r>
                        <a:rPr lang="en-US" sz="1200" i="1" dirty="0">
                          <a:solidFill>
                            <a:srgbClr val="58585B"/>
                          </a:solidFill>
                          <a:latin typeface="Courier New" panose="02070309020205020404" pitchFamily="49" charset="0"/>
                          <a:cs typeface="Courier New" panose="02070309020205020404" pitchFamily="49" charset="0"/>
                        </a:rPr>
                        <a:t>source-zone-name</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Specifies the name of the zone from which traffic is originating.</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destination</a:t>
                      </a:r>
                      <a:r>
                        <a:rPr lang="en-US" sz="1200" dirty="0">
                          <a:solidFill>
                            <a:srgbClr val="58585B"/>
                          </a:solidFill>
                          <a:latin typeface="Courier New" panose="02070309020205020404" pitchFamily="49" charset="0"/>
                          <a:cs typeface="Courier New" panose="02070309020205020404" pitchFamily="49" charset="0"/>
                        </a:rPr>
                        <a:t> </a:t>
                      </a:r>
                      <a:r>
                        <a:rPr lang="en-US" sz="1200" i="1" dirty="0">
                          <a:solidFill>
                            <a:srgbClr val="58585B"/>
                          </a:solidFill>
                          <a:latin typeface="Courier New" panose="02070309020205020404" pitchFamily="49" charset="0"/>
                          <a:cs typeface="Courier New" panose="02070309020205020404" pitchFamily="49" charset="0"/>
                        </a:rPr>
                        <a:t>destination-zone-name</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Specifies the name of the zone to which traffic is destined.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2"/>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self</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Specifies the system-defined zone. Indicates whether traffic will be going to or from the router itself.</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bl>
          </a:graphicData>
        </a:graphic>
      </p:graphicFrame>
      <p:pic>
        <p:nvPicPr>
          <p:cNvPr id="6" name="Picture 5">
            <a:extLst>
              <a:ext uri="{FF2B5EF4-FFF2-40B4-BE49-F238E27FC236}">
                <a16:creationId xmlns:a16="http://schemas.microsoft.com/office/drawing/2014/main" id="{9076C931-277D-4B4A-AE21-8715AC18E387}"/>
              </a:ext>
            </a:extLst>
          </p:cNvPr>
          <p:cNvPicPr>
            <a:picLocks noChangeAspect="1"/>
          </p:cNvPicPr>
          <p:nvPr/>
        </p:nvPicPr>
        <p:blipFill>
          <a:blip r:embed="rId3"/>
          <a:stretch>
            <a:fillRect/>
          </a:stretch>
        </p:blipFill>
        <p:spPr>
          <a:xfrm>
            <a:off x="893184" y="2192220"/>
            <a:ext cx="6787301" cy="700222"/>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36</a:t>
            </a:fld>
            <a:endParaRPr lang="en-US" dirty="0"/>
          </a:p>
        </p:txBody>
      </p:sp>
    </p:spTree>
    <p:extLst>
      <p:ext uri="{BB962C8B-B14F-4D97-AF65-F5344CB8AC3E}">
        <p14:creationId xmlns:p14="http://schemas.microsoft.com/office/powerpoint/2010/main" val="31621361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 ZPF</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Step 5. Assign Zones to Interfaces</a:t>
            </a:r>
          </a:p>
        </p:txBody>
      </p:sp>
      <p:sp>
        <p:nvSpPr>
          <p:cNvPr id="5" name="Object4"/>
          <p:cNvSpPr/>
          <p:nvPr/>
        </p:nvSpPr>
        <p:spPr>
          <a:xfrm>
            <a:off x="-1" y="764771"/>
            <a:ext cx="9019309" cy="1435504"/>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The fifth step is to assign zones to the appropriate interfaces. Associating a zone to an interface will immediately apply the service-policy that has been associated with the zone. If no service-policy is yet configured for the zone, all transit traffic will be dropped. Use the </a:t>
            </a:r>
            <a:r>
              <a:rPr lang="en-US" sz="1600" b="1" dirty="0">
                <a:latin typeface="Arial" panose="020B0604020202020204" pitchFamily="34" charset="0"/>
                <a:cs typeface="Arial" panose="020B0604020202020204" pitchFamily="34" charset="0"/>
              </a:rPr>
              <a:t>zone-member security </a:t>
            </a:r>
            <a:r>
              <a:rPr lang="en-US" sz="1600" dirty="0">
                <a:latin typeface="Arial" panose="020B0604020202020204" pitchFamily="34" charset="0"/>
                <a:cs typeface="Arial" panose="020B0604020202020204" pitchFamily="34" charset="0"/>
              </a:rPr>
              <a:t>command to assign a zone to an interface. In the example, GigabitEthernet 0/0 is assigned the PRIVATE zone, and Serial 0/0/0 is assigned the PUBLIC zone.</a:t>
            </a:r>
          </a:p>
        </p:txBody>
      </p:sp>
      <p:sp>
        <p:nvSpPr>
          <p:cNvPr id="7" name="Object4">
            <a:extLst>
              <a:ext uri="{FF2B5EF4-FFF2-40B4-BE49-F238E27FC236}">
                <a16:creationId xmlns:a16="http://schemas.microsoft.com/office/drawing/2014/main" id="{F47EA181-14F6-472F-9F5B-97024AE2733D}"/>
              </a:ext>
            </a:extLst>
          </p:cNvPr>
          <p:cNvSpPr/>
          <p:nvPr/>
        </p:nvSpPr>
        <p:spPr>
          <a:xfrm>
            <a:off x="-1" y="2690726"/>
            <a:ext cx="9019309" cy="610672"/>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In the following example, GigabitEthernet 0/0 is assigned the PRIVATE zone, and Serial 0/0/0 is assigned the PUBLIC zone.</a:t>
            </a:r>
          </a:p>
        </p:txBody>
      </p:sp>
      <p:pic>
        <p:nvPicPr>
          <p:cNvPr id="8" name="Picture 7">
            <a:extLst>
              <a:ext uri="{FF2B5EF4-FFF2-40B4-BE49-F238E27FC236}">
                <a16:creationId xmlns:a16="http://schemas.microsoft.com/office/drawing/2014/main" id="{593C2A8F-079C-4835-8BC9-EBF5A3AB9DF6}"/>
              </a:ext>
            </a:extLst>
          </p:cNvPr>
          <p:cNvPicPr>
            <a:picLocks noChangeAspect="1"/>
          </p:cNvPicPr>
          <p:nvPr/>
        </p:nvPicPr>
        <p:blipFill>
          <a:blip r:embed="rId3"/>
          <a:stretch>
            <a:fillRect/>
          </a:stretch>
        </p:blipFill>
        <p:spPr>
          <a:xfrm>
            <a:off x="1561500" y="2080676"/>
            <a:ext cx="5455376" cy="552622"/>
          </a:xfrm>
          <a:prstGeom prst="rect">
            <a:avLst/>
          </a:prstGeom>
        </p:spPr>
      </p:pic>
      <p:pic>
        <p:nvPicPr>
          <p:cNvPr id="10" name="Picture 9">
            <a:extLst>
              <a:ext uri="{FF2B5EF4-FFF2-40B4-BE49-F238E27FC236}">
                <a16:creationId xmlns:a16="http://schemas.microsoft.com/office/drawing/2014/main" id="{788F5CA6-F25D-4131-8B64-3D0C185F7109}"/>
              </a:ext>
            </a:extLst>
          </p:cNvPr>
          <p:cNvPicPr>
            <a:picLocks noChangeAspect="1"/>
          </p:cNvPicPr>
          <p:nvPr/>
        </p:nvPicPr>
        <p:blipFill>
          <a:blip r:embed="rId4"/>
          <a:stretch>
            <a:fillRect/>
          </a:stretch>
        </p:blipFill>
        <p:spPr>
          <a:xfrm>
            <a:off x="1772060" y="3328276"/>
            <a:ext cx="4687249" cy="1050453"/>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37</a:t>
            </a:fld>
            <a:endParaRPr lang="en-US" dirty="0"/>
          </a:p>
        </p:txBody>
      </p:sp>
    </p:spTree>
    <p:extLst>
      <p:ext uri="{BB962C8B-B14F-4D97-AF65-F5344CB8AC3E}">
        <p14:creationId xmlns:p14="http://schemas.microsoft.com/office/powerpoint/2010/main" val="3645150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 ZPF</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Verify a ZPF Configuration</a:t>
            </a:r>
          </a:p>
        </p:txBody>
      </p:sp>
      <p:sp>
        <p:nvSpPr>
          <p:cNvPr id="5" name="Object4"/>
          <p:cNvSpPr/>
          <p:nvPr/>
        </p:nvSpPr>
        <p:spPr>
          <a:xfrm>
            <a:off x="0" y="914400"/>
            <a:ext cx="3940990" cy="3714750"/>
          </a:xfrm>
          <a:prstGeom prst="rect">
            <a:avLst/>
          </a:prstGeom>
          <a:noFill/>
          <a:ln/>
        </p:spPr>
        <p:txBody>
          <a:bodyPr wrap="square" rtlCol="0" anchor="t"/>
          <a:lstStyle/>
          <a:p>
            <a:pPr>
              <a:lnSpc>
                <a:spcPts val="2000"/>
              </a:lnSpc>
            </a:pPr>
            <a:r>
              <a:rPr lang="en-US" dirty="0">
                <a:latin typeface="Arial" panose="020B0604020202020204" pitchFamily="34" charset="0"/>
                <a:cs typeface="Arial" panose="020B0604020202020204" pitchFamily="34" charset="0"/>
              </a:rPr>
              <a:t>Verify a ZPF configuration by viewing the running configuration. Notice that the class-map is listed first. Then the policy-map makes use of the class-map.</a:t>
            </a:r>
          </a:p>
          <a:p>
            <a:pPr>
              <a:lnSpc>
                <a:spcPts val="2000"/>
              </a:lnSpc>
            </a:pPr>
            <a:endParaRPr lang="en-US" dirty="0">
              <a:latin typeface="Arial" panose="020B0604020202020204" pitchFamily="34" charset="0"/>
              <a:cs typeface="Arial" panose="020B0604020202020204" pitchFamily="34" charset="0"/>
            </a:endParaRPr>
          </a:p>
          <a:p>
            <a:pPr>
              <a:lnSpc>
                <a:spcPts val="2000"/>
              </a:lnSpc>
            </a:pPr>
            <a:r>
              <a:rPr lang="en-US" dirty="0">
                <a:latin typeface="Arial" panose="020B0604020202020204" pitchFamily="34" charset="0"/>
                <a:cs typeface="Arial" panose="020B0604020202020204" pitchFamily="34" charset="0"/>
              </a:rPr>
              <a:t>The zone configurations follow the policy-map configurations with zone naming, zone pairing, and associating a service-policy to the zone pair. </a:t>
            </a:r>
          </a:p>
          <a:p>
            <a:pPr>
              <a:lnSpc>
                <a:spcPts val="2000"/>
              </a:lnSpc>
            </a:pPr>
            <a:endParaRPr lang="en-US" dirty="0">
              <a:latin typeface="Arial" panose="020B0604020202020204" pitchFamily="34" charset="0"/>
              <a:cs typeface="Arial" panose="020B0604020202020204" pitchFamily="34" charset="0"/>
            </a:endParaRPr>
          </a:p>
          <a:p>
            <a:pPr>
              <a:lnSpc>
                <a:spcPts val="2000"/>
              </a:lnSpc>
            </a:pPr>
            <a:r>
              <a:rPr lang="en-US" dirty="0">
                <a:latin typeface="Arial" panose="020B0604020202020204" pitchFamily="34" charset="0"/>
                <a:cs typeface="Arial" panose="020B0604020202020204" pitchFamily="34" charset="0"/>
              </a:rPr>
              <a:t>Finally, the interfaces are assigned zones.</a:t>
            </a:r>
          </a:p>
        </p:txBody>
      </p:sp>
      <p:pic>
        <p:nvPicPr>
          <p:cNvPr id="8" name="Picture 7">
            <a:extLst>
              <a:ext uri="{FF2B5EF4-FFF2-40B4-BE49-F238E27FC236}">
                <a16:creationId xmlns:a16="http://schemas.microsoft.com/office/drawing/2014/main" id="{B561CD2B-9326-4F5A-9880-986B8E0B7C15}"/>
              </a:ext>
            </a:extLst>
          </p:cNvPr>
          <p:cNvPicPr>
            <a:picLocks noChangeAspect="1"/>
          </p:cNvPicPr>
          <p:nvPr/>
        </p:nvPicPr>
        <p:blipFill>
          <a:blip r:embed="rId3"/>
          <a:stretch>
            <a:fillRect/>
          </a:stretch>
        </p:blipFill>
        <p:spPr>
          <a:xfrm>
            <a:off x="4282564" y="227491"/>
            <a:ext cx="4519862" cy="4401659"/>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38</a:t>
            </a:fld>
            <a:endParaRPr lang="en-US" dirty="0"/>
          </a:p>
        </p:txBody>
      </p:sp>
    </p:spTree>
    <p:extLst>
      <p:ext uri="{BB962C8B-B14F-4D97-AF65-F5344CB8AC3E}">
        <p14:creationId xmlns:p14="http://schemas.microsoft.com/office/powerpoint/2010/main" val="42239787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 ZPF</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Verify a ZPF Configuration (Cont.)</a:t>
            </a:r>
          </a:p>
        </p:txBody>
      </p:sp>
      <p:sp>
        <p:nvSpPr>
          <p:cNvPr id="5" name="Object4"/>
          <p:cNvSpPr/>
          <p:nvPr/>
        </p:nvSpPr>
        <p:spPr>
          <a:xfrm>
            <a:off x="0" y="708660"/>
            <a:ext cx="4218707"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The example shows verification information after a test of the ZPF configuration. A PRIVATE zone host 192.168.1.3 established an HTTPS session with a web server at 10.1.1.2. Notice further down in the command output that four packets matched the </a:t>
            </a:r>
            <a:r>
              <a:rPr lang="en-US" sz="1600" b="1" dirty="0">
                <a:latin typeface="Arial" panose="020B0604020202020204" pitchFamily="34" charset="0"/>
                <a:cs typeface="Arial" panose="020B0604020202020204" pitchFamily="34" charset="0"/>
              </a:rPr>
              <a:t>class class-default</a:t>
            </a:r>
            <a:r>
              <a:rPr lang="en-US" sz="1600" dirty="0">
                <a:latin typeface="Arial" panose="020B0604020202020204" pitchFamily="34" charset="0"/>
                <a:cs typeface="Arial" panose="020B0604020202020204" pitchFamily="34" charset="0"/>
              </a:rPr>
              <a:t>. This verification information was generated by having host 192.168.1.3 ping the web server at 10.1.1.2.</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Other commands include: </a:t>
            </a:r>
          </a:p>
          <a:p>
            <a:pPr marL="285750" indent="-285750">
              <a:lnSpc>
                <a:spcPts val="2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show class-map type inspect </a:t>
            </a:r>
          </a:p>
          <a:p>
            <a:pPr marL="285750" indent="-285750">
              <a:lnSpc>
                <a:spcPts val="2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show zone security</a:t>
            </a:r>
          </a:p>
          <a:p>
            <a:pPr marL="285750" indent="-285750">
              <a:lnSpc>
                <a:spcPts val="2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show zone-pair security </a:t>
            </a:r>
          </a:p>
          <a:p>
            <a:pPr marL="285750" indent="-285750">
              <a:lnSpc>
                <a:spcPts val="2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show policy-map type inspect</a:t>
            </a:r>
          </a:p>
          <a:p>
            <a:pPr>
              <a:lnSpc>
                <a:spcPts val="2000"/>
              </a:lnSpc>
            </a:pPr>
            <a:endParaRPr lang="en-US" sz="14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586230AF-006F-44DE-BCAF-0F175FD45515}"/>
              </a:ext>
            </a:extLst>
          </p:cNvPr>
          <p:cNvPicPr>
            <a:picLocks noChangeAspect="1"/>
          </p:cNvPicPr>
          <p:nvPr/>
        </p:nvPicPr>
        <p:blipFill>
          <a:blip r:embed="rId3"/>
          <a:stretch>
            <a:fillRect/>
          </a:stretch>
        </p:blipFill>
        <p:spPr>
          <a:xfrm>
            <a:off x="5170547" y="155890"/>
            <a:ext cx="3235786" cy="4652291"/>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39</a:t>
            </a:fld>
            <a:endParaRPr lang="en-US" dirty="0"/>
          </a:p>
        </p:txBody>
      </p:sp>
    </p:spTree>
    <p:extLst>
      <p:ext uri="{BB962C8B-B14F-4D97-AF65-F5344CB8AC3E}">
        <p14:creationId xmlns:p14="http://schemas.microsoft.com/office/powerpoint/2010/main" val="23390383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 ZPF</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ZPF Configuration Considerations</a:t>
            </a:r>
          </a:p>
        </p:txBody>
      </p:sp>
      <p:sp>
        <p:nvSpPr>
          <p:cNvPr id="5" name="Object4"/>
          <p:cNvSpPr/>
          <p:nvPr/>
        </p:nvSpPr>
        <p:spPr>
          <a:xfrm>
            <a:off x="58189" y="822960"/>
            <a:ext cx="9027622" cy="3806190"/>
          </a:xfrm>
          <a:prstGeom prst="rect">
            <a:avLst/>
          </a:prstGeom>
          <a:noFill/>
          <a:ln/>
        </p:spPr>
        <p:txBody>
          <a:bodyPr wrap="square" rtlCol="0" anchor="t"/>
          <a:lstStyle/>
          <a:p>
            <a:r>
              <a:rPr lang="en-US" sz="1600" dirty="0">
                <a:effectLst/>
                <a:latin typeface="Arial" panose="020B0604020202020204" pitchFamily="34" charset="0"/>
                <a:cs typeface="Arial" panose="020B0604020202020204" pitchFamily="34" charset="0"/>
              </a:rPr>
              <a:t>When configuring a ZPF with the CLI, there are several factors to consider:</a:t>
            </a:r>
          </a:p>
          <a:p>
            <a:endParaRPr lang="en-US" sz="1600" dirty="0">
              <a:effectLst/>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The router never filters the traffic between interfaces in the same zone.</a:t>
            </a:r>
          </a:p>
          <a:p>
            <a:pPr marL="285750"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An interface cannot belong to multiple zones. To create a union of security zones, specify a new zone and appropriate policy map and zone pairs.</a:t>
            </a:r>
          </a:p>
          <a:p>
            <a:pPr marL="285750"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ZPF can coexist with Classic Firewall although they cannot be used on the same interface. Remove the </a:t>
            </a:r>
            <a:r>
              <a:rPr lang="en-US" sz="1600" b="1" dirty="0">
                <a:effectLst/>
                <a:latin typeface="Arial" panose="020B0604020202020204" pitchFamily="34" charset="0"/>
                <a:cs typeface="Arial" panose="020B0604020202020204" pitchFamily="34" charset="0"/>
              </a:rPr>
              <a:t>ip inspect</a:t>
            </a:r>
            <a:r>
              <a:rPr lang="en-US" sz="1600" dirty="0">
                <a:effectLst/>
                <a:latin typeface="Arial" panose="020B0604020202020204" pitchFamily="34" charset="0"/>
                <a:cs typeface="Arial" panose="020B0604020202020204" pitchFamily="34" charset="0"/>
              </a:rPr>
              <a:t> interface configuration command before applying the </a:t>
            </a:r>
            <a:r>
              <a:rPr lang="en-US" sz="1600" b="1" dirty="0">
                <a:effectLst/>
                <a:latin typeface="Arial" panose="020B0604020202020204" pitchFamily="34" charset="0"/>
                <a:cs typeface="Arial" panose="020B0604020202020204" pitchFamily="34" charset="0"/>
              </a:rPr>
              <a:t>zone-member security</a:t>
            </a:r>
            <a:r>
              <a:rPr lang="en-US" sz="1600" dirty="0">
                <a:effectLst/>
                <a:latin typeface="Arial" panose="020B0604020202020204" pitchFamily="34" charset="0"/>
                <a:cs typeface="Arial" panose="020B0604020202020204" pitchFamily="34" charset="0"/>
              </a:rPr>
              <a:t> command.</a:t>
            </a:r>
          </a:p>
          <a:p>
            <a:pPr marL="285750"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Traffic can never flow between an interface assigned to a zone and an interface without a zone assignment. Applying the </a:t>
            </a:r>
            <a:r>
              <a:rPr lang="en-US" sz="1600" b="1" dirty="0">
                <a:effectLst/>
                <a:latin typeface="Arial" panose="020B0604020202020204" pitchFamily="34" charset="0"/>
                <a:cs typeface="Arial" panose="020B0604020202020204" pitchFamily="34" charset="0"/>
              </a:rPr>
              <a:t>zone-member</a:t>
            </a:r>
            <a:r>
              <a:rPr lang="en-US" sz="1600" dirty="0">
                <a:effectLst/>
                <a:latin typeface="Arial" panose="020B0604020202020204" pitchFamily="34" charset="0"/>
                <a:cs typeface="Arial" panose="020B0604020202020204" pitchFamily="34" charset="0"/>
              </a:rPr>
              <a:t> configuration command always results in a temporary interruption of service until the other zone-member is configured.</a:t>
            </a:r>
          </a:p>
          <a:p>
            <a:pPr marL="285750"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The default inter-zone policy is to drop all traffic unless otherwise specifically allowed by the service-policy configured for the zone-pair.</a:t>
            </a:r>
          </a:p>
          <a:p>
            <a:pPr marL="285750"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The </a:t>
            </a:r>
            <a:r>
              <a:rPr lang="en-US" sz="1600" b="1" dirty="0">
                <a:effectLst/>
                <a:latin typeface="Arial" panose="020B0604020202020204" pitchFamily="34" charset="0"/>
                <a:cs typeface="Arial" panose="020B0604020202020204" pitchFamily="34" charset="0"/>
              </a:rPr>
              <a:t>zone-member</a:t>
            </a:r>
            <a:r>
              <a:rPr lang="en-US" sz="1600" dirty="0">
                <a:effectLst/>
                <a:latin typeface="Arial" panose="020B0604020202020204" pitchFamily="34" charset="0"/>
                <a:cs typeface="Arial" panose="020B0604020202020204" pitchFamily="34" charset="0"/>
              </a:rPr>
              <a:t> command does not protect the router itself (traffic to and from the router is not affected) unless the zone- pairs are configured using the predefined self zone.</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40</a:t>
            </a:fld>
            <a:endParaRPr lang="en-US" dirty="0"/>
          </a:p>
        </p:txBody>
      </p:sp>
    </p:spTree>
    <p:extLst>
      <p:ext uri="{BB962C8B-B14F-4D97-AF65-F5344CB8AC3E}">
        <p14:creationId xmlns:p14="http://schemas.microsoft.com/office/powerpoint/2010/main" val="26033949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329690303"/>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644</TotalTime>
  <Words>3749</Words>
  <Application>Microsoft Macintosh PowerPoint</Application>
  <PresentationFormat>Prezentácia na obrazovke (16:9)</PresentationFormat>
  <Paragraphs>461</Paragraphs>
  <Slides>41</Slides>
  <Notes>40</Notes>
  <HiddenSlides>0</HiddenSlides>
  <MMClips>0</MMClips>
  <ScaleCrop>false</ScaleCrop>
  <HeadingPairs>
    <vt:vector size="6" baseType="variant">
      <vt:variant>
        <vt:lpstr>Použité písma</vt:lpstr>
      </vt:variant>
      <vt:variant>
        <vt:i4>6</vt:i4>
      </vt:variant>
      <vt:variant>
        <vt:lpstr>Motív</vt:lpstr>
      </vt:variant>
      <vt:variant>
        <vt:i4>3</vt:i4>
      </vt:variant>
      <vt:variant>
        <vt:lpstr>Nadpisy snímok</vt:lpstr>
      </vt:variant>
      <vt:variant>
        <vt:i4>41</vt:i4>
      </vt:variant>
    </vt:vector>
  </HeadingPairs>
  <TitlesOfParts>
    <vt:vector size="50" baseType="lpstr">
      <vt:lpstr>Arial</vt:lpstr>
      <vt:lpstr>Calibri</vt:lpstr>
      <vt:lpstr>CiscoSans ExtraLight</vt:lpstr>
      <vt:lpstr>Courier New</vt:lpstr>
      <vt:lpstr>inherit</vt:lpstr>
      <vt:lpstr>Wingdings</vt:lpstr>
      <vt:lpstr>Office Theme</vt:lpstr>
      <vt:lpstr>Default Theme</vt:lpstr>
      <vt:lpstr>1_Office Theme</vt:lpstr>
      <vt:lpstr>Prezentácia programu PowerPoint</vt:lpstr>
      <vt:lpstr>Module Objectives</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Module Objectives</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Július Baráth</cp:lastModifiedBy>
  <cp:revision>25</cp:revision>
  <dcterms:created xsi:type="dcterms:W3CDTF">2020-12-08T18:27:12Z</dcterms:created>
  <dcterms:modified xsi:type="dcterms:W3CDTF">2025-02-19T09:15:35Z</dcterms:modified>
</cp:coreProperties>
</file>